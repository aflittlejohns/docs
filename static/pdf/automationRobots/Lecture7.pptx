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7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300" r:id="rId2"/>
    <p:sldId id="301" r:id="rId3"/>
    <p:sldId id="273" r:id="rId4"/>
    <p:sldId id="404" r:id="rId5"/>
    <p:sldId id="431" r:id="rId6"/>
    <p:sldId id="432" r:id="rId7"/>
    <p:sldId id="433" r:id="rId8"/>
    <p:sldId id="434" r:id="rId9"/>
    <p:sldId id="435" r:id="rId10"/>
    <p:sldId id="436" r:id="rId11"/>
    <p:sldId id="437" r:id="rId12"/>
    <p:sldId id="438" r:id="rId13"/>
    <p:sldId id="439" r:id="rId14"/>
    <p:sldId id="440" r:id="rId15"/>
    <p:sldId id="441" r:id="rId16"/>
    <p:sldId id="463" r:id="rId17"/>
    <p:sldId id="464" r:id="rId18"/>
    <p:sldId id="465" r:id="rId19"/>
    <p:sldId id="442" r:id="rId20"/>
    <p:sldId id="458" r:id="rId21"/>
    <p:sldId id="459" r:id="rId22"/>
    <p:sldId id="460" r:id="rId23"/>
    <p:sldId id="461" r:id="rId24"/>
    <p:sldId id="425" r:id="rId25"/>
    <p:sldId id="462" r:id="rId26"/>
    <p:sldId id="445" r:id="rId27"/>
    <p:sldId id="446" r:id="rId28"/>
    <p:sldId id="447" r:id="rId29"/>
    <p:sldId id="453" r:id="rId30"/>
    <p:sldId id="454" r:id="rId31"/>
    <p:sldId id="456" r:id="rId32"/>
    <p:sldId id="457" r:id="rId33"/>
    <p:sldId id="430" r:id="rId34"/>
  </p:sldIdLst>
  <p:sldSz cx="9144000" cy="6858000" type="screen4x3"/>
  <p:notesSz cx="6797675" cy="9926638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C60C3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96" autoAdjust="0"/>
    <p:restoredTop sz="94302" autoAdjust="0"/>
  </p:normalViewPr>
  <p:slideViewPr>
    <p:cSldViewPr snapToGrid="0" snapToObjects="1">
      <p:cViewPr varScale="1">
        <p:scale>
          <a:sx n="84" d="100"/>
          <a:sy n="84" d="100"/>
        </p:scale>
        <p:origin x="143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2148" y="60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100" y="61913"/>
            <a:ext cx="5699125" cy="66516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1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r>
              <a:rPr lang="en-GB" altLang="en-US" dirty="0"/>
              <a:t> Lecture 2: Modulation </a:t>
            </a:r>
            <a:fld id="{01AD3A17-8A97-461D-86AC-B9B5D3A02302}" type="slidenum">
              <a:rPr lang="en-GB" altLang="en-US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1338124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DF0CDD-250B-44FA-B365-4CE5BD183BFF}" type="datetimeFigureOut">
              <a:rPr lang="en-GB"/>
              <a:pPr>
                <a:defRPr/>
              </a:pPr>
              <a:t>27/08/2023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F8B4681-E8FC-4223-855F-F6D020695078}" type="slidenum">
              <a:rPr lang="en-GB" altLang="en-US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7656489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8C7BFCB-54E2-4FAD-ABE5-6D07B5A6197A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C04992B-7A2F-4E49-836D-152A541CA74E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4</a:t>
            </a:fld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2610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5</a:t>
            </a:fld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4650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6</a:t>
            </a:fld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0358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7</a:t>
            </a:fld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1080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8</a:t>
            </a:fld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4906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9</a:t>
            </a:fld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54247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10</a:t>
            </a:fld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5318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11</a:t>
            </a:fld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6804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12</a:t>
            </a:fld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3771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13</a:t>
            </a:fld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13576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14</a:t>
            </a:fld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0995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15</a:t>
            </a:fld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8139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16</a:t>
            </a:fld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4013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17</a:t>
            </a:fld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8316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18</a:t>
            </a:fld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5677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19</a:t>
            </a:fld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1808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20</a:t>
            </a:fld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5480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21</a:t>
            </a:fld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8899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22</a:t>
            </a:fld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9130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23</a:t>
            </a:fld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8635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24</a:t>
            </a:fld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1980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25</a:t>
            </a:fld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1672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26</a:t>
            </a:fld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1293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27</a:t>
            </a:fld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10902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8285FD56-3D16-4B34-804E-8D4D207071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7121EAC-6E0A-4377-BB83-A006B4C624A2}" type="slidenum">
              <a:rPr lang="en-US" altLang="en-US">
                <a:latin typeface="Times New Roman" panose="02020603050405020304" pitchFamily="18" charset="0"/>
              </a:rPr>
              <a:pPr/>
              <a:t>28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23D25692-EAD5-4732-8CFE-658DE5C9C8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54AE72BD-0237-4800-9DB1-CB69D11578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865883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8285FD56-3D16-4B34-804E-8D4D207071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7121EAC-6E0A-4377-BB83-A006B4C624A2}" type="slidenum">
              <a:rPr lang="en-US" altLang="en-US">
                <a:latin typeface="Times New Roman" panose="02020603050405020304" pitchFamily="18" charset="0"/>
              </a:rPr>
              <a:pPr/>
              <a:t>29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23D25692-EAD5-4732-8CFE-658DE5C9C8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54AE72BD-0237-4800-9DB1-CB69D11578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0901716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8285FD56-3D16-4B34-804E-8D4D207071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7121EAC-6E0A-4377-BB83-A006B4C624A2}" type="slidenum">
              <a:rPr lang="en-US" altLang="en-US">
                <a:latin typeface="Times New Roman" panose="02020603050405020304" pitchFamily="18" charset="0"/>
              </a:rPr>
              <a:pPr/>
              <a:t>30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23D25692-EAD5-4732-8CFE-658DE5C9C8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54AE72BD-0237-4800-9DB1-CB69D11578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525742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8285FD56-3D16-4B34-804E-8D4D207071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7121EAC-6E0A-4377-BB83-A006B4C624A2}" type="slidenum">
              <a:rPr lang="en-US" altLang="en-US">
                <a:latin typeface="Times New Roman" panose="02020603050405020304" pitchFamily="18" charset="0"/>
              </a:rPr>
              <a:pPr/>
              <a:t>31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23D25692-EAD5-4732-8CFE-658DE5C9C8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54AE72BD-0237-4800-9DB1-CB69D11578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0862224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8285FD56-3D16-4B34-804E-8D4D207071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7121EAC-6E0A-4377-BB83-A006B4C624A2}" type="slidenum">
              <a:rPr lang="en-US" altLang="en-US">
                <a:latin typeface="Times New Roman" panose="02020603050405020304" pitchFamily="18" charset="0"/>
              </a:rPr>
              <a:pPr/>
              <a:t>32</a:t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23D25692-EAD5-4732-8CFE-658DE5C9C8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54AE72BD-0237-4800-9DB1-CB69D11578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476219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33</a:t>
            </a:fld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288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MASTER_Salford logo_RGB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38" y="261938"/>
            <a:ext cx="2024062" cy="151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15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3912" y="3600450"/>
            <a:ext cx="4129088" cy="20478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5040F1CA-107E-4C02-9350-2638B13676DD}" type="datetime1">
              <a:rPr lang="en-US"/>
              <a:pPr>
                <a:defRPr/>
              </a:pPr>
              <a:t>8/27/2023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10AA4DB-3605-4FA3-B073-F6157C791C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96884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" y="2905124"/>
            <a:ext cx="8175801" cy="3221040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800"/>
            </a:lvl1pPr>
            <a:lvl2pPr>
              <a:buClr>
                <a:srgbClr val="C60C30"/>
              </a:buClr>
              <a:defRPr sz="2400"/>
            </a:lvl2pPr>
            <a:lvl3pPr>
              <a:buClr>
                <a:srgbClr val="C60C30"/>
              </a:buClr>
              <a:defRPr sz="2000"/>
            </a:lvl3pPr>
            <a:lvl4pPr>
              <a:buClr>
                <a:srgbClr val="C60C30"/>
              </a:buClr>
              <a:defRPr sz="1800"/>
            </a:lvl4pPr>
            <a:lvl5pPr>
              <a:buClr>
                <a:srgbClr val="C60C30"/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10999" y="1428749"/>
            <a:ext cx="8175801" cy="147637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260EB70C-1D28-4D0E-9EBF-F8A612BE2157}" type="datetime1">
              <a:rPr lang="en-US"/>
              <a:pPr>
                <a:defRPr/>
              </a:pPr>
              <a:t>8/27/2023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E06146ED-8A61-444D-BED3-FE896BEB6B42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96190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MASTER_Salford logo_RGB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38" y="261938"/>
            <a:ext cx="2024062" cy="151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A6A77813-D615-4EF5-8121-05F040F7EA32}" type="datetime1">
              <a:rPr lang="en-US"/>
              <a:pPr>
                <a:defRPr/>
              </a:pPr>
              <a:t>8/27/2023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5B63B96-E220-44D6-A3BE-F55E54885672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03210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998" y="2905125"/>
            <a:ext cx="3984801" cy="3221038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800"/>
            </a:lvl1pPr>
            <a:lvl2pPr>
              <a:buClr>
                <a:srgbClr val="C60C30"/>
              </a:buClr>
              <a:defRPr sz="2400"/>
            </a:lvl2pPr>
            <a:lvl3pPr>
              <a:buClr>
                <a:srgbClr val="C60C30"/>
              </a:buClr>
              <a:defRPr sz="2000"/>
            </a:lvl3pPr>
            <a:lvl4pPr>
              <a:buClr>
                <a:srgbClr val="C60C30"/>
              </a:buClr>
              <a:defRPr sz="1800"/>
            </a:lvl4pPr>
            <a:lvl5pPr>
              <a:buClr>
                <a:srgbClr val="C60C30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2905125"/>
            <a:ext cx="3924300" cy="3221038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800"/>
            </a:lvl1pPr>
            <a:lvl2pPr>
              <a:buClr>
                <a:srgbClr val="C60C30"/>
              </a:buClr>
              <a:defRPr sz="2400"/>
            </a:lvl2pPr>
            <a:lvl3pPr>
              <a:buClr>
                <a:srgbClr val="C60C30"/>
              </a:buClr>
              <a:defRPr sz="2000"/>
            </a:lvl3pPr>
            <a:lvl4pPr>
              <a:buClr>
                <a:srgbClr val="C60C30"/>
              </a:buClr>
              <a:defRPr sz="1800"/>
            </a:lvl4pPr>
            <a:lvl5pPr>
              <a:buClr>
                <a:srgbClr val="C60C30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10999" y="1428749"/>
            <a:ext cx="8175801" cy="147637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CC8ADA1B-B27B-44DF-94FD-5F80705E82A6}" type="datetime1">
              <a:rPr lang="en-US"/>
              <a:pPr>
                <a:defRPr/>
              </a:pPr>
              <a:t>8/27/2023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D297BDDE-412F-465E-9C0E-4A7A756F42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83773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998" y="2911475"/>
            <a:ext cx="3986389" cy="7937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998" y="3705225"/>
            <a:ext cx="3986390" cy="2420937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400"/>
            </a:lvl1pPr>
            <a:lvl2pPr>
              <a:buClr>
                <a:srgbClr val="C60C30"/>
              </a:buClr>
              <a:defRPr sz="2000"/>
            </a:lvl2pPr>
            <a:lvl3pPr>
              <a:buClr>
                <a:srgbClr val="C60C30"/>
              </a:buClr>
              <a:defRPr sz="1800"/>
            </a:lvl3pPr>
            <a:lvl4pPr>
              <a:buClr>
                <a:srgbClr val="C60C30"/>
              </a:buClr>
              <a:defRPr sz="1600"/>
            </a:lvl4pPr>
            <a:lvl5pPr>
              <a:buClr>
                <a:srgbClr val="C60C30"/>
              </a:buCl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911475"/>
            <a:ext cx="4041775" cy="782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705225"/>
            <a:ext cx="4041775" cy="2420938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400"/>
            </a:lvl1pPr>
            <a:lvl2pPr>
              <a:buClr>
                <a:srgbClr val="C60C30"/>
              </a:buClr>
              <a:defRPr sz="2000"/>
            </a:lvl2pPr>
            <a:lvl3pPr>
              <a:buClr>
                <a:srgbClr val="C60C30"/>
              </a:buClr>
              <a:defRPr sz="1800"/>
            </a:lvl3pPr>
            <a:lvl4pPr>
              <a:buClr>
                <a:srgbClr val="C60C30"/>
              </a:buClr>
              <a:defRPr sz="1600"/>
            </a:lvl4pPr>
            <a:lvl5pPr>
              <a:buClr>
                <a:srgbClr val="C60C30"/>
              </a:buCl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10999" y="1428749"/>
            <a:ext cx="8175801" cy="147637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E1F0045E-A52B-400C-BA7C-0AB7F1517D1E}" type="datetime1">
              <a:rPr lang="en-US"/>
              <a:pPr>
                <a:defRPr/>
              </a:pPr>
              <a:t>8/27/2023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C9493AE6-02A4-4579-B6A8-67567F8C0CE2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16124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998" y="2905125"/>
            <a:ext cx="8175801" cy="10096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3"/>
          </p:nvPr>
        </p:nvSpPr>
        <p:spPr>
          <a:xfrm>
            <a:off x="510998" y="4533900"/>
            <a:ext cx="8175802" cy="1592262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400"/>
            </a:lvl1pPr>
            <a:lvl2pPr>
              <a:buClr>
                <a:srgbClr val="C60C30"/>
              </a:buClr>
              <a:defRPr sz="2000"/>
            </a:lvl2pPr>
            <a:lvl3pPr>
              <a:buClr>
                <a:srgbClr val="C60C30"/>
              </a:buClr>
              <a:defRPr sz="1800"/>
            </a:lvl3pPr>
            <a:lvl4pPr>
              <a:buClr>
                <a:srgbClr val="C60C30"/>
              </a:buClr>
              <a:defRPr sz="1600"/>
            </a:lvl4pPr>
            <a:lvl5pPr>
              <a:buClr>
                <a:srgbClr val="C60C30"/>
              </a:buCl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4"/>
          </p:nvPr>
        </p:nvSpPr>
        <p:spPr>
          <a:xfrm>
            <a:off x="510998" y="4095750"/>
            <a:ext cx="8175802" cy="43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10999" y="1428749"/>
            <a:ext cx="8175801" cy="147637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5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B4A5F766-4D62-4C36-9E71-1230FDE576CE}" type="datetime1">
              <a:rPr lang="en-US"/>
              <a:pPr>
                <a:defRPr/>
              </a:pPr>
              <a:t>8/27/2023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6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7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6F6791AC-4FD0-45C4-BE8D-A0D20F345B3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84149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10999" y="1428749"/>
            <a:ext cx="8175801" cy="147637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31E88F20-1AAB-4FD3-BF23-27A9452A5CF6}" type="datetime1">
              <a:rPr lang="en-US"/>
              <a:pPr>
                <a:defRPr/>
              </a:pPr>
              <a:t>8/27/2023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1161F95E-9EB3-41D2-AD4C-9F0FE5ADF1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47487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349DD050-0C74-48C3-8BCE-E6188004D976}" type="datetime1">
              <a:rPr lang="en-US"/>
              <a:pPr>
                <a:defRPr/>
              </a:pPr>
              <a:t>8/27/2023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301412CD-2C22-49FD-A854-1BB75DC92DD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89010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/>
          </p:nvPr>
        </p:nvSpPr>
        <p:spPr>
          <a:xfrm>
            <a:off x="257174" y="0"/>
            <a:ext cx="888682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0" y="4181474"/>
            <a:ext cx="2800350" cy="1838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95F7BE7A-A994-4833-8C88-7E73C52F6179}" type="datetime1">
              <a:rPr lang="en-US"/>
              <a:pPr>
                <a:defRPr/>
              </a:pPr>
              <a:t>8/27/2023</a:t>
            </a:fld>
            <a:endParaRPr lang="en-US" dirty="0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15FFA643-5063-437F-859D-8FD1C6FE381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38234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5275"/>
            <a:ext cx="3008313" cy="83820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800"/>
            </a:lvl1pPr>
            <a:lvl2pPr>
              <a:buClr>
                <a:srgbClr val="C60C30"/>
              </a:buClr>
              <a:defRPr sz="2400"/>
            </a:lvl2pPr>
            <a:lvl3pPr>
              <a:buClr>
                <a:srgbClr val="C60C30"/>
              </a:buClr>
              <a:defRPr sz="2000"/>
            </a:lvl3pPr>
            <a:lvl4pPr>
              <a:buClr>
                <a:srgbClr val="C60C30"/>
              </a:buClr>
              <a:defRPr sz="1800"/>
            </a:lvl4pPr>
            <a:lvl5pPr>
              <a:buClr>
                <a:srgbClr val="C60C30"/>
              </a:buCl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133475"/>
            <a:ext cx="3008313" cy="4992689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C60C30"/>
              </a:buClr>
              <a:buFont typeface="Arial" pitchFamily="34" charset="0"/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329FA7F8-151E-40BF-B9EE-6D203BF2458B}" type="datetime1">
              <a:rPr lang="en-US"/>
              <a:pPr>
                <a:defRPr/>
              </a:pPr>
              <a:t>8/27/2023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24D61F0F-4D0B-4117-9D0C-4C6BC2AAFB9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89897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90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90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90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F35BFFA0-2FB4-485B-B508-3C350D2D46BA}" type="datetime1">
              <a:rPr lang="en-US"/>
              <a:pPr>
                <a:defRPr/>
              </a:pPr>
              <a:t>8/27/2023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72D1AF6-8CCE-453E-A992-4ACAED15295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029165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0074" y="1819276"/>
            <a:ext cx="7956725" cy="4306888"/>
          </a:xfrm>
          <a:prstGeom prst="rect">
            <a:avLst/>
          </a:prstGeom>
        </p:spPr>
        <p:txBody>
          <a:bodyPr vert="eaVert"/>
          <a:lstStyle>
            <a:lvl1pPr>
              <a:buClr>
                <a:srgbClr val="C60C30"/>
              </a:buClr>
              <a:buFont typeface="Arial" pitchFamily="34" charset="0"/>
              <a:buChar char="•"/>
              <a:defRPr/>
            </a:lvl1pPr>
            <a:lvl2pPr>
              <a:buClr>
                <a:srgbClr val="C60C30"/>
              </a:buClr>
              <a:defRPr/>
            </a:lvl2pPr>
            <a:lvl3pPr>
              <a:buClr>
                <a:srgbClr val="C60C30"/>
              </a:buClr>
              <a:defRPr/>
            </a:lvl3pPr>
            <a:lvl4pPr>
              <a:buClr>
                <a:srgbClr val="C60C30"/>
              </a:buClr>
              <a:defRPr/>
            </a:lvl4pPr>
            <a:lvl5pPr>
              <a:buClr>
                <a:srgbClr val="C60C3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730074" y="342900"/>
            <a:ext cx="7956725" cy="14763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D3D5E2B5-B450-4682-A92A-894F7F2B2141}" type="datetime1">
              <a:rPr lang="en-US"/>
              <a:pPr>
                <a:defRPr/>
              </a:pPr>
              <a:t>8/27/2023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8824A4E3-28B3-405D-957D-37D13CC524A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78112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275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305550" cy="5851525"/>
          </a:xfrm>
          <a:prstGeom prst="rect">
            <a:avLst/>
          </a:prstGeom>
        </p:spPr>
        <p:txBody>
          <a:bodyPr vert="eaVert"/>
          <a:lstStyle>
            <a:lvl1pPr>
              <a:buClr>
                <a:srgbClr val="C60C30"/>
              </a:buClr>
              <a:buFont typeface="Arial" pitchFamily="34" charset="0"/>
              <a:buChar char="•"/>
              <a:defRPr/>
            </a:lvl1pPr>
            <a:lvl2pPr>
              <a:buClr>
                <a:srgbClr val="C60C30"/>
              </a:buClr>
              <a:defRPr/>
            </a:lvl2pPr>
            <a:lvl3pPr>
              <a:buClr>
                <a:srgbClr val="C60C30"/>
              </a:buClr>
              <a:defRPr/>
            </a:lvl3pPr>
            <a:lvl4pPr>
              <a:buClr>
                <a:srgbClr val="C60C30"/>
              </a:buClr>
              <a:defRPr/>
            </a:lvl4pPr>
            <a:lvl5pPr>
              <a:buClr>
                <a:srgbClr val="C60C3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B5321716-F687-4FF8-9100-52DE8ECBB97A}" type="datetime1">
              <a:rPr lang="en-US"/>
              <a:pPr>
                <a:defRPr/>
              </a:pPr>
              <a:t>8/27/2023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1D9506A1-0073-4CC4-A378-D74D20A87CC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07708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6"/>
          <p:cNvSpPr>
            <a:spLocks noChangeArrowheads="1"/>
          </p:cNvSpPr>
          <p:nvPr/>
        </p:nvSpPr>
        <p:spPr bwMode="auto">
          <a:xfrm>
            <a:off x="0" y="0"/>
            <a:ext cx="252413" cy="6858000"/>
          </a:xfrm>
          <a:prstGeom prst="rect">
            <a:avLst/>
          </a:prstGeom>
          <a:solidFill>
            <a:srgbClr val="C60C30"/>
          </a:solidFill>
          <a:ln>
            <a:noFill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dirty="0">
              <a:solidFill>
                <a:srgbClr val="FFFFFF"/>
              </a:solidFill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60" r:id="rId1"/>
    <p:sldLayoutId id="2147484961" r:id="rId2"/>
    <p:sldLayoutId id="2147484962" r:id="rId3"/>
    <p:sldLayoutId id="2147484963" r:id="rId4"/>
    <p:sldLayoutId id="2147484964" r:id="rId5"/>
    <p:sldLayoutId id="2147484965" r:id="rId6"/>
    <p:sldLayoutId id="2147484966" r:id="rId7"/>
    <p:sldLayoutId id="2147484967" r:id="rId8"/>
    <p:sldLayoutId id="2147484968" r:id="rId9"/>
    <p:sldLayoutId id="2147484969" r:id="rId10"/>
    <p:sldLayoutId id="2147484970" r:id="rId11"/>
    <p:sldLayoutId id="2147484971" r:id="rId12"/>
    <p:sldLayoutId id="2147484972" r:id="rId13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C60C30"/>
          </a:solidFill>
          <a:latin typeface="Arial Bold"/>
          <a:ea typeface="ＭＳ Ｐゴシック" charset="-128"/>
          <a:cs typeface="Arial Bold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  <a:cs typeface="Arial Bold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  <a:cs typeface="Arial Bold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  <a:cs typeface="Arial Bold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  <a:cs typeface="Arial Bold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defRPr sz="3200" kern="1200">
          <a:solidFill>
            <a:schemeClr val="tx1"/>
          </a:solidFill>
          <a:latin typeface="Arial"/>
          <a:ea typeface="ＭＳ Ｐゴシック" charset="-128"/>
          <a:cs typeface="Arial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22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21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4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oleObject" Target="../embeddings/oleObject11.bin"/><Relationship Id="rId18" Type="http://schemas.openxmlformats.org/officeDocument/2006/relationships/image" Target="../media/image31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28.wmf"/><Relationship Id="rId17" Type="http://schemas.openxmlformats.org/officeDocument/2006/relationships/oleObject" Target="../embeddings/oleObject13.bin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30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5" Type="http://schemas.openxmlformats.org/officeDocument/2006/relationships/oleObject" Target="../embeddings/oleObject12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29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19.bin"/><Relationship Id="rId18" Type="http://schemas.openxmlformats.org/officeDocument/2006/relationships/image" Target="../media/image38.wmf"/><Relationship Id="rId3" Type="http://schemas.openxmlformats.org/officeDocument/2006/relationships/oleObject" Target="../embeddings/oleObject14.bin"/><Relationship Id="rId21" Type="http://schemas.openxmlformats.org/officeDocument/2006/relationships/oleObject" Target="../embeddings/oleObject23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35.wmf"/><Relationship Id="rId17" Type="http://schemas.openxmlformats.org/officeDocument/2006/relationships/oleObject" Target="../embeddings/oleObject21.bin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37.wmf"/><Relationship Id="rId20" Type="http://schemas.openxmlformats.org/officeDocument/2006/relationships/image" Target="../media/image3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5" Type="http://schemas.openxmlformats.org/officeDocument/2006/relationships/oleObject" Target="../embeddings/oleObject20.bin"/><Relationship Id="rId10" Type="http://schemas.openxmlformats.org/officeDocument/2006/relationships/image" Target="../media/image34.wmf"/><Relationship Id="rId19" Type="http://schemas.openxmlformats.org/officeDocument/2006/relationships/oleObject" Target="../embeddings/oleObject22.bin"/><Relationship Id="rId4" Type="http://schemas.openxmlformats.org/officeDocument/2006/relationships/image" Target="../media/image32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36.wmf"/><Relationship Id="rId22" Type="http://schemas.openxmlformats.org/officeDocument/2006/relationships/image" Target="../media/image40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29.bin"/><Relationship Id="rId18" Type="http://schemas.openxmlformats.org/officeDocument/2006/relationships/image" Target="../media/image48.wmf"/><Relationship Id="rId26" Type="http://schemas.openxmlformats.org/officeDocument/2006/relationships/image" Target="../media/image52.wmf"/><Relationship Id="rId3" Type="http://schemas.openxmlformats.org/officeDocument/2006/relationships/oleObject" Target="../embeddings/oleObject24.bin"/><Relationship Id="rId21" Type="http://schemas.openxmlformats.org/officeDocument/2006/relationships/oleObject" Target="../embeddings/oleObject33.bin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45.wmf"/><Relationship Id="rId17" Type="http://schemas.openxmlformats.org/officeDocument/2006/relationships/oleObject" Target="../embeddings/oleObject31.bin"/><Relationship Id="rId25" Type="http://schemas.openxmlformats.org/officeDocument/2006/relationships/oleObject" Target="../embeddings/oleObject35.bin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47.wmf"/><Relationship Id="rId20" Type="http://schemas.openxmlformats.org/officeDocument/2006/relationships/image" Target="../media/image4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wmf"/><Relationship Id="rId11" Type="http://schemas.openxmlformats.org/officeDocument/2006/relationships/oleObject" Target="../embeddings/oleObject28.bin"/><Relationship Id="rId24" Type="http://schemas.openxmlformats.org/officeDocument/2006/relationships/image" Target="../media/image51.wmf"/><Relationship Id="rId5" Type="http://schemas.openxmlformats.org/officeDocument/2006/relationships/oleObject" Target="../embeddings/oleObject25.bin"/><Relationship Id="rId15" Type="http://schemas.openxmlformats.org/officeDocument/2006/relationships/oleObject" Target="../embeddings/oleObject30.bin"/><Relationship Id="rId23" Type="http://schemas.openxmlformats.org/officeDocument/2006/relationships/oleObject" Target="../embeddings/oleObject34.bin"/><Relationship Id="rId10" Type="http://schemas.openxmlformats.org/officeDocument/2006/relationships/image" Target="../media/image44.wmf"/><Relationship Id="rId19" Type="http://schemas.openxmlformats.org/officeDocument/2006/relationships/oleObject" Target="../embeddings/oleObject32.bin"/><Relationship Id="rId4" Type="http://schemas.openxmlformats.org/officeDocument/2006/relationships/image" Target="../media/image41.wmf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46.wmf"/><Relationship Id="rId22" Type="http://schemas.openxmlformats.org/officeDocument/2006/relationships/image" Target="../media/image50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37.bin"/><Relationship Id="rId10" Type="http://schemas.openxmlformats.org/officeDocument/2006/relationships/image" Target="../media/image56.wmf"/><Relationship Id="rId4" Type="http://schemas.openxmlformats.org/officeDocument/2006/relationships/image" Target="../media/image53.wmf"/><Relationship Id="rId9" Type="http://schemas.openxmlformats.org/officeDocument/2006/relationships/oleObject" Target="../embeddings/oleObject39.bin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ctrTitle"/>
          </p:nvPr>
        </p:nvSpPr>
        <p:spPr bwMode="auto">
          <a:xfrm>
            <a:off x="819150" y="2047875"/>
            <a:ext cx="8324850" cy="804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3600" dirty="0"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  <a:t>BEng (Hons) Control and Automation</a:t>
            </a:r>
            <a:endParaRPr lang="en-US" altLang="en-US" sz="3600" i="1" dirty="0">
              <a:latin typeface="Arial Bold" panose="020B0704020202020204" pitchFamily="34" charset="0"/>
              <a:ea typeface="ＭＳ Ｐゴシック" panose="020B0600070205080204" pitchFamily="34" charset="-128"/>
              <a:cs typeface="Arial Bold" panose="020B0704020202020204" pitchFamily="34" charset="0"/>
            </a:endParaRPr>
          </a:p>
        </p:txBody>
      </p:sp>
      <p:sp>
        <p:nvSpPr>
          <p:cNvPr id="17411" name="Subtitle 2"/>
          <p:cNvSpPr>
            <a:spLocks noGrp="1"/>
          </p:cNvSpPr>
          <p:nvPr>
            <p:ph type="subTitle" idx="1"/>
          </p:nvPr>
        </p:nvSpPr>
        <p:spPr bwMode="auto">
          <a:xfrm>
            <a:off x="819150" y="2944813"/>
            <a:ext cx="7772400" cy="34702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Automation and Robotics</a:t>
            </a:r>
          </a:p>
          <a:p>
            <a:pPr eaLnBrk="1" hangingPunct="1">
              <a:spcBef>
                <a:spcPct val="0"/>
              </a:spcBef>
            </a:pPr>
            <a:endParaRPr lang="en-US" altLang="en-US" sz="2400" b="1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400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CRN: 50295</a:t>
            </a:r>
          </a:p>
          <a:p>
            <a:pPr eaLnBrk="1" hangingPunct="1">
              <a:spcBef>
                <a:spcPct val="0"/>
              </a:spcBef>
            </a:pPr>
            <a:endParaRPr lang="en-US" altLang="en-US" sz="240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2400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800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Dr Saber Mahboubi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1800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Email:    s.mahboubiheydarabad@salford.ac.uk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 bwMode="auto">
          <a:xfrm>
            <a:off x="511175" y="1066800"/>
            <a:ext cx="8175625" cy="2768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GB" altLang="en-US" dirty="0">
                <a:solidFill>
                  <a:schemeClr val="tx1"/>
                </a:solidFill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  <a:t>Lecture Content:</a:t>
            </a:r>
            <a:br>
              <a:rPr lang="en-GB" altLang="en-US" dirty="0">
                <a:solidFill>
                  <a:schemeClr val="tx1"/>
                </a:solidFill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</a:br>
            <a:r>
              <a:rPr lang="en-GB" altLang="en-US" dirty="0">
                <a:solidFill>
                  <a:schemeClr val="tx1"/>
                </a:solidFill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  <a:t>		</a:t>
            </a:r>
            <a:br>
              <a:rPr lang="en-GB" altLang="en-US" dirty="0">
                <a:solidFill>
                  <a:schemeClr val="tx1"/>
                </a:solidFill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</a:br>
            <a:r>
              <a:rPr lang="en-GB" altLang="en-US" dirty="0">
                <a:solidFill>
                  <a:schemeClr val="tx1"/>
                </a:solidFill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  <a:t>		Robot Manipulator Dynamics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Dynamics</a:t>
            </a:r>
            <a:endParaRPr lang="en-GB" sz="2400" dirty="0">
              <a:cs typeface="Arial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194393" y="605557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US" altLang="en-US" sz="2000" b="1" dirty="0"/>
              <a:t>Robot manipulator dynamics deals with the mathematical formulations of the equations of robot arm motion</a:t>
            </a:r>
            <a:endParaRPr sz="2000" b="1" dirty="0">
              <a:latin typeface="+mn-lt"/>
              <a:cs typeface="SimSun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342807" y="4710660"/>
            <a:ext cx="8236713" cy="1951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altLang="en-US" dirty="0"/>
              <a:t>They are useful as:</a:t>
            </a:r>
          </a:p>
          <a:p>
            <a:pPr eaLnBrk="1" hangingPunct="1"/>
            <a:endParaRPr lang="en-GB" altLang="en-US" dirty="0"/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r>
              <a:rPr lang="en-GB" altLang="en-US" dirty="0"/>
              <a:t>An </a:t>
            </a:r>
            <a:r>
              <a:rPr lang="en-GB" altLang="en-US" u="sng" dirty="0"/>
              <a:t>insight</a:t>
            </a:r>
            <a:r>
              <a:rPr lang="en-GB" altLang="en-US" dirty="0"/>
              <a:t> into the structure of the robot system</a:t>
            </a:r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endParaRPr lang="en-GB" altLang="en-US" dirty="0"/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r>
              <a:rPr lang="en-GB" altLang="en-US" dirty="0"/>
              <a:t>A </a:t>
            </a:r>
            <a:r>
              <a:rPr lang="en-GB" altLang="en-US" u="sng" dirty="0"/>
              <a:t>basis</a:t>
            </a:r>
            <a:r>
              <a:rPr lang="en-GB" altLang="en-US" dirty="0"/>
              <a:t> for model based control systems</a:t>
            </a:r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endParaRPr lang="en-GB" altLang="en-US" dirty="0"/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r>
              <a:rPr lang="en-GB" altLang="en-US" dirty="0"/>
              <a:t>A </a:t>
            </a:r>
            <a:r>
              <a:rPr lang="en-GB" altLang="en-US" u="sng" dirty="0"/>
              <a:t>basis</a:t>
            </a:r>
            <a:r>
              <a:rPr lang="en-GB" altLang="en-US" dirty="0"/>
              <a:t> for computer simulations</a:t>
            </a:r>
            <a:endParaRPr lang="en-US" altLang="en-US" dirty="0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E4CD4C0E-E03A-4741-BBDF-D00FD3D93366}"/>
              </a:ext>
            </a:extLst>
          </p:cNvPr>
          <p:cNvSpPr txBox="1"/>
          <p:nvPr/>
        </p:nvSpPr>
        <p:spPr>
          <a:xfrm>
            <a:off x="564480" y="1454842"/>
            <a:ext cx="8236713" cy="33368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They are concerned with:</a:t>
            </a:r>
          </a:p>
          <a:p>
            <a:pPr eaLnBrk="1" hangingPunct="1"/>
            <a:endParaRPr lang="en-US" altLang="en-US" dirty="0"/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Forces</a:t>
            </a:r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Moments</a:t>
            </a:r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Accelerations</a:t>
            </a:r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Velocities</a:t>
            </a:r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The effect of gravity</a:t>
            </a:r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endParaRPr lang="en-US" alt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E3AF6A7-8DE4-406E-8BF7-8B6E039F9526}"/>
              </a:ext>
            </a:extLst>
          </p:cNvPr>
          <p:cNvGrpSpPr/>
          <p:nvPr/>
        </p:nvGrpSpPr>
        <p:grpSpPr>
          <a:xfrm>
            <a:off x="3600796" y="1760024"/>
            <a:ext cx="4592638" cy="2590800"/>
            <a:chOff x="3505200" y="1683824"/>
            <a:chExt cx="4592638" cy="2590800"/>
          </a:xfrm>
        </p:grpSpPr>
        <p:sp>
          <p:nvSpPr>
            <p:cNvPr id="8" name="Line 2">
              <a:extLst>
                <a:ext uri="{FF2B5EF4-FFF2-40B4-BE49-F238E27FC236}">
                  <a16:creationId xmlns:a16="http://schemas.microsoft.com/office/drawing/2014/main" id="{329CF784-A48A-40F2-900E-B0B41350F8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34000" y="2064824"/>
              <a:ext cx="1143000" cy="838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dirty="0"/>
            </a:p>
          </p:txBody>
        </p:sp>
        <p:sp>
          <p:nvSpPr>
            <p:cNvPr id="10" name="Line 5">
              <a:extLst>
                <a:ext uri="{FF2B5EF4-FFF2-40B4-BE49-F238E27FC236}">
                  <a16:creationId xmlns:a16="http://schemas.microsoft.com/office/drawing/2014/main" id="{483F20C7-6DA3-45E8-B500-4A434F0294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34000" y="2979224"/>
              <a:ext cx="0" cy="1143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dirty="0"/>
            </a:p>
          </p:txBody>
        </p:sp>
        <p:sp>
          <p:nvSpPr>
            <p:cNvPr id="11" name="Oval 6">
              <a:extLst>
                <a:ext uri="{FF2B5EF4-FFF2-40B4-BE49-F238E27FC236}">
                  <a16:creationId xmlns:a16="http://schemas.microsoft.com/office/drawing/2014/main" id="{DE2D7DDF-F071-459D-A3D8-38B0166CD8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2826824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endParaRPr lang="en-GB" altLang="en-US" dirty="0"/>
            </a:p>
          </p:txBody>
        </p:sp>
        <p:sp>
          <p:nvSpPr>
            <p:cNvPr id="12" name="Oval 7">
              <a:extLst>
                <a:ext uri="{FF2B5EF4-FFF2-40B4-BE49-F238E27FC236}">
                  <a16:creationId xmlns:a16="http://schemas.microsoft.com/office/drawing/2014/main" id="{3AFAEA2E-E3A1-4426-AAE8-039235DE5B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0800" y="1988624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endParaRPr lang="en-GB" altLang="en-US" dirty="0"/>
            </a:p>
          </p:txBody>
        </p:sp>
        <p:sp>
          <p:nvSpPr>
            <p:cNvPr id="13" name="Line 8">
              <a:extLst>
                <a:ext uri="{FF2B5EF4-FFF2-40B4-BE49-F238E27FC236}">
                  <a16:creationId xmlns:a16="http://schemas.microsoft.com/office/drawing/2014/main" id="{90554DDD-BAF8-4058-BB30-012473BB8A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53200" y="2064824"/>
              <a:ext cx="1219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dirty="0"/>
            </a:p>
          </p:txBody>
        </p:sp>
        <p:sp>
          <p:nvSpPr>
            <p:cNvPr id="14" name="Oval 9">
              <a:extLst>
                <a:ext uri="{FF2B5EF4-FFF2-40B4-BE49-F238E27FC236}">
                  <a16:creationId xmlns:a16="http://schemas.microsoft.com/office/drawing/2014/main" id="{6A4296CD-4118-458B-B58C-AC9CD3816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72400" y="1988624"/>
              <a:ext cx="15240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endParaRPr lang="en-GB" altLang="en-US" dirty="0"/>
            </a:p>
          </p:txBody>
        </p:sp>
        <p:sp>
          <p:nvSpPr>
            <p:cNvPr id="15" name="Line 10">
              <a:extLst>
                <a:ext uri="{FF2B5EF4-FFF2-40B4-BE49-F238E27FC236}">
                  <a16:creationId xmlns:a16="http://schemas.microsoft.com/office/drawing/2014/main" id="{80F49C72-6D39-4F5B-9249-8F78B2917D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48600" y="2141024"/>
              <a:ext cx="0" cy="228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dirty="0"/>
            </a:p>
          </p:txBody>
        </p:sp>
        <p:sp>
          <p:nvSpPr>
            <p:cNvPr id="16" name="Line 11">
              <a:extLst>
                <a:ext uri="{FF2B5EF4-FFF2-40B4-BE49-F238E27FC236}">
                  <a16:creationId xmlns:a16="http://schemas.microsoft.com/office/drawing/2014/main" id="{8A584434-3CEE-4442-8101-AC10507E6E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96200" y="2369624"/>
              <a:ext cx="304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dirty="0"/>
            </a:p>
          </p:txBody>
        </p:sp>
        <p:sp>
          <p:nvSpPr>
            <p:cNvPr id="17" name="Line 12">
              <a:extLst>
                <a:ext uri="{FF2B5EF4-FFF2-40B4-BE49-F238E27FC236}">
                  <a16:creationId xmlns:a16="http://schemas.microsoft.com/office/drawing/2014/main" id="{99E490EF-AC43-43BA-B152-122F6EE9E0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96200" y="2369624"/>
              <a:ext cx="0" cy="152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dirty="0"/>
            </a:p>
          </p:txBody>
        </p:sp>
        <p:sp>
          <p:nvSpPr>
            <p:cNvPr id="18" name="Line 13">
              <a:extLst>
                <a:ext uri="{FF2B5EF4-FFF2-40B4-BE49-F238E27FC236}">
                  <a16:creationId xmlns:a16="http://schemas.microsoft.com/office/drawing/2014/main" id="{EA63D8BE-A40F-4039-9FE5-87EC3F04D6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01000" y="2369624"/>
              <a:ext cx="0" cy="152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dirty="0"/>
            </a:p>
          </p:txBody>
        </p:sp>
        <p:sp>
          <p:nvSpPr>
            <p:cNvPr id="19" name="Line 14">
              <a:extLst>
                <a:ext uri="{FF2B5EF4-FFF2-40B4-BE49-F238E27FC236}">
                  <a16:creationId xmlns:a16="http://schemas.microsoft.com/office/drawing/2014/main" id="{F8ABE9DA-4D24-4802-AE85-F65B195DCA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5800" y="3055424"/>
              <a:ext cx="0" cy="685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dirty="0"/>
            </a:p>
          </p:txBody>
        </p:sp>
        <p:sp>
          <p:nvSpPr>
            <p:cNvPr id="20" name="Line 15">
              <a:extLst>
                <a:ext uri="{FF2B5EF4-FFF2-40B4-BE49-F238E27FC236}">
                  <a16:creationId xmlns:a16="http://schemas.microsoft.com/office/drawing/2014/main" id="{49C0A007-F5D0-4BB9-BB5D-A2D842E0B5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34000" y="1683824"/>
              <a:ext cx="762000" cy="533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dirty="0"/>
            </a:p>
          </p:txBody>
        </p:sp>
        <p:sp>
          <p:nvSpPr>
            <p:cNvPr id="21" name="Line 16">
              <a:extLst>
                <a:ext uri="{FF2B5EF4-FFF2-40B4-BE49-F238E27FC236}">
                  <a16:creationId xmlns:a16="http://schemas.microsoft.com/office/drawing/2014/main" id="{A96BF1E8-74EE-4912-BC51-153226BADF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67400" y="2674424"/>
              <a:ext cx="68580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 dirty="0"/>
            </a:p>
          </p:txBody>
        </p:sp>
        <p:sp>
          <p:nvSpPr>
            <p:cNvPr id="22" name="Text Box 17">
              <a:extLst>
                <a:ext uri="{FF2B5EF4-FFF2-40B4-BE49-F238E27FC236}">
                  <a16:creationId xmlns:a16="http://schemas.microsoft.com/office/drawing/2014/main" id="{5F9BB28D-FC4A-478C-ABD0-71D1310955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2903024"/>
              <a:ext cx="1925638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 dirty="0"/>
                <a:t>Forces, moments</a:t>
              </a:r>
            </a:p>
          </p:txBody>
        </p:sp>
        <p:sp>
          <p:nvSpPr>
            <p:cNvPr id="23" name="Text Box 18">
              <a:extLst>
                <a:ext uri="{FF2B5EF4-FFF2-40B4-BE49-F238E27FC236}">
                  <a16:creationId xmlns:a16="http://schemas.microsoft.com/office/drawing/2014/main" id="{31781ACE-6D08-4E89-83FD-AA955D74B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0" y="1683824"/>
              <a:ext cx="1600200" cy="581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 dirty="0"/>
                <a:t>Velocities, Accelerations</a:t>
              </a:r>
            </a:p>
          </p:txBody>
        </p:sp>
        <p:sp>
          <p:nvSpPr>
            <p:cNvPr id="24" name="Text Box 19">
              <a:extLst>
                <a:ext uri="{FF2B5EF4-FFF2-40B4-BE49-F238E27FC236}">
                  <a16:creationId xmlns:a16="http://schemas.microsoft.com/office/drawing/2014/main" id="{B1D286EA-4A54-4F61-B571-5F080223F8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5200" y="3055424"/>
              <a:ext cx="9271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anose="05000000000000000000" pitchFamily="2" charset="2"/>
                <a:buChar char="•"/>
                <a:defRPr sz="3600">
                  <a:solidFill>
                    <a:schemeClr val="tx1"/>
                  </a:solidFill>
                  <a:latin typeface="Tahoma" panose="020B0604030504040204" pitchFamily="34" charset="0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 dirty="0"/>
                <a:t>Gravity</a:t>
              </a:r>
            </a:p>
          </p:txBody>
        </p:sp>
        <p:grpSp>
          <p:nvGrpSpPr>
            <p:cNvPr id="25" name="Group 20">
              <a:extLst>
                <a:ext uri="{FF2B5EF4-FFF2-40B4-BE49-F238E27FC236}">
                  <a16:creationId xmlns:a16="http://schemas.microsoft.com/office/drawing/2014/main" id="{EB5E6A69-5235-42C7-BA1B-959EA103ED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72000" y="3893624"/>
              <a:ext cx="1447800" cy="381000"/>
              <a:chOff x="1056" y="3600"/>
              <a:chExt cx="912" cy="240"/>
            </a:xfrm>
          </p:grpSpPr>
          <p:sp>
            <p:nvSpPr>
              <p:cNvPr id="26" name="Line 21">
                <a:extLst>
                  <a:ext uri="{FF2B5EF4-FFF2-40B4-BE49-F238E27FC236}">
                    <a16:creationId xmlns:a16="http://schemas.microsoft.com/office/drawing/2014/main" id="{51FF81C3-2776-4470-88F0-66A4520F1D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32" y="3600"/>
                <a:ext cx="336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GB" dirty="0"/>
              </a:p>
            </p:txBody>
          </p:sp>
          <p:grpSp>
            <p:nvGrpSpPr>
              <p:cNvPr id="27" name="Group 22">
                <a:extLst>
                  <a:ext uri="{FF2B5EF4-FFF2-40B4-BE49-F238E27FC236}">
                    <a16:creationId xmlns:a16="http://schemas.microsoft.com/office/drawing/2014/main" id="{2FD1F20F-C732-4240-93CF-4CB037701B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56" y="3600"/>
                <a:ext cx="912" cy="240"/>
                <a:chOff x="1056" y="3600"/>
                <a:chExt cx="912" cy="240"/>
              </a:xfrm>
            </p:grpSpPr>
            <p:sp>
              <p:nvSpPr>
                <p:cNvPr id="28" name="Line 23">
                  <a:extLst>
                    <a:ext uri="{FF2B5EF4-FFF2-40B4-BE49-F238E27FC236}">
                      <a16:creationId xmlns:a16="http://schemas.microsoft.com/office/drawing/2014/main" id="{B1DF0670-C025-44E6-AD0E-8C2AA4C586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56" y="3600"/>
                  <a:ext cx="336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 dirty="0"/>
                </a:p>
              </p:txBody>
            </p:sp>
            <p:sp>
              <p:nvSpPr>
                <p:cNvPr id="29" name="Line 24">
                  <a:extLst>
                    <a:ext uri="{FF2B5EF4-FFF2-40B4-BE49-F238E27FC236}">
                      <a16:creationId xmlns:a16="http://schemas.microsoft.com/office/drawing/2014/main" id="{74724146-D2B5-4165-90A4-F179F07090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3600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 dirty="0"/>
                </a:p>
              </p:txBody>
            </p:sp>
            <p:sp>
              <p:nvSpPr>
                <p:cNvPr id="30" name="Line 25">
                  <a:extLst>
                    <a:ext uri="{FF2B5EF4-FFF2-40B4-BE49-F238E27FC236}">
                      <a16:creationId xmlns:a16="http://schemas.microsoft.com/office/drawing/2014/main" id="{836D2060-DDD7-4070-826E-93ABB4517A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56" y="3840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 dirty="0"/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Robot Joints</a:t>
            </a:r>
            <a:endParaRPr lang="en-GB" sz="2400" dirty="0">
              <a:cs typeface="Arial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GB" sz="2000" b="1" dirty="0">
                <a:latin typeface="+mn-lt"/>
                <a:cs typeface="Times New Roman"/>
              </a:rPr>
              <a:t>Consider our joints again:</a:t>
            </a:r>
            <a:endParaRPr sz="2000" dirty="0">
              <a:latin typeface="+mn-lt"/>
              <a:cs typeface="SimSun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7880E7E-A55B-47A8-8368-879F27AD86D6}"/>
              </a:ext>
            </a:extLst>
          </p:cNvPr>
          <p:cNvGrpSpPr/>
          <p:nvPr/>
        </p:nvGrpSpPr>
        <p:grpSpPr>
          <a:xfrm>
            <a:off x="485508" y="1074114"/>
            <a:ext cx="8236713" cy="1984577"/>
            <a:chOff x="485508" y="1074114"/>
            <a:chExt cx="8236713" cy="1984577"/>
          </a:xfrm>
        </p:grpSpPr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BC225645-2395-4399-A3EF-9424D592831F}"/>
                </a:ext>
              </a:extLst>
            </p:cNvPr>
            <p:cNvSpPr txBox="1"/>
            <p:nvPr/>
          </p:nvSpPr>
          <p:spPr>
            <a:xfrm>
              <a:off x="485508" y="1074114"/>
              <a:ext cx="8236713" cy="1674817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eaLnBrk="1" hangingPunct="1"/>
              <a:r>
                <a:rPr lang="en-US" altLang="en-US" dirty="0"/>
                <a:t>Use Force, linear acceleration, velocity for:</a:t>
              </a:r>
            </a:p>
            <a:p>
              <a:pPr eaLnBrk="1" hangingPunct="1"/>
              <a:endParaRPr lang="en-US" altLang="en-US" dirty="0"/>
            </a:p>
            <a:p>
              <a:pPr marL="742950" lvl="1" indent="-285750" eaLnBrk="1" hangingPunct="1">
                <a:buFont typeface="Arial" panose="020B0604020202020204" pitchFamily="34" charset="0"/>
                <a:buChar char="•"/>
              </a:pPr>
              <a:r>
                <a:rPr lang="en-US" altLang="en-US" dirty="0"/>
                <a:t>Linear joint</a:t>
              </a:r>
            </a:p>
            <a:p>
              <a:pPr marL="742950" lvl="1" indent="-285750" eaLnBrk="1" hangingPunct="1">
                <a:buFont typeface="Arial" panose="020B0604020202020204" pitchFamily="34" charset="0"/>
                <a:buChar char="•"/>
              </a:pPr>
              <a:endParaRPr lang="en-US" altLang="en-US" dirty="0"/>
            </a:p>
            <a:p>
              <a:pPr marL="742950" lvl="1" indent="-285750" eaLnBrk="1" hangingPunct="1">
                <a:buFont typeface="Arial" panose="020B0604020202020204" pitchFamily="34" charset="0"/>
                <a:buChar char="•"/>
              </a:pPr>
              <a:r>
                <a:rPr lang="en-US" altLang="en-US" dirty="0"/>
                <a:t>Orthogonal joint</a:t>
              </a:r>
            </a:p>
            <a:p>
              <a:pPr marL="742950" lvl="1" indent="-285750" eaLnBrk="1" hangingPunct="1">
                <a:buFont typeface="Arial" panose="020B0604020202020204" pitchFamily="34" charset="0"/>
                <a:buChar char="•"/>
              </a:pPr>
              <a:endParaRPr lang="en-US" altLang="en-US" dirty="0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94F4BF0-799B-4492-9C00-D76DFA0C4669}"/>
                </a:ext>
              </a:extLst>
            </p:cNvPr>
            <p:cNvGrpSpPr/>
            <p:nvPr/>
          </p:nvGrpSpPr>
          <p:grpSpPr>
            <a:xfrm>
              <a:off x="5245123" y="1259204"/>
              <a:ext cx="2750939" cy="1799487"/>
              <a:chOff x="5245123" y="1259204"/>
              <a:chExt cx="2750939" cy="1799487"/>
            </a:xfrm>
          </p:grpSpPr>
          <p:pic>
            <p:nvPicPr>
              <p:cNvPr id="8" name="Picture 1028" descr="C:\My Documents\Books\APSCIM-3e\Figures - Completed\8\8.2aC.JPG">
                <a:extLst>
                  <a:ext uri="{FF2B5EF4-FFF2-40B4-BE49-F238E27FC236}">
                    <a16:creationId xmlns:a16="http://schemas.microsoft.com/office/drawing/2014/main" id="{9E5D3F5A-A0DD-4E26-ABE0-CA3581DBC42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03312" y="1259204"/>
                <a:ext cx="2692750" cy="6697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" name="Picture 1029" descr="C:\My Documents\Books\APSCIM-3e\Figures - Completed\8\8.2bC.JPG">
                <a:extLst>
                  <a:ext uri="{FF2B5EF4-FFF2-40B4-BE49-F238E27FC236}">
                    <a16:creationId xmlns:a16="http://schemas.microsoft.com/office/drawing/2014/main" id="{0C82C5B4-C572-43B6-9A37-33D9B0DBBA8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45123" y="1834747"/>
                <a:ext cx="2464724" cy="1223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D97DD6E-F9C6-4A50-B71B-3318FAAF5EB9}"/>
              </a:ext>
            </a:extLst>
          </p:cNvPr>
          <p:cNvGrpSpPr/>
          <p:nvPr/>
        </p:nvGrpSpPr>
        <p:grpSpPr>
          <a:xfrm>
            <a:off x="423164" y="2949756"/>
            <a:ext cx="8236713" cy="3560613"/>
            <a:chOff x="423164" y="2949756"/>
            <a:chExt cx="8236713" cy="3560613"/>
          </a:xfrm>
        </p:grpSpPr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E4CD4C0E-E03A-4741-BBDF-D00FD3D93366}"/>
                </a:ext>
              </a:extLst>
            </p:cNvPr>
            <p:cNvSpPr txBox="1"/>
            <p:nvPr/>
          </p:nvSpPr>
          <p:spPr>
            <a:xfrm>
              <a:off x="423164" y="2949756"/>
              <a:ext cx="8236713" cy="2505814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eaLnBrk="1" hangingPunct="1"/>
              <a:r>
                <a:rPr lang="en-US" altLang="en-US" dirty="0"/>
                <a:t>Use Torque, angular acceleration, </a:t>
              </a:r>
            </a:p>
            <a:p>
              <a:pPr eaLnBrk="1" hangingPunct="1"/>
              <a:r>
                <a:rPr lang="en-US" altLang="en-US" dirty="0"/>
                <a:t>angular velocity for:</a:t>
              </a:r>
            </a:p>
            <a:p>
              <a:pPr eaLnBrk="1" hangingPunct="1"/>
              <a:endParaRPr lang="en-US" altLang="en-US" dirty="0"/>
            </a:p>
            <a:p>
              <a:pPr marL="742950" lvl="1" indent="-285750" eaLnBrk="1" hangingPunct="1">
                <a:buFont typeface="Arial" panose="020B0604020202020204" pitchFamily="34" charset="0"/>
                <a:buChar char="•"/>
              </a:pPr>
              <a:r>
                <a:rPr lang="en-US" altLang="en-US" dirty="0"/>
                <a:t>Rotational joint</a:t>
              </a:r>
            </a:p>
            <a:p>
              <a:pPr lvl="1" eaLnBrk="1" hangingPunct="1"/>
              <a:endParaRPr lang="en-US" altLang="en-US" dirty="0"/>
            </a:p>
            <a:p>
              <a:pPr marL="742950" lvl="1" indent="-285750" eaLnBrk="1" hangingPunct="1">
                <a:buFont typeface="Arial" panose="020B0604020202020204" pitchFamily="34" charset="0"/>
                <a:buChar char="•"/>
              </a:pPr>
              <a:r>
                <a:rPr lang="en-US" altLang="en-US" dirty="0"/>
                <a:t>Twisting joint </a:t>
              </a:r>
            </a:p>
            <a:p>
              <a:pPr marL="742950" lvl="1" indent="-285750" eaLnBrk="1" hangingPunct="1">
                <a:buFont typeface="Arial" panose="020B0604020202020204" pitchFamily="34" charset="0"/>
                <a:buChar char="•"/>
              </a:pPr>
              <a:endParaRPr lang="en-US" altLang="en-US" dirty="0"/>
            </a:p>
            <a:p>
              <a:pPr marL="742950" lvl="1" indent="-285750" eaLnBrk="1" hangingPunct="1">
                <a:buFont typeface="Arial" panose="020B0604020202020204" pitchFamily="34" charset="0"/>
                <a:buChar char="•"/>
              </a:pPr>
              <a:r>
                <a:rPr lang="en-US" altLang="en-US" dirty="0"/>
                <a:t>Revolving joint </a:t>
              </a:r>
            </a:p>
            <a:p>
              <a:pPr marL="742950" lvl="1" indent="-285750" eaLnBrk="1" hangingPunct="1">
                <a:buFont typeface="Arial" panose="020B0604020202020204" pitchFamily="34" charset="0"/>
                <a:buChar char="•"/>
              </a:pPr>
              <a:endParaRPr lang="en-US" altLang="en-US" dirty="0"/>
            </a:p>
          </p:txBody>
        </p:sp>
        <p:pic>
          <p:nvPicPr>
            <p:cNvPr id="11" name="Picture 4" descr="C:\My Documents\Books\APSCIM-3e\Figures - Completed\8\8.2cC.JPG">
              <a:extLst>
                <a:ext uri="{FF2B5EF4-FFF2-40B4-BE49-F238E27FC236}">
                  <a16:creationId xmlns:a16="http://schemas.microsoft.com/office/drawing/2014/main" id="{6BED62A0-8167-4583-94FA-C98134321A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3312" y="3509564"/>
              <a:ext cx="2391778" cy="875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5" descr="C:\My Documents\Books\APSCIM-3e\Figures - Completed\8\8.2dC.JPG">
              <a:extLst>
                <a:ext uri="{FF2B5EF4-FFF2-40B4-BE49-F238E27FC236}">
                  <a16:creationId xmlns:a16="http://schemas.microsoft.com/office/drawing/2014/main" id="{52AE0D3D-0402-4CB7-8E2C-330A741761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8069" y="4190452"/>
              <a:ext cx="2391778" cy="922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6" descr="C:\My Documents\Books\APSCIM-3e\Figures - Completed\8\8.2eC.JPG">
              <a:extLst>
                <a:ext uri="{FF2B5EF4-FFF2-40B4-BE49-F238E27FC236}">
                  <a16:creationId xmlns:a16="http://schemas.microsoft.com/office/drawing/2014/main" id="{FB9E3E25-A9AF-4C56-8F06-BAD95EF452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96920" y="5107181"/>
              <a:ext cx="2699142" cy="1403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86815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Equations of Linear Motion</a:t>
            </a:r>
            <a:endParaRPr lang="en-GB" sz="2400" dirty="0">
              <a:cs typeface="Arial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GB" sz="2000" b="1" dirty="0">
                <a:latin typeface="+mn-lt"/>
                <a:cs typeface="Times New Roman"/>
              </a:rPr>
              <a:t>Recall the basic Newtonian equations force and motion</a:t>
            </a:r>
            <a:endParaRPr sz="2000" dirty="0">
              <a:latin typeface="+mn-lt"/>
              <a:cs typeface="SimSun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485508" y="1080043"/>
            <a:ext cx="8236713" cy="43422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 defTabSz="914400" eaLnBrk="1" hangingPunct="1">
              <a:spcBef>
                <a:spcPts val="0"/>
              </a:spcBef>
              <a:buClr>
                <a:srgbClr val="00007D"/>
              </a:buClr>
              <a:buSzPct val="75000"/>
            </a:pPr>
            <a:r>
              <a:rPr lang="en-US" altLang="en-US" sz="2000" dirty="0">
                <a:latin typeface="Arial"/>
                <a:ea typeface="+mn-ea"/>
              </a:rPr>
              <a:t>F=ma</a:t>
            </a:r>
          </a:p>
          <a:p>
            <a:pPr marL="342900" lvl="0" indent="-342900" defTabSz="914400" eaLnBrk="1" hangingPunct="1">
              <a:spcBef>
                <a:spcPts val="0"/>
              </a:spcBef>
              <a:buClr>
                <a:srgbClr val="00007D"/>
              </a:buClr>
              <a:buSzPct val="75000"/>
            </a:pPr>
            <a:endParaRPr lang="en-US" altLang="en-US" sz="2000" dirty="0">
              <a:latin typeface="Arial"/>
              <a:ea typeface="+mn-ea"/>
            </a:endParaRPr>
          </a:p>
          <a:p>
            <a:pPr marL="342900" lvl="0" indent="-342900" defTabSz="914400" eaLnBrk="1" hangingPunct="1">
              <a:spcBef>
                <a:spcPts val="0"/>
              </a:spcBef>
              <a:buClr>
                <a:srgbClr val="00007D"/>
              </a:buClr>
              <a:buSzPct val="75000"/>
            </a:pPr>
            <a:r>
              <a:rPr lang="en-US" altLang="en-US" sz="2000" dirty="0">
                <a:latin typeface="Arial"/>
                <a:ea typeface="+mn-ea"/>
              </a:rPr>
              <a:t>v</a:t>
            </a:r>
            <a:r>
              <a:rPr lang="en-US" altLang="en-US" sz="2000" baseline="-25000" dirty="0">
                <a:latin typeface="Arial"/>
                <a:ea typeface="+mn-ea"/>
              </a:rPr>
              <a:t>f</a:t>
            </a:r>
            <a:r>
              <a:rPr lang="en-US" altLang="en-US" sz="2000" dirty="0">
                <a:latin typeface="Arial"/>
                <a:ea typeface="+mn-ea"/>
              </a:rPr>
              <a:t>= v</a:t>
            </a:r>
            <a:r>
              <a:rPr lang="en-US" altLang="en-US" sz="2000" baseline="-25000" dirty="0">
                <a:latin typeface="Arial"/>
                <a:ea typeface="+mn-ea"/>
              </a:rPr>
              <a:t>i</a:t>
            </a:r>
            <a:r>
              <a:rPr lang="en-US" altLang="en-US" sz="2000" dirty="0">
                <a:latin typeface="Arial"/>
                <a:ea typeface="+mn-ea"/>
              </a:rPr>
              <a:t>+ at</a:t>
            </a:r>
          </a:p>
          <a:p>
            <a:pPr marL="342900" lvl="0" indent="-342900" defTabSz="914400" eaLnBrk="1" hangingPunct="1">
              <a:spcBef>
                <a:spcPts val="0"/>
              </a:spcBef>
              <a:buClr>
                <a:srgbClr val="00007D"/>
              </a:buClr>
              <a:buSzPct val="75000"/>
            </a:pPr>
            <a:endParaRPr lang="en-US" altLang="en-US" sz="2000" dirty="0">
              <a:latin typeface="Arial"/>
              <a:ea typeface="+mn-ea"/>
            </a:endParaRPr>
          </a:p>
          <a:p>
            <a:pPr marL="342900" lvl="0" indent="-342900" defTabSz="914400" eaLnBrk="1" hangingPunct="1">
              <a:spcBef>
                <a:spcPts val="0"/>
              </a:spcBef>
              <a:buClr>
                <a:srgbClr val="00007D"/>
              </a:buClr>
              <a:buSzPct val="75000"/>
            </a:pPr>
            <a:r>
              <a:rPr lang="en-US" altLang="en-US" sz="2000" dirty="0">
                <a:latin typeface="Arial"/>
                <a:ea typeface="+mn-ea"/>
              </a:rPr>
              <a:t>d= v</a:t>
            </a:r>
            <a:r>
              <a:rPr lang="en-US" altLang="en-US" sz="2000" baseline="-25000" dirty="0">
                <a:latin typeface="Arial"/>
                <a:ea typeface="+mn-ea"/>
              </a:rPr>
              <a:t>i</a:t>
            </a:r>
            <a:r>
              <a:rPr lang="en-US" altLang="en-US" sz="2000" dirty="0">
                <a:latin typeface="Arial"/>
                <a:ea typeface="+mn-ea"/>
              </a:rPr>
              <a:t>t + ½ at</a:t>
            </a:r>
            <a:r>
              <a:rPr lang="en-US" altLang="en-US" sz="2000" baseline="30000" dirty="0">
                <a:latin typeface="Arial"/>
                <a:ea typeface="+mn-ea"/>
              </a:rPr>
              <a:t>2</a:t>
            </a:r>
          </a:p>
          <a:p>
            <a:pPr marL="342900" lvl="0" indent="-342900" defTabSz="914400" eaLnBrk="1" hangingPunct="1">
              <a:spcBef>
                <a:spcPts val="0"/>
              </a:spcBef>
              <a:buClr>
                <a:srgbClr val="00007D"/>
              </a:buClr>
              <a:buSzPct val="75000"/>
            </a:pPr>
            <a:endParaRPr lang="en-US" altLang="en-US" sz="2000" baseline="30000" dirty="0">
              <a:latin typeface="Arial"/>
              <a:ea typeface="+mn-ea"/>
            </a:endParaRPr>
          </a:p>
          <a:p>
            <a:pPr marL="342900" lvl="0" indent="-342900" defTabSz="914400" eaLnBrk="1" hangingPunct="1">
              <a:spcBef>
                <a:spcPts val="0"/>
              </a:spcBef>
              <a:buClr>
                <a:srgbClr val="00007D"/>
              </a:buClr>
              <a:buSzPct val="75000"/>
            </a:pPr>
            <a:r>
              <a:rPr lang="en-US" altLang="en-US" sz="2000" dirty="0">
                <a:latin typeface="Arial"/>
                <a:ea typeface="+mn-ea"/>
              </a:rPr>
              <a:t>v</a:t>
            </a:r>
            <a:r>
              <a:rPr lang="en-US" altLang="en-US" sz="2000" baseline="-25000" dirty="0">
                <a:latin typeface="Arial"/>
                <a:ea typeface="+mn-ea"/>
              </a:rPr>
              <a:t>f</a:t>
            </a:r>
            <a:r>
              <a:rPr lang="en-US" altLang="en-US" sz="2000" baseline="30000" dirty="0">
                <a:latin typeface="Arial"/>
                <a:ea typeface="+mn-ea"/>
              </a:rPr>
              <a:t>2 </a:t>
            </a:r>
            <a:r>
              <a:rPr lang="en-US" altLang="en-US" sz="2000" dirty="0">
                <a:latin typeface="Arial"/>
                <a:ea typeface="+mn-ea"/>
              </a:rPr>
              <a:t>= v</a:t>
            </a:r>
            <a:r>
              <a:rPr lang="en-US" altLang="en-US" sz="2000" baseline="-25000" dirty="0">
                <a:latin typeface="Arial"/>
                <a:ea typeface="+mn-ea"/>
              </a:rPr>
              <a:t>i</a:t>
            </a:r>
            <a:r>
              <a:rPr lang="en-US" altLang="en-US" sz="2000" baseline="30000" dirty="0">
                <a:latin typeface="Arial"/>
                <a:ea typeface="+mn-ea"/>
              </a:rPr>
              <a:t>2 </a:t>
            </a:r>
            <a:r>
              <a:rPr lang="en-US" altLang="en-US" sz="2000" dirty="0">
                <a:latin typeface="Arial"/>
                <a:ea typeface="+mn-ea"/>
              </a:rPr>
              <a:t>+ 2ad</a:t>
            </a:r>
          </a:p>
          <a:p>
            <a:pPr marL="342900" lvl="0" indent="-342900" defTabSz="914400" eaLnBrk="1" hangingPunct="1">
              <a:spcBef>
                <a:spcPts val="0"/>
              </a:spcBef>
              <a:buClr>
                <a:srgbClr val="00007D"/>
              </a:buClr>
              <a:buSzPct val="75000"/>
            </a:pPr>
            <a:r>
              <a:rPr lang="en-US" altLang="en-US" sz="2000" dirty="0">
                <a:latin typeface="Arial"/>
                <a:ea typeface="+mn-ea"/>
              </a:rPr>
              <a:t> </a:t>
            </a:r>
            <a:endParaRPr lang="en-GB" altLang="en-US" sz="2000" dirty="0">
              <a:latin typeface="Arial"/>
              <a:ea typeface="+mn-ea"/>
            </a:endParaRPr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/>
              </a:rPr>
              <a:t>t is the time</a:t>
            </a:r>
            <a:endParaRPr lang="en-US" altLang="en-US" sz="2000" dirty="0"/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/>
              </a:rPr>
              <a:t>d is the displacement</a:t>
            </a:r>
            <a:endParaRPr lang="en-US" altLang="en-US" dirty="0"/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v is velocity</a:t>
            </a:r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a is the acceleration</a:t>
            </a:r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F is the force</a:t>
            </a:r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m is the mass</a:t>
            </a:r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endParaRPr lang="en-US" altLang="en-US" dirty="0"/>
          </a:p>
        </p:txBody>
      </p:sp>
      <p:sp>
        <p:nvSpPr>
          <p:cNvPr id="14" name="object 4">
            <a:extLst>
              <a:ext uri="{FF2B5EF4-FFF2-40B4-BE49-F238E27FC236}">
                <a16:creationId xmlns:a16="http://schemas.microsoft.com/office/drawing/2014/main" id="{4F9E67CF-3AFB-4F4C-8D7D-ADDC0725A8CD}"/>
              </a:ext>
            </a:extLst>
          </p:cNvPr>
          <p:cNvSpPr txBox="1"/>
          <p:nvPr/>
        </p:nvSpPr>
        <p:spPr>
          <a:xfrm>
            <a:off x="485508" y="5736394"/>
            <a:ext cx="8236713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 defTabSz="914400" eaLnBrk="1" hangingPunct="1">
              <a:spcBef>
                <a:spcPts val="0"/>
              </a:spcBef>
              <a:buClr>
                <a:srgbClr val="00007D"/>
              </a:buClr>
              <a:buSzPct val="75000"/>
            </a:pPr>
            <a:r>
              <a:rPr lang="en-US" altLang="en-US" sz="2000" dirty="0">
                <a:latin typeface="Arial"/>
                <a:ea typeface="+mn-ea"/>
              </a:rPr>
              <a:t>These formula can be applied at a basic level to any joint actuator combination that involves just linear motion</a:t>
            </a:r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08355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Consideration of Forces</a:t>
            </a:r>
            <a:endParaRPr lang="en-GB" sz="2400" dirty="0">
              <a:cs typeface="Arial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194393" y="605557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GB" sz="2000" b="1" dirty="0">
                <a:latin typeface="+mn-lt"/>
                <a:cs typeface="Times New Roman"/>
              </a:rPr>
              <a:t>To use the equations of motion consideration needs to be given to forces acting on the joint</a:t>
            </a:r>
            <a:endParaRPr sz="2000" dirty="0">
              <a:latin typeface="+mn-lt"/>
              <a:cs typeface="SimSun"/>
            </a:endParaRPr>
          </a:p>
        </p:txBody>
      </p:sp>
      <p:sp>
        <p:nvSpPr>
          <p:cNvPr id="14" name="object 4">
            <a:extLst>
              <a:ext uri="{FF2B5EF4-FFF2-40B4-BE49-F238E27FC236}">
                <a16:creationId xmlns:a16="http://schemas.microsoft.com/office/drawing/2014/main" id="{4F9E67CF-3AFB-4F4C-8D7D-ADDC0725A8CD}"/>
              </a:ext>
            </a:extLst>
          </p:cNvPr>
          <p:cNvSpPr txBox="1"/>
          <p:nvPr/>
        </p:nvSpPr>
        <p:spPr>
          <a:xfrm>
            <a:off x="485508" y="5736394"/>
            <a:ext cx="8236713" cy="905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 defTabSz="914400" eaLnBrk="1" hangingPunct="1">
              <a:spcBef>
                <a:spcPts val="0"/>
              </a:spcBef>
              <a:buClr>
                <a:srgbClr val="00007D"/>
              </a:buClr>
              <a:buSzPct val="75000"/>
            </a:pPr>
            <a:r>
              <a:rPr lang="en-US" altLang="en-US" sz="2000" dirty="0">
                <a:latin typeface="Arial"/>
                <a:ea typeface="+mn-ea"/>
              </a:rPr>
              <a:t>If we get the forces right a reasonable attempt can be at solving some problems</a:t>
            </a:r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endParaRPr lang="en-US" altLang="en-US" dirty="0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323548ED-12E1-4AD3-B550-CED152987589}"/>
              </a:ext>
            </a:extLst>
          </p:cNvPr>
          <p:cNvSpPr txBox="1"/>
          <p:nvPr/>
        </p:nvSpPr>
        <p:spPr>
          <a:xfrm>
            <a:off x="648097" y="1471724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Actuator Force (F) </a:t>
            </a:r>
          </a:p>
        </p:txBody>
      </p:sp>
      <p:pic>
        <p:nvPicPr>
          <p:cNvPr id="11" name="Picture 1029" descr="C:\My Documents\Books\APSCIM-3e\Figures - Completed\8\8.2bC.JPG">
            <a:extLst>
              <a:ext uri="{FF2B5EF4-FFF2-40B4-BE49-F238E27FC236}">
                <a16:creationId xmlns:a16="http://schemas.microsoft.com/office/drawing/2014/main" id="{79650F93-433D-4BBE-AEEE-8266DAB98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136" y="1398051"/>
            <a:ext cx="2464724" cy="1223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object 4">
            <a:extLst>
              <a:ext uri="{FF2B5EF4-FFF2-40B4-BE49-F238E27FC236}">
                <a16:creationId xmlns:a16="http://schemas.microsoft.com/office/drawing/2014/main" id="{623D79ED-992F-4393-8BCB-1FA83796DA17}"/>
              </a:ext>
            </a:extLst>
          </p:cNvPr>
          <p:cNvSpPr txBox="1"/>
          <p:nvPr/>
        </p:nvSpPr>
        <p:spPr>
          <a:xfrm>
            <a:off x="5006737" y="1674521"/>
            <a:ext cx="50460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F→ </a:t>
            </a:r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A4D5064B-4593-47CF-B654-86D69F5EFB9B}"/>
              </a:ext>
            </a:extLst>
          </p:cNvPr>
          <p:cNvSpPr txBox="1"/>
          <p:nvPr/>
        </p:nvSpPr>
        <p:spPr>
          <a:xfrm>
            <a:off x="648097" y="1806483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Friction  Force (F</a:t>
            </a:r>
            <a:r>
              <a:rPr lang="en-US" altLang="en-US" baseline="-25000" dirty="0"/>
              <a:t>F</a:t>
            </a:r>
            <a:r>
              <a:rPr lang="en-US" altLang="en-US" dirty="0"/>
              <a:t>) </a:t>
            </a:r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A3B44F1B-2199-41DD-8F0E-A0BC6853DA04}"/>
              </a:ext>
            </a:extLst>
          </p:cNvPr>
          <p:cNvSpPr txBox="1"/>
          <p:nvPr/>
        </p:nvSpPr>
        <p:spPr>
          <a:xfrm>
            <a:off x="6831902" y="1911256"/>
            <a:ext cx="50460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←F</a:t>
            </a:r>
            <a:r>
              <a:rPr lang="en-US" altLang="en-US" baseline="-25000" dirty="0"/>
              <a:t>F</a:t>
            </a:r>
            <a:r>
              <a:rPr lang="en-US" altLang="en-US" dirty="0"/>
              <a:t> </a:t>
            </a:r>
          </a:p>
        </p:txBody>
      </p:sp>
      <p:sp>
        <p:nvSpPr>
          <p:cNvPr id="16" name="object 4">
            <a:extLst>
              <a:ext uri="{FF2B5EF4-FFF2-40B4-BE49-F238E27FC236}">
                <a16:creationId xmlns:a16="http://schemas.microsoft.com/office/drawing/2014/main" id="{6AE79E56-6371-4ACF-BA2B-55772E937CC8}"/>
              </a:ext>
            </a:extLst>
          </p:cNvPr>
          <p:cNvSpPr txBox="1"/>
          <p:nvPr/>
        </p:nvSpPr>
        <p:spPr>
          <a:xfrm>
            <a:off x="648097" y="2114053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Damping  Force (F</a:t>
            </a:r>
            <a:r>
              <a:rPr lang="en-US" altLang="en-US" baseline="-25000" dirty="0"/>
              <a:t>D</a:t>
            </a:r>
            <a:r>
              <a:rPr lang="en-US" altLang="en-US" dirty="0"/>
              <a:t>) </a:t>
            </a:r>
          </a:p>
        </p:txBody>
      </p:sp>
      <p:sp>
        <p:nvSpPr>
          <p:cNvPr id="17" name="object 4">
            <a:extLst>
              <a:ext uri="{FF2B5EF4-FFF2-40B4-BE49-F238E27FC236}">
                <a16:creationId xmlns:a16="http://schemas.microsoft.com/office/drawing/2014/main" id="{EE575475-36D2-4833-9BB7-8F7E262B53B1}"/>
              </a:ext>
            </a:extLst>
          </p:cNvPr>
          <p:cNvSpPr txBox="1"/>
          <p:nvPr/>
        </p:nvSpPr>
        <p:spPr>
          <a:xfrm>
            <a:off x="6975670" y="1449421"/>
            <a:ext cx="50460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←F</a:t>
            </a:r>
            <a:r>
              <a:rPr lang="en-US" altLang="en-US" baseline="-25000" dirty="0"/>
              <a:t>D</a:t>
            </a:r>
            <a:r>
              <a:rPr lang="en-US" altLang="en-US" dirty="0"/>
              <a:t> </a:t>
            </a:r>
          </a:p>
        </p:txBody>
      </p:sp>
      <p:sp>
        <p:nvSpPr>
          <p:cNvPr id="18" name="object 4">
            <a:extLst>
              <a:ext uri="{FF2B5EF4-FFF2-40B4-BE49-F238E27FC236}">
                <a16:creationId xmlns:a16="http://schemas.microsoft.com/office/drawing/2014/main" id="{2A1F71B5-31A7-4A32-B9E8-E702143FEE90}"/>
              </a:ext>
            </a:extLst>
          </p:cNvPr>
          <p:cNvSpPr txBox="1"/>
          <p:nvPr/>
        </p:nvSpPr>
        <p:spPr>
          <a:xfrm>
            <a:off x="648097" y="2456391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Braking  Force (F</a:t>
            </a:r>
            <a:r>
              <a:rPr lang="en-US" altLang="en-US" baseline="-25000" dirty="0"/>
              <a:t>B</a:t>
            </a:r>
            <a:r>
              <a:rPr lang="en-US" altLang="en-US" dirty="0"/>
              <a:t>) </a:t>
            </a:r>
          </a:p>
        </p:txBody>
      </p:sp>
      <p:sp>
        <p:nvSpPr>
          <p:cNvPr id="20" name="object 4">
            <a:extLst>
              <a:ext uri="{FF2B5EF4-FFF2-40B4-BE49-F238E27FC236}">
                <a16:creationId xmlns:a16="http://schemas.microsoft.com/office/drawing/2014/main" id="{0B415CCC-264C-4946-89EF-F8FBE7299A5A}"/>
              </a:ext>
            </a:extLst>
          </p:cNvPr>
          <p:cNvSpPr txBox="1"/>
          <p:nvPr/>
        </p:nvSpPr>
        <p:spPr>
          <a:xfrm>
            <a:off x="7754273" y="1676919"/>
            <a:ext cx="50460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←F</a:t>
            </a:r>
            <a:r>
              <a:rPr lang="en-US" altLang="en-US" baseline="-25000" dirty="0"/>
              <a:t>B</a:t>
            </a:r>
            <a:r>
              <a:rPr lang="en-US" altLang="en-US" dirty="0"/>
              <a:t> </a:t>
            </a:r>
          </a:p>
        </p:txBody>
      </p:sp>
      <p:sp>
        <p:nvSpPr>
          <p:cNvPr id="21" name="object 4">
            <a:extLst>
              <a:ext uri="{FF2B5EF4-FFF2-40B4-BE49-F238E27FC236}">
                <a16:creationId xmlns:a16="http://schemas.microsoft.com/office/drawing/2014/main" id="{36931F78-5CEE-415A-AC51-B5E42B1232F1}"/>
              </a:ext>
            </a:extLst>
          </p:cNvPr>
          <p:cNvSpPr txBox="1"/>
          <p:nvPr/>
        </p:nvSpPr>
        <p:spPr>
          <a:xfrm>
            <a:off x="556873" y="3939371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Not forgetting gravity if our joint is acting at an angle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0CBF47B-CCF9-4B0F-96B2-67061FE925BD}"/>
              </a:ext>
            </a:extLst>
          </p:cNvPr>
          <p:cNvGrpSpPr/>
          <p:nvPr/>
        </p:nvGrpSpPr>
        <p:grpSpPr>
          <a:xfrm rot="2679609">
            <a:off x="5700535" y="3894688"/>
            <a:ext cx="3341238" cy="1223944"/>
            <a:chOff x="5378650" y="3559929"/>
            <a:chExt cx="3341238" cy="122394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BB5D678-A50D-4D3A-AF03-F3A7564121FE}"/>
                </a:ext>
              </a:extLst>
            </p:cNvPr>
            <p:cNvGrpSpPr/>
            <p:nvPr/>
          </p:nvGrpSpPr>
          <p:grpSpPr>
            <a:xfrm>
              <a:off x="5467751" y="3559929"/>
              <a:ext cx="3252137" cy="1223944"/>
              <a:chOff x="5467751" y="3559929"/>
              <a:chExt cx="3252137" cy="1223944"/>
            </a:xfrm>
          </p:grpSpPr>
          <p:pic>
            <p:nvPicPr>
              <p:cNvPr id="23" name="Picture 1029" descr="C:\My Documents\Books\APSCIM-3e\Figures - Completed\8\8.2bC.JPG">
                <a:extLst>
                  <a:ext uri="{FF2B5EF4-FFF2-40B4-BE49-F238E27FC236}">
                    <a16:creationId xmlns:a16="http://schemas.microsoft.com/office/drawing/2014/main" id="{8C59D6C0-C7D7-4A00-ACFD-A828206D700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794150" y="3559929"/>
                <a:ext cx="2464724" cy="1223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" name="object 4">
                <a:extLst>
                  <a:ext uri="{FF2B5EF4-FFF2-40B4-BE49-F238E27FC236}">
                    <a16:creationId xmlns:a16="http://schemas.microsoft.com/office/drawing/2014/main" id="{16D151FB-8525-48DA-B9FF-07A1515EAEDB}"/>
                  </a:ext>
                </a:extLst>
              </p:cNvPr>
              <p:cNvSpPr txBox="1"/>
              <p:nvPr/>
            </p:nvSpPr>
            <p:spPr>
              <a:xfrm>
                <a:off x="5467751" y="3836399"/>
                <a:ext cx="504601" cy="289823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eaLnBrk="1" hangingPunct="1"/>
                <a:r>
                  <a:rPr lang="en-US" altLang="en-US" dirty="0"/>
                  <a:t>F→ </a:t>
                </a:r>
              </a:p>
            </p:txBody>
          </p:sp>
          <p:sp>
            <p:nvSpPr>
              <p:cNvPr id="25" name="object 4">
                <a:extLst>
                  <a:ext uri="{FF2B5EF4-FFF2-40B4-BE49-F238E27FC236}">
                    <a16:creationId xmlns:a16="http://schemas.microsoft.com/office/drawing/2014/main" id="{A45DF668-7547-4472-8A60-F890CC4BC5B7}"/>
                  </a:ext>
                </a:extLst>
              </p:cNvPr>
              <p:cNvSpPr txBox="1"/>
              <p:nvPr/>
            </p:nvSpPr>
            <p:spPr>
              <a:xfrm>
                <a:off x="7292916" y="4073134"/>
                <a:ext cx="504601" cy="289823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eaLnBrk="1" hangingPunct="1"/>
                <a:r>
                  <a:rPr lang="en-US" altLang="en-US" dirty="0"/>
                  <a:t>←F</a:t>
                </a:r>
                <a:r>
                  <a:rPr lang="en-US" altLang="en-US" baseline="-25000" dirty="0"/>
                  <a:t>F</a:t>
                </a:r>
                <a:r>
                  <a:rPr lang="en-US" altLang="en-US" dirty="0"/>
                  <a:t> </a:t>
                </a:r>
              </a:p>
            </p:txBody>
          </p:sp>
          <p:sp>
            <p:nvSpPr>
              <p:cNvPr id="26" name="object 4">
                <a:extLst>
                  <a:ext uri="{FF2B5EF4-FFF2-40B4-BE49-F238E27FC236}">
                    <a16:creationId xmlns:a16="http://schemas.microsoft.com/office/drawing/2014/main" id="{6E6F494D-38A7-4E4C-917A-8B739CEAE614}"/>
                  </a:ext>
                </a:extLst>
              </p:cNvPr>
              <p:cNvSpPr txBox="1"/>
              <p:nvPr/>
            </p:nvSpPr>
            <p:spPr>
              <a:xfrm>
                <a:off x="7436684" y="3611299"/>
                <a:ext cx="504601" cy="289823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eaLnBrk="1" hangingPunct="1"/>
                <a:r>
                  <a:rPr lang="en-US" altLang="en-US" dirty="0"/>
                  <a:t>←F</a:t>
                </a:r>
                <a:r>
                  <a:rPr lang="en-US" altLang="en-US" baseline="-25000" dirty="0"/>
                  <a:t>D</a:t>
                </a:r>
                <a:r>
                  <a:rPr lang="en-US" altLang="en-US" dirty="0"/>
                  <a:t> </a:t>
                </a:r>
              </a:p>
            </p:txBody>
          </p:sp>
          <p:sp>
            <p:nvSpPr>
              <p:cNvPr id="27" name="object 4">
                <a:extLst>
                  <a:ext uri="{FF2B5EF4-FFF2-40B4-BE49-F238E27FC236}">
                    <a16:creationId xmlns:a16="http://schemas.microsoft.com/office/drawing/2014/main" id="{4F83A1C4-85A5-4110-94D3-76E5A808F46B}"/>
                  </a:ext>
                </a:extLst>
              </p:cNvPr>
              <p:cNvSpPr txBox="1"/>
              <p:nvPr/>
            </p:nvSpPr>
            <p:spPr>
              <a:xfrm>
                <a:off x="8215287" y="3838797"/>
                <a:ext cx="504601" cy="289823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eaLnBrk="1" hangingPunct="1"/>
                <a:r>
                  <a:rPr lang="en-US" altLang="en-US" dirty="0"/>
                  <a:t>←F</a:t>
                </a:r>
                <a:r>
                  <a:rPr lang="en-US" altLang="en-US" baseline="-25000" dirty="0"/>
                  <a:t>B</a:t>
                </a:r>
                <a:r>
                  <a:rPr lang="en-US" altLang="en-US" dirty="0"/>
                  <a:t> </a:t>
                </a:r>
              </a:p>
            </p:txBody>
          </p:sp>
        </p:grpSp>
        <p:sp>
          <p:nvSpPr>
            <p:cNvPr id="28" name="object 4">
              <a:extLst>
                <a:ext uri="{FF2B5EF4-FFF2-40B4-BE49-F238E27FC236}">
                  <a16:creationId xmlns:a16="http://schemas.microsoft.com/office/drawing/2014/main" id="{7410AACE-FADF-439E-AAE1-AB63B80E9F30}"/>
                </a:ext>
              </a:extLst>
            </p:cNvPr>
            <p:cNvSpPr txBox="1"/>
            <p:nvPr/>
          </p:nvSpPr>
          <p:spPr>
            <a:xfrm>
              <a:off x="5378650" y="4036108"/>
              <a:ext cx="504601" cy="2898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eaLnBrk="1" hangingPunct="1"/>
              <a:r>
                <a:rPr lang="en-US" altLang="en-US" dirty="0"/>
                <a:t>F</a:t>
              </a:r>
              <a:r>
                <a:rPr lang="en-US" altLang="en-US" baseline="-25000" dirty="0"/>
                <a:t>G</a:t>
              </a:r>
              <a:r>
                <a:rPr lang="en-US" altLang="en-US" dirty="0"/>
                <a:t>→ </a:t>
              </a:r>
            </a:p>
          </p:txBody>
        </p:sp>
      </p:grpSp>
      <p:grpSp>
        <p:nvGrpSpPr>
          <p:cNvPr id="21505" name="Group 21504">
            <a:extLst>
              <a:ext uri="{FF2B5EF4-FFF2-40B4-BE49-F238E27FC236}">
                <a16:creationId xmlns:a16="http://schemas.microsoft.com/office/drawing/2014/main" id="{93CAE145-08EE-4505-ADB6-EA67E4ACDFCE}"/>
              </a:ext>
            </a:extLst>
          </p:cNvPr>
          <p:cNvGrpSpPr/>
          <p:nvPr/>
        </p:nvGrpSpPr>
        <p:grpSpPr>
          <a:xfrm>
            <a:off x="7024212" y="4892467"/>
            <a:ext cx="513752" cy="632627"/>
            <a:chOff x="5735340" y="4941057"/>
            <a:chExt cx="513752" cy="632627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3061B2F-0B2E-40DF-A4AD-2DE5C256A9A3}"/>
                </a:ext>
              </a:extLst>
            </p:cNvPr>
            <p:cNvCxnSpPr/>
            <p:nvPr/>
          </p:nvCxnSpPr>
          <p:spPr>
            <a:xfrm>
              <a:off x="5756564" y="4941057"/>
              <a:ext cx="0" cy="63262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B8FD50F-D252-4CA7-9000-C1E394B35617}"/>
                </a:ext>
              </a:extLst>
            </p:cNvPr>
            <p:cNvCxnSpPr/>
            <p:nvPr/>
          </p:nvCxnSpPr>
          <p:spPr>
            <a:xfrm>
              <a:off x="5756564" y="4959199"/>
              <a:ext cx="492528" cy="47440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504" name="TextBox 21503">
              <a:extLst>
                <a:ext uri="{FF2B5EF4-FFF2-40B4-BE49-F238E27FC236}">
                  <a16:creationId xmlns:a16="http://schemas.microsoft.com/office/drawing/2014/main" id="{A24BD91B-011C-464E-BC4A-2136D6DF779D}"/>
                </a:ext>
              </a:extLst>
            </p:cNvPr>
            <p:cNvSpPr txBox="1"/>
            <p:nvPr/>
          </p:nvSpPr>
          <p:spPr>
            <a:xfrm>
              <a:off x="5735340" y="513389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/>
                <a:t>θ</a:t>
              </a:r>
              <a:endParaRPr lang="en-GB" dirty="0"/>
            </a:p>
          </p:txBody>
        </p:sp>
      </p:grpSp>
      <p:sp>
        <p:nvSpPr>
          <p:cNvPr id="35" name="object 4">
            <a:extLst>
              <a:ext uri="{FF2B5EF4-FFF2-40B4-BE49-F238E27FC236}">
                <a16:creationId xmlns:a16="http://schemas.microsoft.com/office/drawing/2014/main" id="{D930A4E4-D9D9-44D1-9A9C-001F05CF9227}"/>
              </a:ext>
            </a:extLst>
          </p:cNvPr>
          <p:cNvSpPr txBox="1"/>
          <p:nvPr/>
        </p:nvSpPr>
        <p:spPr>
          <a:xfrm>
            <a:off x="2441306" y="4676265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F</a:t>
            </a:r>
            <a:r>
              <a:rPr lang="en-US" altLang="en-US" baseline="-25000" dirty="0"/>
              <a:t>G</a:t>
            </a:r>
            <a:r>
              <a:rPr lang="en-US" altLang="en-US" dirty="0"/>
              <a:t>=mg cos</a:t>
            </a:r>
            <a:r>
              <a:rPr lang="el-GR" altLang="en-US" dirty="0"/>
              <a:t>θ</a:t>
            </a:r>
            <a:endParaRPr lang="en-US" altLang="en-US" dirty="0"/>
          </a:p>
        </p:txBody>
      </p:sp>
      <p:sp>
        <p:nvSpPr>
          <p:cNvPr id="36" name="object 4">
            <a:extLst>
              <a:ext uri="{FF2B5EF4-FFF2-40B4-BE49-F238E27FC236}">
                <a16:creationId xmlns:a16="http://schemas.microsoft.com/office/drawing/2014/main" id="{5CBB32B0-B0F8-4AB9-8154-17C0166213E6}"/>
              </a:ext>
            </a:extLst>
          </p:cNvPr>
          <p:cNvSpPr txBox="1"/>
          <p:nvPr/>
        </p:nvSpPr>
        <p:spPr>
          <a:xfrm>
            <a:off x="485508" y="5182290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m is the mass of the bar, g is acceleration due to gravity </a:t>
            </a:r>
          </a:p>
        </p:txBody>
      </p:sp>
    </p:spTree>
    <p:extLst>
      <p:ext uri="{BB962C8B-B14F-4D97-AF65-F5344CB8AC3E}">
        <p14:creationId xmlns:p14="http://schemas.microsoft.com/office/powerpoint/2010/main" val="2304399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7" grpId="0"/>
      <p:bldP spid="12" grpId="0"/>
      <p:bldP spid="13" grpId="0"/>
      <p:bldP spid="15" grpId="0"/>
      <p:bldP spid="16" grpId="0"/>
      <p:bldP spid="17" grpId="0"/>
      <p:bldP spid="18" grpId="0"/>
      <p:bldP spid="20" grpId="0"/>
      <p:bldP spid="21" grpId="0"/>
      <p:bldP spid="35" grpId="0"/>
      <p:bldP spid="3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Typical Dynamics Problem</a:t>
            </a:r>
            <a:endParaRPr lang="en-GB" sz="2400" dirty="0">
              <a:cs typeface="Arial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194393" y="605557"/>
            <a:ext cx="8236713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GB" sz="2000" b="1" dirty="0">
                <a:latin typeface="+mn-lt"/>
                <a:cs typeface="Times New Roman"/>
              </a:rPr>
              <a:t>You need your linear joint to move forward a distance d to connect the end effector with a part, it must not exceed the safe velocity v in transit.</a:t>
            </a:r>
            <a:endParaRPr sz="2000" dirty="0">
              <a:latin typeface="+mn-lt"/>
              <a:cs typeface="SimSun"/>
            </a:endParaRPr>
          </a:p>
        </p:txBody>
      </p:sp>
      <p:sp>
        <p:nvSpPr>
          <p:cNvPr id="30" name="object 4">
            <a:extLst>
              <a:ext uri="{FF2B5EF4-FFF2-40B4-BE49-F238E27FC236}">
                <a16:creationId xmlns:a16="http://schemas.microsoft.com/office/drawing/2014/main" id="{A11ED154-8A40-4972-8D21-12867358BD2B}"/>
              </a:ext>
            </a:extLst>
          </p:cNvPr>
          <p:cNvSpPr txBox="1"/>
          <p:nvPr/>
        </p:nvSpPr>
        <p:spPr>
          <a:xfrm>
            <a:off x="588738" y="1664931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Assume link is horizontal and we know the mass and forces involved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B5D41E9-5426-476C-8BFF-43978F8AB783}"/>
              </a:ext>
            </a:extLst>
          </p:cNvPr>
          <p:cNvGrpSpPr/>
          <p:nvPr/>
        </p:nvGrpSpPr>
        <p:grpSpPr>
          <a:xfrm>
            <a:off x="556873" y="2160759"/>
            <a:ext cx="8236713" cy="1348163"/>
            <a:chOff x="556873" y="2160759"/>
            <a:chExt cx="8236713" cy="1348163"/>
          </a:xfrm>
        </p:grpSpPr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323548ED-12E1-4AD3-B550-CED152987589}"/>
                </a:ext>
              </a:extLst>
            </p:cNvPr>
            <p:cNvSpPr txBox="1"/>
            <p:nvPr/>
          </p:nvSpPr>
          <p:spPr>
            <a:xfrm>
              <a:off x="556873" y="2234432"/>
              <a:ext cx="8236713" cy="2898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eaLnBrk="1" hangingPunct="1"/>
              <a:r>
                <a:rPr lang="en-US" altLang="en-US" dirty="0"/>
                <a:t>Actuator Force available (F) </a:t>
              </a:r>
            </a:p>
          </p:txBody>
        </p:sp>
        <p:sp>
          <p:nvSpPr>
            <p:cNvPr id="13" name="object 4">
              <a:extLst>
                <a:ext uri="{FF2B5EF4-FFF2-40B4-BE49-F238E27FC236}">
                  <a16:creationId xmlns:a16="http://schemas.microsoft.com/office/drawing/2014/main" id="{A4D5064B-4593-47CF-B654-86D69F5EFB9B}"/>
                </a:ext>
              </a:extLst>
            </p:cNvPr>
            <p:cNvSpPr txBox="1"/>
            <p:nvPr/>
          </p:nvSpPr>
          <p:spPr>
            <a:xfrm>
              <a:off x="556873" y="2569191"/>
              <a:ext cx="8236713" cy="2898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eaLnBrk="1" hangingPunct="1"/>
              <a:r>
                <a:rPr lang="en-US" altLang="en-US" dirty="0"/>
                <a:t>Friction  Force (F</a:t>
              </a:r>
              <a:r>
                <a:rPr lang="en-US" altLang="en-US" baseline="-25000" dirty="0"/>
                <a:t>F</a:t>
              </a:r>
              <a:r>
                <a:rPr lang="en-US" altLang="en-US" dirty="0"/>
                <a:t>) </a:t>
              </a:r>
            </a:p>
          </p:txBody>
        </p:sp>
        <p:sp>
          <p:nvSpPr>
            <p:cNvPr id="16" name="object 4">
              <a:extLst>
                <a:ext uri="{FF2B5EF4-FFF2-40B4-BE49-F238E27FC236}">
                  <a16:creationId xmlns:a16="http://schemas.microsoft.com/office/drawing/2014/main" id="{6AE79E56-6371-4ACF-BA2B-55772E937CC8}"/>
                </a:ext>
              </a:extLst>
            </p:cNvPr>
            <p:cNvSpPr txBox="1"/>
            <p:nvPr/>
          </p:nvSpPr>
          <p:spPr>
            <a:xfrm>
              <a:off x="556873" y="2876761"/>
              <a:ext cx="8236713" cy="2898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eaLnBrk="1" hangingPunct="1"/>
              <a:r>
                <a:rPr lang="en-US" altLang="en-US" dirty="0"/>
                <a:t>Damping  Force (F</a:t>
              </a:r>
              <a:r>
                <a:rPr lang="en-US" altLang="en-US" baseline="-25000" dirty="0"/>
                <a:t>D</a:t>
              </a:r>
              <a:r>
                <a:rPr lang="en-US" altLang="en-US" dirty="0"/>
                <a:t>) </a:t>
              </a:r>
            </a:p>
          </p:txBody>
        </p:sp>
        <p:sp>
          <p:nvSpPr>
            <p:cNvPr id="18" name="object 4">
              <a:extLst>
                <a:ext uri="{FF2B5EF4-FFF2-40B4-BE49-F238E27FC236}">
                  <a16:creationId xmlns:a16="http://schemas.microsoft.com/office/drawing/2014/main" id="{2A1F71B5-31A7-4A32-B9E8-E702143FEE90}"/>
                </a:ext>
              </a:extLst>
            </p:cNvPr>
            <p:cNvSpPr txBox="1"/>
            <p:nvPr/>
          </p:nvSpPr>
          <p:spPr>
            <a:xfrm>
              <a:off x="556873" y="3219099"/>
              <a:ext cx="8236713" cy="2898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eaLnBrk="1" hangingPunct="1"/>
              <a:r>
                <a:rPr lang="en-US" altLang="en-US" dirty="0"/>
                <a:t>Braking  Force (F</a:t>
              </a:r>
              <a:r>
                <a:rPr lang="en-US" altLang="en-US" baseline="-25000" dirty="0"/>
                <a:t>B</a:t>
              </a:r>
              <a:r>
                <a:rPr lang="en-US" altLang="en-US" dirty="0"/>
                <a:t>) 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1EE7A5C-2FFD-4ADF-A962-CC6BCA5ABFAB}"/>
                </a:ext>
              </a:extLst>
            </p:cNvPr>
            <p:cNvGrpSpPr/>
            <p:nvPr/>
          </p:nvGrpSpPr>
          <p:grpSpPr>
            <a:xfrm>
              <a:off x="4915513" y="2160759"/>
              <a:ext cx="3252137" cy="1223944"/>
              <a:chOff x="4915513" y="2160759"/>
              <a:chExt cx="3252137" cy="1223944"/>
            </a:xfrm>
          </p:grpSpPr>
          <p:pic>
            <p:nvPicPr>
              <p:cNvPr id="11" name="Picture 1029" descr="C:\My Documents\Books\APSCIM-3e\Figures - Completed\8\8.2bC.JPG">
                <a:extLst>
                  <a:ext uri="{FF2B5EF4-FFF2-40B4-BE49-F238E27FC236}">
                    <a16:creationId xmlns:a16="http://schemas.microsoft.com/office/drawing/2014/main" id="{79650F93-433D-4BBE-AEEE-8266DAB98E0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41912" y="2160759"/>
                <a:ext cx="2464724" cy="12239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623D79ED-992F-4393-8BCB-1FA83796DA17}"/>
                  </a:ext>
                </a:extLst>
              </p:cNvPr>
              <p:cNvSpPr txBox="1"/>
              <p:nvPr/>
            </p:nvSpPr>
            <p:spPr>
              <a:xfrm>
                <a:off x="4915513" y="2437229"/>
                <a:ext cx="504601" cy="289823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eaLnBrk="1" hangingPunct="1"/>
                <a:r>
                  <a:rPr lang="en-US" altLang="en-US" dirty="0"/>
                  <a:t>F→ </a:t>
                </a:r>
              </a:p>
            </p:txBody>
          </p:sp>
          <p:sp>
            <p:nvSpPr>
              <p:cNvPr id="15" name="object 4">
                <a:extLst>
                  <a:ext uri="{FF2B5EF4-FFF2-40B4-BE49-F238E27FC236}">
                    <a16:creationId xmlns:a16="http://schemas.microsoft.com/office/drawing/2014/main" id="{A3B44F1B-2199-41DD-8F0E-A0BC6853DA04}"/>
                  </a:ext>
                </a:extLst>
              </p:cNvPr>
              <p:cNvSpPr txBox="1"/>
              <p:nvPr/>
            </p:nvSpPr>
            <p:spPr>
              <a:xfrm>
                <a:off x="6740678" y="2673964"/>
                <a:ext cx="504601" cy="289823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eaLnBrk="1" hangingPunct="1"/>
                <a:r>
                  <a:rPr lang="en-US" altLang="en-US" dirty="0"/>
                  <a:t>←F</a:t>
                </a:r>
                <a:r>
                  <a:rPr lang="en-US" altLang="en-US" baseline="-25000" dirty="0"/>
                  <a:t>F</a:t>
                </a:r>
                <a:r>
                  <a:rPr lang="en-US" altLang="en-US" dirty="0"/>
                  <a:t> </a:t>
                </a:r>
              </a:p>
            </p:txBody>
          </p:sp>
          <p:sp>
            <p:nvSpPr>
              <p:cNvPr id="17" name="object 4">
                <a:extLst>
                  <a:ext uri="{FF2B5EF4-FFF2-40B4-BE49-F238E27FC236}">
                    <a16:creationId xmlns:a16="http://schemas.microsoft.com/office/drawing/2014/main" id="{EE575475-36D2-4833-9BB7-8F7E262B53B1}"/>
                  </a:ext>
                </a:extLst>
              </p:cNvPr>
              <p:cNvSpPr txBox="1"/>
              <p:nvPr/>
            </p:nvSpPr>
            <p:spPr>
              <a:xfrm>
                <a:off x="6884446" y="2212129"/>
                <a:ext cx="504601" cy="289823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eaLnBrk="1" hangingPunct="1"/>
                <a:r>
                  <a:rPr lang="en-US" altLang="en-US" dirty="0"/>
                  <a:t>←F</a:t>
                </a:r>
                <a:r>
                  <a:rPr lang="en-US" altLang="en-US" baseline="-25000" dirty="0"/>
                  <a:t>D</a:t>
                </a:r>
                <a:r>
                  <a:rPr lang="en-US" altLang="en-US" dirty="0"/>
                  <a:t> </a:t>
                </a:r>
              </a:p>
            </p:txBody>
          </p:sp>
          <p:sp>
            <p:nvSpPr>
              <p:cNvPr id="20" name="object 4">
                <a:extLst>
                  <a:ext uri="{FF2B5EF4-FFF2-40B4-BE49-F238E27FC236}">
                    <a16:creationId xmlns:a16="http://schemas.microsoft.com/office/drawing/2014/main" id="{0B415CCC-264C-4946-89EF-F8FBE7299A5A}"/>
                  </a:ext>
                </a:extLst>
              </p:cNvPr>
              <p:cNvSpPr txBox="1"/>
              <p:nvPr/>
            </p:nvSpPr>
            <p:spPr>
              <a:xfrm>
                <a:off x="7663049" y="2439627"/>
                <a:ext cx="504601" cy="289823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eaLnBrk="1" hangingPunct="1"/>
                <a:r>
                  <a:rPr lang="en-US" altLang="en-US" dirty="0"/>
                  <a:t>←F</a:t>
                </a:r>
                <a:r>
                  <a:rPr lang="en-US" altLang="en-US" baseline="-25000" dirty="0"/>
                  <a:t>B</a:t>
                </a:r>
                <a:r>
                  <a:rPr lang="en-US" altLang="en-US" dirty="0"/>
                  <a:t> </a:t>
                </a:r>
              </a:p>
            </p:txBody>
          </p:sp>
          <p:sp>
            <p:nvSpPr>
              <p:cNvPr id="32" name="object 4">
                <a:extLst>
                  <a:ext uri="{FF2B5EF4-FFF2-40B4-BE49-F238E27FC236}">
                    <a16:creationId xmlns:a16="http://schemas.microsoft.com/office/drawing/2014/main" id="{1FD4E038-CDCD-47D2-931E-F30D4CC61E63}"/>
                  </a:ext>
                </a:extLst>
              </p:cNvPr>
              <p:cNvSpPr txBox="1"/>
              <p:nvPr/>
            </p:nvSpPr>
            <p:spPr>
              <a:xfrm>
                <a:off x="5610141" y="2437229"/>
                <a:ext cx="504601" cy="289823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eaLnBrk="1" hangingPunct="1"/>
                <a:r>
                  <a:rPr lang="en-US" altLang="en-US" dirty="0"/>
                  <a:t>m </a:t>
                </a:r>
              </a:p>
            </p:txBody>
          </p:sp>
        </p:grpSp>
      </p:grpSp>
      <p:sp>
        <p:nvSpPr>
          <p:cNvPr id="33" name="object 4">
            <a:extLst>
              <a:ext uri="{FF2B5EF4-FFF2-40B4-BE49-F238E27FC236}">
                <a16:creationId xmlns:a16="http://schemas.microsoft.com/office/drawing/2014/main" id="{81991B10-1249-4F8E-8BA1-4845196F404E}"/>
              </a:ext>
            </a:extLst>
          </p:cNvPr>
          <p:cNvSpPr txBox="1"/>
          <p:nvPr/>
        </p:nvSpPr>
        <p:spPr>
          <a:xfrm>
            <a:off x="556872" y="3788612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Divide the problem into 3 phases </a:t>
            </a:r>
          </a:p>
        </p:txBody>
      </p:sp>
      <p:sp>
        <p:nvSpPr>
          <p:cNvPr id="40" name="object 4">
            <a:extLst>
              <a:ext uri="{FF2B5EF4-FFF2-40B4-BE49-F238E27FC236}">
                <a16:creationId xmlns:a16="http://schemas.microsoft.com/office/drawing/2014/main" id="{CBE5F406-C3AC-4180-92A3-DD6727A2DA17}"/>
              </a:ext>
            </a:extLst>
          </p:cNvPr>
          <p:cNvSpPr txBox="1"/>
          <p:nvPr/>
        </p:nvSpPr>
        <p:spPr>
          <a:xfrm>
            <a:off x="504733" y="4358125"/>
            <a:ext cx="823671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>
                <a:solidFill>
                  <a:srgbClr val="00B050"/>
                </a:solidFill>
              </a:rPr>
              <a:t>Acceleration phase</a:t>
            </a:r>
          </a:p>
          <a:p>
            <a:pPr eaLnBrk="1" hangingPunct="1"/>
            <a:r>
              <a:rPr lang="en-US" altLang="en-US" dirty="0">
                <a:solidFill>
                  <a:srgbClr val="00B050"/>
                </a:solidFill>
              </a:rPr>
              <a:t>(full actuator force) </a:t>
            </a:r>
          </a:p>
        </p:txBody>
      </p:sp>
      <p:grpSp>
        <p:nvGrpSpPr>
          <p:cNvPr id="21507" name="Group 21506">
            <a:extLst>
              <a:ext uri="{FF2B5EF4-FFF2-40B4-BE49-F238E27FC236}">
                <a16:creationId xmlns:a16="http://schemas.microsoft.com/office/drawing/2014/main" id="{A67656E2-9A08-4E93-88E9-AB6580C419AC}"/>
              </a:ext>
            </a:extLst>
          </p:cNvPr>
          <p:cNvGrpSpPr/>
          <p:nvPr/>
        </p:nvGrpSpPr>
        <p:grpSpPr>
          <a:xfrm>
            <a:off x="3117485" y="4285582"/>
            <a:ext cx="6025738" cy="2217089"/>
            <a:chOff x="3117485" y="4285582"/>
            <a:chExt cx="6025738" cy="2217089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283058B-0232-4C65-A89D-6A012C637E15}"/>
                </a:ext>
              </a:extLst>
            </p:cNvPr>
            <p:cNvGrpSpPr/>
            <p:nvPr/>
          </p:nvGrpSpPr>
          <p:grpSpPr>
            <a:xfrm>
              <a:off x="3117485" y="4285582"/>
              <a:ext cx="6025738" cy="2217089"/>
              <a:chOff x="3117485" y="4285582"/>
              <a:chExt cx="6025738" cy="2217089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1B686AB7-9133-4223-9C0E-2375F2C462EB}"/>
                  </a:ext>
                </a:extLst>
              </p:cNvPr>
              <p:cNvCxnSpPr/>
              <p:nvPr/>
            </p:nvCxnSpPr>
            <p:spPr>
              <a:xfrm>
                <a:off x="3940233" y="4663440"/>
                <a:ext cx="0" cy="146304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F9C15487-8813-4854-8E44-75FF1CE5183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0233" y="6126480"/>
                <a:ext cx="468006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E6D48D7-6F33-4B2C-950A-18061FF690D4}"/>
                  </a:ext>
                </a:extLst>
              </p:cNvPr>
              <p:cNvSpPr txBox="1"/>
              <p:nvPr/>
            </p:nvSpPr>
            <p:spPr>
              <a:xfrm>
                <a:off x="3117485" y="4285582"/>
                <a:ext cx="15056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Velocity(m/s)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7769211-D16D-4C18-AB3E-E2A6296F7CF0}"/>
                  </a:ext>
                </a:extLst>
              </p:cNvPr>
              <p:cNvSpPr txBox="1"/>
              <p:nvPr/>
            </p:nvSpPr>
            <p:spPr>
              <a:xfrm>
                <a:off x="8120764" y="6133339"/>
                <a:ext cx="10224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Time (s)</a:t>
                </a:r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4AF663A-85CE-401B-A041-F6BDEE0A6D0D}"/>
                </a:ext>
              </a:extLst>
            </p:cNvPr>
            <p:cNvSpPr txBox="1"/>
            <p:nvPr/>
          </p:nvSpPr>
          <p:spPr>
            <a:xfrm>
              <a:off x="3687166" y="486093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v</a:t>
              </a:r>
            </a:p>
          </p:txBody>
        </p:sp>
      </p:grpSp>
      <p:cxnSp>
        <p:nvCxnSpPr>
          <p:cNvPr id="21509" name="Straight Connector 21508">
            <a:extLst>
              <a:ext uri="{FF2B5EF4-FFF2-40B4-BE49-F238E27FC236}">
                <a16:creationId xmlns:a16="http://schemas.microsoft.com/office/drawing/2014/main" id="{A02FD2FE-CA85-4C0E-8888-9104AB7CBA24}"/>
              </a:ext>
            </a:extLst>
          </p:cNvPr>
          <p:cNvCxnSpPr/>
          <p:nvPr/>
        </p:nvCxnSpPr>
        <p:spPr>
          <a:xfrm flipV="1">
            <a:off x="3940233" y="5104384"/>
            <a:ext cx="944695" cy="1022096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bject 4">
            <a:extLst>
              <a:ext uri="{FF2B5EF4-FFF2-40B4-BE49-F238E27FC236}">
                <a16:creationId xmlns:a16="http://schemas.microsoft.com/office/drawing/2014/main" id="{E3747883-7128-4739-863E-199B8E6DD86F}"/>
              </a:ext>
            </a:extLst>
          </p:cNvPr>
          <p:cNvSpPr txBox="1"/>
          <p:nvPr/>
        </p:nvSpPr>
        <p:spPr>
          <a:xfrm>
            <a:off x="504734" y="4959603"/>
            <a:ext cx="8236713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>
                <a:solidFill>
                  <a:srgbClr val="0070C0"/>
                </a:solidFill>
              </a:rPr>
              <a:t>Cruising phase</a:t>
            </a:r>
          </a:p>
          <a:p>
            <a:pPr eaLnBrk="1" hangingPunct="1"/>
            <a:r>
              <a:rPr lang="en-US" altLang="en-US" dirty="0">
                <a:solidFill>
                  <a:srgbClr val="0070C0"/>
                </a:solidFill>
              </a:rPr>
              <a:t>(actuator force counters</a:t>
            </a:r>
          </a:p>
          <a:p>
            <a:pPr eaLnBrk="1" hangingPunct="1"/>
            <a:r>
              <a:rPr lang="en-US" altLang="en-US" dirty="0">
                <a:solidFill>
                  <a:srgbClr val="0070C0"/>
                </a:solidFill>
              </a:rPr>
              <a:t> resistances) </a:t>
            </a:r>
          </a:p>
        </p:txBody>
      </p:sp>
      <p:cxnSp>
        <p:nvCxnSpPr>
          <p:cNvPr id="21511" name="Straight Connector 21510">
            <a:extLst>
              <a:ext uri="{FF2B5EF4-FFF2-40B4-BE49-F238E27FC236}">
                <a16:creationId xmlns:a16="http://schemas.microsoft.com/office/drawing/2014/main" id="{C5227DE4-F699-4E96-B1B1-1881D6EA0CAD}"/>
              </a:ext>
            </a:extLst>
          </p:cNvPr>
          <p:cNvCxnSpPr/>
          <p:nvPr/>
        </p:nvCxnSpPr>
        <p:spPr>
          <a:xfrm flipV="1">
            <a:off x="4915513" y="5097526"/>
            <a:ext cx="2428135" cy="6858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bject 4">
            <a:extLst>
              <a:ext uri="{FF2B5EF4-FFF2-40B4-BE49-F238E27FC236}">
                <a16:creationId xmlns:a16="http://schemas.microsoft.com/office/drawing/2014/main" id="{D21D5DD7-83F9-486D-9627-C376618F8851}"/>
              </a:ext>
            </a:extLst>
          </p:cNvPr>
          <p:cNvSpPr txBox="1"/>
          <p:nvPr/>
        </p:nvSpPr>
        <p:spPr>
          <a:xfrm>
            <a:off x="504732" y="5803424"/>
            <a:ext cx="823671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Braking phase</a:t>
            </a:r>
          </a:p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(actuator off, brake on) </a:t>
            </a:r>
          </a:p>
        </p:txBody>
      </p:sp>
      <p:cxnSp>
        <p:nvCxnSpPr>
          <p:cNvPr id="21513" name="Straight Connector 21512">
            <a:extLst>
              <a:ext uri="{FF2B5EF4-FFF2-40B4-BE49-F238E27FC236}">
                <a16:creationId xmlns:a16="http://schemas.microsoft.com/office/drawing/2014/main" id="{24FD9694-710B-44B5-9244-60F0432B33A8}"/>
              </a:ext>
            </a:extLst>
          </p:cNvPr>
          <p:cNvCxnSpPr>
            <a:endCxn id="38" idx="0"/>
          </p:cNvCxnSpPr>
          <p:nvPr/>
        </p:nvCxnSpPr>
        <p:spPr>
          <a:xfrm>
            <a:off x="7343648" y="5097526"/>
            <a:ext cx="1288346" cy="10358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7500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0" grpId="0"/>
      <p:bldP spid="33" grpId="0"/>
      <p:bldP spid="40" grpId="0"/>
      <p:bldP spid="45" grpId="0"/>
      <p:bldP spid="4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Typical Dynamics Problem</a:t>
            </a:r>
            <a:endParaRPr lang="en-GB" sz="2400" dirty="0">
              <a:cs typeface="Arial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GB" sz="2000" b="1" dirty="0">
                <a:latin typeface="+mn-lt"/>
                <a:cs typeface="Times New Roman"/>
              </a:rPr>
              <a:t>Acceleration Phase.</a:t>
            </a:r>
            <a:endParaRPr sz="2000" dirty="0">
              <a:latin typeface="+mn-lt"/>
              <a:cs typeface="SimSun"/>
            </a:endParaRPr>
          </a:p>
        </p:txBody>
      </p:sp>
      <p:sp>
        <p:nvSpPr>
          <p:cNvPr id="30" name="object 4">
            <a:extLst>
              <a:ext uri="{FF2B5EF4-FFF2-40B4-BE49-F238E27FC236}">
                <a16:creationId xmlns:a16="http://schemas.microsoft.com/office/drawing/2014/main" id="{A11ED154-8A40-4972-8D21-12867358BD2B}"/>
              </a:ext>
            </a:extLst>
          </p:cNvPr>
          <p:cNvSpPr txBox="1"/>
          <p:nvPr/>
        </p:nvSpPr>
        <p:spPr>
          <a:xfrm>
            <a:off x="504734" y="1076123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Assume brake is off, so force available for acceleration is:</a:t>
            </a: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323548ED-12E1-4AD3-B550-CED152987589}"/>
              </a:ext>
            </a:extLst>
          </p:cNvPr>
          <p:cNvSpPr txBox="1"/>
          <p:nvPr/>
        </p:nvSpPr>
        <p:spPr>
          <a:xfrm>
            <a:off x="556871" y="1540094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F</a:t>
            </a:r>
            <a:r>
              <a:rPr lang="en-US" altLang="en-US" baseline="-25000" dirty="0"/>
              <a:t>a</a:t>
            </a:r>
            <a:r>
              <a:rPr lang="en-US" altLang="en-US" dirty="0"/>
              <a:t> = F - F</a:t>
            </a:r>
            <a:r>
              <a:rPr lang="en-US" altLang="en-US" baseline="-25000" dirty="0"/>
              <a:t>F</a:t>
            </a:r>
            <a:r>
              <a:rPr lang="en-US" altLang="en-US" dirty="0"/>
              <a:t> -F</a:t>
            </a:r>
            <a:r>
              <a:rPr lang="en-US" altLang="en-US" baseline="-25000" dirty="0"/>
              <a:t>D</a:t>
            </a:r>
            <a:r>
              <a:rPr lang="en-US" altLang="en-US" dirty="0"/>
              <a:t>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1EE7A5C-2FFD-4ADF-A962-CC6BCA5ABFAB}"/>
              </a:ext>
            </a:extLst>
          </p:cNvPr>
          <p:cNvGrpSpPr/>
          <p:nvPr/>
        </p:nvGrpSpPr>
        <p:grpSpPr>
          <a:xfrm>
            <a:off x="5764889" y="1383307"/>
            <a:ext cx="3252137" cy="1223944"/>
            <a:chOff x="4915513" y="2160759"/>
            <a:chExt cx="3252137" cy="1223944"/>
          </a:xfrm>
        </p:grpSpPr>
        <p:pic>
          <p:nvPicPr>
            <p:cNvPr id="11" name="Picture 1029" descr="C:\My Documents\Books\APSCIM-3e\Figures - Completed\8\8.2bC.JPG">
              <a:extLst>
                <a:ext uri="{FF2B5EF4-FFF2-40B4-BE49-F238E27FC236}">
                  <a16:creationId xmlns:a16="http://schemas.microsoft.com/office/drawing/2014/main" id="{79650F93-433D-4BBE-AEEE-8266DAB98E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1912" y="2160759"/>
              <a:ext cx="2464724" cy="1223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object 4">
              <a:extLst>
                <a:ext uri="{FF2B5EF4-FFF2-40B4-BE49-F238E27FC236}">
                  <a16:creationId xmlns:a16="http://schemas.microsoft.com/office/drawing/2014/main" id="{623D79ED-992F-4393-8BCB-1FA83796DA17}"/>
                </a:ext>
              </a:extLst>
            </p:cNvPr>
            <p:cNvSpPr txBox="1"/>
            <p:nvPr/>
          </p:nvSpPr>
          <p:spPr>
            <a:xfrm>
              <a:off x="4915513" y="2437229"/>
              <a:ext cx="504601" cy="2898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eaLnBrk="1" hangingPunct="1"/>
              <a:r>
                <a:rPr lang="en-US" altLang="en-US" dirty="0"/>
                <a:t>F→ </a:t>
              </a:r>
            </a:p>
          </p:txBody>
        </p:sp>
        <p:sp>
          <p:nvSpPr>
            <p:cNvPr id="15" name="object 4">
              <a:extLst>
                <a:ext uri="{FF2B5EF4-FFF2-40B4-BE49-F238E27FC236}">
                  <a16:creationId xmlns:a16="http://schemas.microsoft.com/office/drawing/2014/main" id="{A3B44F1B-2199-41DD-8F0E-A0BC6853DA04}"/>
                </a:ext>
              </a:extLst>
            </p:cNvPr>
            <p:cNvSpPr txBox="1"/>
            <p:nvPr/>
          </p:nvSpPr>
          <p:spPr>
            <a:xfrm>
              <a:off x="6740678" y="2673964"/>
              <a:ext cx="504601" cy="2898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eaLnBrk="1" hangingPunct="1"/>
              <a:r>
                <a:rPr lang="en-US" altLang="en-US" dirty="0"/>
                <a:t>←F</a:t>
              </a:r>
              <a:r>
                <a:rPr lang="en-US" altLang="en-US" baseline="-25000" dirty="0"/>
                <a:t>F</a:t>
              </a:r>
              <a:r>
                <a:rPr lang="en-US" altLang="en-US" dirty="0"/>
                <a:t> </a:t>
              </a:r>
            </a:p>
          </p:txBody>
        </p:sp>
        <p:sp>
          <p:nvSpPr>
            <p:cNvPr id="17" name="object 4">
              <a:extLst>
                <a:ext uri="{FF2B5EF4-FFF2-40B4-BE49-F238E27FC236}">
                  <a16:creationId xmlns:a16="http://schemas.microsoft.com/office/drawing/2014/main" id="{EE575475-36D2-4833-9BB7-8F7E262B53B1}"/>
                </a:ext>
              </a:extLst>
            </p:cNvPr>
            <p:cNvSpPr txBox="1"/>
            <p:nvPr/>
          </p:nvSpPr>
          <p:spPr>
            <a:xfrm>
              <a:off x="6884446" y="2212129"/>
              <a:ext cx="504601" cy="2898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eaLnBrk="1" hangingPunct="1"/>
              <a:r>
                <a:rPr lang="en-US" altLang="en-US" dirty="0"/>
                <a:t>←F</a:t>
              </a:r>
              <a:r>
                <a:rPr lang="en-US" altLang="en-US" baseline="-25000" dirty="0"/>
                <a:t>D</a:t>
              </a:r>
              <a:r>
                <a:rPr lang="en-US" altLang="en-US" dirty="0"/>
                <a:t> </a:t>
              </a:r>
            </a:p>
          </p:txBody>
        </p:sp>
        <p:sp>
          <p:nvSpPr>
            <p:cNvPr id="20" name="object 4">
              <a:extLst>
                <a:ext uri="{FF2B5EF4-FFF2-40B4-BE49-F238E27FC236}">
                  <a16:creationId xmlns:a16="http://schemas.microsoft.com/office/drawing/2014/main" id="{0B415CCC-264C-4946-89EF-F8FBE7299A5A}"/>
                </a:ext>
              </a:extLst>
            </p:cNvPr>
            <p:cNvSpPr txBox="1"/>
            <p:nvPr/>
          </p:nvSpPr>
          <p:spPr>
            <a:xfrm>
              <a:off x="7663049" y="2439627"/>
              <a:ext cx="504601" cy="2898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eaLnBrk="1" hangingPunct="1"/>
              <a:r>
                <a:rPr lang="en-US" altLang="en-US" dirty="0"/>
                <a:t>←F</a:t>
              </a:r>
              <a:r>
                <a:rPr lang="en-US" altLang="en-US" baseline="-25000" dirty="0"/>
                <a:t>B</a:t>
              </a:r>
              <a:r>
                <a:rPr lang="en-US" altLang="en-US" dirty="0"/>
                <a:t> </a:t>
              </a:r>
            </a:p>
          </p:txBody>
        </p:sp>
        <p:sp>
          <p:nvSpPr>
            <p:cNvPr id="32" name="object 4">
              <a:extLst>
                <a:ext uri="{FF2B5EF4-FFF2-40B4-BE49-F238E27FC236}">
                  <a16:creationId xmlns:a16="http://schemas.microsoft.com/office/drawing/2014/main" id="{1FD4E038-CDCD-47D2-931E-F30D4CC61E63}"/>
                </a:ext>
              </a:extLst>
            </p:cNvPr>
            <p:cNvSpPr txBox="1"/>
            <p:nvPr/>
          </p:nvSpPr>
          <p:spPr>
            <a:xfrm>
              <a:off x="5610141" y="2437229"/>
              <a:ext cx="504601" cy="2898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eaLnBrk="1" hangingPunct="1"/>
              <a:r>
                <a:rPr lang="en-US" altLang="en-US" dirty="0"/>
                <a:t>m </a:t>
              </a:r>
            </a:p>
          </p:txBody>
        </p:sp>
      </p:grpSp>
      <p:sp>
        <p:nvSpPr>
          <p:cNvPr id="35" name="object 4">
            <a:extLst>
              <a:ext uri="{FF2B5EF4-FFF2-40B4-BE49-F238E27FC236}">
                <a16:creationId xmlns:a16="http://schemas.microsoft.com/office/drawing/2014/main" id="{7ED15D14-E126-444D-9CE1-F7865A10E86B}"/>
              </a:ext>
            </a:extLst>
          </p:cNvPr>
          <p:cNvSpPr txBox="1"/>
          <p:nvPr/>
        </p:nvSpPr>
        <p:spPr>
          <a:xfrm>
            <a:off x="556870" y="1991318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So acceleration </a:t>
            </a:r>
            <a:r>
              <a:rPr lang="en-US" altLang="en-US" i="1" dirty="0"/>
              <a:t>a</a:t>
            </a:r>
            <a:r>
              <a:rPr lang="en-US" altLang="en-US" dirty="0"/>
              <a:t> is: a=F</a:t>
            </a:r>
            <a:r>
              <a:rPr lang="en-US" altLang="en-US" baseline="-25000" dirty="0"/>
              <a:t>a</a:t>
            </a:r>
            <a:r>
              <a:rPr lang="en-US" altLang="en-US" dirty="0"/>
              <a:t>/m</a:t>
            </a:r>
          </a:p>
        </p:txBody>
      </p:sp>
      <p:sp>
        <p:nvSpPr>
          <p:cNvPr id="37" name="object 4">
            <a:extLst>
              <a:ext uri="{FF2B5EF4-FFF2-40B4-BE49-F238E27FC236}">
                <a16:creationId xmlns:a16="http://schemas.microsoft.com/office/drawing/2014/main" id="{FD008A07-AAED-4B4C-8475-953F873F7313}"/>
              </a:ext>
            </a:extLst>
          </p:cNvPr>
          <p:cNvSpPr txBox="1"/>
          <p:nvPr/>
        </p:nvSpPr>
        <p:spPr>
          <a:xfrm>
            <a:off x="556872" y="2412099"/>
            <a:ext cx="823671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Obtain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a</a:t>
            </a:r>
            <a:r>
              <a:rPr lang="en-US" altLang="en-US" dirty="0"/>
              <a:t> from: </a:t>
            </a:r>
            <a:r>
              <a:rPr lang="en-US" altLang="en-US" dirty="0">
                <a:latin typeface="Arial"/>
              </a:rPr>
              <a:t>v</a:t>
            </a:r>
            <a:r>
              <a:rPr lang="en-US" altLang="en-US" baseline="-25000" dirty="0">
                <a:latin typeface="Arial"/>
              </a:rPr>
              <a:t>f</a:t>
            </a:r>
            <a:r>
              <a:rPr lang="en-US" altLang="en-US" dirty="0">
                <a:latin typeface="Arial"/>
              </a:rPr>
              <a:t>= v</a:t>
            </a:r>
            <a:r>
              <a:rPr lang="en-US" altLang="en-US" baseline="-25000" dirty="0">
                <a:latin typeface="Arial"/>
              </a:rPr>
              <a:t>i</a:t>
            </a:r>
            <a:r>
              <a:rPr lang="en-US" altLang="en-US" dirty="0">
                <a:latin typeface="Arial"/>
              </a:rPr>
              <a:t>+ at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39" name="object 4">
            <a:extLst>
              <a:ext uri="{FF2B5EF4-FFF2-40B4-BE49-F238E27FC236}">
                <a16:creationId xmlns:a16="http://schemas.microsoft.com/office/drawing/2014/main" id="{0893E17C-E966-4AC1-8F0C-0E3AFA90C631}"/>
              </a:ext>
            </a:extLst>
          </p:cNvPr>
          <p:cNvSpPr txBox="1"/>
          <p:nvPr/>
        </p:nvSpPr>
        <p:spPr>
          <a:xfrm>
            <a:off x="556872" y="2840624"/>
            <a:ext cx="823671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 defTabSz="914400" eaLnBrk="1" hangingPunct="1">
              <a:spcBef>
                <a:spcPts val="0"/>
              </a:spcBef>
              <a:buClr>
                <a:srgbClr val="00007D"/>
              </a:buClr>
              <a:buSzPct val="75000"/>
            </a:pPr>
            <a:r>
              <a:rPr lang="en-US" altLang="en-US" dirty="0"/>
              <a:t>Obtain </a:t>
            </a:r>
            <a:r>
              <a:rPr lang="en-US" altLang="en-US" i="1" dirty="0"/>
              <a:t>d</a:t>
            </a:r>
            <a:r>
              <a:rPr lang="en-US" altLang="en-US" i="1" baseline="-25000" dirty="0"/>
              <a:t>a</a:t>
            </a:r>
            <a:r>
              <a:rPr lang="en-US" altLang="en-US" dirty="0"/>
              <a:t> from: </a:t>
            </a:r>
            <a:r>
              <a:rPr lang="en-US" altLang="en-US" dirty="0">
                <a:latin typeface="Arial"/>
              </a:rPr>
              <a:t>d= v</a:t>
            </a:r>
            <a:r>
              <a:rPr lang="en-US" altLang="en-US" baseline="-25000" dirty="0">
                <a:latin typeface="Arial"/>
              </a:rPr>
              <a:t>i</a:t>
            </a:r>
            <a:r>
              <a:rPr lang="en-US" altLang="en-US" dirty="0">
                <a:latin typeface="Arial"/>
              </a:rPr>
              <a:t>t + ½ at</a:t>
            </a:r>
            <a:r>
              <a:rPr lang="en-US" altLang="en-US" baseline="30000" dirty="0">
                <a:latin typeface="Arial"/>
              </a:rPr>
              <a:t>2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42" name="object 4">
            <a:extLst>
              <a:ext uri="{FF2B5EF4-FFF2-40B4-BE49-F238E27FC236}">
                <a16:creationId xmlns:a16="http://schemas.microsoft.com/office/drawing/2014/main" id="{B7B451AD-5D9C-49DB-900D-3CFE2F54BF3B}"/>
              </a:ext>
            </a:extLst>
          </p:cNvPr>
          <p:cNvSpPr txBox="1"/>
          <p:nvPr/>
        </p:nvSpPr>
        <p:spPr>
          <a:xfrm>
            <a:off x="231012" y="3460735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GB" sz="2000" b="1" dirty="0">
                <a:latin typeface="+mn-lt"/>
                <a:cs typeface="Times New Roman"/>
              </a:rPr>
              <a:t>Braking Phase.</a:t>
            </a:r>
            <a:endParaRPr sz="2000" dirty="0">
              <a:latin typeface="+mn-lt"/>
              <a:cs typeface="SimSun"/>
            </a:endParaRPr>
          </a:p>
        </p:txBody>
      </p:sp>
      <p:sp>
        <p:nvSpPr>
          <p:cNvPr id="43" name="object 4">
            <a:extLst>
              <a:ext uri="{FF2B5EF4-FFF2-40B4-BE49-F238E27FC236}">
                <a16:creationId xmlns:a16="http://schemas.microsoft.com/office/drawing/2014/main" id="{6EF77BF1-DAD0-46A2-98BE-B0BA2348B2C8}"/>
              </a:ext>
            </a:extLst>
          </p:cNvPr>
          <p:cNvSpPr txBox="1"/>
          <p:nvPr/>
        </p:nvSpPr>
        <p:spPr>
          <a:xfrm>
            <a:off x="541353" y="3931301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Assume brake is on, actuator is off so total braking force is:</a:t>
            </a:r>
          </a:p>
        </p:txBody>
      </p:sp>
      <p:sp>
        <p:nvSpPr>
          <p:cNvPr id="44" name="object 4">
            <a:extLst>
              <a:ext uri="{FF2B5EF4-FFF2-40B4-BE49-F238E27FC236}">
                <a16:creationId xmlns:a16="http://schemas.microsoft.com/office/drawing/2014/main" id="{CE62AF19-FE2F-424F-AEB8-07F7A5252BAD}"/>
              </a:ext>
            </a:extLst>
          </p:cNvPr>
          <p:cNvSpPr txBox="1"/>
          <p:nvPr/>
        </p:nvSpPr>
        <p:spPr>
          <a:xfrm>
            <a:off x="593490" y="4395272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F</a:t>
            </a:r>
            <a:r>
              <a:rPr lang="en-US" altLang="en-US" baseline="-25000" dirty="0"/>
              <a:t>b</a:t>
            </a:r>
            <a:r>
              <a:rPr lang="en-US" altLang="en-US" dirty="0"/>
              <a:t> = F</a:t>
            </a:r>
            <a:r>
              <a:rPr lang="en-US" altLang="en-US" baseline="-25000" dirty="0"/>
              <a:t>B</a:t>
            </a:r>
            <a:r>
              <a:rPr lang="en-US" altLang="en-US" dirty="0"/>
              <a:t> + F</a:t>
            </a:r>
            <a:r>
              <a:rPr lang="en-US" altLang="en-US" baseline="-25000" dirty="0"/>
              <a:t>F</a:t>
            </a:r>
            <a:r>
              <a:rPr lang="en-US" altLang="en-US" dirty="0"/>
              <a:t> +F</a:t>
            </a:r>
            <a:r>
              <a:rPr lang="en-US" altLang="en-US" baseline="-25000" dirty="0"/>
              <a:t>D</a:t>
            </a:r>
            <a:r>
              <a:rPr lang="en-US" altLang="en-US" dirty="0"/>
              <a:t> </a:t>
            </a:r>
          </a:p>
        </p:txBody>
      </p:sp>
      <p:sp>
        <p:nvSpPr>
          <p:cNvPr id="54" name="object 4">
            <a:extLst>
              <a:ext uri="{FF2B5EF4-FFF2-40B4-BE49-F238E27FC236}">
                <a16:creationId xmlns:a16="http://schemas.microsoft.com/office/drawing/2014/main" id="{E050C782-8C3F-4D4B-8AEB-8B2C5AF409C1}"/>
              </a:ext>
            </a:extLst>
          </p:cNvPr>
          <p:cNvSpPr txBox="1"/>
          <p:nvPr/>
        </p:nvSpPr>
        <p:spPr>
          <a:xfrm>
            <a:off x="593489" y="4846496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So deceleration -</a:t>
            </a:r>
            <a:r>
              <a:rPr lang="en-US" altLang="en-US" i="1" dirty="0"/>
              <a:t>a</a:t>
            </a:r>
            <a:r>
              <a:rPr lang="en-US" altLang="en-US" dirty="0"/>
              <a:t> is: a=F</a:t>
            </a:r>
            <a:r>
              <a:rPr lang="en-US" altLang="en-US" baseline="-25000" dirty="0"/>
              <a:t>b</a:t>
            </a:r>
            <a:r>
              <a:rPr lang="en-US" altLang="en-US" dirty="0"/>
              <a:t>/m</a:t>
            </a:r>
          </a:p>
        </p:txBody>
      </p:sp>
      <p:sp>
        <p:nvSpPr>
          <p:cNvPr id="55" name="object 4">
            <a:extLst>
              <a:ext uri="{FF2B5EF4-FFF2-40B4-BE49-F238E27FC236}">
                <a16:creationId xmlns:a16="http://schemas.microsoft.com/office/drawing/2014/main" id="{DFC2611F-476A-4B63-8FE6-658EECEAD3E3}"/>
              </a:ext>
            </a:extLst>
          </p:cNvPr>
          <p:cNvSpPr txBox="1"/>
          <p:nvPr/>
        </p:nvSpPr>
        <p:spPr>
          <a:xfrm>
            <a:off x="593491" y="5267277"/>
            <a:ext cx="823671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Obtain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b</a:t>
            </a:r>
            <a:r>
              <a:rPr lang="en-US" altLang="en-US" dirty="0"/>
              <a:t> from: </a:t>
            </a:r>
            <a:r>
              <a:rPr lang="en-US" altLang="en-US" dirty="0">
                <a:latin typeface="Arial"/>
              </a:rPr>
              <a:t>v</a:t>
            </a:r>
            <a:r>
              <a:rPr lang="en-US" altLang="en-US" baseline="-25000" dirty="0">
                <a:latin typeface="Arial"/>
              </a:rPr>
              <a:t>f</a:t>
            </a:r>
            <a:r>
              <a:rPr lang="en-US" altLang="en-US" dirty="0">
                <a:latin typeface="Arial"/>
              </a:rPr>
              <a:t>= v</a:t>
            </a:r>
            <a:r>
              <a:rPr lang="en-US" altLang="en-US" baseline="-25000" dirty="0">
                <a:latin typeface="Arial"/>
              </a:rPr>
              <a:t>i</a:t>
            </a:r>
            <a:r>
              <a:rPr lang="en-US" altLang="en-US" dirty="0">
                <a:latin typeface="Arial"/>
              </a:rPr>
              <a:t>+ at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56" name="object 4">
            <a:extLst>
              <a:ext uri="{FF2B5EF4-FFF2-40B4-BE49-F238E27FC236}">
                <a16:creationId xmlns:a16="http://schemas.microsoft.com/office/drawing/2014/main" id="{EBE9E449-4881-4745-82E2-710A414AF498}"/>
              </a:ext>
            </a:extLst>
          </p:cNvPr>
          <p:cNvSpPr txBox="1"/>
          <p:nvPr/>
        </p:nvSpPr>
        <p:spPr>
          <a:xfrm>
            <a:off x="593491" y="5695802"/>
            <a:ext cx="823671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 defTabSz="914400" eaLnBrk="1" hangingPunct="1">
              <a:spcBef>
                <a:spcPts val="0"/>
              </a:spcBef>
              <a:buClr>
                <a:srgbClr val="00007D"/>
              </a:buClr>
              <a:buSzPct val="75000"/>
            </a:pPr>
            <a:r>
              <a:rPr lang="en-US" altLang="en-US" dirty="0"/>
              <a:t>Obtain </a:t>
            </a:r>
            <a:r>
              <a:rPr lang="en-US" altLang="en-US" i="1" dirty="0"/>
              <a:t>d</a:t>
            </a:r>
            <a:r>
              <a:rPr lang="en-US" altLang="en-US" i="1" baseline="-25000" dirty="0"/>
              <a:t>b</a:t>
            </a:r>
            <a:r>
              <a:rPr lang="en-US" altLang="en-US" dirty="0"/>
              <a:t> from: </a:t>
            </a:r>
            <a:r>
              <a:rPr lang="en-US" altLang="en-US" dirty="0">
                <a:latin typeface="Arial"/>
              </a:rPr>
              <a:t>d= v</a:t>
            </a:r>
            <a:r>
              <a:rPr lang="en-US" altLang="en-US" baseline="-25000" dirty="0">
                <a:latin typeface="Arial"/>
              </a:rPr>
              <a:t>i</a:t>
            </a:r>
            <a:r>
              <a:rPr lang="en-US" altLang="en-US" dirty="0">
                <a:latin typeface="Arial"/>
              </a:rPr>
              <a:t>t + ½ at</a:t>
            </a:r>
            <a:r>
              <a:rPr lang="en-US" altLang="en-US" baseline="30000" dirty="0">
                <a:latin typeface="Arial"/>
              </a:rPr>
              <a:t>2</a:t>
            </a:r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57372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0" grpId="0"/>
      <p:bldP spid="7" grpId="0"/>
      <p:bldP spid="35" grpId="0"/>
      <p:bldP spid="37" grpId="0"/>
      <p:bldP spid="39" grpId="0"/>
      <p:bldP spid="42" grpId="0"/>
      <p:bldP spid="43" grpId="0"/>
      <p:bldP spid="44" grpId="0"/>
      <p:bldP spid="54" grpId="0"/>
      <p:bldP spid="55" grpId="0"/>
      <p:bldP spid="5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Typical Dynamics Problem</a:t>
            </a:r>
            <a:endParaRPr lang="en-GB" sz="2400" dirty="0">
              <a:cs typeface="Arial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GB" sz="2000" b="1" dirty="0">
                <a:latin typeface="+mn-lt"/>
                <a:cs typeface="Times New Roman"/>
              </a:rPr>
              <a:t>Cruising Phase.</a:t>
            </a:r>
            <a:endParaRPr sz="2000" dirty="0">
              <a:latin typeface="+mn-lt"/>
              <a:cs typeface="SimSun"/>
            </a:endParaRPr>
          </a:p>
        </p:txBody>
      </p:sp>
      <p:sp>
        <p:nvSpPr>
          <p:cNvPr id="30" name="object 4">
            <a:extLst>
              <a:ext uri="{FF2B5EF4-FFF2-40B4-BE49-F238E27FC236}">
                <a16:creationId xmlns:a16="http://schemas.microsoft.com/office/drawing/2014/main" id="{A11ED154-8A40-4972-8D21-12867358BD2B}"/>
              </a:ext>
            </a:extLst>
          </p:cNvPr>
          <p:cNvSpPr txBox="1"/>
          <p:nvPr/>
        </p:nvSpPr>
        <p:spPr>
          <a:xfrm>
            <a:off x="504734" y="1076123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Assume actuator force set to balance resistive forces</a:t>
            </a: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323548ED-12E1-4AD3-B550-CED152987589}"/>
              </a:ext>
            </a:extLst>
          </p:cNvPr>
          <p:cNvSpPr txBox="1"/>
          <p:nvPr/>
        </p:nvSpPr>
        <p:spPr>
          <a:xfrm>
            <a:off x="556871" y="1540094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F</a:t>
            </a:r>
            <a:r>
              <a:rPr lang="en-US" altLang="en-US" baseline="-25000" dirty="0"/>
              <a:t>c</a:t>
            </a:r>
            <a:r>
              <a:rPr lang="en-US" altLang="en-US" dirty="0"/>
              <a:t> = 0 </a:t>
            </a:r>
          </a:p>
        </p:txBody>
      </p:sp>
      <p:sp>
        <p:nvSpPr>
          <p:cNvPr id="35" name="object 4">
            <a:extLst>
              <a:ext uri="{FF2B5EF4-FFF2-40B4-BE49-F238E27FC236}">
                <a16:creationId xmlns:a16="http://schemas.microsoft.com/office/drawing/2014/main" id="{7ED15D14-E126-444D-9CE1-F7865A10E86B}"/>
              </a:ext>
            </a:extLst>
          </p:cNvPr>
          <p:cNvSpPr txBox="1"/>
          <p:nvPr/>
        </p:nvSpPr>
        <p:spPr>
          <a:xfrm>
            <a:off x="556870" y="1991318"/>
            <a:ext cx="823671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We know the travel distance required is d and we know the distance travelled in the other two phases. So the distance required in the cruising phase is: </a:t>
            </a:r>
          </a:p>
        </p:txBody>
      </p:sp>
      <p:sp>
        <p:nvSpPr>
          <p:cNvPr id="39" name="object 4">
            <a:extLst>
              <a:ext uri="{FF2B5EF4-FFF2-40B4-BE49-F238E27FC236}">
                <a16:creationId xmlns:a16="http://schemas.microsoft.com/office/drawing/2014/main" id="{0893E17C-E966-4AC1-8F0C-0E3AFA90C631}"/>
              </a:ext>
            </a:extLst>
          </p:cNvPr>
          <p:cNvSpPr txBox="1"/>
          <p:nvPr/>
        </p:nvSpPr>
        <p:spPr>
          <a:xfrm>
            <a:off x="541352" y="2719541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 defTabSz="914400" eaLnBrk="1" hangingPunct="1">
              <a:spcBef>
                <a:spcPts val="0"/>
              </a:spcBef>
              <a:buClr>
                <a:srgbClr val="00007D"/>
              </a:buClr>
              <a:buSzPct val="75000"/>
            </a:pPr>
            <a:r>
              <a:rPr lang="en-US" altLang="en-US" i="1" dirty="0"/>
              <a:t>d</a:t>
            </a:r>
            <a:r>
              <a:rPr lang="en-US" altLang="en-US" i="1" baseline="-25000" dirty="0"/>
              <a:t>c</a:t>
            </a:r>
            <a:r>
              <a:rPr lang="en-US" altLang="en-US" dirty="0"/>
              <a:t> =</a:t>
            </a:r>
            <a:r>
              <a:rPr lang="en-US" altLang="en-US" dirty="0">
                <a:latin typeface="Arial"/>
              </a:rPr>
              <a:t>d -</a:t>
            </a:r>
            <a:r>
              <a:rPr lang="en-US" altLang="en-US" i="1" dirty="0"/>
              <a:t>d</a:t>
            </a:r>
            <a:r>
              <a:rPr lang="en-US" altLang="en-US" i="1" baseline="-25000" dirty="0"/>
              <a:t>a </a:t>
            </a:r>
            <a:r>
              <a:rPr lang="en-US" altLang="en-US" dirty="0">
                <a:latin typeface="Arial"/>
              </a:rPr>
              <a:t>-</a:t>
            </a:r>
            <a:r>
              <a:rPr lang="en-US" altLang="en-US" i="1" dirty="0"/>
              <a:t>d</a:t>
            </a:r>
            <a:r>
              <a:rPr lang="en-US" altLang="en-US" i="1" baseline="-25000" dirty="0"/>
              <a:t>b</a:t>
            </a:r>
            <a:endParaRPr lang="en-US" altLang="en-US" dirty="0"/>
          </a:p>
        </p:txBody>
      </p:sp>
      <p:sp>
        <p:nvSpPr>
          <p:cNvPr id="55" name="object 4">
            <a:extLst>
              <a:ext uri="{FF2B5EF4-FFF2-40B4-BE49-F238E27FC236}">
                <a16:creationId xmlns:a16="http://schemas.microsoft.com/office/drawing/2014/main" id="{DFC2611F-476A-4B63-8FE6-658EECEAD3E3}"/>
              </a:ext>
            </a:extLst>
          </p:cNvPr>
          <p:cNvSpPr txBox="1"/>
          <p:nvPr/>
        </p:nvSpPr>
        <p:spPr>
          <a:xfrm>
            <a:off x="504734" y="3911735"/>
            <a:ext cx="8236713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So the joint needs to spend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a</a:t>
            </a:r>
            <a:r>
              <a:rPr lang="en-US" altLang="en-US" dirty="0"/>
              <a:t> with the actuator full on and no brake</a:t>
            </a:r>
          </a:p>
          <a:p>
            <a:pPr eaLnBrk="1" hangingPunct="1"/>
            <a:r>
              <a:rPr lang="en-US" altLang="en-US" dirty="0"/>
              <a:t>                                            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c</a:t>
            </a:r>
            <a:r>
              <a:rPr lang="en-US" altLang="en-US" dirty="0"/>
              <a:t> with the actuator countering resistive forces and</a:t>
            </a:r>
            <a:endParaRPr lang="en-US" altLang="en-US" dirty="0">
              <a:latin typeface="Arial"/>
            </a:endParaRPr>
          </a:p>
          <a:p>
            <a:pPr eaLnBrk="1" hangingPunct="1"/>
            <a:r>
              <a:rPr lang="en-US" altLang="en-US" i="1" dirty="0"/>
              <a:t>                                             t</a:t>
            </a:r>
            <a:r>
              <a:rPr lang="en-US" altLang="en-US" i="1" baseline="-25000" dirty="0"/>
              <a:t>b</a:t>
            </a:r>
            <a:r>
              <a:rPr lang="en-US" altLang="en-US" dirty="0"/>
              <a:t> with the brake full on and no actuator</a:t>
            </a:r>
          </a:p>
        </p:txBody>
      </p:sp>
      <p:sp>
        <p:nvSpPr>
          <p:cNvPr id="56" name="object 4">
            <a:extLst>
              <a:ext uri="{FF2B5EF4-FFF2-40B4-BE49-F238E27FC236}">
                <a16:creationId xmlns:a16="http://schemas.microsoft.com/office/drawing/2014/main" id="{EBE9E449-4881-4745-82E2-710A414AF498}"/>
              </a:ext>
            </a:extLst>
          </p:cNvPr>
          <p:cNvSpPr txBox="1"/>
          <p:nvPr/>
        </p:nvSpPr>
        <p:spPr>
          <a:xfrm>
            <a:off x="504734" y="5412391"/>
            <a:ext cx="823671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 defTabSz="914400" eaLnBrk="1" hangingPunct="1">
              <a:spcBef>
                <a:spcPts val="0"/>
              </a:spcBef>
              <a:buClr>
                <a:srgbClr val="00007D"/>
              </a:buClr>
              <a:buSzPct val="75000"/>
            </a:pPr>
            <a:r>
              <a:rPr lang="en-US" altLang="en-US" dirty="0"/>
              <a:t>At which point it should reach its destination </a:t>
            </a:r>
            <a:r>
              <a:rPr lang="en-US" altLang="en-US" i="1" dirty="0"/>
              <a:t>d</a:t>
            </a:r>
            <a:r>
              <a:rPr lang="en-US" altLang="en-US" dirty="0"/>
              <a:t> at a full stop</a:t>
            </a:r>
            <a:endParaRPr lang="en-US" altLang="en-US" baseline="30000" dirty="0">
              <a:latin typeface="Arial"/>
            </a:endParaRPr>
          </a:p>
          <a:p>
            <a:pPr eaLnBrk="1" hangingPunct="1"/>
            <a:endParaRPr lang="en-US" altLang="en-US" dirty="0"/>
          </a:p>
        </p:txBody>
      </p:sp>
      <p:sp>
        <p:nvSpPr>
          <p:cNvPr id="22" name="object 4">
            <a:extLst>
              <a:ext uri="{FF2B5EF4-FFF2-40B4-BE49-F238E27FC236}">
                <a16:creationId xmlns:a16="http://schemas.microsoft.com/office/drawing/2014/main" id="{46EAB948-BE64-419B-9891-44B2642BBA8B}"/>
              </a:ext>
            </a:extLst>
          </p:cNvPr>
          <p:cNvSpPr txBox="1"/>
          <p:nvPr/>
        </p:nvSpPr>
        <p:spPr>
          <a:xfrm>
            <a:off x="541353" y="3249682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So the time in the cruising phase must be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c</a:t>
            </a:r>
            <a:r>
              <a:rPr lang="en-US" altLang="en-US" i="1" dirty="0"/>
              <a:t>= d</a:t>
            </a:r>
            <a:r>
              <a:rPr lang="en-US" altLang="en-US" i="1" baseline="-25000" dirty="0"/>
              <a:t>c</a:t>
            </a:r>
            <a:r>
              <a:rPr lang="en-US" altLang="en-US" dirty="0"/>
              <a:t> /v</a:t>
            </a:r>
          </a:p>
        </p:txBody>
      </p:sp>
    </p:spTree>
    <p:extLst>
      <p:ext uri="{BB962C8B-B14F-4D97-AF65-F5344CB8AC3E}">
        <p14:creationId xmlns:p14="http://schemas.microsoft.com/office/powerpoint/2010/main" val="3914255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0" grpId="0"/>
      <p:bldP spid="7" grpId="0"/>
      <p:bldP spid="35" grpId="0"/>
      <p:bldP spid="39" grpId="0"/>
      <p:bldP spid="55" grpId="0"/>
      <p:bldP spid="56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Equations of Angular Motion</a:t>
            </a:r>
            <a:endParaRPr lang="en-GB" sz="2400" dirty="0">
              <a:cs typeface="Arial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194393" y="605557"/>
            <a:ext cx="8799239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GB" sz="2000" b="1" dirty="0">
                <a:latin typeface="+mn-lt"/>
                <a:cs typeface="Times New Roman"/>
              </a:rPr>
              <a:t>Also recall the basic Newtonian equations angular force and motion which are direct equivalents to the linear equations of motion</a:t>
            </a:r>
            <a:endParaRPr sz="2000" dirty="0">
              <a:latin typeface="+mn-lt"/>
              <a:cs typeface="SimSun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475655" y="3338063"/>
            <a:ext cx="8236713" cy="14593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 defTabSz="914400" eaLnBrk="1" hangingPunct="1">
              <a:spcBef>
                <a:spcPts val="0"/>
              </a:spcBef>
              <a:buClr>
                <a:srgbClr val="00007D"/>
              </a:buClr>
              <a:buSzPct val="75000"/>
            </a:pPr>
            <a:r>
              <a:rPr lang="en-US" altLang="en-US" sz="2000" dirty="0">
                <a:latin typeface="Arial"/>
                <a:ea typeface="+mn-ea"/>
              </a:rPr>
              <a:t> </a:t>
            </a:r>
            <a:endParaRPr lang="en-GB" altLang="en-US" sz="2000" dirty="0">
              <a:latin typeface="Arial"/>
              <a:ea typeface="+mn-ea"/>
            </a:endParaRPr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/>
              </a:rPr>
              <a:t>t is the time</a:t>
            </a:r>
            <a:endParaRPr lang="en-US" altLang="en-US" sz="2000" dirty="0"/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r>
              <a:rPr lang="el-GR" altLang="en-US" dirty="0">
                <a:latin typeface="Arial"/>
              </a:rPr>
              <a:t>θ</a:t>
            </a:r>
            <a:r>
              <a:rPr lang="en-US" altLang="en-US" dirty="0">
                <a:latin typeface="Arial"/>
              </a:rPr>
              <a:t> is the displaced angle</a:t>
            </a:r>
            <a:endParaRPr lang="en-US" altLang="en-US" dirty="0"/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r>
              <a:rPr lang="el-GR" altLang="en-US" dirty="0"/>
              <a:t>ω</a:t>
            </a:r>
            <a:r>
              <a:rPr lang="en-US" altLang="en-US" dirty="0"/>
              <a:t> is angular velocity</a:t>
            </a:r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r>
              <a:rPr lang="el-GR" altLang="en-US" dirty="0"/>
              <a:t>α</a:t>
            </a:r>
            <a:r>
              <a:rPr lang="en-US" altLang="en-US" dirty="0"/>
              <a:t> is the angular acceleration</a:t>
            </a:r>
          </a:p>
        </p:txBody>
      </p:sp>
      <p:sp>
        <p:nvSpPr>
          <p:cNvPr id="14" name="object 4">
            <a:extLst>
              <a:ext uri="{FF2B5EF4-FFF2-40B4-BE49-F238E27FC236}">
                <a16:creationId xmlns:a16="http://schemas.microsoft.com/office/drawing/2014/main" id="{4F9E67CF-3AFB-4F4C-8D7D-ADDC0725A8CD}"/>
              </a:ext>
            </a:extLst>
          </p:cNvPr>
          <p:cNvSpPr txBox="1"/>
          <p:nvPr/>
        </p:nvSpPr>
        <p:spPr>
          <a:xfrm>
            <a:off x="623684" y="5091339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 defTabSz="914400" eaLnBrk="1" hangingPunct="1">
              <a:spcBef>
                <a:spcPts val="0"/>
              </a:spcBef>
              <a:buClr>
                <a:srgbClr val="00007D"/>
              </a:buClr>
              <a:buSzPct val="75000"/>
            </a:pPr>
            <a:r>
              <a:rPr lang="en-US" altLang="en-US" sz="2000" dirty="0">
                <a:latin typeface="Arial"/>
                <a:ea typeface="+mn-ea"/>
              </a:rPr>
              <a:t>The big difference with angular dynamics is the force based equation which uses torque (</a:t>
            </a:r>
            <a:r>
              <a:rPr lang="el-GR" altLang="en-US" sz="2000" dirty="0">
                <a:latin typeface="Arial"/>
                <a:ea typeface="+mn-ea"/>
              </a:rPr>
              <a:t>τ</a:t>
            </a:r>
            <a:r>
              <a:rPr lang="en-GB" altLang="en-US" sz="2000" dirty="0">
                <a:latin typeface="Arial"/>
                <a:ea typeface="+mn-ea"/>
              </a:rPr>
              <a:t>) and a quantity known as the moment of inertia (I)</a:t>
            </a:r>
            <a:endParaRPr lang="en-US" altLang="en-US" dirty="0"/>
          </a:p>
        </p:txBody>
      </p:sp>
      <p:pic>
        <p:nvPicPr>
          <p:cNvPr id="6" name="Picture 5" descr="08_KeyEquation_09.jpg">
            <a:extLst>
              <a:ext uri="{FF2B5EF4-FFF2-40B4-BE49-F238E27FC236}">
                <a16:creationId xmlns:a16="http://schemas.microsoft.com/office/drawing/2014/main" id="{E5DEFC24-34B2-42CC-AEF9-ACEC47DDFDA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292" b="29769"/>
          <a:stretch/>
        </p:blipFill>
        <p:spPr>
          <a:xfrm>
            <a:off x="875791" y="1373602"/>
            <a:ext cx="5943601" cy="220596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880D7D5-4BA0-4A9E-A838-47F2A41F3E7D}"/>
              </a:ext>
            </a:extLst>
          </p:cNvPr>
          <p:cNvSpPr/>
          <p:nvPr/>
        </p:nvSpPr>
        <p:spPr>
          <a:xfrm>
            <a:off x="926244" y="5988902"/>
            <a:ext cx="6078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defTabSz="914400" eaLnBrk="1" hangingPunct="1">
              <a:spcBef>
                <a:spcPts val="0"/>
              </a:spcBef>
              <a:buClr>
                <a:srgbClr val="00007D"/>
              </a:buClr>
              <a:buSzPct val="75000"/>
            </a:pPr>
            <a:r>
              <a:rPr lang="en-US" altLang="en-US" dirty="0">
                <a:latin typeface="Arial"/>
              </a:rPr>
              <a:t>τ=Iα</a:t>
            </a:r>
          </a:p>
        </p:txBody>
      </p:sp>
    </p:spTree>
    <p:extLst>
      <p:ext uri="{BB962C8B-B14F-4D97-AF65-F5344CB8AC3E}">
        <p14:creationId xmlns:p14="http://schemas.microsoft.com/office/powerpoint/2010/main" val="3876970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" grpId="0"/>
      <p:bldP spid="14" grpId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Moment of Inertia</a:t>
            </a:r>
            <a:endParaRPr lang="en-GB" sz="2400" dirty="0">
              <a:cs typeface="Arial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194393" y="605557"/>
            <a:ext cx="8799239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GB" sz="2000" b="1" dirty="0">
                <a:latin typeface="+mn-lt"/>
                <a:cs typeface="Times New Roman"/>
              </a:rPr>
              <a:t>Moment of inertia is a quantity which is based not just on the mass but the distribution of that mass in the object.</a:t>
            </a:r>
            <a:endParaRPr sz="2000" dirty="0">
              <a:latin typeface="+mn-lt"/>
              <a:cs typeface="SimSun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4518194" y="3110479"/>
            <a:ext cx="3949531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 defTabSz="914400" eaLnBrk="1" hangingPunct="1">
              <a:spcBef>
                <a:spcPts val="0"/>
              </a:spcBef>
              <a:buClr>
                <a:srgbClr val="00007D"/>
              </a:buClr>
              <a:buSzPct val="75000"/>
            </a:pPr>
            <a:r>
              <a:rPr lang="en-GB" altLang="en-US" sz="2000" dirty="0">
                <a:latin typeface="Arial"/>
                <a:ea typeface="+mn-ea"/>
              </a:rPr>
              <a:t>So unless the shape is well defined it is a less useful quantity for performing simple estimates</a:t>
            </a:r>
            <a:endParaRPr lang="en-US" altLang="en-US" dirty="0"/>
          </a:p>
        </p:txBody>
      </p:sp>
      <p:pic>
        <p:nvPicPr>
          <p:cNvPr id="8" name="Picture 7" descr="08_20_Figure.jpg">
            <a:extLst>
              <a:ext uri="{FF2B5EF4-FFF2-40B4-BE49-F238E27FC236}">
                <a16:creationId xmlns:a16="http://schemas.microsoft.com/office/drawing/2014/main" id="{CA14AAF2-BF45-41A9-8FCE-52FDEE2248A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10" b="3724"/>
          <a:stretch/>
        </p:blipFill>
        <p:spPr>
          <a:xfrm>
            <a:off x="586666" y="1331905"/>
            <a:ext cx="3489039" cy="5197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681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Consideration of Torques</a:t>
            </a:r>
            <a:endParaRPr lang="en-GB" sz="2400" dirty="0">
              <a:cs typeface="Arial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194393" y="605557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GB" sz="2000" b="1" dirty="0">
                <a:latin typeface="+mn-lt"/>
                <a:cs typeface="Times New Roman"/>
              </a:rPr>
              <a:t>We can consider the application of torques in much the same way we did with the linear case</a:t>
            </a: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323548ED-12E1-4AD3-B550-CED152987589}"/>
              </a:ext>
            </a:extLst>
          </p:cNvPr>
          <p:cNvSpPr txBox="1"/>
          <p:nvPr/>
        </p:nvSpPr>
        <p:spPr>
          <a:xfrm>
            <a:off x="648097" y="1471724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Actuator Torque (</a:t>
            </a:r>
            <a:r>
              <a:rPr lang="el-GR" altLang="en-US" dirty="0"/>
              <a:t>τ</a:t>
            </a:r>
            <a:r>
              <a:rPr lang="en-US" altLang="en-US" dirty="0"/>
              <a:t>) </a:t>
            </a:r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A4D5064B-4593-47CF-B654-86D69F5EFB9B}"/>
              </a:ext>
            </a:extLst>
          </p:cNvPr>
          <p:cNvSpPr txBox="1"/>
          <p:nvPr/>
        </p:nvSpPr>
        <p:spPr>
          <a:xfrm>
            <a:off x="648097" y="1806483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Friction Torque (</a:t>
            </a:r>
            <a:r>
              <a:rPr lang="el-GR" altLang="en-US" dirty="0"/>
              <a:t>τ </a:t>
            </a:r>
            <a:r>
              <a:rPr lang="en-US" altLang="en-US" baseline="-25000" dirty="0"/>
              <a:t>F</a:t>
            </a:r>
            <a:r>
              <a:rPr lang="en-US" altLang="en-US" dirty="0"/>
              <a:t>) </a:t>
            </a:r>
          </a:p>
        </p:txBody>
      </p:sp>
      <p:sp>
        <p:nvSpPr>
          <p:cNvPr id="16" name="object 4">
            <a:extLst>
              <a:ext uri="{FF2B5EF4-FFF2-40B4-BE49-F238E27FC236}">
                <a16:creationId xmlns:a16="http://schemas.microsoft.com/office/drawing/2014/main" id="{6AE79E56-6371-4ACF-BA2B-55772E937CC8}"/>
              </a:ext>
            </a:extLst>
          </p:cNvPr>
          <p:cNvSpPr txBox="1"/>
          <p:nvPr/>
        </p:nvSpPr>
        <p:spPr>
          <a:xfrm>
            <a:off x="648097" y="2114053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Damping Torque (</a:t>
            </a:r>
            <a:r>
              <a:rPr lang="el-GR" altLang="en-US" dirty="0"/>
              <a:t>τ </a:t>
            </a:r>
            <a:r>
              <a:rPr lang="en-US" altLang="en-US" baseline="-25000" dirty="0"/>
              <a:t>D</a:t>
            </a:r>
            <a:r>
              <a:rPr lang="en-US" altLang="en-US" dirty="0"/>
              <a:t>) </a:t>
            </a:r>
          </a:p>
        </p:txBody>
      </p:sp>
      <p:sp>
        <p:nvSpPr>
          <p:cNvPr id="18" name="object 4">
            <a:extLst>
              <a:ext uri="{FF2B5EF4-FFF2-40B4-BE49-F238E27FC236}">
                <a16:creationId xmlns:a16="http://schemas.microsoft.com/office/drawing/2014/main" id="{2A1F71B5-31A7-4A32-B9E8-E702143FEE90}"/>
              </a:ext>
            </a:extLst>
          </p:cNvPr>
          <p:cNvSpPr txBox="1"/>
          <p:nvPr/>
        </p:nvSpPr>
        <p:spPr>
          <a:xfrm>
            <a:off x="648097" y="2456391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Braking Torque (</a:t>
            </a:r>
            <a:r>
              <a:rPr lang="el-GR" altLang="en-US" dirty="0"/>
              <a:t>τ </a:t>
            </a:r>
            <a:r>
              <a:rPr lang="en-US" altLang="en-US" baseline="-25000" dirty="0"/>
              <a:t>B</a:t>
            </a:r>
            <a:r>
              <a:rPr lang="en-US" altLang="en-US" dirty="0"/>
              <a:t>) </a:t>
            </a:r>
          </a:p>
        </p:txBody>
      </p:sp>
      <p:sp>
        <p:nvSpPr>
          <p:cNvPr id="21" name="object 4">
            <a:extLst>
              <a:ext uri="{FF2B5EF4-FFF2-40B4-BE49-F238E27FC236}">
                <a16:creationId xmlns:a16="http://schemas.microsoft.com/office/drawing/2014/main" id="{36931F78-5CEE-415A-AC51-B5E42B1232F1}"/>
              </a:ext>
            </a:extLst>
          </p:cNvPr>
          <p:cNvSpPr txBox="1"/>
          <p:nvPr/>
        </p:nvSpPr>
        <p:spPr>
          <a:xfrm>
            <a:off x="556873" y="3939371"/>
            <a:ext cx="823671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Gravity cause more of a problem in situations like this as for a vertical joint the torque exerted due to gravity will change with angle </a:t>
            </a:r>
          </a:p>
        </p:txBody>
      </p:sp>
      <p:sp>
        <p:nvSpPr>
          <p:cNvPr id="36" name="object 4">
            <a:extLst>
              <a:ext uri="{FF2B5EF4-FFF2-40B4-BE49-F238E27FC236}">
                <a16:creationId xmlns:a16="http://schemas.microsoft.com/office/drawing/2014/main" id="{5CBB32B0-B0F8-4AB9-8154-17C0166213E6}"/>
              </a:ext>
            </a:extLst>
          </p:cNvPr>
          <p:cNvSpPr txBox="1"/>
          <p:nvPr/>
        </p:nvSpPr>
        <p:spPr>
          <a:xfrm>
            <a:off x="556873" y="4749204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It will have no effect on a horizontal plane problem.</a:t>
            </a:r>
          </a:p>
        </p:txBody>
      </p:sp>
      <p:pic>
        <p:nvPicPr>
          <p:cNvPr id="38" name="Picture 4" descr="C:\My Documents\Books\APSCIM-3e\Figures - Completed\8\8.2cC.JPG">
            <a:extLst>
              <a:ext uri="{FF2B5EF4-FFF2-40B4-BE49-F238E27FC236}">
                <a16:creationId xmlns:a16="http://schemas.microsoft.com/office/drawing/2014/main" id="{487825E4-6C37-4AB5-BC15-5797303724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872" y="1555794"/>
            <a:ext cx="2391778" cy="87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7BB72ADA-F0F7-4751-BC76-907B4D48DE4D}"/>
              </a:ext>
            </a:extLst>
          </p:cNvPr>
          <p:cNvGrpSpPr/>
          <p:nvPr/>
        </p:nvGrpSpPr>
        <p:grpSpPr>
          <a:xfrm>
            <a:off x="6405006" y="1504322"/>
            <a:ext cx="504601" cy="289823"/>
            <a:chOff x="3875311" y="2281987"/>
            <a:chExt cx="504601" cy="289823"/>
          </a:xfrm>
        </p:grpSpPr>
        <p:sp>
          <p:nvSpPr>
            <p:cNvPr id="12" name="object 4">
              <a:extLst>
                <a:ext uri="{FF2B5EF4-FFF2-40B4-BE49-F238E27FC236}">
                  <a16:creationId xmlns:a16="http://schemas.microsoft.com/office/drawing/2014/main" id="{623D79ED-992F-4393-8BCB-1FA83796DA17}"/>
                </a:ext>
              </a:extLst>
            </p:cNvPr>
            <p:cNvSpPr txBox="1"/>
            <p:nvPr/>
          </p:nvSpPr>
          <p:spPr>
            <a:xfrm>
              <a:off x="3875311" y="2281987"/>
              <a:ext cx="504601" cy="2898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eaLnBrk="1" hangingPunct="1"/>
              <a:r>
                <a:rPr lang="el-GR" altLang="en-US" dirty="0"/>
                <a:t>τ </a:t>
              </a:r>
              <a:r>
                <a:rPr lang="en-US" altLang="en-US" dirty="0"/>
                <a:t> </a:t>
              </a:r>
            </a:p>
          </p:txBody>
        </p:sp>
        <p:sp>
          <p:nvSpPr>
            <p:cNvPr id="19" name="Arrow: Curved Left 18">
              <a:extLst>
                <a:ext uri="{FF2B5EF4-FFF2-40B4-BE49-F238E27FC236}">
                  <a16:creationId xmlns:a16="http://schemas.microsoft.com/office/drawing/2014/main" id="{DCFE55C2-0D13-4B3C-83C1-ED3CE4BA0377}"/>
                </a:ext>
              </a:extLst>
            </p:cNvPr>
            <p:cNvSpPr/>
            <p:nvPr/>
          </p:nvSpPr>
          <p:spPr>
            <a:xfrm>
              <a:off x="4028749" y="2404097"/>
              <a:ext cx="100187" cy="139280"/>
            </a:xfrm>
            <a:prstGeom prst="curvedLeft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1507" name="Group 21506">
            <a:extLst>
              <a:ext uri="{FF2B5EF4-FFF2-40B4-BE49-F238E27FC236}">
                <a16:creationId xmlns:a16="http://schemas.microsoft.com/office/drawing/2014/main" id="{91360919-9102-4575-8D3D-944E35DC6699}"/>
              </a:ext>
            </a:extLst>
          </p:cNvPr>
          <p:cNvGrpSpPr/>
          <p:nvPr/>
        </p:nvGrpSpPr>
        <p:grpSpPr>
          <a:xfrm>
            <a:off x="6608537" y="2210438"/>
            <a:ext cx="736458" cy="289823"/>
            <a:chOff x="6308978" y="2974922"/>
            <a:chExt cx="736458" cy="289823"/>
          </a:xfrm>
        </p:grpSpPr>
        <p:sp>
          <p:nvSpPr>
            <p:cNvPr id="15" name="object 4">
              <a:extLst>
                <a:ext uri="{FF2B5EF4-FFF2-40B4-BE49-F238E27FC236}">
                  <a16:creationId xmlns:a16="http://schemas.microsoft.com/office/drawing/2014/main" id="{A3B44F1B-2199-41DD-8F0E-A0BC6853DA04}"/>
                </a:ext>
              </a:extLst>
            </p:cNvPr>
            <p:cNvSpPr txBox="1"/>
            <p:nvPr/>
          </p:nvSpPr>
          <p:spPr>
            <a:xfrm>
              <a:off x="6366646" y="2974922"/>
              <a:ext cx="678790" cy="2898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eaLnBrk="1" hangingPunct="1"/>
              <a:r>
                <a:rPr lang="el-GR" altLang="en-US" dirty="0"/>
                <a:t> τ</a:t>
              </a:r>
              <a:r>
                <a:rPr lang="en-US" altLang="en-US" baseline="-25000" dirty="0"/>
                <a:t>F</a:t>
              </a:r>
              <a:r>
                <a:rPr lang="en-US" altLang="en-US" dirty="0"/>
                <a:t> </a:t>
              </a:r>
            </a:p>
          </p:txBody>
        </p:sp>
        <p:sp>
          <p:nvSpPr>
            <p:cNvPr id="42" name="Arrow: Curved Left 41">
              <a:extLst>
                <a:ext uri="{FF2B5EF4-FFF2-40B4-BE49-F238E27FC236}">
                  <a16:creationId xmlns:a16="http://schemas.microsoft.com/office/drawing/2014/main" id="{4C5DE4D2-F403-4A52-BB27-49E521BC62C9}"/>
                </a:ext>
              </a:extLst>
            </p:cNvPr>
            <p:cNvSpPr/>
            <p:nvPr/>
          </p:nvSpPr>
          <p:spPr>
            <a:xfrm flipV="1">
              <a:off x="6308978" y="3080135"/>
              <a:ext cx="100187" cy="139280"/>
            </a:xfrm>
            <a:prstGeom prst="curvedLeft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FD8B9A7-60B1-47B6-AEFF-7171CA8E0C47}"/>
              </a:ext>
            </a:extLst>
          </p:cNvPr>
          <p:cNvGrpSpPr/>
          <p:nvPr/>
        </p:nvGrpSpPr>
        <p:grpSpPr>
          <a:xfrm>
            <a:off x="6269142" y="2212550"/>
            <a:ext cx="736458" cy="289823"/>
            <a:chOff x="6308978" y="2974922"/>
            <a:chExt cx="736458" cy="289823"/>
          </a:xfrm>
        </p:grpSpPr>
        <p:sp>
          <p:nvSpPr>
            <p:cNvPr id="45" name="object 4">
              <a:extLst>
                <a:ext uri="{FF2B5EF4-FFF2-40B4-BE49-F238E27FC236}">
                  <a16:creationId xmlns:a16="http://schemas.microsoft.com/office/drawing/2014/main" id="{5C309996-5442-4F33-8847-CFCA05BD9859}"/>
                </a:ext>
              </a:extLst>
            </p:cNvPr>
            <p:cNvSpPr txBox="1"/>
            <p:nvPr/>
          </p:nvSpPr>
          <p:spPr>
            <a:xfrm>
              <a:off x="6366646" y="2974922"/>
              <a:ext cx="678790" cy="2898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eaLnBrk="1" hangingPunct="1"/>
              <a:r>
                <a:rPr lang="el-GR" altLang="en-US" dirty="0"/>
                <a:t> τ</a:t>
              </a:r>
              <a:r>
                <a:rPr lang="en-US" altLang="en-US" baseline="-25000" dirty="0"/>
                <a:t>D</a:t>
              </a:r>
              <a:r>
                <a:rPr lang="en-US" altLang="en-US" dirty="0"/>
                <a:t> </a:t>
              </a:r>
            </a:p>
          </p:txBody>
        </p:sp>
        <p:sp>
          <p:nvSpPr>
            <p:cNvPr id="46" name="Arrow: Curved Left 45">
              <a:extLst>
                <a:ext uri="{FF2B5EF4-FFF2-40B4-BE49-F238E27FC236}">
                  <a16:creationId xmlns:a16="http://schemas.microsoft.com/office/drawing/2014/main" id="{6EC19C59-7F39-46DD-9155-C0B8A00CE314}"/>
                </a:ext>
              </a:extLst>
            </p:cNvPr>
            <p:cNvSpPr/>
            <p:nvPr/>
          </p:nvSpPr>
          <p:spPr>
            <a:xfrm flipV="1">
              <a:off x="6308978" y="3080135"/>
              <a:ext cx="100187" cy="139280"/>
            </a:xfrm>
            <a:prstGeom prst="curvedLeft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AFB3694-6FEB-40BB-AA58-6D300BE8115D}"/>
              </a:ext>
            </a:extLst>
          </p:cNvPr>
          <p:cNvGrpSpPr/>
          <p:nvPr/>
        </p:nvGrpSpPr>
        <p:grpSpPr>
          <a:xfrm>
            <a:off x="6947932" y="2210438"/>
            <a:ext cx="736458" cy="289823"/>
            <a:chOff x="6308978" y="2974922"/>
            <a:chExt cx="736458" cy="289823"/>
          </a:xfrm>
        </p:grpSpPr>
        <p:sp>
          <p:nvSpPr>
            <p:cNvPr id="48" name="object 4">
              <a:extLst>
                <a:ext uri="{FF2B5EF4-FFF2-40B4-BE49-F238E27FC236}">
                  <a16:creationId xmlns:a16="http://schemas.microsoft.com/office/drawing/2014/main" id="{79BA5261-B511-470A-AEB7-38BF97DA6AA0}"/>
                </a:ext>
              </a:extLst>
            </p:cNvPr>
            <p:cNvSpPr txBox="1"/>
            <p:nvPr/>
          </p:nvSpPr>
          <p:spPr>
            <a:xfrm>
              <a:off x="6366646" y="2974922"/>
              <a:ext cx="678790" cy="2898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eaLnBrk="1" hangingPunct="1"/>
              <a:r>
                <a:rPr lang="el-GR" altLang="en-US" dirty="0"/>
                <a:t> τ</a:t>
              </a:r>
              <a:r>
                <a:rPr lang="en-US" altLang="en-US" baseline="-25000" dirty="0"/>
                <a:t>B</a:t>
              </a:r>
              <a:r>
                <a:rPr lang="en-US" altLang="en-US" dirty="0"/>
                <a:t> </a:t>
              </a:r>
            </a:p>
          </p:txBody>
        </p:sp>
        <p:sp>
          <p:nvSpPr>
            <p:cNvPr id="49" name="Arrow: Curved Left 48">
              <a:extLst>
                <a:ext uri="{FF2B5EF4-FFF2-40B4-BE49-F238E27FC236}">
                  <a16:creationId xmlns:a16="http://schemas.microsoft.com/office/drawing/2014/main" id="{1E5D6069-C375-4D6A-BC19-FA52A63C66F9}"/>
                </a:ext>
              </a:extLst>
            </p:cNvPr>
            <p:cNvSpPr/>
            <p:nvPr/>
          </p:nvSpPr>
          <p:spPr>
            <a:xfrm flipV="1">
              <a:off x="6308978" y="3080135"/>
              <a:ext cx="100187" cy="139280"/>
            </a:xfrm>
            <a:prstGeom prst="curvedLeft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5353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/>
      <p:bldP spid="13" grpId="0"/>
      <p:bldP spid="16" grpId="0"/>
      <p:bldP spid="18" grpId="0"/>
      <p:bldP spid="21" grpId="0"/>
      <p:bldP spid="3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Similar Dynamics Problem</a:t>
            </a:r>
            <a:endParaRPr lang="en-GB" sz="2400" dirty="0">
              <a:cs typeface="Arial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194393" y="605557"/>
            <a:ext cx="8236713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GB" sz="2000" b="1" dirty="0">
                <a:latin typeface="+mn-lt"/>
                <a:cs typeface="Times New Roman"/>
              </a:rPr>
              <a:t>You need your link to move through an angle </a:t>
            </a:r>
            <a:r>
              <a:rPr lang="el-GR" sz="2000" b="1" dirty="0">
                <a:latin typeface="+mn-lt"/>
                <a:cs typeface="Times New Roman"/>
              </a:rPr>
              <a:t>θ</a:t>
            </a:r>
            <a:r>
              <a:rPr lang="en-GB" sz="2000" b="1" dirty="0">
                <a:latin typeface="+mn-lt"/>
                <a:cs typeface="Times New Roman"/>
              </a:rPr>
              <a:t> to connect the end effector with a part, it must not exceed the safe  angular velocity </a:t>
            </a:r>
            <a:r>
              <a:rPr lang="el-GR" sz="2000" b="1" dirty="0">
                <a:latin typeface="+mn-lt"/>
                <a:cs typeface="Times New Roman"/>
              </a:rPr>
              <a:t>ω</a:t>
            </a:r>
            <a:r>
              <a:rPr lang="en-GB" sz="2000" b="1" dirty="0">
                <a:latin typeface="+mn-lt"/>
                <a:cs typeface="Times New Roman"/>
              </a:rPr>
              <a:t> in transit.</a:t>
            </a:r>
            <a:endParaRPr sz="2000" dirty="0">
              <a:latin typeface="+mn-lt"/>
              <a:cs typeface="SimSun"/>
            </a:endParaRPr>
          </a:p>
        </p:txBody>
      </p:sp>
      <p:sp>
        <p:nvSpPr>
          <p:cNvPr id="30" name="object 4">
            <a:extLst>
              <a:ext uri="{FF2B5EF4-FFF2-40B4-BE49-F238E27FC236}">
                <a16:creationId xmlns:a16="http://schemas.microsoft.com/office/drawing/2014/main" id="{A11ED154-8A40-4972-8D21-12867358BD2B}"/>
              </a:ext>
            </a:extLst>
          </p:cNvPr>
          <p:cNvSpPr txBox="1"/>
          <p:nvPr/>
        </p:nvSpPr>
        <p:spPr>
          <a:xfrm>
            <a:off x="453643" y="1628091"/>
            <a:ext cx="8236713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Assume link is horizontal and we know the mass of the link and torques involved but we also need to know the length of the link (</a:t>
            </a:r>
            <a:r>
              <a:rPr lang="en-US" altLang="en-US" dirty="0">
                <a:latin typeface="Century" panose="02040604050505020304" pitchFamily="18" charset="0"/>
              </a:rPr>
              <a:t>l</a:t>
            </a:r>
            <a:r>
              <a:rPr lang="en-US" altLang="en-US" dirty="0"/>
              <a:t>) and assume the mass is distributed evenly </a:t>
            </a:r>
          </a:p>
        </p:txBody>
      </p:sp>
      <p:sp>
        <p:nvSpPr>
          <p:cNvPr id="33" name="object 4">
            <a:extLst>
              <a:ext uri="{FF2B5EF4-FFF2-40B4-BE49-F238E27FC236}">
                <a16:creationId xmlns:a16="http://schemas.microsoft.com/office/drawing/2014/main" id="{81991B10-1249-4F8E-8BA1-4845196F404E}"/>
              </a:ext>
            </a:extLst>
          </p:cNvPr>
          <p:cNvSpPr txBox="1"/>
          <p:nvPr/>
        </p:nvSpPr>
        <p:spPr>
          <a:xfrm>
            <a:off x="453643" y="3995759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Divide the problem into 3 phases </a:t>
            </a:r>
          </a:p>
        </p:txBody>
      </p:sp>
      <p:sp>
        <p:nvSpPr>
          <p:cNvPr id="40" name="object 4">
            <a:extLst>
              <a:ext uri="{FF2B5EF4-FFF2-40B4-BE49-F238E27FC236}">
                <a16:creationId xmlns:a16="http://schemas.microsoft.com/office/drawing/2014/main" id="{CBE5F406-C3AC-4180-92A3-DD6727A2DA17}"/>
              </a:ext>
            </a:extLst>
          </p:cNvPr>
          <p:cNvSpPr txBox="1"/>
          <p:nvPr/>
        </p:nvSpPr>
        <p:spPr>
          <a:xfrm>
            <a:off x="504733" y="4358125"/>
            <a:ext cx="823671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>
                <a:solidFill>
                  <a:srgbClr val="00B050"/>
                </a:solidFill>
              </a:rPr>
              <a:t>Acceleration phase</a:t>
            </a:r>
          </a:p>
          <a:p>
            <a:pPr eaLnBrk="1" hangingPunct="1"/>
            <a:r>
              <a:rPr lang="en-US" altLang="en-US" dirty="0">
                <a:solidFill>
                  <a:srgbClr val="00B050"/>
                </a:solidFill>
              </a:rPr>
              <a:t>(full actuator torque) </a:t>
            </a:r>
          </a:p>
        </p:txBody>
      </p:sp>
      <p:grpSp>
        <p:nvGrpSpPr>
          <p:cNvPr id="21507" name="Group 21506">
            <a:extLst>
              <a:ext uri="{FF2B5EF4-FFF2-40B4-BE49-F238E27FC236}">
                <a16:creationId xmlns:a16="http://schemas.microsoft.com/office/drawing/2014/main" id="{A67656E2-9A08-4E93-88E9-AB6580C419AC}"/>
              </a:ext>
            </a:extLst>
          </p:cNvPr>
          <p:cNvGrpSpPr/>
          <p:nvPr/>
        </p:nvGrpSpPr>
        <p:grpSpPr>
          <a:xfrm>
            <a:off x="3117485" y="4496180"/>
            <a:ext cx="6025738" cy="2217089"/>
            <a:chOff x="3117485" y="4285582"/>
            <a:chExt cx="6025738" cy="2217089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283058B-0232-4C65-A89D-6A012C637E15}"/>
                </a:ext>
              </a:extLst>
            </p:cNvPr>
            <p:cNvGrpSpPr/>
            <p:nvPr/>
          </p:nvGrpSpPr>
          <p:grpSpPr>
            <a:xfrm>
              <a:off x="3117485" y="4285582"/>
              <a:ext cx="6025738" cy="2217089"/>
              <a:chOff x="3117485" y="4285582"/>
              <a:chExt cx="6025738" cy="2217089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1B686AB7-9133-4223-9C0E-2375F2C462EB}"/>
                  </a:ext>
                </a:extLst>
              </p:cNvPr>
              <p:cNvCxnSpPr/>
              <p:nvPr/>
            </p:nvCxnSpPr>
            <p:spPr>
              <a:xfrm>
                <a:off x="3940233" y="4663440"/>
                <a:ext cx="0" cy="146304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F9C15487-8813-4854-8E44-75FF1CE5183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0233" y="6126480"/>
                <a:ext cx="468006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E6D48D7-6F33-4B2C-950A-18061FF690D4}"/>
                  </a:ext>
                </a:extLst>
              </p:cNvPr>
              <p:cNvSpPr txBox="1"/>
              <p:nvPr/>
            </p:nvSpPr>
            <p:spPr>
              <a:xfrm>
                <a:off x="3117485" y="4285582"/>
                <a:ext cx="25955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Angular velocity(rads/s)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7769211-D16D-4C18-AB3E-E2A6296F7CF0}"/>
                  </a:ext>
                </a:extLst>
              </p:cNvPr>
              <p:cNvSpPr txBox="1"/>
              <p:nvPr/>
            </p:nvSpPr>
            <p:spPr>
              <a:xfrm>
                <a:off x="8120764" y="6133339"/>
                <a:ext cx="10224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Time (s)</a:t>
                </a:r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4AF663A-85CE-401B-A041-F6BDEE0A6D0D}"/>
                </a:ext>
              </a:extLst>
            </p:cNvPr>
            <p:cNvSpPr txBox="1"/>
            <p:nvPr/>
          </p:nvSpPr>
          <p:spPr>
            <a:xfrm>
              <a:off x="3627167" y="4869054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/>
                <a:t>ω</a:t>
              </a:r>
              <a:endParaRPr lang="en-GB" dirty="0"/>
            </a:p>
          </p:txBody>
        </p:sp>
      </p:grpSp>
      <p:cxnSp>
        <p:nvCxnSpPr>
          <p:cNvPr id="21509" name="Straight Connector 21508">
            <a:extLst>
              <a:ext uri="{FF2B5EF4-FFF2-40B4-BE49-F238E27FC236}">
                <a16:creationId xmlns:a16="http://schemas.microsoft.com/office/drawing/2014/main" id="{A02FD2FE-CA85-4C0E-8888-9104AB7CBA24}"/>
              </a:ext>
            </a:extLst>
          </p:cNvPr>
          <p:cNvCxnSpPr/>
          <p:nvPr/>
        </p:nvCxnSpPr>
        <p:spPr>
          <a:xfrm flipV="1">
            <a:off x="3940233" y="5314982"/>
            <a:ext cx="944695" cy="1022096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bject 4">
            <a:extLst>
              <a:ext uri="{FF2B5EF4-FFF2-40B4-BE49-F238E27FC236}">
                <a16:creationId xmlns:a16="http://schemas.microsoft.com/office/drawing/2014/main" id="{E3747883-7128-4739-863E-199B8E6DD86F}"/>
              </a:ext>
            </a:extLst>
          </p:cNvPr>
          <p:cNvSpPr txBox="1"/>
          <p:nvPr/>
        </p:nvSpPr>
        <p:spPr>
          <a:xfrm>
            <a:off x="504734" y="4959603"/>
            <a:ext cx="8236713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>
                <a:solidFill>
                  <a:srgbClr val="0070C0"/>
                </a:solidFill>
              </a:rPr>
              <a:t>Cruising phase</a:t>
            </a:r>
          </a:p>
          <a:p>
            <a:pPr eaLnBrk="1" hangingPunct="1"/>
            <a:r>
              <a:rPr lang="en-US" altLang="en-US" dirty="0">
                <a:solidFill>
                  <a:srgbClr val="0070C0"/>
                </a:solidFill>
              </a:rPr>
              <a:t>(actuator torque counters</a:t>
            </a:r>
          </a:p>
          <a:p>
            <a:pPr eaLnBrk="1" hangingPunct="1"/>
            <a:r>
              <a:rPr lang="en-US" altLang="en-US" dirty="0">
                <a:solidFill>
                  <a:srgbClr val="0070C0"/>
                </a:solidFill>
              </a:rPr>
              <a:t> resistances) </a:t>
            </a:r>
          </a:p>
        </p:txBody>
      </p:sp>
      <p:cxnSp>
        <p:nvCxnSpPr>
          <p:cNvPr id="21511" name="Straight Connector 21510">
            <a:extLst>
              <a:ext uri="{FF2B5EF4-FFF2-40B4-BE49-F238E27FC236}">
                <a16:creationId xmlns:a16="http://schemas.microsoft.com/office/drawing/2014/main" id="{C5227DE4-F699-4E96-B1B1-1881D6EA0CAD}"/>
              </a:ext>
            </a:extLst>
          </p:cNvPr>
          <p:cNvCxnSpPr/>
          <p:nvPr/>
        </p:nvCxnSpPr>
        <p:spPr>
          <a:xfrm flipV="1">
            <a:off x="4915513" y="5308124"/>
            <a:ext cx="2428135" cy="6858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bject 4">
            <a:extLst>
              <a:ext uri="{FF2B5EF4-FFF2-40B4-BE49-F238E27FC236}">
                <a16:creationId xmlns:a16="http://schemas.microsoft.com/office/drawing/2014/main" id="{D21D5DD7-83F9-486D-9627-C376618F8851}"/>
              </a:ext>
            </a:extLst>
          </p:cNvPr>
          <p:cNvSpPr txBox="1"/>
          <p:nvPr/>
        </p:nvSpPr>
        <p:spPr>
          <a:xfrm>
            <a:off x="504732" y="5803424"/>
            <a:ext cx="823671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Braking phase</a:t>
            </a:r>
          </a:p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(actuator off, brake on) </a:t>
            </a:r>
          </a:p>
        </p:txBody>
      </p:sp>
      <p:cxnSp>
        <p:nvCxnSpPr>
          <p:cNvPr id="21513" name="Straight Connector 21512">
            <a:extLst>
              <a:ext uri="{FF2B5EF4-FFF2-40B4-BE49-F238E27FC236}">
                <a16:creationId xmlns:a16="http://schemas.microsoft.com/office/drawing/2014/main" id="{24FD9694-710B-44B5-9244-60F0432B33A8}"/>
              </a:ext>
            </a:extLst>
          </p:cNvPr>
          <p:cNvCxnSpPr>
            <a:endCxn id="38" idx="0"/>
          </p:cNvCxnSpPr>
          <p:nvPr/>
        </p:nvCxnSpPr>
        <p:spPr>
          <a:xfrm>
            <a:off x="7343648" y="5308124"/>
            <a:ext cx="1288346" cy="10358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4" descr="C:\My Documents\Books\APSCIM-3e\Figures - Completed\8\8.2cC.JPG">
            <a:extLst>
              <a:ext uri="{FF2B5EF4-FFF2-40B4-BE49-F238E27FC236}">
                <a16:creationId xmlns:a16="http://schemas.microsoft.com/office/drawing/2014/main" id="{4D8DF1BC-72FD-4173-A996-0B82E3855E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9819" y="2676305"/>
            <a:ext cx="2391778" cy="87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1785F0B0-3621-4FC2-889F-4DA2974594B4}"/>
              </a:ext>
            </a:extLst>
          </p:cNvPr>
          <p:cNvGrpSpPr/>
          <p:nvPr/>
        </p:nvGrpSpPr>
        <p:grpSpPr>
          <a:xfrm>
            <a:off x="6516953" y="2624833"/>
            <a:ext cx="504601" cy="289823"/>
            <a:chOff x="3875311" y="2281987"/>
            <a:chExt cx="504601" cy="289823"/>
          </a:xfrm>
        </p:grpSpPr>
        <p:sp>
          <p:nvSpPr>
            <p:cNvPr id="35" name="object 4">
              <a:extLst>
                <a:ext uri="{FF2B5EF4-FFF2-40B4-BE49-F238E27FC236}">
                  <a16:creationId xmlns:a16="http://schemas.microsoft.com/office/drawing/2014/main" id="{9D7ABCA1-953F-4482-BB32-5EB0670499C3}"/>
                </a:ext>
              </a:extLst>
            </p:cNvPr>
            <p:cNvSpPr txBox="1"/>
            <p:nvPr/>
          </p:nvSpPr>
          <p:spPr>
            <a:xfrm>
              <a:off x="3875311" y="2281987"/>
              <a:ext cx="504601" cy="2898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eaLnBrk="1" hangingPunct="1"/>
              <a:r>
                <a:rPr lang="el-GR" altLang="en-US" dirty="0"/>
                <a:t>τ </a:t>
              </a:r>
              <a:r>
                <a:rPr lang="en-US" altLang="en-US" dirty="0"/>
                <a:t> </a:t>
              </a:r>
            </a:p>
          </p:txBody>
        </p:sp>
        <p:sp>
          <p:nvSpPr>
            <p:cNvPr id="37" name="Arrow: Curved Left 36">
              <a:extLst>
                <a:ext uri="{FF2B5EF4-FFF2-40B4-BE49-F238E27FC236}">
                  <a16:creationId xmlns:a16="http://schemas.microsoft.com/office/drawing/2014/main" id="{0FA8C05D-C414-496D-B74A-70F77F3A8A47}"/>
                </a:ext>
              </a:extLst>
            </p:cNvPr>
            <p:cNvSpPr/>
            <p:nvPr/>
          </p:nvSpPr>
          <p:spPr>
            <a:xfrm>
              <a:off x="4028749" y="2404097"/>
              <a:ext cx="100187" cy="139280"/>
            </a:xfrm>
            <a:prstGeom prst="curvedLeft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6303E26-D3E4-42CD-B94E-1F160CA3BB79}"/>
              </a:ext>
            </a:extLst>
          </p:cNvPr>
          <p:cNvGrpSpPr/>
          <p:nvPr/>
        </p:nvGrpSpPr>
        <p:grpSpPr>
          <a:xfrm>
            <a:off x="6769253" y="3330948"/>
            <a:ext cx="736458" cy="289823"/>
            <a:chOff x="6308978" y="2974922"/>
            <a:chExt cx="736458" cy="289823"/>
          </a:xfrm>
        </p:grpSpPr>
        <p:sp>
          <p:nvSpPr>
            <p:cNvPr id="42" name="object 4">
              <a:extLst>
                <a:ext uri="{FF2B5EF4-FFF2-40B4-BE49-F238E27FC236}">
                  <a16:creationId xmlns:a16="http://schemas.microsoft.com/office/drawing/2014/main" id="{9E701F96-B933-419B-97A3-3DAC94231514}"/>
                </a:ext>
              </a:extLst>
            </p:cNvPr>
            <p:cNvSpPr txBox="1"/>
            <p:nvPr/>
          </p:nvSpPr>
          <p:spPr>
            <a:xfrm>
              <a:off x="6366646" y="2974922"/>
              <a:ext cx="678790" cy="2898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eaLnBrk="1" hangingPunct="1"/>
              <a:r>
                <a:rPr lang="el-GR" altLang="en-US" dirty="0"/>
                <a:t> τ</a:t>
              </a:r>
              <a:r>
                <a:rPr lang="en-US" altLang="en-US" baseline="-25000" dirty="0"/>
                <a:t>F</a:t>
              </a:r>
              <a:r>
                <a:rPr lang="en-US" altLang="en-US" dirty="0"/>
                <a:t> </a:t>
              </a:r>
            </a:p>
          </p:txBody>
        </p:sp>
        <p:sp>
          <p:nvSpPr>
            <p:cNvPr id="43" name="Arrow: Curved Left 42">
              <a:extLst>
                <a:ext uri="{FF2B5EF4-FFF2-40B4-BE49-F238E27FC236}">
                  <a16:creationId xmlns:a16="http://schemas.microsoft.com/office/drawing/2014/main" id="{638347F2-9A8F-47B4-AEAB-13A6ECF84C0A}"/>
                </a:ext>
              </a:extLst>
            </p:cNvPr>
            <p:cNvSpPr/>
            <p:nvPr/>
          </p:nvSpPr>
          <p:spPr>
            <a:xfrm flipV="1">
              <a:off x="6308978" y="3080135"/>
              <a:ext cx="100187" cy="139280"/>
            </a:xfrm>
            <a:prstGeom prst="curvedLeft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BCA79ED-23F2-458D-A1ED-B1A8866417F5}"/>
              </a:ext>
            </a:extLst>
          </p:cNvPr>
          <p:cNvGrpSpPr/>
          <p:nvPr/>
        </p:nvGrpSpPr>
        <p:grpSpPr>
          <a:xfrm>
            <a:off x="6381089" y="3333061"/>
            <a:ext cx="736458" cy="289823"/>
            <a:chOff x="6308978" y="2974922"/>
            <a:chExt cx="736458" cy="289823"/>
          </a:xfrm>
        </p:grpSpPr>
        <p:sp>
          <p:nvSpPr>
            <p:cNvPr id="46" name="object 4">
              <a:extLst>
                <a:ext uri="{FF2B5EF4-FFF2-40B4-BE49-F238E27FC236}">
                  <a16:creationId xmlns:a16="http://schemas.microsoft.com/office/drawing/2014/main" id="{789AF2D4-4168-4664-9D5E-CBCEDC914E18}"/>
                </a:ext>
              </a:extLst>
            </p:cNvPr>
            <p:cNvSpPr txBox="1"/>
            <p:nvPr/>
          </p:nvSpPr>
          <p:spPr>
            <a:xfrm>
              <a:off x="6366646" y="2974922"/>
              <a:ext cx="678790" cy="2898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eaLnBrk="1" hangingPunct="1"/>
              <a:r>
                <a:rPr lang="el-GR" altLang="en-US" dirty="0"/>
                <a:t> τ</a:t>
              </a:r>
              <a:r>
                <a:rPr lang="en-US" altLang="en-US" baseline="-25000" dirty="0"/>
                <a:t>D</a:t>
              </a:r>
              <a:r>
                <a:rPr lang="en-US" altLang="en-US" dirty="0"/>
                <a:t> </a:t>
              </a:r>
            </a:p>
          </p:txBody>
        </p:sp>
        <p:sp>
          <p:nvSpPr>
            <p:cNvPr id="47" name="Arrow: Curved Left 46">
              <a:extLst>
                <a:ext uri="{FF2B5EF4-FFF2-40B4-BE49-F238E27FC236}">
                  <a16:creationId xmlns:a16="http://schemas.microsoft.com/office/drawing/2014/main" id="{39862E64-2139-4400-85B0-2CDB6EEDA684}"/>
                </a:ext>
              </a:extLst>
            </p:cNvPr>
            <p:cNvSpPr/>
            <p:nvPr/>
          </p:nvSpPr>
          <p:spPr>
            <a:xfrm flipV="1">
              <a:off x="6308978" y="3080135"/>
              <a:ext cx="100187" cy="139280"/>
            </a:xfrm>
            <a:prstGeom prst="curvedLeft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4425394-BACA-42FD-B42E-E9C234CFC2A2}"/>
              </a:ext>
            </a:extLst>
          </p:cNvPr>
          <p:cNvGrpSpPr/>
          <p:nvPr/>
        </p:nvGrpSpPr>
        <p:grpSpPr>
          <a:xfrm>
            <a:off x="7059879" y="3330949"/>
            <a:ext cx="736458" cy="289823"/>
            <a:chOff x="6308978" y="2974922"/>
            <a:chExt cx="736458" cy="289823"/>
          </a:xfrm>
        </p:grpSpPr>
        <p:sp>
          <p:nvSpPr>
            <p:cNvPr id="50" name="object 4">
              <a:extLst>
                <a:ext uri="{FF2B5EF4-FFF2-40B4-BE49-F238E27FC236}">
                  <a16:creationId xmlns:a16="http://schemas.microsoft.com/office/drawing/2014/main" id="{ABB8C977-4F5A-4E30-AD2D-06307CE0BB72}"/>
                </a:ext>
              </a:extLst>
            </p:cNvPr>
            <p:cNvSpPr txBox="1"/>
            <p:nvPr/>
          </p:nvSpPr>
          <p:spPr>
            <a:xfrm>
              <a:off x="6366646" y="2974922"/>
              <a:ext cx="678790" cy="289823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eaLnBrk="1" hangingPunct="1"/>
              <a:r>
                <a:rPr lang="el-GR" altLang="en-US" dirty="0"/>
                <a:t> τ</a:t>
              </a:r>
              <a:r>
                <a:rPr lang="en-US" altLang="en-US" baseline="-25000" dirty="0"/>
                <a:t>B</a:t>
              </a:r>
              <a:r>
                <a:rPr lang="en-US" altLang="en-US" dirty="0"/>
                <a:t> </a:t>
              </a:r>
            </a:p>
          </p:txBody>
        </p:sp>
        <p:sp>
          <p:nvSpPr>
            <p:cNvPr id="51" name="Arrow: Curved Left 50">
              <a:extLst>
                <a:ext uri="{FF2B5EF4-FFF2-40B4-BE49-F238E27FC236}">
                  <a16:creationId xmlns:a16="http://schemas.microsoft.com/office/drawing/2014/main" id="{CD549808-71A5-4EBD-A8FC-20AA5FC5F2D3}"/>
                </a:ext>
              </a:extLst>
            </p:cNvPr>
            <p:cNvSpPr/>
            <p:nvPr/>
          </p:nvSpPr>
          <p:spPr>
            <a:xfrm flipV="1">
              <a:off x="6308978" y="3080135"/>
              <a:ext cx="100187" cy="139280"/>
            </a:xfrm>
            <a:prstGeom prst="curvedLeft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</p:grpSp>
      <p:sp>
        <p:nvSpPr>
          <p:cNvPr id="52" name="object 4">
            <a:extLst>
              <a:ext uri="{FF2B5EF4-FFF2-40B4-BE49-F238E27FC236}">
                <a16:creationId xmlns:a16="http://schemas.microsoft.com/office/drawing/2014/main" id="{6B10B417-1C8A-4CAE-ADA9-1BB715FEE372}"/>
              </a:ext>
            </a:extLst>
          </p:cNvPr>
          <p:cNvSpPr txBox="1"/>
          <p:nvPr/>
        </p:nvSpPr>
        <p:spPr>
          <a:xfrm>
            <a:off x="453643" y="2479466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Actuator Torque (</a:t>
            </a:r>
            <a:r>
              <a:rPr lang="el-GR" altLang="en-US" dirty="0"/>
              <a:t>τ</a:t>
            </a:r>
            <a:r>
              <a:rPr lang="en-US" altLang="en-US" dirty="0"/>
              <a:t>) </a:t>
            </a:r>
          </a:p>
        </p:txBody>
      </p:sp>
      <p:sp>
        <p:nvSpPr>
          <p:cNvPr id="53" name="object 4">
            <a:extLst>
              <a:ext uri="{FF2B5EF4-FFF2-40B4-BE49-F238E27FC236}">
                <a16:creationId xmlns:a16="http://schemas.microsoft.com/office/drawing/2014/main" id="{0DD882DD-F2A6-4B53-ADB3-A78057E2C9AC}"/>
              </a:ext>
            </a:extLst>
          </p:cNvPr>
          <p:cNvSpPr txBox="1"/>
          <p:nvPr/>
        </p:nvSpPr>
        <p:spPr>
          <a:xfrm>
            <a:off x="453643" y="2814225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Friction Torque (</a:t>
            </a:r>
            <a:r>
              <a:rPr lang="el-GR" altLang="en-US" dirty="0"/>
              <a:t>τ </a:t>
            </a:r>
            <a:r>
              <a:rPr lang="en-US" altLang="en-US" baseline="-25000" dirty="0"/>
              <a:t>F</a:t>
            </a:r>
            <a:r>
              <a:rPr lang="en-US" altLang="en-US" dirty="0"/>
              <a:t>) </a:t>
            </a:r>
          </a:p>
        </p:txBody>
      </p:sp>
      <p:sp>
        <p:nvSpPr>
          <p:cNvPr id="54" name="object 4">
            <a:extLst>
              <a:ext uri="{FF2B5EF4-FFF2-40B4-BE49-F238E27FC236}">
                <a16:creationId xmlns:a16="http://schemas.microsoft.com/office/drawing/2014/main" id="{006BDEB3-92E7-4440-84AB-98D83835EFA7}"/>
              </a:ext>
            </a:extLst>
          </p:cNvPr>
          <p:cNvSpPr txBox="1"/>
          <p:nvPr/>
        </p:nvSpPr>
        <p:spPr>
          <a:xfrm>
            <a:off x="453643" y="3121795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Damping Torque (</a:t>
            </a:r>
            <a:r>
              <a:rPr lang="el-GR" altLang="en-US" dirty="0"/>
              <a:t>τ </a:t>
            </a:r>
            <a:r>
              <a:rPr lang="en-US" altLang="en-US" baseline="-25000" dirty="0"/>
              <a:t>D</a:t>
            </a:r>
            <a:r>
              <a:rPr lang="en-US" altLang="en-US" dirty="0"/>
              <a:t>) </a:t>
            </a:r>
          </a:p>
        </p:txBody>
      </p:sp>
      <p:sp>
        <p:nvSpPr>
          <p:cNvPr id="55" name="object 4">
            <a:extLst>
              <a:ext uri="{FF2B5EF4-FFF2-40B4-BE49-F238E27FC236}">
                <a16:creationId xmlns:a16="http://schemas.microsoft.com/office/drawing/2014/main" id="{B197F171-21C6-4015-84D6-D2DCEAB3C59D}"/>
              </a:ext>
            </a:extLst>
          </p:cNvPr>
          <p:cNvSpPr txBox="1"/>
          <p:nvPr/>
        </p:nvSpPr>
        <p:spPr>
          <a:xfrm>
            <a:off x="453643" y="3464133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Braking Torque (</a:t>
            </a:r>
            <a:r>
              <a:rPr lang="el-GR" altLang="en-US" dirty="0"/>
              <a:t>τ </a:t>
            </a:r>
            <a:r>
              <a:rPr lang="en-US" altLang="en-US" baseline="-25000" dirty="0"/>
              <a:t>B</a:t>
            </a:r>
            <a:r>
              <a:rPr lang="en-US" altLang="en-US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417301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0" grpId="0"/>
      <p:bldP spid="33" grpId="0"/>
      <p:bldP spid="40" grpId="0"/>
      <p:bldP spid="45" grpId="0"/>
      <p:bldP spid="48" grpId="0"/>
      <p:bldP spid="52" grpId="0"/>
      <p:bldP spid="53" grpId="0"/>
      <p:bldP spid="54" grpId="0"/>
      <p:bldP spid="5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Similar Dynamics Problem</a:t>
            </a:r>
            <a:endParaRPr lang="en-GB" sz="2400" dirty="0">
              <a:cs typeface="Arial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GB" sz="2000" b="1" dirty="0">
                <a:latin typeface="+mn-lt"/>
                <a:cs typeface="Times New Roman"/>
              </a:rPr>
              <a:t>Acceleration Phase.</a:t>
            </a:r>
            <a:endParaRPr sz="2000" dirty="0">
              <a:latin typeface="+mn-lt"/>
              <a:cs typeface="SimSun"/>
            </a:endParaRPr>
          </a:p>
        </p:txBody>
      </p:sp>
      <p:sp>
        <p:nvSpPr>
          <p:cNvPr id="30" name="object 4">
            <a:extLst>
              <a:ext uri="{FF2B5EF4-FFF2-40B4-BE49-F238E27FC236}">
                <a16:creationId xmlns:a16="http://schemas.microsoft.com/office/drawing/2014/main" id="{A11ED154-8A40-4972-8D21-12867358BD2B}"/>
              </a:ext>
            </a:extLst>
          </p:cNvPr>
          <p:cNvSpPr txBox="1"/>
          <p:nvPr/>
        </p:nvSpPr>
        <p:spPr>
          <a:xfrm>
            <a:off x="504734" y="1076123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Assume brake is off, so torque available for angular acceleration is:</a:t>
            </a: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323548ED-12E1-4AD3-B550-CED152987589}"/>
              </a:ext>
            </a:extLst>
          </p:cNvPr>
          <p:cNvSpPr txBox="1"/>
          <p:nvPr/>
        </p:nvSpPr>
        <p:spPr>
          <a:xfrm>
            <a:off x="556871" y="1540094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l-GR" altLang="en-US" dirty="0"/>
              <a:t>τ </a:t>
            </a:r>
            <a:r>
              <a:rPr lang="en-US" altLang="en-US" baseline="-25000" dirty="0"/>
              <a:t>a</a:t>
            </a:r>
            <a:r>
              <a:rPr lang="en-US" altLang="en-US" dirty="0"/>
              <a:t> = </a:t>
            </a:r>
            <a:r>
              <a:rPr lang="el-GR" altLang="en-US" dirty="0"/>
              <a:t>τ</a:t>
            </a:r>
            <a:r>
              <a:rPr lang="en-US" altLang="en-US" dirty="0"/>
              <a:t> - </a:t>
            </a:r>
            <a:r>
              <a:rPr lang="el-GR" altLang="en-US" dirty="0"/>
              <a:t>τ </a:t>
            </a:r>
            <a:r>
              <a:rPr lang="en-US" altLang="en-US" baseline="-25000" dirty="0"/>
              <a:t>F</a:t>
            </a:r>
            <a:r>
              <a:rPr lang="en-US" altLang="en-US" dirty="0"/>
              <a:t> -</a:t>
            </a:r>
            <a:r>
              <a:rPr lang="el-GR" altLang="en-US" dirty="0"/>
              <a:t> τ </a:t>
            </a:r>
            <a:r>
              <a:rPr lang="en-US" altLang="en-US" baseline="-25000" dirty="0"/>
              <a:t>D</a:t>
            </a:r>
            <a:r>
              <a:rPr lang="en-US" altLang="en-US" dirty="0"/>
              <a:t> </a:t>
            </a:r>
          </a:p>
        </p:txBody>
      </p:sp>
      <p:sp>
        <p:nvSpPr>
          <p:cNvPr id="35" name="object 4">
            <a:extLst>
              <a:ext uri="{FF2B5EF4-FFF2-40B4-BE49-F238E27FC236}">
                <a16:creationId xmlns:a16="http://schemas.microsoft.com/office/drawing/2014/main" id="{7ED15D14-E126-444D-9CE1-F7865A10E86B}"/>
              </a:ext>
            </a:extLst>
          </p:cNvPr>
          <p:cNvSpPr txBox="1"/>
          <p:nvPr/>
        </p:nvSpPr>
        <p:spPr>
          <a:xfrm>
            <a:off x="556870" y="1991318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So angular acceleration </a:t>
            </a:r>
            <a:r>
              <a:rPr lang="el-GR" altLang="en-US" i="1" dirty="0"/>
              <a:t>α</a:t>
            </a:r>
            <a:r>
              <a:rPr lang="en-US" altLang="en-US" dirty="0"/>
              <a:t> is: </a:t>
            </a:r>
            <a:r>
              <a:rPr lang="el-GR" altLang="en-US" dirty="0"/>
              <a:t>α</a:t>
            </a:r>
            <a:r>
              <a:rPr lang="en-US" altLang="en-US" dirty="0"/>
              <a:t>=</a:t>
            </a:r>
            <a:r>
              <a:rPr lang="el-GR" altLang="en-US" dirty="0"/>
              <a:t> τ</a:t>
            </a:r>
            <a:r>
              <a:rPr lang="en-GB" altLang="en-US" baseline="-25000" dirty="0"/>
              <a:t>a</a:t>
            </a:r>
            <a:r>
              <a:rPr lang="el-GR" altLang="en-US" dirty="0"/>
              <a:t> </a:t>
            </a:r>
            <a:r>
              <a:rPr lang="en-US" altLang="en-US" dirty="0"/>
              <a:t>/I            for a rod with centered mass I=m</a:t>
            </a:r>
            <a:r>
              <a:rPr lang="en-US" altLang="en-US" dirty="0">
                <a:latin typeface="Century" panose="02040604050505020304" pitchFamily="18" charset="0"/>
              </a:rPr>
              <a:t>l</a:t>
            </a:r>
            <a:r>
              <a:rPr lang="en-US" altLang="en-US" baseline="30000" dirty="0"/>
              <a:t>2</a:t>
            </a:r>
            <a:r>
              <a:rPr lang="en-US" altLang="en-US" dirty="0"/>
              <a:t>/12</a:t>
            </a:r>
          </a:p>
        </p:txBody>
      </p:sp>
      <p:sp>
        <p:nvSpPr>
          <p:cNvPr id="37" name="object 4">
            <a:extLst>
              <a:ext uri="{FF2B5EF4-FFF2-40B4-BE49-F238E27FC236}">
                <a16:creationId xmlns:a16="http://schemas.microsoft.com/office/drawing/2014/main" id="{FD008A07-AAED-4B4C-8475-953F873F7313}"/>
              </a:ext>
            </a:extLst>
          </p:cNvPr>
          <p:cNvSpPr txBox="1"/>
          <p:nvPr/>
        </p:nvSpPr>
        <p:spPr>
          <a:xfrm>
            <a:off x="556870" y="2412099"/>
            <a:ext cx="823671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Obtain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a</a:t>
            </a:r>
            <a:r>
              <a:rPr lang="en-US" altLang="en-US" dirty="0"/>
              <a:t> from: </a:t>
            </a:r>
            <a:r>
              <a:rPr lang="el-GR" altLang="en-US" dirty="0">
                <a:latin typeface="Arial"/>
              </a:rPr>
              <a:t>ω </a:t>
            </a:r>
            <a:r>
              <a:rPr lang="en-US" altLang="en-US" baseline="-25000" dirty="0">
                <a:latin typeface="Arial"/>
              </a:rPr>
              <a:t>f</a:t>
            </a:r>
            <a:r>
              <a:rPr lang="en-US" altLang="en-US" dirty="0">
                <a:latin typeface="Arial"/>
              </a:rPr>
              <a:t>= </a:t>
            </a:r>
            <a:r>
              <a:rPr lang="el-GR" altLang="en-US" dirty="0">
                <a:latin typeface="Arial"/>
              </a:rPr>
              <a:t>ω</a:t>
            </a:r>
            <a:r>
              <a:rPr lang="en-US" altLang="en-US" baseline="-25000" dirty="0">
                <a:latin typeface="Arial"/>
              </a:rPr>
              <a:t>i</a:t>
            </a:r>
            <a:r>
              <a:rPr lang="en-US" altLang="en-US" dirty="0">
                <a:latin typeface="Arial"/>
              </a:rPr>
              <a:t>+ </a:t>
            </a:r>
            <a:r>
              <a:rPr lang="el-GR" altLang="en-US" i="1" dirty="0"/>
              <a:t>α </a:t>
            </a:r>
            <a:r>
              <a:rPr lang="en-US" altLang="en-US" dirty="0">
                <a:latin typeface="Arial"/>
              </a:rPr>
              <a:t>t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39" name="object 4">
            <a:extLst>
              <a:ext uri="{FF2B5EF4-FFF2-40B4-BE49-F238E27FC236}">
                <a16:creationId xmlns:a16="http://schemas.microsoft.com/office/drawing/2014/main" id="{0893E17C-E966-4AC1-8F0C-0E3AFA90C631}"/>
              </a:ext>
            </a:extLst>
          </p:cNvPr>
          <p:cNvSpPr txBox="1"/>
          <p:nvPr/>
        </p:nvSpPr>
        <p:spPr>
          <a:xfrm>
            <a:off x="556872" y="2840624"/>
            <a:ext cx="823671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 defTabSz="914400" eaLnBrk="1" hangingPunct="1">
              <a:spcBef>
                <a:spcPts val="0"/>
              </a:spcBef>
              <a:buClr>
                <a:srgbClr val="00007D"/>
              </a:buClr>
              <a:buSzPct val="75000"/>
            </a:pPr>
            <a:r>
              <a:rPr lang="en-US" altLang="en-US" dirty="0"/>
              <a:t>Obtain </a:t>
            </a:r>
            <a:r>
              <a:rPr lang="el-GR" altLang="en-US" i="1" dirty="0"/>
              <a:t>θ</a:t>
            </a:r>
            <a:r>
              <a:rPr lang="en-US" altLang="en-US" i="1" baseline="-25000" dirty="0"/>
              <a:t>a</a:t>
            </a:r>
            <a:r>
              <a:rPr lang="en-US" altLang="en-US" dirty="0"/>
              <a:t> from: </a:t>
            </a:r>
            <a:r>
              <a:rPr lang="el-GR" altLang="en-US" i="1" dirty="0"/>
              <a:t>θ </a:t>
            </a:r>
            <a:r>
              <a:rPr lang="en-US" altLang="en-US" dirty="0">
                <a:latin typeface="Arial"/>
              </a:rPr>
              <a:t>= </a:t>
            </a:r>
            <a:r>
              <a:rPr lang="el-GR" altLang="en-US" dirty="0">
                <a:latin typeface="Arial"/>
              </a:rPr>
              <a:t>ω </a:t>
            </a:r>
            <a:r>
              <a:rPr lang="en-US" altLang="en-US" baseline="-25000" dirty="0">
                <a:latin typeface="Arial"/>
              </a:rPr>
              <a:t>i</a:t>
            </a:r>
            <a:r>
              <a:rPr lang="en-US" altLang="en-US" dirty="0">
                <a:latin typeface="Arial"/>
              </a:rPr>
              <a:t>t + ½ </a:t>
            </a:r>
            <a:r>
              <a:rPr lang="el-GR" altLang="en-US" i="1" dirty="0"/>
              <a:t>α </a:t>
            </a:r>
            <a:r>
              <a:rPr lang="en-US" altLang="en-US" dirty="0">
                <a:latin typeface="Arial"/>
              </a:rPr>
              <a:t>t</a:t>
            </a:r>
            <a:r>
              <a:rPr lang="en-US" altLang="en-US" baseline="30000" dirty="0">
                <a:latin typeface="Arial"/>
              </a:rPr>
              <a:t>2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42" name="object 4">
            <a:extLst>
              <a:ext uri="{FF2B5EF4-FFF2-40B4-BE49-F238E27FC236}">
                <a16:creationId xmlns:a16="http://schemas.microsoft.com/office/drawing/2014/main" id="{B7B451AD-5D9C-49DB-900D-3CFE2F54BF3B}"/>
              </a:ext>
            </a:extLst>
          </p:cNvPr>
          <p:cNvSpPr txBox="1"/>
          <p:nvPr/>
        </p:nvSpPr>
        <p:spPr>
          <a:xfrm>
            <a:off x="231012" y="3460735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GB" sz="2000" b="1" dirty="0">
                <a:latin typeface="+mn-lt"/>
                <a:cs typeface="Times New Roman"/>
              </a:rPr>
              <a:t>Braking Phase.</a:t>
            </a:r>
            <a:endParaRPr sz="2000" dirty="0">
              <a:latin typeface="+mn-lt"/>
              <a:cs typeface="SimSun"/>
            </a:endParaRPr>
          </a:p>
        </p:txBody>
      </p:sp>
      <p:sp>
        <p:nvSpPr>
          <p:cNvPr id="43" name="object 4">
            <a:extLst>
              <a:ext uri="{FF2B5EF4-FFF2-40B4-BE49-F238E27FC236}">
                <a16:creationId xmlns:a16="http://schemas.microsoft.com/office/drawing/2014/main" id="{6EF77BF1-DAD0-46A2-98BE-B0BA2348B2C8}"/>
              </a:ext>
            </a:extLst>
          </p:cNvPr>
          <p:cNvSpPr txBox="1"/>
          <p:nvPr/>
        </p:nvSpPr>
        <p:spPr>
          <a:xfrm>
            <a:off x="541353" y="3931301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Assume brake is on, actuator is off so total braking torque is:</a:t>
            </a:r>
          </a:p>
        </p:txBody>
      </p:sp>
      <p:sp>
        <p:nvSpPr>
          <p:cNvPr id="44" name="object 4">
            <a:extLst>
              <a:ext uri="{FF2B5EF4-FFF2-40B4-BE49-F238E27FC236}">
                <a16:creationId xmlns:a16="http://schemas.microsoft.com/office/drawing/2014/main" id="{CE62AF19-FE2F-424F-AEB8-07F7A5252BAD}"/>
              </a:ext>
            </a:extLst>
          </p:cNvPr>
          <p:cNvSpPr txBox="1"/>
          <p:nvPr/>
        </p:nvSpPr>
        <p:spPr>
          <a:xfrm>
            <a:off x="593490" y="4395272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l-GR" altLang="en-US" dirty="0"/>
              <a:t>τ </a:t>
            </a:r>
            <a:r>
              <a:rPr lang="en-US" altLang="en-US" baseline="-25000" dirty="0"/>
              <a:t>b</a:t>
            </a:r>
            <a:r>
              <a:rPr lang="en-US" altLang="en-US" dirty="0"/>
              <a:t> = </a:t>
            </a:r>
            <a:r>
              <a:rPr lang="el-GR" altLang="en-US" dirty="0"/>
              <a:t>τ </a:t>
            </a:r>
            <a:r>
              <a:rPr lang="en-US" altLang="en-US" baseline="-25000" dirty="0"/>
              <a:t>B</a:t>
            </a:r>
            <a:r>
              <a:rPr lang="en-US" altLang="en-US" dirty="0"/>
              <a:t> + </a:t>
            </a:r>
            <a:r>
              <a:rPr lang="el-GR" altLang="en-US" dirty="0"/>
              <a:t>τ </a:t>
            </a:r>
            <a:r>
              <a:rPr lang="en-US" altLang="en-US" baseline="-25000" dirty="0"/>
              <a:t>F</a:t>
            </a:r>
            <a:r>
              <a:rPr lang="en-US" altLang="en-US" dirty="0"/>
              <a:t> +</a:t>
            </a:r>
            <a:r>
              <a:rPr lang="el-GR" altLang="en-US" dirty="0"/>
              <a:t> τ </a:t>
            </a:r>
            <a:r>
              <a:rPr lang="en-US" altLang="en-US" baseline="-25000" dirty="0"/>
              <a:t>D</a:t>
            </a:r>
            <a:r>
              <a:rPr lang="en-US" altLang="en-US" dirty="0"/>
              <a:t> </a:t>
            </a:r>
          </a:p>
        </p:txBody>
      </p:sp>
      <p:sp>
        <p:nvSpPr>
          <p:cNvPr id="54" name="object 4">
            <a:extLst>
              <a:ext uri="{FF2B5EF4-FFF2-40B4-BE49-F238E27FC236}">
                <a16:creationId xmlns:a16="http://schemas.microsoft.com/office/drawing/2014/main" id="{E050C782-8C3F-4D4B-8AEB-8B2C5AF409C1}"/>
              </a:ext>
            </a:extLst>
          </p:cNvPr>
          <p:cNvSpPr txBox="1"/>
          <p:nvPr/>
        </p:nvSpPr>
        <p:spPr>
          <a:xfrm>
            <a:off x="593489" y="4846496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So angular deceleration -</a:t>
            </a:r>
            <a:r>
              <a:rPr lang="el-GR" altLang="en-US" i="1" dirty="0"/>
              <a:t> α</a:t>
            </a:r>
            <a:r>
              <a:rPr lang="en-US" altLang="en-US" dirty="0"/>
              <a:t> is: </a:t>
            </a:r>
            <a:r>
              <a:rPr lang="el-GR" altLang="en-US" i="1" dirty="0"/>
              <a:t>α </a:t>
            </a:r>
            <a:r>
              <a:rPr lang="en-US" altLang="en-US" dirty="0"/>
              <a:t>=</a:t>
            </a:r>
            <a:r>
              <a:rPr lang="el-GR" altLang="en-US" dirty="0"/>
              <a:t> τ </a:t>
            </a:r>
            <a:r>
              <a:rPr lang="en-US" altLang="en-US" baseline="-25000" dirty="0"/>
              <a:t>b</a:t>
            </a:r>
            <a:r>
              <a:rPr lang="en-US" altLang="en-US" dirty="0"/>
              <a:t>/I</a:t>
            </a:r>
          </a:p>
        </p:txBody>
      </p:sp>
      <p:sp>
        <p:nvSpPr>
          <p:cNvPr id="55" name="object 4">
            <a:extLst>
              <a:ext uri="{FF2B5EF4-FFF2-40B4-BE49-F238E27FC236}">
                <a16:creationId xmlns:a16="http://schemas.microsoft.com/office/drawing/2014/main" id="{DFC2611F-476A-4B63-8FE6-658EECEAD3E3}"/>
              </a:ext>
            </a:extLst>
          </p:cNvPr>
          <p:cNvSpPr txBox="1"/>
          <p:nvPr/>
        </p:nvSpPr>
        <p:spPr>
          <a:xfrm>
            <a:off x="593491" y="5267277"/>
            <a:ext cx="823671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Obtain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b</a:t>
            </a:r>
            <a:r>
              <a:rPr lang="en-US" altLang="en-US" dirty="0"/>
              <a:t> from: </a:t>
            </a:r>
            <a:r>
              <a:rPr lang="el-GR" altLang="en-US" dirty="0">
                <a:latin typeface="Arial"/>
              </a:rPr>
              <a:t>ω </a:t>
            </a:r>
            <a:r>
              <a:rPr lang="en-US" altLang="en-US" baseline="-25000" dirty="0">
                <a:latin typeface="Arial"/>
              </a:rPr>
              <a:t>f</a:t>
            </a:r>
            <a:r>
              <a:rPr lang="en-US" altLang="en-US" dirty="0">
                <a:latin typeface="Arial"/>
              </a:rPr>
              <a:t>= </a:t>
            </a:r>
            <a:r>
              <a:rPr lang="el-GR" altLang="en-US" dirty="0">
                <a:latin typeface="Arial"/>
              </a:rPr>
              <a:t>ω </a:t>
            </a:r>
            <a:r>
              <a:rPr lang="en-US" altLang="en-US" baseline="-25000" dirty="0">
                <a:latin typeface="Arial"/>
              </a:rPr>
              <a:t>i</a:t>
            </a:r>
            <a:r>
              <a:rPr lang="en-US" altLang="en-US" dirty="0">
                <a:latin typeface="Arial"/>
              </a:rPr>
              <a:t>+ </a:t>
            </a:r>
            <a:r>
              <a:rPr lang="el-GR" altLang="en-US" i="1" dirty="0"/>
              <a:t>α </a:t>
            </a:r>
            <a:r>
              <a:rPr lang="en-US" altLang="en-US" dirty="0">
                <a:latin typeface="Arial"/>
              </a:rPr>
              <a:t>t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56" name="object 4">
            <a:extLst>
              <a:ext uri="{FF2B5EF4-FFF2-40B4-BE49-F238E27FC236}">
                <a16:creationId xmlns:a16="http://schemas.microsoft.com/office/drawing/2014/main" id="{EBE9E449-4881-4745-82E2-710A414AF498}"/>
              </a:ext>
            </a:extLst>
          </p:cNvPr>
          <p:cNvSpPr txBox="1"/>
          <p:nvPr/>
        </p:nvSpPr>
        <p:spPr>
          <a:xfrm>
            <a:off x="593491" y="5695802"/>
            <a:ext cx="823671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 defTabSz="914400" eaLnBrk="1" hangingPunct="1">
              <a:spcBef>
                <a:spcPts val="0"/>
              </a:spcBef>
              <a:buClr>
                <a:srgbClr val="00007D"/>
              </a:buClr>
              <a:buSzPct val="75000"/>
            </a:pPr>
            <a:r>
              <a:rPr lang="en-US" altLang="en-US" dirty="0"/>
              <a:t>Obtain </a:t>
            </a:r>
            <a:r>
              <a:rPr lang="el-GR" altLang="en-US" i="1" dirty="0"/>
              <a:t>θ </a:t>
            </a:r>
            <a:r>
              <a:rPr lang="en-US" altLang="en-US" i="1" baseline="-25000" dirty="0"/>
              <a:t>b</a:t>
            </a:r>
            <a:r>
              <a:rPr lang="en-US" altLang="en-US" dirty="0"/>
              <a:t> from: </a:t>
            </a:r>
            <a:r>
              <a:rPr lang="el-GR" altLang="en-US" i="1" dirty="0"/>
              <a:t>θ </a:t>
            </a:r>
            <a:r>
              <a:rPr lang="en-US" altLang="en-US" dirty="0">
                <a:latin typeface="Arial"/>
              </a:rPr>
              <a:t>= </a:t>
            </a:r>
            <a:r>
              <a:rPr lang="el-GR" altLang="en-US" dirty="0">
                <a:latin typeface="Arial"/>
              </a:rPr>
              <a:t>ω </a:t>
            </a:r>
            <a:r>
              <a:rPr lang="en-US" altLang="en-US" baseline="-25000" dirty="0">
                <a:latin typeface="Arial"/>
              </a:rPr>
              <a:t>i</a:t>
            </a:r>
            <a:r>
              <a:rPr lang="en-US" altLang="en-US" dirty="0">
                <a:latin typeface="Arial"/>
              </a:rPr>
              <a:t>t + ½ </a:t>
            </a:r>
            <a:r>
              <a:rPr lang="el-GR" altLang="en-US" i="1" dirty="0"/>
              <a:t>α </a:t>
            </a:r>
            <a:r>
              <a:rPr lang="en-US" altLang="en-US" dirty="0">
                <a:latin typeface="Arial"/>
              </a:rPr>
              <a:t>t</a:t>
            </a:r>
            <a:r>
              <a:rPr lang="en-US" altLang="en-US" baseline="30000" dirty="0">
                <a:latin typeface="Arial"/>
              </a:rPr>
              <a:t>2</a:t>
            </a:r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04128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0" grpId="0"/>
      <p:bldP spid="7" grpId="0"/>
      <p:bldP spid="35" grpId="0"/>
      <p:bldP spid="37" grpId="0"/>
      <p:bldP spid="39" grpId="0"/>
      <p:bldP spid="42" grpId="0"/>
      <p:bldP spid="43" grpId="0"/>
      <p:bldP spid="44" grpId="0"/>
      <p:bldP spid="54" grpId="0"/>
      <p:bldP spid="55" grpId="0"/>
      <p:bldP spid="5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Similar Dynamics Problem</a:t>
            </a:r>
            <a:endParaRPr lang="en-GB" sz="2400" dirty="0">
              <a:cs typeface="Arial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GB" sz="2000" b="1" dirty="0">
                <a:latin typeface="+mn-lt"/>
                <a:cs typeface="Times New Roman"/>
              </a:rPr>
              <a:t>Cruising Phase.</a:t>
            </a:r>
            <a:endParaRPr sz="2000" dirty="0">
              <a:latin typeface="+mn-lt"/>
              <a:cs typeface="SimSun"/>
            </a:endParaRPr>
          </a:p>
        </p:txBody>
      </p:sp>
      <p:sp>
        <p:nvSpPr>
          <p:cNvPr id="30" name="object 4">
            <a:extLst>
              <a:ext uri="{FF2B5EF4-FFF2-40B4-BE49-F238E27FC236}">
                <a16:creationId xmlns:a16="http://schemas.microsoft.com/office/drawing/2014/main" id="{A11ED154-8A40-4972-8D21-12867358BD2B}"/>
              </a:ext>
            </a:extLst>
          </p:cNvPr>
          <p:cNvSpPr txBox="1"/>
          <p:nvPr/>
        </p:nvSpPr>
        <p:spPr>
          <a:xfrm>
            <a:off x="504734" y="1076123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Assume actuator force set to balance resistive forces</a:t>
            </a: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323548ED-12E1-4AD3-B550-CED152987589}"/>
              </a:ext>
            </a:extLst>
          </p:cNvPr>
          <p:cNvSpPr txBox="1"/>
          <p:nvPr/>
        </p:nvSpPr>
        <p:spPr>
          <a:xfrm>
            <a:off x="556871" y="1540094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l-GR" altLang="en-US" dirty="0"/>
              <a:t>τ </a:t>
            </a:r>
            <a:r>
              <a:rPr lang="en-US" altLang="en-US" baseline="-25000" dirty="0"/>
              <a:t>c</a:t>
            </a:r>
            <a:r>
              <a:rPr lang="en-US" altLang="en-US" dirty="0"/>
              <a:t> = 0 </a:t>
            </a:r>
          </a:p>
        </p:txBody>
      </p:sp>
      <p:sp>
        <p:nvSpPr>
          <p:cNvPr id="35" name="object 4">
            <a:extLst>
              <a:ext uri="{FF2B5EF4-FFF2-40B4-BE49-F238E27FC236}">
                <a16:creationId xmlns:a16="http://schemas.microsoft.com/office/drawing/2014/main" id="{7ED15D14-E126-444D-9CE1-F7865A10E86B}"/>
              </a:ext>
            </a:extLst>
          </p:cNvPr>
          <p:cNvSpPr txBox="1"/>
          <p:nvPr/>
        </p:nvSpPr>
        <p:spPr>
          <a:xfrm>
            <a:off x="556870" y="1991318"/>
            <a:ext cx="823671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We know the travel angle required is </a:t>
            </a:r>
            <a:r>
              <a:rPr lang="el-GR" altLang="en-US" i="1" dirty="0"/>
              <a:t>θ</a:t>
            </a:r>
            <a:r>
              <a:rPr lang="en-US" altLang="en-US" dirty="0"/>
              <a:t> and we know the angle travelled in the other two phases. So the angle required in the cruising phase is: </a:t>
            </a:r>
          </a:p>
        </p:txBody>
      </p:sp>
      <p:sp>
        <p:nvSpPr>
          <p:cNvPr id="39" name="object 4">
            <a:extLst>
              <a:ext uri="{FF2B5EF4-FFF2-40B4-BE49-F238E27FC236}">
                <a16:creationId xmlns:a16="http://schemas.microsoft.com/office/drawing/2014/main" id="{0893E17C-E966-4AC1-8F0C-0E3AFA90C631}"/>
              </a:ext>
            </a:extLst>
          </p:cNvPr>
          <p:cNvSpPr txBox="1"/>
          <p:nvPr/>
        </p:nvSpPr>
        <p:spPr>
          <a:xfrm>
            <a:off x="541352" y="2719541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 defTabSz="914400" eaLnBrk="1" hangingPunct="1">
              <a:spcBef>
                <a:spcPts val="0"/>
              </a:spcBef>
              <a:buClr>
                <a:srgbClr val="00007D"/>
              </a:buClr>
              <a:buSzPct val="75000"/>
            </a:pPr>
            <a:r>
              <a:rPr lang="el-GR" altLang="en-US" i="1" dirty="0"/>
              <a:t>θ </a:t>
            </a:r>
            <a:r>
              <a:rPr lang="en-US" altLang="en-US" i="1" baseline="-25000" dirty="0"/>
              <a:t>c</a:t>
            </a:r>
            <a:r>
              <a:rPr lang="en-US" altLang="en-US" dirty="0"/>
              <a:t> =</a:t>
            </a:r>
            <a:r>
              <a:rPr lang="el-GR" altLang="en-US" i="1" dirty="0"/>
              <a:t> θ</a:t>
            </a:r>
            <a:r>
              <a:rPr lang="en-US" altLang="en-US" dirty="0">
                <a:latin typeface="Arial"/>
              </a:rPr>
              <a:t> -</a:t>
            </a:r>
            <a:r>
              <a:rPr lang="el-GR" altLang="en-US" i="1" dirty="0"/>
              <a:t> θ </a:t>
            </a:r>
            <a:r>
              <a:rPr lang="en-US" altLang="en-US" i="1" baseline="-25000" dirty="0"/>
              <a:t>a </a:t>
            </a:r>
            <a:r>
              <a:rPr lang="en-US" altLang="en-US" dirty="0">
                <a:latin typeface="Arial"/>
              </a:rPr>
              <a:t>-</a:t>
            </a:r>
            <a:r>
              <a:rPr lang="el-GR" altLang="en-US" i="1" dirty="0"/>
              <a:t> θ </a:t>
            </a:r>
            <a:r>
              <a:rPr lang="en-US" altLang="en-US" i="1" baseline="-25000" dirty="0"/>
              <a:t>b</a:t>
            </a:r>
            <a:endParaRPr lang="en-US" altLang="en-US" dirty="0"/>
          </a:p>
        </p:txBody>
      </p:sp>
      <p:sp>
        <p:nvSpPr>
          <p:cNvPr id="55" name="object 4">
            <a:extLst>
              <a:ext uri="{FF2B5EF4-FFF2-40B4-BE49-F238E27FC236}">
                <a16:creationId xmlns:a16="http://schemas.microsoft.com/office/drawing/2014/main" id="{DFC2611F-476A-4B63-8FE6-658EECEAD3E3}"/>
              </a:ext>
            </a:extLst>
          </p:cNvPr>
          <p:cNvSpPr txBox="1"/>
          <p:nvPr/>
        </p:nvSpPr>
        <p:spPr>
          <a:xfrm>
            <a:off x="504734" y="3911735"/>
            <a:ext cx="8236713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So the joint needs to spend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a</a:t>
            </a:r>
            <a:r>
              <a:rPr lang="en-US" altLang="en-US" dirty="0"/>
              <a:t> with the actuator full on and no brake</a:t>
            </a:r>
          </a:p>
          <a:p>
            <a:pPr eaLnBrk="1" hangingPunct="1"/>
            <a:r>
              <a:rPr lang="en-US" altLang="en-US" dirty="0"/>
              <a:t>                                            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c</a:t>
            </a:r>
            <a:r>
              <a:rPr lang="en-US" altLang="en-US" dirty="0"/>
              <a:t> with the actuator countering resistive torques and</a:t>
            </a:r>
            <a:endParaRPr lang="en-US" altLang="en-US" dirty="0">
              <a:latin typeface="Arial"/>
            </a:endParaRPr>
          </a:p>
          <a:p>
            <a:pPr eaLnBrk="1" hangingPunct="1"/>
            <a:r>
              <a:rPr lang="en-US" altLang="en-US" i="1" dirty="0"/>
              <a:t>                                             t</a:t>
            </a:r>
            <a:r>
              <a:rPr lang="en-US" altLang="en-US" i="1" baseline="-25000" dirty="0"/>
              <a:t>b</a:t>
            </a:r>
            <a:r>
              <a:rPr lang="en-US" altLang="en-US" dirty="0"/>
              <a:t> with the brake full on and no actuator</a:t>
            </a:r>
          </a:p>
        </p:txBody>
      </p:sp>
      <p:sp>
        <p:nvSpPr>
          <p:cNvPr id="56" name="object 4">
            <a:extLst>
              <a:ext uri="{FF2B5EF4-FFF2-40B4-BE49-F238E27FC236}">
                <a16:creationId xmlns:a16="http://schemas.microsoft.com/office/drawing/2014/main" id="{EBE9E449-4881-4745-82E2-710A414AF498}"/>
              </a:ext>
            </a:extLst>
          </p:cNvPr>
          <p:cNvSpPr txBox="1"/>
          <p:nvPr/>
        </p:nvSpPr>
        <p:spPr>
          <a:xfrm>
            <a:off x="504734" y="5412391"/>
            <a:ext cx="823671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 defTabSz="914400" eaLnBrk="1" hangingPunct="1">
              <a:spcBef>
                <a:spcPts val="0"/>
              </a:spcBef>
              <a:buClr>
                <a:srgbClr val="00007D"/>
              </a:buClr>
              <a:buSzPct val="75000"/>
            </a:pPr>
            <a:r>
              <a:rPr lang="en-US" altLang="en-US" dirty="0"/>
              <a:t>At which point it should reach its destination </a:t>
            </a:r>
            <a:r>
              <a:rPr lang="el-GR" altLang="en-US" i="1" dirty="0"/>
              <a:t>θ</a:t>
            </a:r>
            <a:r>
              <a:rPr lang="en-US" altLang="en-US" dirty="0"/>
              <a:t> at a full stop</a:t>
            </a:r>
            <a:endParaRPr lang="en-US" altLang="en-US" baseline="30000" dirty="0">
              <a:latin typeface="Arial"/>
            </a:endParaRPr>
          </a:p>
          <a:p>
            <a:pPr eaLnBrk="1" hangingPunct="1"/>
            <a:endParaRPr lang="en-US" altLang="en-US" dirty="0"/>
          </a:p>
        </p:txBody>
      </p:sp>
      <p:sp>
        <p:nvSpPr>
          <p:cNvPr id="22" name="object 4">
            <a:extLst>
              <a:ext uri="{FF2B5EF4-FFF2-40B4-BE49-F238E27FC236}">
                <a16:creationId xmlns:a16="http://schemas.microsoft.com/office/drawing/2014/main" id="{46EAB948-BE64-419B-9891-44B2642BBA8B}"/>
              </a:ext>
            </a:extLst>
          </p:cNvPr>
          <p:cNvSpPr txBox="1"/>
          <p:nvPr/>
        </p:nvSpPr>
        <p:spPr>
          <a:xfrm>
            <a:off x="541353" y="3249682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So the time in the cruising phase must be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c</a:t>
            </a:r>
            <a:r>
              <a:rPr lang="en-US" altLang="en-US" i="1" dirty="0"/>
              <a:t>= </a:t>
            </a:r>
            <a:r>
              <a:rPr lang="el-GR" altLang="en-US" i="1" dirty="0"/>
              <a:t>θ </a:t>
            </a:r>
            <a:r>
              <a:rPr lang="en-US" altLang="en-US" i="1" baseline="-25000" dirty="0"/>
              <a:t>c</a:t>
            </a:r>
            <a:r>
              <a:rPr lang="en-US" altLang="en-US" dirty="0"/>
              <a:t> /</a:t>
            </a:r>
            <a:r>
              <a:rPr lang="el-GR" altLang="en-US" dirty="0">
                <a:latin typeface="Arial"/>
              </a:rPr>
              <a:t> ω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60106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0" grpId="0"/>
      <p:bldP spid="7" grpId="0"/>
      <p:bldP spid="35" grpId="0"/>
      <p:bldP spid="39" grpId="0"/>
      <p:bldP spid="55" grpId="0"/>
      <p:bldP spid="56" grpId="0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More Complex Inertia</a:t>
            </a:r>
            <a:endParaRPr lang="en-GB" sz="2400" dirty="0">
              <a:cs typeface="Arial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GB" sz="2000" b="1" dirty="0">
                <a:latin typeface="+mn-lt"/>
                <a:cs typeface="Times New Roman"/>
              </a:rPr>
              <a:t>From this we can get:</a:t>
            </a:r>
            <a:endParaRPr sz="2000" dirty="0">
              <a:latin typeface="+mn-lt"/>
              <a:cs typeface="SimSun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F12ADE74-1661-4420-A0D1-90E502F28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140" y="1145032"/>
            <a:ext cx="77724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defTabSz="914400" eaLnBrk="1" hangingPunct="1"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Each particle has mass, dm</a:t>
            </a:r>
          </a:p>
          <a:p>
            <a:pPr lvl="1" defTabSz="914400" eaLnBrk="1" hangingPunct="1"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Position of each particle can be obtained using our forward kinematics matrices from yesterday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8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8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12" name="Picture 4" descr="dm">
            <a:extLst>
              <a:ext uri="{FF2B5EF4-FFF2-40B4-BE49-F238E27FC236}">
                <a16:creationId xmlns:a16="http://schemas.microsoft.com/office/drawing/2014/main" id="{75256B27-E806-4389-8170-261C6CFBD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9618" y="2622995"/>
            <a:ext cx="4700587" cy="385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A0405EF-A41D-43F6-9555-DB0844C1EB1A}"/>
              </a:ext>
            </a:extLst>
          </p:cNvPr>
          <p:cNvSpPr txBox="1"/>
          <p:nvPr/>
        </p:nvSpPr>
        <p:spPr>
          <a:xfrm>
            <a:off x="3948013" y="455101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8EE2B5-F3F6-4D80-9F39-B44E8E968130}"/>
              </a:ext>
            </a:extLst>
          </p:cNvPr>
          <p:cNvSpPr txBox="1"/>
          <p:nvPr/>
        </p:nvSpPr>
        <p:spPr>
          <a:xfrm>
            <a:off x="5199540" y="3442700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ρ</a:t>
            </a:r>
            <a:r>
              <a:rPr lang="en-GB" dirty="0"/>
              <a:t>(x)</a:t>
            </a:r>
          </a:p>
        </p:txBody>
      </p:sp>
    </p:spTree>
    <p:extLst>
      <p:ext uri="{BB962C8B-B14F-4D97-AF65-F5344CB8AC3E}">
        <p14:creationId xmlns:p14="http://schemas.microsoft.com/office/powerpoint/2010/main" val="3867805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2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More Complex Inertia</a:t>
            </a:r>
            <a:endParaRPr lang="en-GB" sz="2400" dirty="0">
              <a:cs typeface="Arial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194393" y="605557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GB" sz="2000" b="1" dirty="0">
                <a:latin typeface="+mn-lt"/>
                <a:cs typeface="Times New Roman"/>
              </a:rPr>
              <a:t>To handle more complex moment of inertias we need to consider the link as a set of individual particle each with an inertia.</a:t>
            </a:r>
            <a:endParaRPr sz="2000" dirty="0">
              <a:latin typeface="+mn-lt"/>
              <a:cs typeface="SimSu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BA8A00-5B05-4CB9-A15D-6F504E02574F}"/>
              </a:ext>
            </a:extLst>
          </p:cNvPr>
          <p:cNvSpPr txBox="1"/>
          <p:nvPr/>
        </p:nvSpPr>
        <p:spPr>
          <a:xfrm>
            <a:off x="615696" y="1438579"/>
            <a:ext cx="4572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altLang="en-US" sz="2000" dirty="0"/>
              <a:t>The</a:t>
            </a:r>
            <a:r>
              <a:rPr lang="en-US" altLang="en-US" dirty="0"/>
              <a:t> density at a position x is </a:t>
            </a:r>
            <a:r>
              <a:rPr lang="en-US" altLang="en-US" dirty="0">
                <a:latin typeface="Symbol" panose="05050102010706020507" pitchFamily="18" charset="2"/>
              </a:rPr>
              <a:t>r</a:t>
            </a:r>
            <a:r>
              <a:rPr lang="en-US" altLang="en-US" dirty="0"/>
              <a:t>(x),</a:t>
            </a:r>
          </a:p>
          <a:p>
            <a:pPr marL="742950" lvl="1" indent="-285750" eaLnBrk="1" hangingPunct="1">
              <a:buFont typeface="Arial" panose="020B0604020202020204" pitchFamily="34" charset="0"/>
              <a:buChar char="•"/>
            </a:pPr>
            <a:r>
              <a:rPr lang="en-US" altLang="en-US" i="1" dirty="0"/>
              <a:t>usually </a:t>
            </a:r>
            <a:r>
              <a:rPr lang="en-US" altLang="en-US" i="1" dirty="0">
                <a:latin typeface="Symbol" panose="05050102010706020507" pitchFamily="18" charset="2"/>
              </a:rPr>
              <a:t>r</a:t>
            </a:r>
            <a:r>
              <a:rPr lang="en-US" altLang="en-US" i="1" dirty="0"/>
              <a:t>  is assumed constant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792CEA0-08A3-4CDD-B71D-192E5255B9C5}"/>
              </a:ext>
            </a:extLst>
          </p:cNvPr>
          <p:cNvGrpSpPr/>
          <p:nvPr/>
        </p:nvGrpSpPr>
        <p:grpSpPr>
          <a:xfrm>
            <a:off x="615696" y="2162133"/>
            <a:ext cx="7174992" cy="1914382"/>
            <a:chOff x="615696" y="2162133"/>
            <a:chExt cx="7174992" cy="191438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8F473B4-F8BB-4A32-9DA5-9F65C4B69772}"/>
                </a:ext>
              </a:extLst>
            </p:cNvPr>
            <p:cNvSpPr txBox="1"/>
            <p:nvPr/>
          </p:nvSpPr>
          <p:spPr>
            <a:xfrm>
              <a:off x="615696" y="2162133"/>
              <a:ext cx="45720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eaLnBrk="1" hangingPunct="1">
                <a:buFont typeface="Arial" panose="020B0604020202020204" pitchFamily="34" charset="0"/>
                <a:buChar char="•"/>
              </a:pPr>
              <a:r>
                <a:rPr lang="en-US" altLang="en-US" sz="2000" dirty="0"/>
                <a:t>The mass of a link is given by:</a:t>
              </a:r>
            </a:p>
          </p:txBody>
        </p:sp>
        <p:pic>
          <p:nvPicPr>
            <p:cNvPr id="13" name="Picture 10" descr="Edittex">
              <a:extLst>
                <a:ext uri="{FF2B5EF4-FFF2-40B4-BE49-F238E27FC236}">
                  <a16:creationId xmlns:a16="http://schemas.microsoft.com/office/drawing/2014/main" id="{88E54930-08EF-4B0E-9CC3-A73F81A59D27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2"/>
              </p:custDataLst>
            </p:nvPr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28416" y="2608689"/>
              <a:ext cx="2389188" cy="9159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3001899-3269-4149-9CC5-38B55F81FA93}"/>
                </a:ext>
              </a:extLst>
            </p:cNvPr>
            <p:cNvSpPr txBox="1"/>
            <p:nvPr/>
          </p:nvSpPr>
          <p:spPr>
            <a:xfrm>
              <a:off x="2367280" y="3707183"/>
              <a:ext cx="54234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dirty="0"/>
                <a:t>The set of material points that comprise the body</a:t>
              </a:r>
              <a:endParaRPr lang="en-GB" dirty="0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F53063B-3670-4284-A87C-3D920107C621}"/>
                </a:ext>
              </a:extLst>
            </p:cNvPr>
            <p:cNvCxnSpPr/>
            <p:nvPr/>
          </p:nvCxnSpPr>
          <p:spPr>
            <a:xfrm flipH="1" flipV="1">
              <a:off x="4425696" y="3571122"/>
              <a:ext cx="97314" cy="24497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692A6FE-229B-4858-875A-79A6FC293244}"/>
              </a:ext>
            </a:extLst>
          </p:cNvPr>
          <p:cNvGrpSpPr/>
          <p:nvPr/>
        </p:nvGrpSpPr>
        <p:grpSpPr>
          <a:xfrm>
            <a:off x="615696" y="4259022"/>
            <a:ext cx="6080189" cy="1592601"/>
            <a:chOff x="615696" y="4259022"/>
            <a:chExt cx="6080189" cy="159260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CF6B0AD-6BFD-4728-B0A9-F2AA0DD640FB}"/>
                </a:ext>
              </a:extLst>
            </p:cNvPr>
            <p:cNvSpPr txBox="1"/>
            <p:nvPr/>
          </p:nvSpPr>
          <p:spPr>
            <a:xfrm>
              <a:off x="615696" y="4259022"/>
              <a:ext cx="45720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 eaLnBrk="1" hangingPunct="1">
                <a:buFont typeface="Arial" panose="020B0604020202020204" pitchFamily="34" charset="0"/>
                <a:buChar char="•"/>
              </a:pPr>
              <a:r>
                <a:rPr lang="en-US" altLang="en-US" sz="2000" dirty="0"/>
                <a:t>The center of mass is:</a:t>
              </a:r>
            </a:p>
          </p:txBody>
        </p:sp>
        <p:pic>
          <p:nvPicPr>
            <p:cNvPr id="19" name="Picture 11" descr="Edittex">
              <a:extLst>
                <a:ext uri="{FF2B5EF4-FFF2-40B4-BE49-F238E27FC236}">
                  <a16:creationId xmlns:a16="http://schemas.microsoft.com/office/drawing/2014/main" id="{BB66C867-B5F3-4BFD-B5D7-AF98A119DEC2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1"/>
              </p:custDataLst>
            </p:nvPr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8547" y="4961036"/>
              <a:ext cx="4097338" cy="8905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91964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More Complex Inertia</a:t>
            </a:r>
            <a:endParaRPr lang="en-GB" sz="2400" dirty="0">
              <a:cs typeface="Arial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194393" y="605557"/>
            <a:ext cx="8236713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GB" sz="2000" b="1" dirty="0">
                <a:latin typeface="+mn-lt"/>
                <a:cs typeface="Times New Roman"/>
              </a:rPr>
              <a:t>Applying our kinematic matrices to the movement of the link we can get an inertial matrix for the link that can be use whatever direction we move in.</a:t>
            </a:r>
            <a:endParaRPr sz="2000" dirty="0">
              <a:latin typeface="+mn-lt"/>
              <a:cs typeface="SimSun"/>
            </a:endParaRPr>
          </a:p>
        </p:txBody>
      </p:sp>
      <p:pic>
        <p:nvPicPr>
          <p:cNvPr id="16" name="Picture 5" descr="Edittex">
            <a:extLst>
              <a:ext uri="{FF2B5EF4-FFF2-40B4-BE49-F238E27FC236}">
                <a16:creationId xmlns:a16="http://schemas.microsoft.com/office/drawing/2014/main" id="{D412AC74-BF01-47A2-8142-2E4CE95BCA8D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764" y="2050923"/>
            <a:ext cx="7264400" cy="132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8" descr="Edittex">
            <a:extLst>
              <a:ext uri="{FF2B5EF4-FFF2-40B4-BE49-F238E27FC236}">
                <a16:creationId xmlns:a16="http://schemas.microsoft.com/office/drawing/2014/main" id="{93A02417-7CF4-4033-ADEA-A2F66E88C208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583" y="3952875"/>
            <a:ext cx="4267200" cy="109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6838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Countering Gravity</a:t>
            </a:r>
            <a:endParaRPr lang="en-GB" sz="2400" dirty="0">
              <a:cs typeface="Arial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194393" y="605557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GB" sz="2000" b="1" dirty="0">
                <a:latin typeface="+mn-lt"/>
                <a:cs typeface="Times New Roman"/>
              </a:rPr>
              <a:t>Working with torques can also be a good way of estimating actuator strengths to counter the force of gravity.</a:t>
            </a:r>
            <a:endParaRPr sz="2000" dirty="0">
              <a:latin typeface="+mn-lt"/>
              <a:cs typeface="SimSun"/>
            </a:endParaRPr>
          </a:p>
        </p:txBody>
      </p:sp>
      <p:sp>
        <p:nvSpPr>
          <p:cNvPr id="30" name="object 4">
            <a:extLst>
              <a:ext uri="{FF2B5EF4-FFF2-40B4-BE49-F238E27FC236}">
                <a16:creationId xmlns:a16="http://schemas.microsoft.com/office/drawing/2014/main" id="{A11ED154-8A40-4972-8D21-12867358BD2B}"/>
              </a:ext>
            </a:extLst>
          </p:cNvPr>
          <p:cNvSpPr txBox="1"/>
          <p:nvPr/>
        </p:nvSpPr>
        <p:spPr>
          <a:xfrm>
            <a:off x="556869" y="1335677"/>
            <a:ext cx="823671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When a manipulator joint is working against gravity it will be subject to a number of torques generated by the various masses. In effect we need to know:</a:t>
            </a:r>
          </a:p>
        </p:txBody>
      </p:sp>
      <p:sp>
        <p:nvSpPr>
          <p:cNvPr id="56" name="object 4">
            <a:extLst>
              <a:ext uri="{FF2B5EF4-FFF2-40B4-BE49-F238E27FC236}">
                <a16:creationId xmlns:a16="http://schemas.microsoft.com/office/drawing/2014/main" id="{EBE9E449-4881-4745-82E2-710A414AF498}"/>
              </a:ext>
            </a:extLst>
          </p:cNvPr>
          <p:cNvSpPr txBox="1"/>
          <p:nvPr/>
        </p:nvSpPr>
        <p:spPr>
          <a:xfrm>
            <a:off x="628650" y="6070759"/>
            <a:ext cx="8236713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 defTabSz="914400" eaLnBrk="1" hangingPunct="1">
              <a:spcBef>
                <a:spcPts val="0"/>
              </a:spcBef>
              <a:buClr>
                <a:srgbClr val="00007D"/>
              </a:buClr>
              <a:buSzPct val="75000"/>
            </a:pPr>
            <a:r>
              <a:rPr lang="en-GB" altLang="en-US" dirty="0"/>
              <a:t>Each joint must have sufficient actuator torque to counter the moments of the weights on the forward links and joints</a:t>
            </a:r>
            <a:endParaRPr lang="en-US" altLang="en-US" baseline="30000" dirty="0">
              <a:latin typeface="Arial"/>
            </a:endParaRPr>
          </a:p>
          <a:p>
            <a:pPr eaLnBrk="1" hangingPunct="1"/>
            <a:endParaRPr lang="en-US" altLang="en-US" dirty="0"/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C03543C1-8AAA-42D6-A4AF-E4ED812D3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2103793"/>
            <a:ext cx="421481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74650" indent="-3746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651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altLang="en-US" sz="1800" b="0" dirty="0">
                <a:latin typeface="Arial" panose="020B0604020202020204" pitchFamily="34" charset="0"/>
              </a:rPr>
              <a:t>weight of each linkage</a:t>
            </a:r>
            <a:r>
              <a:rPr lang="en-GB" altLang="en-US" sz="1800" dirty="0">
                <a:latin typeface="Arial" panose="020B0604020202020204" pitchFamily="34" charset="0"/>
              </a:rPr>
              <a:t> 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16" name="Text Box 18">
            <a:extLst>
              <a:ext uri="{FF2B5EF4-FFF2-40B4-BE49-F238E27FC236}">
                <a16:creationId xmlns:a16="http://schemas.microsoft.com/office/drawing/2014/main" id="{31EB5CD8-074D-47A0-918A-79758E399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2485865"/>
            <a:ext cx="421481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74650" indent="-3746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651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altLang="en-US" sz="1800" b="0" dirty="0">
                <a:latin typeface="Arial" panose="020B0604020202020204" pitchFamily="34" charset="0"/>
              </a:rPr>
              <a:t>weight of each joint 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17" name="Text Box 19">
            <a:extLst>
              <a:ext uri="{FF2B5EF4-FFF2-40B4-BE49-F238E27FC236}">
                <a16:creationId xmlns:a16="http://schemas.microsoft.com/office/drawing/2014/main" id="{906A4D7E-6493-44A6-962E-5AA9AC98CB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2883811"/>
            <a:ext cx="421481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74650" indent="-3746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651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altLang="en-US" sz="1800" b="0" dirty="0">
                <a:latin typeface="Arial" panose="020B0604020202020204" pitchFamily="34" charset="0"/>
              </a:rPr>
              <a:t>weight of object to lift 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18" name="Text Box 20">
            <a:extLst>
              <a:ext uri="{FF2B5EF4-FFF2-40B4-BE49-F238E27FC236}">
                <a16:creationId xmlns:a16="http://schemas.microsoft.com/office/drawing/2014/main" id="{1B1F9C43-DEF6-46DB-BD53-3FD0EF2CC6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3327935"/>
            <a:ext cx="421481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74650" indent="-3746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651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altLang="en-US" sz="1800" b="0" dirty="0">
                <a:latin typeface="Arial" panose="020B0604020202020204" pitchFamily="34" charset="0"/>
              </a:rPr>
              <a:t>length of each linkage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26" name="Rectangle 17">
            <a:extLst>
              <a:ext uri="{FF2B5EF4-FFF2-40B4-BE49-F238E27FC236}">
                <a16:creationId xmlns:a16="http://schemas.microsoft.com/office/drawing/2014/main" id="{40CE5109-F614-4451-A76E-A39771380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" y="131136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dirty="0"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0E95030D-62DE-48AA-88F6-BF5F62E5D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" y="176856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dirty="0"/>
          </a:p>
        </p:txBody>
      </p:sp>
      <p:grpSp>
        <p:nvGrpSpPr>
          <p:cNvPr id="21507" name="Group 21506">
            <a:extLst>
              <a:ext uri="{FF2B5EF4-FFF2-40B4-BE49-F238E27FC236}">
                <a16:creationId xmlns:a16="http://schemas.microsoft.com/office/drawing/2014/main" id="{9ED93473-5361-4CC5-8387-D75D5A2EEC43}"/>
              </a:ext>
            </a:extLst>
          </p:cNvPr>
          <p:cNvGrpSpPr/>
          <p:nvPr/>
        </p:nvGrpSpPr>
        <p:grpSpPr>
          <a:xfrm>
            <a:off x="2362200" y="4194261"/>
            <a:ext cx="4361629" cy="1278255"/>
            <a:chOff x="2362200" y="4194261"/>
            <a:chExt cx="4361629" cy="127825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099A1CE-31C5-4720-A5EA-E24812D6DD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4194261"/>
              <a:ext cx="447040" cy="1278255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8CE6DF4-485C-4CDC-9183-6F158E7CF9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4745441"/>
              <a:ext cx="165735" cy="17272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96FF085-A469-465B-959A-20FC498553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3175" y="4740361"/>
              <a:ext cx="165100" cy="17272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F3A04EA-04BF-4B1B-A402-00450195AB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3511" y="4711293"/>
              <a:ext cx="165100" cy="17272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E921200-576E-4B27-AFF6-CCC3C064C4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6635" y="4702261"/>
              <a:ext cx="165100" cy="17272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 dirty="0"/>
            </a:p>
          </p:txBody>
        </p:sp>
        <p:sp>
          <p:nvSpPr>
            <p:cNvPr id="4" name="Text Box 14">
              <a:extLst>
                <a:ext uri="{FF2B5EF4-FFF2-40B4-BE49-F238E27FC236}">
                  <a16:creationId xmlns:a16="http://schemas.microsoft.com/office/drawing/2014/main" id="{5C5866EB-CFAA-4910-8D22-F6B76C54F6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5842" y="4573022"/>
              <a:ext cx="1125538" cy="449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L3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" name="Text Box 15">
              <a:extLst>
                <a:ext uri="{FF2B5EF4-FFF2-40B4-BE49-F238E27FC236}">
                  <a16:creationId xmlns:a16="http://schemas.microsoft.com/office/drawing/2014/main" id="{68BE38AF-455D-44E1-A5E2-5373970AC7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8291" y="4688449"/>
              <a:ext cx="1125538" cy="44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End effector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31" name="Line 5">
              <a:extLst>
                <a:ext uri="{FF2B5EF4-FFF2-40B4-BE49-F238E27FC236}">
                  <a16:creationId xmlns:a16="http://schemas.microsoft.com/office/drawing/2014/main" id="{809D5000-C985-4ABE-BDED-A0E1F2E76B5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993390" y="4821006"/>
              <a:ext cx="813435" cy="698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" name="Line 9">
              <a:extLst>
                <a:ext uri="{FF2B5EF4-FFF2-40B4-BE49-F238E27FC236}">
                  <a16:creationId xmlns:a16="http://schemas.microsoft.com/office/drawing/2014/main" id="{D5E182C4-ACC3-4C9F-8AF8-525C7AD2CDA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993515" y="4812751"/>
              <a:ext cx="853440" cy="2032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" name="Line 13">
              <a:extLst>
                <a:ext uri="{FF2B5EF4-FFF2-40B4-BE49-F238E27FC236}">
                  <a16:creationId xmlns:a16="http://schemas.microsoft.com/office/drawing/2014/main" id="{6537A3BD-2B4D-47AE-B8BB-33D0CF57FABD}"/>
                </a:ext>
              </a:extLst>
            </p:cNvPr>
            <p:cNvCxnSpPr>
              <a:cxnSpLocks noChangeShapeType="1"/>
              <a:stCxn id="25" idx="1"/>
            </p:cNvCxnSpPr>
            <p:nvPr/>
          </p:nvCxnSpPr>
          <p:spPr bwMode="auto">
            <a:xfrm flipH="1">
              <a:off x="4976495" y="4797653"/>
              <a:ext cx="477016" cy="1255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" name="Text Box 16">
              <a:extLst>
                <a:ext uri="{FF2B5EF4-FFF2-40B4-BE49-F238E27FC236}">
                  <a16:creationId xmlns:a16="http://schemas.microsoft.com/office/drawing/2014/main" id="{BCCA5779-1495-48C7-88DC-3C7A970170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4158" y="4447944"/>
              <a:ext cx="1125538" cy="449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Joint 1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Text Box 17">
              <a:extLst>
                <a:ext uri="{FF2B5EF4-FFF2-40B4-BE49-F238E27FC236}">
                  <a16:creationId xmlns:a16="http://schemas.microsoft.com/office/drawing/2014/main" id="{C331097B-6CB8-4E69-A9C5-325FB1A1A1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8383" y="4433656"/>
              <a:ext cx="1125538" cy="44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Joint 2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" name="Text Box 18">
              <a:extLst>
                <a:ext uri="{FF2B5EF4-FFF2-40B4-BE49-F238E27FC236}">
                  <a16:creationId xmlns:a16="http://schemas.microsoft.com/office/drawing/2014/main" id="{713A7DF9-3E47-4979-A851-43CA4F737C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5151" y="4463819"/>
              <a:ext cx="1125538" cy="449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Joint 3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" name="Text Box 14">
              <a:extLst>
                <a:ext uri="{FF2B5EF4-FFF2-40B4-BE49-F238E27FC236}">
                  <a16:creationId xmlns:a16="http://schemas.microsoft.com/office/drawing/2014/main" id="{97C9D564-8417-4649-B322-C08D65E241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1529" y="4588120"/>
              <a:ext cx="1125538" cy="449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  <a:r>
                <a:rPr lang="en-US" altLang="en-US" sz="1100" b="1" dirty="0">
                  <a:cs typeface="Arial" panose="020B0604020202020204" pitchFamily="34" charset="0"/>
                </a:rPr>
                <a:t>2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" name="Text Box 14">
              <a:extLst>
                <a:ext uri="{FF2B5EF4-FFF2-40B4-BE49-F238E27FC236}">
                  <a16:creationId xmlns:a16="http://schemas.microsoft.com/office/drawing/2014/main" id="{7E2153DC-5220-4BFE-BC50-921C8856DE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2862" y="4585580"/>
              <a:ext cx="1125538" cy="449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  <a:r>
                <a:rPr lang="en-US" altLang="en-US" sz="1100" b="1" dirty="0">
                  <a:cs typeface="Arial" panose="020B0604020202020204" pitchFamily="34" charset="0"/>
                </a:rPr>
                <a:t>1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21508" name="Group 21507">
            <a:extLst>
              <a:ext uri="{FF2B5EF4-FFF2-40B4-BE49-F238E27FC236}">
                <a16:creationId xmlns:a16="http://schemas.microsoft.com/office/drawing/2014/main" id="{04C77386-B109-4DD9-AE86-482D60312E45}"/>
              </a:ext>
            </a:extLst>
          </p:cNvPr>
          <p:cNvGrpSpPr/>
          <p:nvPr/>
        </p:nvGrpSpPr>
        <p:grpSpPr>
          <a:xfrm>
            <a:off x="3237883" y="4847021"/>
            <a:ext cx="2630301" cy="763395"/>
            <a:chOff x="3237883" y="4847021"/>
            <a:chExt cx="2630301" cy="763395"/>
          </a:xfrm>
        </p:grpSpPr>
        <p:grpSp>
          <p:nvGrpSpPr>
            <p:cNvPr id="21505" name="Group 21504">
              <a:extLst>
                <a:ext uri="{FF2B5EF4-FFF2-40B4-BE49-F238E27FC236}">
                  <a16:creationId xmlns:a16="http://schemas.microsoft.com/office/drawing/2014/main" id="{6A2E4489-01AE-4284-A6ED-5ACBFE73BD46}"/>
                </a:ext>
              </a:extLst>
            </p:cNvPr>
            <p:cNvGrpSpPr/>
            <p:nvPr/>
          </p:nvGrpSpPr>
          <p:grpSpPr>
            <a:xfrm>
              <a:off x="3237883" y="4870170"/>
              <a:ext cx="478568" cy="647439"/>
              <a:chOff x="3244056" y="4884013"/>
              <a:chExt cx="478568" cy="647439"/>
            </a:xfrm>
          </p:grpSpPr>
          <p:sp>
            <p:nvSpPr>
              <p:cNvPr id="21504" name="Arrow: Down 21503">
                <a:extLst>
                  <a:ext uri="{FF2B5EF4-FFF2-40B4-BE49-F238E27FC236}">
                    <a16:creationId xmlns:a16="http://schemas.microsoft.com/office/drawing/2014/main" id="{A7CD5EBC-E2CE-4343-86FA-FA7CF5D07205}"/>
                  </a:ext>
                </a:extLst>
              </p:cNvPr>
              <p:cNvSpPr/>
              <p:nvPr/>
            </p:nvSpPr>
            <p:spPr>
              <a:xfrm>
                <a:off x="3362776" y="4884013"/>
                <a:ext cx="69063" cy="236814"/>
              </a:xfrm>
              <a:prstGeom prst="downArrow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43" name="Text Box 14">
                <a:extLst>
                  <a:ext uri="{FF2B5EF4-FFF2-40B4-BE49-F238E27FC236}">
                    <a16:creationId xmlns:a16="http://schemas.microsoft.com/office/drawing/2014/main" id="{6ACF529F-D14E-4B83-845F-DD91ACDE73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44056" y="5082190"/>
                <a:ext cx="478568" cy="449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W</a:t>
                </a:r>
                <a:r>
                  <a:rPr kumimoji="0" lang="en-US" altLang="en-US" sz="1100" b="1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  <a:r>
                  <a:rPr lang="en-US" altLang="en-US" sz="1100" b="1" baseline="-25000" dirty="0">
                    <a:cs typeface="Arial" panose="020B0604020202020204" pitchFamily="34" charset="0"/>
                  </a:rPr>
                  <a:t>1</a:t>
                </a:r>
                <a:endParaRPr kumimoji="0" lang="en-US" altLang="en-US" sz="18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3302EB7-2F84-4C37-B07F-660570FB3854}"/>
                </a:ext>
              </a:extLst>
            </p:cNvPr>
            <p:cNvGrpSpPr/>
            <p:nvPr/>
          </p:nvGrpSpPr>
          <p:grpSpPr>
            <a:xfrm>
              <a:off x="3744934" y="4962977"/>
              <a:ext cx="478568" cy="647439"/>
              <a:chOff x="3244056" y="4884013"/>
              <a:chExt cx="478568" cy="647439"/>
            </a:xfrm>
          </p:grpSpPr>
          <p:sp>
            <p:nvSpPr>
              <p:cNvPr id="47" name="Arrow: Down 46">
                <a:extLst>
                  <a:ext uri="{FF2B5EF4-FFF2-40B4-BE49-F238E27FC236}">
                    <a16:creationId xmlns:a16="http://schemas.microsoft.com/office/drawing/2014/main" id="{5E10523C-EF4D-440A-9DE5-166239E6BACA}"/>
                  </a:ext>
                </a:extLst>
              </p:cNvPr>
              <p:cNvSpPr/>
              <p:nvPr/>
            </p:nvSpPr>
            <p:spPr>
              <a:xfrm>
                <a:off x="3362776" y="4884013"/>
                <a:ext cx="69063" cy="236814"/>
              </a:xfrm>
              <a:prstGeom prst="downArrow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48" name="Text Box 14">
                <a:extLst>
                  <a:ext uri="{FF2B5EF4-FFF2-40B4-BE49-F238E27FC236}">
                    <a16:creationId xmlns:a16="http://schemas.microsoft.com/office/drawing/2014/main" id="{AC127155-6EEB-4A45-81B5-9BC3ECEDF5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44056" y="5082190"/>
                <a:ext cx="478568" cy="449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W</a:t>
                </a:r>
                <a:r>
                  <a:rPr kumimoji="0" lang="en-US" altLang="en-US" sz="1100" b="1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J2</a:t>
                </a:r>
                <a:endParaRPr kumimoji="0" lang="en-US" altLang="en-US" sz="18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5A94C91F-5ED4-44CB-ACDD-DED3802F874F}"/>
                </a:ext>
              </a:extLst>
            </p:cNvPr>
            <p:cNvGrpSpPr/>
            <p:nvPr/>
          </p:nvGrpSpPr>
          <p:grpSpPr>
            <a:xfrm>
              <a:off x="4237293" y="4861765"/>
              <a:ext cx="478568" cy="647439"/>
              <a:chOff x="3244056" y="4884013"/>
              <a:chExt cx="478568" cy="647439"/>
            </a:xfrm>
          </p:grpSpPr>
          <p:sp>
            <p:nvSpPr>
              <p:cNvPr id="50" name="Arrow: Down 49">
                <a:extLst>
                  <a:ext uri="{FF2B5EF4-FFF2-40B4-BE49-F238E27FC236}">
                    <a16:creationId xmlns:a16="http://schemas.microsoft.com/office/drawing/2014/main" id="{A934668A-50A1-48BE-A399-F56F74017AD0}"/>
                  </a:ext>
                </a:extLst>
              </p:cNvPr>
              <p:cNvSpPr/>
              <p:nvPr/>
            </p:nvSpPr>
            <p:spPr>
              <a:xfrm>
                <a:off x="3362776" y="4884013"/>
                <a:ext cx="69063" cy="236814"/>
              </a:xfrm>
              <a:prstGeom prst="downArrow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51" name="Text Box 14">
                <a:extLst>
                  <a:ext uri="{FF2B5EF4-FFF2-40B4-BE49-F238E27FC236}">
                    <a16:creationId xmlns:a16="http://schemas.microsoft.com/office/drawing/2014/main" id="{2F2A0F2B-765C-4DED-857B-7F089BE3D4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44056" y="5082190"/>
                <a:ext cx="478568" cy="449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W</a:t>
                </a:r>
                <a:r>
                  <a:rPr kumimoji="0" lang="en-US" altLang="en-US" sz="1100" b="1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L2</a:t>
                </a:r>
                <a:endParaRPr kumimoji="0" lang="en-US" altLang="en-US" sz="18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315C617-3425-4805-89BE-9824BD3112B8}"/>
                </a:ext>
              </a:extLst>
            </p:cNvPr>
            <p:cNvGrpSpPr/>
            <p:nvPr/>
          </p:nvGrpSpPr>
          <p:grpSpPr>
            <a:xfrm>
              <a:off x="4772399" y="4928179"/>
              <a:ext cx="478568" cy="647439"/>
              <a:chOff x="3244056" y="4884013"/>
              <a:chExt cx="478568" cy="647439"/>
            </a:xfrm>
          </p:grpSpPr>
          <p:sp>
            <p:nvSpPr>
              <p:cNvPr id="53" name="Arrow: Down 52">
                <a:extLst>
                  <a:ext uri="{FF2B5EF4-FFF2-40B4-BE49-F238E27FC236}">
                    <a16:creationId xmlns:a16="http://schemas.microsoft.com/office/drawing/2014/main" id="{40F64C54-9EAB-4F6F-BB42-BAAB1ABC887A}"/>
                  </a:ext>
                </a:extLst>
              </p:cNvPr>
              <p:cNvSpPr/>
              <p:nvPr/>
            </p:nvSpPr>
            <p:spPr>
              <a:xfrm>
                <a:off x="3362776" y="4884013"/>
                <a:ext cx="69063" cy="236814"/>
              </a:xfrm>
              <a:prstGeom prst="downArrow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54" name="Text Box 14">
                <a:extLst>
                  <a:ext uri="{FF2B5EF4-FFF2-40B4-BE49-F238E27FC236}">
                    <a16:creationId xmlns:a16="http://schemas.microsoft.com/office/drawing/2014/main" id="{1CCAF111-8C72-4D5C-8A61-1A0FCB6E6F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44056" y="5082190"/>
                <a:ext cx="478568" cy="449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W</a:t>
                </a:r>
                <a:r>
                  <a:rPr kumimoji="0" lang="en-US" altLang="en-US" sz="1100" b="1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J3</a:t>
                </a:r>
                <a:endParaRPr kumimoji="0" lang="en-US" altLang="en-US" sz="18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D653421B-3D69-4753-86E2-001AB65F9E44}"/>
                </a:ext>
              </a:extLst>
            </p:cNvPr>
            <p:cNvGrpSpPr/>
            <p:nvPr/>
          </p:nvGrpSpPr>
          <p:grpSpPr>
            <a:xfrm>
              <a:off x="5081764" y="4847021"/>
              <a:ext cx="478568" cy="647439"/>
              <a:chOff x="3244056" y="4884013"/>
              <a:chExt cx="478568" cy="647439"/>
            </a:xfrm>
          </p:grpSpPr>
          <p:sp>
            <p:nvSpPr>
              <p:cNvPr id="58" name="Arrow: Down 57">
                <a:extLst>
                  <a:ext uri="{FF2B5EF4-FFF2-40B4-BE49-F238E27FC236}">
                    <a16:creationId xmlns:a16="http://schemas.microsoft.com/office/drawing/2014/main" id="{31F19776-4D55-4E56-9DF2-D8A574811076}"/>
                  </a:ext>
                </a:extLst>
              </p:cNvPr>
              <p:cNvSpPr/>
              <p:nvPr/>
            </p:nvSpPr>
            <p:spPr>
              <a:xfrm>
                <a:off x="3362776" y="4884013"/>
                <a:ext cx="69063" cy="236814"/>
              </a:xfrm>
              <a:prstGeom prst="downArrow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59" name="Text Box 14">
                <a:extLst>
                  <a:ext uri="{FF2B5EF4-FFF2-40B4-BE49-F238E27FC236}">
                    <a16:creationId xmlns:a16="http://schemas.microsoft.com/office/drawing/2014/main" id="{B4ED17C5-D0FB-48A1-B4F2-1AF1BD9C5F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44056" y="5082190"/>
                <a:ext cx="478568" cy="449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W</a:t>
                </a:r>
                <a:r>
                  <a:rPr kumimoji="0" lang="en-US" altLang="en-US" sz="1100" b="1" i="0" u="none" strike="noStrike" cap="none" normalizeH="0" baseline="-25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  <a:r>
                  <a:rPr lang="en-US" altLang="en-US" sz="1100" b="1" baseline="-25000" dirty="0">
                    <a:cs typeface="Arial" panose="020B0604020202020204" pitchFamily="34" charset="0"/>
                  </a:rPr>
                  <a:t>3</a:t>
                </a:r>
                <a:endParaRPr kumimoji="0" lang="en-US" altLang="en-US" sz="18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92C8E0BC-546B-448B-ADF2-B28CB2A06BEF}"/>
                </a:ext>
              </a:extLst>
            </p:cNvPr>
            <p:cNvGrpSpPr/>
            <p:nvPr/>
          </p:nvGrpSpPr>
          <p:grpSpPr>
            <a:xfrm>
              <a:off x="5389616" y="4909000"/>
              <a:ext cx="478568" cy="647439"/>
              <a:chOff x="3244056" y="4884013"/>
              <a:chExt cx="478568" cy="647439"/>
            </a:xfrm>
          </p:grpSpPr>
          <p:sp>
            <p:nvSpPr>
              <p:cNvPr id="61" name="Arrow: Down 60">
                <a:extLst>
                  <a:ext uri="{FF2B5EF4-FFF2-40B4-BE49-F238E27FC236}">
                    <a16:creationId xmlns:a16="http://schemas.microsoft.com/office/drawing/2014/main" id="{3025C13B-D232-49F1-947E-D952C0C12478}"/>
                  </a:ext>
                </a:extLst>
              </p:cNvPr>
              <p:cNvSpPr/>
              <p:nvPr/>
            </p:nvSpPr>
            <p:spPr>
              <a:xfrm>
                <a:off x="3362776" y="4884013"/>
                <a:ext cx="69063" cy="236814"/>
              </a:xfrm>
              <a:prstGeom prst="downArrow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62" name="Text Box 14">
                <a:extLst>
                  <a:ext uri="{FF2B5EF4-FFF2-40B4-BE49-F238E27FC236}">
                    <a16:creationId xmlns:a16="http://schemas.microsoft.com/office/drawing/2014/main" id="{B2A84D60-A26E-4522-B398-A13BC66877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44056" y="5082190"/>
                <a:ext cx="478568" cy="449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W</a:t>
                </a:r>
                <a:r>
                  <a:rPr lang="en-US" altLang="en-US" sz="1100" b="1" baseline="-25000" dirty="0">
                    <a:cs typeface="Arial" panose="020B0604020202020204" pitchFamily="34" charset="0"/>
                  </a:rPr>
                  <a:t>EE</a:t>
                </a:r>
                <a:endParaRPr kumimoji="0" lang="en-US" altLang="en-US" sz="1800" b="0" i="0" u="none" strike="noStrike" cap="none" normalizeH="0" baseline="-2500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78603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0" grpId="0"/>
      <p:bldP spid="56" grpId="0"/>
      <p:bldP spid="15" grpId="0"/>
      <p:bldP spid="16" grpId="0"/>
      <p:bldP spid="17" grpId="0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Example</a:t>
            </a:r>
            <a:endParaRPr lang="en-GB" sz="2400" dirty="0">
              <a:cs typeface="Arial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GB" sz="2000" b="1" dirty="0">
                <a:latin typeface="+mn-lt"/>
                <a:cs typeface="Times New Roman"/>
              </a:rPr>
              <a:t>Consider the manipulator below</a:t>
            </a:r>
            <a:endParaRPr sz="2000" dirty="0">
              <a:latin typeface="+mn-lt"/>
              <a:cs typeface="SimSun"/>
            </a:endParaRPr>
          </a:p>
        </p:txBody>
      </p:sp>
      <p:sp>
        <p:nvSpPr>
          <p:cNvPr id="30" name="object 4">
            <a:extLst>
              <a:ext uri="{FF2B5EF4-FFF2-40B4-BE49-F238E27FC236}">
                <a16:creationId xmlns:a16="http://schemas.microsoft.com/office/drawing/2014/main" id="{A11ED154-8A40-4972-8D21-12867358BD2B}"/>
              </a:ext>
            </a:extLst>
          </p:cNvPr>
          <p:cNvSpPr txBox="1"/>
          <p:nvPr/>
        </p:nvSpPr>
        <p:spPr>
          <a:xfrm>
            <a:off x="554457" y="1048078"/>
            <a:ext cx="823671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dirty="0"/>
              <a:t>The robotic manipulator shown below needs to be designed to manipulate a 2kg end effector. Calculate the minimum required motor torques and masses of the structural elements that would be required to hold up the end effector under gravity.</a:t>
            </a:r>
            <a:endParaRPr lang="en-US" altLang="en-US" dirty="0"/>
          </a:p>
        </p:txBody>
      </p:sp>
      <p:sp>
        <p:nvSpPr>
          <p:cNvPr id="56" name="object 4">
            <a:extLst>
              <a:ext uri="{FF2B5EF4-FFF2-40B4-BE49-F238E27FC236}">
                <a16:creationId xmlns:a16="http://schemas.microsoft.com/office/drawing/2014/main" id="{EBE9E449-4881-4745-82E2-710A414AF498}"/>
              </a:ext>
            </a:extLst>
          </p:cNvPr>
          <p:cNvSpPr txBox="1"/>
          <p:nvPr/>
        </p:nvSpPr>
        <p:spPr>
          <a:xfrm>
            <a:off x="660399" y="5730460"/>
            <a:ext cx="8236713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 defTabSz="914400" eaLnBrk="1" hangingPunct="1">
              <a:spcBef>
                <a:spcPts val="0"/>
              </a:spcBef>
              <a:buClr>
                <a:srgbClr val="00007D"/>
              </a:buClr>
              <a:buSzPct val="75000"/>
            </a:pPr>
            <a:r>
              <a:rPr lang="en-GB" altLang="en-US" dirty="0"/>
              <a:t>Each joint must have sufficient actuator torque to counter the moments of the weights on the forward links and joints</a:t>
            </a:r>
            <a:endParaRPr lang="en-US" altLang="en-US" baseline="30000" dirty="0">
              <a:latin typeface="Arial"/>
            </a:endParaRPr>
          </a:p>
          <a:p>
            <a:pPr eaLnBrk="1" hangingPunct="1"/>
            <a:endParaRPr lang="en-US" altLang="en-US" dirty="0"/>
          </a:p>
        </p:txBody>
      </p:sp>
      <p:sp>
        <p:nvSpPr>
          <p:cNvPr id="16" name="Text Box 18">
            <a:extLst>
              <a:ext uri="{FF2B5EF4-FFF2-40B4-BE49-F238E27FC236}">
                <a16:creationId xmlns:a16="http://schemas.microsoft.com/office/drawing/2014/main" id="{31EB5CD8-074D-47A0-918A-79758E399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399" y="3793095"/>
            <a:ext cx="54745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74650" indent="-3746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651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</a:rPr>
              <a:t>Motor torque is 1.8 Nm per kg of motor used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17" name="Text Box 19">
            <a:extLst>
              <a:ext uri="{FF2B5EF4-FFF2-40B4-BE49-F238E27FC236}">
                <a16:creationId xmlns:a16="http://schemas.microsoft.com/office/drawing/2014/main" id="{906A4D7E-6493-44A6-962E-5AA9AC98CB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666" y="4273613"/>
            <a:ext cx="802629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74650" indent="-3746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651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</a:rPr>
              <a:t>Required mass of structural members are 2.5 kg per metre for each kg of mass at end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26" name="Rectangle 17">
            <a:extLst>
              <a:ext uri="{FF2B5EF4-FFF2-40B4-BE49-F238E27FC236}">
                <a16:creationId xmlns:a16="http://schemas.microsoft.com/office/drawing/2014/main" id="{40CE5109-F614-4451-A76E-A39771380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" y="131136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dirty="0"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0E95030D-62DE-48AA-88F6-BF5F62E5D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" y="176856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15ED156-3599-47D8-8645-7B19CC2F279A}"/>
              </a:ext>
            </a:extLst>
          </p:cNvPr>
          <p:cNvGrpSpPr/>
          <p:nvPr/>
        </p:nvGrpSpPr>
        <p:grpSpPr>
          <a:xfrm>
            <a:off x="2390457" y="2250865"/>
            <a:ext cx="3978910" cy="1278255"/>
            <a:chOff x="2582545" y="2789873"/>
            <a:chExt cx="3978910" cy="1278255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CE89898-2111-428A-A108-190DE8F11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2545" y="2789873"/>
              <a:ext cx="447040" cy="1278255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D865F957-56FD-4D8F-9281-82F2AAF958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9745" y="3341053"/>
              <a:ext cx="165735" cy="17272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9352C0FF-B616-4D8E-AF70-A5BE29024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3520" y="3335973"/>
              <a:ext cx="165100" cy="17272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896D765B-6F90-4950-9983-92D9ED8CF6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4790" y="3313748"/>
              <a:ext cx="165100" cy="17272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66" name="Text Box 10">
              <a:extLst>
                <a:ext uri="{FF2B5EF4-FFF2-40B4-BE49-F238E27FC236}">
                  <a16:creationId xmlns:a16="http://schemas.microsoft.com/office/drawing/2014/main" id="{BEC25E04-810D-4DF2-B3A9-708A8DFDA9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7085" y="3144203"/>
              <a:ext cx="1125220" cy="448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GB" sz="1100" b="1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0.6m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Text Box 11">
              <a:extLst>
                <a:ext uri="{FF2B5EF4-FFF2-40B4-BE49-F238E27FC236}">
                  <a16:creationId xmlns:a16="http://schemas.microsoft.com/office/drawing/2014/main" id="{DFE05F3D-43D5-4D66-8B4C-F6E7CBF5FD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800" y="3163888"/>
              <a:ext cx="1125855" cy="448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GB" sz="1100" b="1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0.8m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BA75133A-BBE0-4523-8516-8909F6E40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6980" y="3297873"/>
              <a:ext cx="165100" cy="17272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GB"/>
            </a:p>
          </p:txBody>
        </p:sp>
        <p:sp>
          <p:nvSpPr>
            <p:cNvPr id="69" name="Text Box 14">
              <a:extLst>
                <a:ext uri="{FF2B5EF4-FFF2-40B4-BE49-F238E27FC236}">
                  <a16:creationId xmlns:a16="http://schemas.microsoft.com/office/drawing/2014/main" id="{FF1CAFDD-566C-4E9B-9CE3-529145CFE9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1740" y="3064828"/>
              <a:ext cx="1125855" cy="448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GB" sz="1100" b="1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0.1m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Text Box 15">
              <a:extLst>
                <a:ext uri="{FF2B5EF4-FFF2-40B4-BE49-F238E27FC236}">
                  <a16:creationId xmlns:a16="http://schemas.microsoft.com/office/drawing/2014/main" id="{7D00DE0D-E2C0-4C2B-BFC8-B72C8D8867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5600" y="3285808"/>
              <a:ext cx="1125855" cy="448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GB" sz="1100" b="1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End effector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1" name="Line 5">
              <a:extLst>
                <a:ext uri="{FF2B5EF4-FFF2-40B4-BE49-F238E27FC236}">
                  <a16:creationId xmlns:a16="http://schemas.microsoft.com/office/drawing/2014/main" id="{ECDD1EB0-606A-4F41-A3DD-83553DA93E0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13735" y="3416618"/>
              <a:ext cx="813435" cy="698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" name="Line 9">
              <a:extLst>
                <a:ext uri="{FF2B5EF4-FFF2-40B4-BE49-F238E27FC236}">
                  <a16:creationId xmlns:a16="http://schemas.microsoft.com/office/drawing/2014/main" id="{2227214F-4BBF-4643-9D86-F99BD5F716C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213860" y="3408363"/>
              <a:ext cx="853440" cy="2032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" name="Line 13">
              <a:extLst>
                <a:ext uri="{FF2B5EF4-FFF2-40B4-BE49-F238E27FC236}">
                  <a16:creationId xmlns:a16="http://schemas.microsoft.com/office/drawing/2014/main" id="{D0196DBE-DF2B-46C5-92DE-6C27E94343F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5196840" y="3405823"/>
              <a:ext cx="114300" cy="25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4" name="Text Box 16">
              <a:extLst>
                <a:ext uri="{FF2B5EF4-FFF2-40B4-BE49-F238E27FC236}">
                  <a16:creationId xmlns:a16="http://schemas.microsoft.com/office/drawing/2014/main" id="{C9C07352-8188-4A33-A06D-33AF820E17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4340" y="3568383"/>
              <a:ext cx="1125855" cy="448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GB" sz="1100" b="1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Joint 1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Text Box 17">
              <a:extLst>
                <a:ext uri="{FF2B5EF4-FFF2-40B4-BE49-F238E27FC236}">
                  <a16:creationId xmlns:a16="http://schemas.microsoft.com/office/drawing/2014/main" id="{DFC09099-EE42-4359-B99E-D14C3A54BB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9200" y="3553143"/>
              <a:ext cx="1125855" cy="448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GB" sz="1100" b="1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Joint 2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Text Box 18">
              <a:extLst>
                <a:ext uri="{FF2B5EF4-FFF2-40B4-BE49-F238E27FC236}">
                  <a16:creationId xmlns:a16="http://schemas.microsoft.com/office/drawing/2014/main" id="{08E053E0-EB28-45C2-BA33-C3F54EEE9D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3140" y="3545523"/>
              <a:ext cx="1125855" cy="448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GB" sz="1100" b="1"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Joint 3</a:t>
              </a:r>
              <a:endParaRPr lang="en-GB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9186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0" grpId="0"/>
      <p:bldP spid="56" grpId="0"/>
      <p:bldP spid="16" grpId="0"/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Example</a:t>
            </a:r>
            <a:endParaRPr lang="en-GB" sz="2400" dirty="0">
              <a:cs typeface="Arial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GB" b="1" dirty="0"/>
              <a:t>Need to consider the moments generating torque for each joint </a:t>
            </a:r>
            <a:endParaRPr sz="2000" dirty="0">
              <a:latin typeface="+mn-lt"/>
              <a:cs typeface="SimSun"/>
            </a:endParaRPr>
          </a:p>
        </p:txBody>
      </p:sp>
      <p:sp>
        <p:nvSpPr>
          <p:cNvPr id="30" name="object 4">
            <a:extLst>
              <a:ext uri="{FF2B5EF4-FFF2-40B4-BE49-F238E27FC236}">
                <a16:creationId xmlns:a16="http://schemas.microsoft.com/office/drawing/2014/main" id="{A11ED154-8A40-4972-8D21-12867358BD2B}"/>
              </a:ext>
            </a:extLst>
          </p:cNvPr>
          <p:cNvSpPr txBox="1"/>
          <p:nvPr/>
        </p:nvSpPr>
        <p:spPr>
          <a:xfrm>
            <a:off x="370527" y="2893886"/>
            <a:ext cx="837173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GB" b="1" dirty="0"/>
              <a:t>Torque on joint due to gravity = sum for each mass of (mass x distance from joint x g)</a:t>
            </a:r>
            <a:endParaRPr lang="en-GB" dirty="0"/>
          </a:p>
        </p:txBody>
      </p:sp>
      <p:sp>
        <p:nvSpPr>
          <p:cNvPr id="16" name="Text Box 18">
            <a:extLst>
              <a:ext uri="{FF2B5EF4-FFF2-40B4-BE49-F238E27FC236}">
                <a16:creationId xmlns:a16="http://schemas.microsoft.com/office/drawing/2014/main" id="{31EB5CD8-074D-47A0-918A-79758E399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116" y="4048901"/>
            <a:ext cx="8490145" cy="1130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74650" indent="-3746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651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15000"/>
              </a:lnSpc>
              <a:spcAft>
                <a:spcPts val="400"/>
              </a:spcAft>
              <a:tabLst>
                <a:tab pos="914400" algn="l"/>
              </a:tabLst>
            </a:pP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Mass of structural member 3 from above criteria M</a:t>
            </a:r>
            <a:r>
              <a:rPr lang="en-GB" sz="1800" baseline="-25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L3</a:t>
            </a: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2.5 x M</a:t>
            </a:r>
            <a:r>
              <a:rPr lang="en-GB" sz="1800" baseline="-25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x L3 </a:t>
            </a:r>
          </a:p>
          <a:p>
            <a:pPr algn="just">
              <a:lnSpc>
                <a:spcPct val="115000"/>
              </a:lnSpc>
              <a:spcAft>
                <a:spcPts val="400"/>
              </a:spcAft>
              <a:tabLst>
                <a:tab pos="914400" algn="l"/>
              </a:tabLst>
            </a:pP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									    = 2.5 x 2 x 0.1 = 0.5 kg </a:t>
            </a:r>
          </a:p>
          <a:p>
            <a:pPr algn="just">
              <a:lnSpc>
                <a:spcPct val="115000"/>
              </a:lnSpc>
              <a:spcAft>
                <a:spcPts val="400"/>
              </a:spcAft>
              <a:tabLst>
                <a:tab pos="914400" algn="l"/>
              </a:tabLst>
            </a:pP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								(from holding end effector mass)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Rectangle 17">
            <a:extLst>
              <a:ext uri="{FF2B5EF4-FFF2-40B4-BE49-F238E27FC236}">
                <a16:creationId xmlns:a16="http://schemas.microsoft.com/office/drawing/2014/main" id="{40CE5109-F614-4451-A76E-A39771380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" y="131136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dirty="0"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0E95030D-62DE-48AA-88F6-BF5F62E5D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" y="176856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dirty="0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7E5149ED-7F9F-4E08-B8AA-2874AEA3DE8D}"/>
              </a:ext>
            </a:extLst>
          </p:cNvPr>
          <p:cNvGrpSpPr/>
          <p:nvPr/>
        </p:nvGrpSpPr>
        <p:grpSpPr>
          <a:xfrm>
            <a:off x="1658302" y="1109505"/>
            <a:ext cx="5443220" cy="1745616"/>
            <a:chOff x="0" y="0"/>
            <a:chExt cx="5443592" cy="1745988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00796B1B-EE18-4F9B-AC69-96B004B01314}"/>
                </a:ext>
              </a:extLst>
            </p:cNvPr>
            <p:cNvGrpSpPr/>
            <p:nvPr/>
          </p:nvGrpSpPr>
          <p:grpSpPr>
            <a:xfrm>
              <a:off x="1201271" y="675715"/>
              <a:ext cx="2725271" cy="498288"/>
              <a:chOff x="0" y="0"/>
              <a:chExt cx="2725271" cy="498288"/>
            </a:xfrm>
          </p:grpSpPr>
          <p:cxnSp>
            <p:nvCxnSpPr>
              <p:cNvPr id="101" name="Line 9">
                <a:extLst>
                  <a:ext uri="{FF2B5EF4-FFF2-40B4-BE49-F238E27FC236}">
                    <a16:creationId xmlns:a16="http://schemas.microsoft.com/office/drawing/2014/main" id="{08A739D4-21DD-45C5-B195-091B9F80F2C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588309" y="14567"/>
                <a:ext cx="106680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2" name="Line 13">
                <a:extLst>
                  <a:ext uri="{FF2B5EF4-FFF2-40B4-BE49-F238E27FC236}">
                    <a16:creationId xmlns:a16="http://schemas.microsoft.com/office/drawing/2014/main" id="{5193FD8A-6661-4C40-A4F4-40C4191096E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1897156" y="14567"/>
                <a:ext cx="692785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66A58B52-FFD2-4FEB-80C9-B9A82F08E068}"/>
                  </a:ext>
                </a:extLst>
              </p:cNvPr>
              <p:cNvCxnSpPr/>
              <p:nvPr/>
            </p:nvCxnSpPr>
            <p:spPr>
              <a:xfrm>
                <a:off x="506506" y="116541"/>
                <a:ext cx="0" cy="36830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A08710AD-529A-4113-A59D-88F3B4E139E1}"/>
                  </a:ext>
                </a:extLst>
              </p:cNvPr>
              <p:cNvCxnSpPr/>
              <p:nvPr/>
            </p:nvCxnSpPr>
            <p:spPr>
              <a:xfrm>
                <a:off x="1783977" y="129988"/>
                <a:ext cx="0" cy="36830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DF1DAAC4-466F-4223-B455-9F406E729F3E}"/>
                  </a:ext>
                </a:extLst>
              </p:cNvPr>
              <p:cNvCxnSpPr/>
              <p:nvPr/>
            </p:nvCxnSpPr>
            <p:spPr>
              <a:xfrm>
                <a:off x="0" y="13447"/>
                <a:ext cx="0" cy="36830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687517A0-D1C7-44C7-BBBC-2C5AD1AEC436}"/>
                  </a:ext>
                </a:extLst>
              </p:cNvPr>
              <p:cNvCxnSpPr/>
              <p:nvPr/>
            </p:nvCxnSpPr>
            <p:spPr>
              <a:xfrm>
                <a:off x="2725271" y="121023"/>
                <a:ext cx="0" cy="36830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0F905126-39C8-4AF0-BB64-064DFC8057DB}"/>
                  </a:ext>
                </a:extLst>
              </p:cNvPr>
              <p:cNvCxnSpPr/>
              <p:nvPr/>
            </p:nvCxnSpPr>
            <p:spPr>
              <a:xfrm>
                <a:off x="1143000" y="8964"/>
                <a:ext cx="0" cy="36830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216E1A0F-60D8-49AF-9F71-1408C8666AC0}"/>
                  </a:ext>
                </a:extLst>
              </p:cNvPr>
              <p:cNvCxnSpPr/>
              <p:nvPr/>
            </p:nvCxnSpPr>
            <p:spPr>
              <a:xfrm>
                <a:off x="2259106" y="0"/>
                <a:ext cx="0" cy="36830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solid"/>
                <a:tailEnd type="triangle"/>
              </a:ln>
              <a:effectLst/>
            </p:spPr>
          </p:cxn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A832398B-B4D0-4713-BBF5-2D5323B9A32E}"/>
                </a:ext>
              </a:extLst>
            </p:cNvPr>
            <p:cNvGrpSpPr/>
            <p:nvPr/>
          </p:nvGrpSpPr>
          <p:grpSpPr>
            <a:xfrm>
              <a:off x="0" y="0"/>
              <a:ext cx="5443592" cy="1745988"/>
              <a:chOff x="0" y="0"/>
              <a:chExt cx="5443592" cy="1745988"/>
            </a:xfrm>
          </p:grpSpPr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F09607BC-5A10-4ECC-8811-F38CD4CB1D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586798" cy="1645108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878F00B9-344F-47A1-AB20-59E23F9D6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0636" y="573741"/>
                <a:ext cx="217549" cy="22229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5" name="Text Box 10">
                <a:extLst>
                  <a:ext uri="{FF2B5EF4-FFF2-40B4-BE49-F238E27FC236}">
                    <a16:creationId xmlns:a16="http://schemas.microsoft.com/office/drawing/2014/main" id="{B615C9FA-937A-47D8-9847-A8B9FBD127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29821" y="429185"/>
                <a:ext cx="1476997" cy="5777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L1</a:t>
                </a:r>
                <a:endParaRPr kumimoji="0" lang="en-GB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6" name="Text Box 15">
                <a:extLst>
                  <a:ext uri="{FF2B5EF4-FFF2-40B4-BE49-F238E27FC236}">
                    <a16:creationId xmlns:a16="http://schemas.microsoft.com/office/drawing/2014/main" id="{DA80ABC7-877A-48BA-A48F-395B00463E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65762" y="554691"/>
                <a:ext cx="1477830" cy="5777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End effector</a:t>
                </a:r>
                <a:endParaRPr kumimoji="0" lang="en-GB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87" name="Line 5">
                <a:extLst>
                  <a:ext uri="{FF2B5EF4-FFF2-40B4-BE49-F238E27FC236}">
                    <a16:creationId xmlns:a16="http://schemas.microsoft.com/office/drawing/2014/main" id="{C50179CB-B073-49E2-B5F2-0D4A1B56D40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829236" y="681318"/>
                <a:ext cx="762000" cy="254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88" name="Text Box 16">
                <a:extLst>
                  <a:ext uri="{FF2B5EF4-FFF2-40B4-BE49-F238E27FC236}">
                    <a16:creationId xmlns:a16="http://schemas.microsoft.com/office/drawing/2014/main" id="{C8DB371E-6306-45E0-ACBA-C9BFF3DC85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6762" y="783291"/>
                <a:ext cx="1477830" cy="5777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</a:t>
                </a:r>
                <a:r>
                  <a:rPr kumimoji="0" lang="en-GB" sz="1100" b="1" i="0" u="none" strike="noStrike" kern="0" cap="none" spc="0" normalizeH="0" baseline="-2500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J1</a:t>
                </a:r>
                <a:endParaRPr kumimoji="0" lang="en-GB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9" name="Text Box 17">
                <a:extLst>
                  <a:ext uri="{FF2B5EF4-FFF2-40B4-BE49-F238E27FC236}">
                    <a16:creationId xmlns:a16="http://schemas.microsoft.com/office/drawing/2014/main" id="{8E818C04-DDC3-4DC8-A86C-D8256A7B5A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80515" y="1052232"/>
                <a:ext cx="1477645" cy="577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gM</a:t>
                </a:r>
                <a:r>
                  <a:rPr kumimoji="0" lang="en-GB" sz="1100" b="1" i="0" u="none" strike="noStrike" kern="0" cap="none" spc="0" normalizeH="0" baseline="-2500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L1</a:t>
                </a:r>
                <a:endParaRPr kumimoji="0" lang="en-GB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kumimoji="0" lang="en-GB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E80B0EE1-21BA-4C84-9AA7-277FC91794F4}"/>
                  </a:ext>
                </a:extLst>
              </p:cNvPr>
              <p:cNvGrpSpPr/>
              <p:nvPr/>
            </p:nvGrpSpPr>
            <p:grpSpPr>
              <a:xfrm>
                <a:off x="1509433" y="415738"/>
                <a:ext cx="3709857" cy="1330250"/>
                <a:chOff x="0" y="0"/>
                <a:chExt cx="3709857" cy="1330250"/>
              </a:xfrm>
            </p:grpSpPr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F29327CE-0F5B-438E-8771-6209D6AC38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86" y="153520"/>
                  <a:ext cx="216715" cy="222290"/>
                </a:xfrm>
                <a:prstGeom prst="ellipse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92" name="Rectangle 91">
                  <a:extLst>
                    <a:ext uri="{FF2B5EF4-FFF2-40B4-BE49-F238E27FC236}">
                      <a16:creationId xmlns:a16="http://schemas.microsoft.com/office/drawing/2014/main" id="{DED95902-E418-4233-8CC9-424DB36E4A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96086" y="166967"/>
                  <a:ext cx="216715" cy="222290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93" name="Text Box 11">
                  <a:extLst>
                    <a:ext uri="{FF2B5EF4-FFF2-40B4-BE49-F238E27FC236}">
                      <a16:creationId xmlns:a16="http://schemas.microsoft.com/office/drawing/2014/main" id="{8B4DB0F5-D056-4C9B-91A2-1D7EC9C99C9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49942" y="0"/>
                  <a:ext cx="1477830" cy="5777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100" b="1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L2</a:t>
                  </a:r>
                  <a:endPara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1947D3FE-0760-4686-906F-22C8D5AB8F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59274" y="166967"/>
                  <a:ext cx="216715" cy="222290"/>
                </a:xfrm>
                <a:prstGeom prst="ellipse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95" name="Text Box 14">
                  <a:extLst>
                    <a:ext uri="{FF2B5EF4-FFF2-40B4-BE49-F238E27FC236}">
                      <a16:creationId xmlns:a16="http://schemas.microsoft.com/office/drawing/2014/main" id="{4CA895A8-8E47-49B1-A807-5689A9D901B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75012" y="13447"/>
                  <a:ext cx="1477830" cy="5777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100" b="1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L3</a:t>
                  </a:r>
                  <a:endPara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" name="Text Box 17">
                  <a:extLst>
                    <a:ext uri="{FF2B5EF4-FFF2-40B4-BE49-F238E27FC236}">
                      <a16:creationId xmlns:a16="http://schemas.microsoft.com/office/drawing/2014/main" id="{F42541AC-E9B1-4C0A-A38C-214FD5AAA5D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717176"/>
                  <a:ext cx="1477830" cy="5777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1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gM</a:t>
                  </a:r>
                  <a:r>
                    <a:rPr kumimoji="0" lang="en-GB" sz="1100" b="1" i="0" u="none" strike="noStrike" kern="0" cap="none" spc="0" normalizeH="0" baseline="-2500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J2</a:t>
                  </a:r>
                  <a:endPara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  <a:p>
                  <a:pPr marL="0" marR="0" lvl="0" indent="0" defTabSz="91440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100" b="1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 </a:t>
                  </a:r>
                  <a:endPara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7" name="Text Box 17">
                  <a:extLst>
                    <a:ext uri="{FF2B5EF4-FFF2-40B4-BE49-F238E27FC236}">
                      <a16:creationId xmlns:a16="http://schemas.microsoft.com/office/drawing/2014/main" id="{FEFEFF92-51A2-40B4-9BF3-74E746026B8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77471" y="730623"/>
                  <a:ext cx="1477830" cy="5777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1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gM</a:t>
                  </a:r>
                  <a:r>
                    <a:rPr kumimoji="0" lang="en-GB" sz="1100" b="1" i="0" u="none" strike="noStrike" kern="0" cap="none" spc="0" normalizeH="0" baseline="-2500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J3</a:t>
                  </a:r>
                  <a:endPara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  <a:p>
                  <a:pPr marL="0" marR="0" lvl="0" indent="0" defTabSz="91440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100" b="1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 </a:t>
                  </a:r>
                  <a:endPara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8" name="Text Box 17">
                  <a:extLst>
                    <a:ext uri="{FF2B5EF4-FFF2-40B4-BE49-F238E27FC236}">
                      <a16:creationId xmlns:a16="http://schemas.microsoft.com/office/drawing/2014/main" id="{A97059D1-16E6-4211-AB75-DEF6DA7F082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32012" y="623047"/>
                  <a:ext cx="1477645" cy="577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1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gM</a:t>
                  </a:r>
                  <a:r>
                    <a:rPr kumimoji="0" lang="en-GB" sz="1100" b="1" i="0" u="none" strike="noStrike" kern="0" cap="none" spc="0" normalizeH="0" baseline="-2500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L2</a:t>
                  </a:r>
                  <a:endPara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  <a:p>
                  <a:pPr marL="0" marR="0" lvl="0" indent="0" defTabSz="91440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100" b="1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 </a:t>
                  </a:r>
                  <a:endPara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9" name="Text Box 17">
                  <a:extLst>
                    <a:ext uri="{FF2B5EF4-FFF2-40B4-BE49-F238E27FC236}">
                      <a16:creationId xmlns:a16="http://schemas.microsoft.com/office/drawing/2014/main" id="{71F3E27E-53C4-4A74-90A8-3C9A8A83A6C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61565" y="600635"/>
                  <a:ext cx="1477645" cy="577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1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gM</a:t>
                  </a:r>
                  <a:r>
                    <a:rPr kumimoji="0" lang="en-GB" sz="1100" b="1" i="0" u="none" strike="noStrike" kern="0" cap="none" spc="0" normalizeH="0" baseline="-2500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L3</a:t>
                  </a:r>
                  <a:endPara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  <a:p>
                  <a:pPr marL="0" marR="0" lvl="0" indent="0" defTabSz="91440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100" b="1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 </a:t>
                  </a:r>
                  <a:endPara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0" name="Text Box 17">
                  <a:extLst>
                    <a:ext uri="{FF2B5EF4-FFF2-40B4-BE49-F238E27FC236}">
                      <a16:creationId xmlns:a16="http://schemas.microsoft.com/office/drawing/2014/main" id="{BA1A350A-2D6C-43D2-A301-2F56AD6494C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32212" y="753035"/>
                  <a:ext cx="1477645" cy="57721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1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gM</a:t>
                  </a:r>
                  <a:r>
                    <a:rPr kumimoji="0" lang="en-GB" sz="1100" b="1" i="0" u="none" strike="noStrike" kern="0" cap="none" spc="0" normalizeH="0" baseline="-2500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E</a:t>
                  </a:r>
                  <a:endPara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  <a:p>
                  <a:pPr marL="0" marR="0" lvl="0" indent="0" defTabSz="91440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100" b="1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 </a:t>
                  </a:r>
                  <a:endPara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sp>
        <p:nvSpPr>
          <p:cNvPr id="109" name="object 4">
            <a:extLst>
              <a:ext uri="{FF2B5EF4-FFF2-40B4-BE49-F238E27FC236}">
                <a16:creationId xmlns:a16="http://schemas.microsoft.com/office/drawing/2014/main" id="{5E540BC7-1F99-4539-98FF-807D19BF351A}"/>
              </a:ext>
            </a:extLst>
          </p:cNvPr>
          <p:cNvSpPr txBox="1"/>
          <p:nvPr/>
        </p:nvSpPr>
        <p:spPr>
          <a:xfrm>
            <a:off x="190808" y="3629399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GB" b="1" dirty="0"/>
              <a:t>Working backwards from the end effector</a:t>
            </a:r>
            <a:endParaRPr sz="2000" dirty="0">
              <a:latin typeface="+mn-lt"/>
              <a:cs typeface="SimSun"/>
            </a:endParaRPr>
          </a:p>
        </p:txBody>
      </p:sp>
      <p:sp>
        <p:nvSpPr>
          <p:cNvPr id="110" name="Text Box 18">
            <a:extLst>
              <a:ext uri="{FF2B5EF4-FFF2-40B4-BE49-F238E27FC236}">
                <a16:creationId xmlns:a16="http://schemas.microsoft.com/office/drawing/2014/main" id="{CA089087-3328-4DC6-9876-59CD8A2693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414" y="5277855"/>
            <a:ext cx="8490145" cy="1130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74650" indent="-3746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651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15000"/>
              </a:lnSpc>
              <a:spcAft>
                <a:spcPts val="400"/>
              </a:spcAft>
              <a:tabLst>
                <a:tab pos="914400" algn="l"/>
              </a:tabLst>
            </a:pP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</a:rPr>
              <a:t>Torque on Joint 3 = (g x L3/2 x M</a:t>
            </a:r>
            <a:r>
              <a:rPr lang="en-GB" sz="1800" baseline="-25000" dirty="0">
                <a:latin typeface="Arial" panose="020B0604020202020204" pitchFamily="34" charset="0"/>
                <a:ea typeface="Calibri" panose="020F0502020204030204" pitchFamily="34" charset="0"/>
              </a:rPr>
              <a:t>L3</a:t>
            </a: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</a:rPr>
              <a:t>) + (g x L3 x M</a:t>
            </a:r>
            <a:r>
              <a:rPr lang="en-GB" sz="1800" baseline="-25000" dirty="0">
                <a:latin typeface="Arial" panose="020B0604020202020204" pitchFamily="34" charset="0"/>
                <a:ea typeface="Calibri" panose="020F0502020204030204" pitchFamily="34" charset="0"/>
              </a:rPr>
              <a:t>E</a:t>
            </a: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</a:rPr>
              <a:t>) </a:t>
            </a:r>
          </a:p>
          <a:p>
            <a:pPr algn="just">
              <a:lnSpc>
                <a:spcPct val="115000"/>
              </a:lnSpc>
              <a:spcAft>
                <a:spcPts val="400"/>
              </a:spcAft>
              <a:tabLst>
                <a:tab pos="914400" algn="l"/>
              </a:tabLst>
            </a:pP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</a:rPr>
              <a:t>			       = (9.81x 0.05 x 0.5) + (9.81x 0.1x 2) = 2.207 Nm </a:t>
            </a:r>
          </a:p>
          <a:p>
            <a:pPr algn="just">
              <a:lnSpc>
                <a:spcPct val="115000"/>
              </a:lnSpc>
              <a:spcAft>
                <a:spcPts val="400"/>
              </a:spcAft>
              <a:tabLst>
                <a:tab pos="914400" algn="l"/>
              </a:tabLst>
            </a:pP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</a:rPr>
              <a:t>                   (from moments for end effector and structural member 3)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488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0" grpId="0"/>
      <p:bldP spid="16" grpId="0"/>
      <p:bldP spid="109" grpId="0"/>
      <p:bldP spid="1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Example</a:t>
            </a:r>
            <a:endParaRPr lang="en-GB" sz="2400" dirty="0">
              <a:cs typeface="Arial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194393" y="6055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GB" b="1" dirty="0"/>
              <a:t>So now we can work out the mass of the motorised joint 3</a:t>
            </a:r>
            <a:endParaRPr sz="2000" dirty="0">
              <a:latin typeface="+mn-lt"/>
              <a:cs typeface="SimSun"/>
            </a:endParaRPr>
          </a:p>
        </p:txBody>
      </p:sp>
      <p:sp>
        <p:nvSpPr>
          <p:cNvPr id="30" name="object 4">
            <a:extLst>
              <a:ext uri="{FF2B5EF4-FFF2-40B4-BE49-F238E27FC236}">
                <a16:creationId xmlns:a16="http://schemas.microsoft.com/office/drawing/2014/main" id="{A11ED154-8A40-4972-8D21-12867358BD2B}"/>
              </a:ext>
            </a:extLst>
          </p:cNvPr>
          <p:cNvSpPr txBox="1"/>
          <p:nvPr/>
        </p:nvSpPr>
        <p:spPr>
          <a:xfrm>
            <a:off x="406453" y="1118190"/>
            <a:ext cx="837173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GB" dirty="0"/>
              <a:t>Mass of joint 3 (M</a:t>
            </a:r>
            <a:r>
              <a:rPr lang="en-GB" baseline="-25000" dirty="0"/>
              <a:t>J3</a:t>
            </a:r>
            <a:r>
              <a:rPr lang="en-GB" dirty="0"/>
              <a:t>) from criteria for joint mass above = 2.207/1.8= 1.226Kg</a:t>
            </a:r>
          </a:p>
        </p:txBody>
      </p:sp>
      <p:sp>
        <p:nvSpPr>
          <p:cNvPr id="16" name="Text Box 18">
            <a:extLst>
              <a:ext uri="{FF2B5EF4-FFF2-40B4-BE49-F238E27FC236}">
                <a16:creationId xmlns:a16="http://schemas.microsoft.com/office/drawing/2014/main" id="{31EB5CD8-074D-47A0-918A-79758E399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247" y="2046190"/>
            <a:ext cx="8490145" cy="1493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74650" indent="-3746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651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15000"/>
              </a:lnSpc>
              <a:spcAft>
                <a:spcPts val="400"/>
              </a:spcAft>
              <a:tabLst>
                <a:tab pos="914400" algn="l"/>
              </a:tabLst>
            </a:pP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</a:rPr>
              <a:t>Mass of structural member 2 from criteria above </a:t>
            </a:r>
          </a:p>
          <a:p>
            <a:pPr algn="just">
              <a:lnSpc>
                <a:spcPct val="115000"/>
              </a:lnSpc>
              <a:spcAft>
                <a:spcPts val="400"/>
              </a:spcAft>
              <a:tabLst>
                <a:tab pos="914400" algn="l"/>
              </a:tabLst>
            </a:pP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</a:rPr>
              <a:t>M</a:t>
            </a:r>
            <a:r>
              <a:rPr lang="en-GB" sz="1800" baseline="-25000" dirty="0">
                <a:latin typeface="Arial" panose="020B0604020202020204" pitchFamily="34" charset="0"/>
                <a:ea typeface="Calibri" panose="020F0502020204030204" pitchFamily="34" charset="0"/>
              </a:rPr>
              <a:t>L2</a:t>
            </a: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</a:rPr>
              <a:t>= 2.5 x (M</a:t>
            </a:r>
            <a:r>
              <a:rPr lang="en-GB" sz="1800" baseline="-25000" dirty="0">
                <a:latin typeface="Arial" panose="020B0604020202020204" pitchFamily="34" charset="0"/>
                <a:ea typeface="Calibri" panose="020F0502020204030204" pitchFamily="34" charset="0"/>
              </a:rPr>
              <a:t>J3 + </a:t>
            </a: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</a:rPr>
              <a:t>M</a:t>
            </a:r>
            <a:r>
              <a:rPr lang="en-GB" sz="1800" baseline="-25000" dirty="0">
                <a:latin typeface="Arial" panose="020B0604020202020204" pitchFamily="34" charset="0"/>
                <a:ea typeface="Calibri" panose="020F0502020204030204" pitchFamily="34" charset="0"/>
              </a:rPr>
              <a:t>L3 +</a:t>
            </a: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</a:rPr>
              <a:t>M</a:t>
            </a:r>
            <a:r>
              <a:rPr lang="en-GB" sz="1800" baseline="-25000" dirty="0">
                <a:latin typeface="Arial" panose="020B0604020202020204" pitchFamily="34" charset="0"/>
                <a:ea typeface="Calibri" panose="020F0502020204030204" pitchFamily="34" charset="0"/>
              </a:rPr>
              <a:t>E</a:t>
            </a: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</a:rPr>
              <a:t>) x L2 </a:t>
            </a:r>
          </a:p>
          <a:p>
            <a:pPr algn="just">
              <a:lnSpc>
                <a:spcPct val="115000"/>
              </a:lnSpc>
              <a:spcAft>
                <a:spcPts val="400"/>
              </a:spcAft>
              <a:tabLst>
                <a:tab pos="914400" algn="l"/>
              </a:tabLst>
            </a:pP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</a:rPr>
              <a:t>       =  2.5 x (1.226+0.5+2) x 0.8 = 7.452 kg </a:t>
            </a:r>
          </a:p>
          <a:p>
            <a:pPr algn="just">
              <a:lnSpc>
                <a:spcPct val="115000"/>
              </a:lnSpc>
              <a:spcAft>
                <a:spcPts val="400"/>
              </a:spcAft>
              <a:tabLst>
                <a:tab pos="914400" algn="l"/>
              </a:tabLst>
            </a:pP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</a:rPr>
              <a:t>(from holding  joint 3, structural member 3 and end effector mass</a:t>
            </a:r>
            <a:endParaRPr lang="en-GB" sz="18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Rectangle 17">
            <a:extLst>
              <a:ext uri="{FF2B5EF4-FFF2-40B4-BE49-F238E27FC236}">
                <a16:creationId xmlns:a16="http://schemas.microsoft.com/office/drawing/2014/main" id="{40CE5109-F614-4451-A76E-A39771380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" y="131136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dirty="0"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0E95030D-62DE-48AA-88F6-BF5F62E5D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" y="176856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dirty="0"/>
          </a:p>
        </p:txBody>
      </p:sp>
      <p:sp>
        <p:nvSpPr>
          <p:cNvPr id="109" name="object 4">
            <a:extLst>
              <a:ext uri="{FF2B5EF4-FFF2-40B4-BE49-F238E27FC236}">
                <a16:creationId xmlns:a16="http://schemas.microsoft.com/office/drawing/2014/main" id="{5E540BC7-1F99-4539-98FF-807D19BF351A}"/>
              </a:ext>
            </a:extLst>
          </p:cNvPr>
          <p:cNvSpPr txBox="1"/>
          <p:nvPr/>
        </p:nvSpPr>
        <p:spPr>
          <a:xfrm>
            <a:off x="194393" y="1576957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GB" b="1" dirty="0"/>
              <a:t>Onto Joint 2</a:t>
            </a:r>
            <a:endParaRPr sz="2000" dirty="0">
              <a:latin typeface="+mn-lt"/>
              <a:cs typeface="SimSun"/>
            </a:endParaRPr>
          </a:p>
        </p:txBody>
      </p:sp>
      <p:sp>
        <p:nvSpPr>
          <p:cNvPr id="110" name="Text Box 18">
            <a:extLst>
              <a:ext uri="{FF2B5EF4-FFF2-40B4-BE49-F238E27FC236}">
                <a16:creationId xmlns:a16="http://schemas.microsoft.com/office/drawing/2014/main" id="{CA089087-3328-4DC6-9876-59CD8A2693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247" y="3688180"/>
            <a:ext cx="8490145" cy="2367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74650" indent="-3746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651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15000"/>
              </a:lnSpc>
              <a:spcAft>
                <a:spcPts val="1000"/>
              </a:spcAft>
              <a:tabLst>
                <a:tab pos="914400" algn="l"/>
              </a:tabLst>
            </a:pP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Torque on Joint 2 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  <a:tabLst>
                <a:tab pos="914400" algn="l"/>
              </a:tabLst>
            </a:pP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(g x L2/2 x M</a:t>
            </a:r>
            <a:r>
              <a:rPr lang="en-GB" sz="1800" baseline="-25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L2</a:t>
            </a: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+ (g x L2 x M</a:t>
            </a:r>
            <a:r>
              <a:rPr lang="en-GB" sz="1800" baseline="-25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J3</a:t>
            </a: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+ (g x (L2+ L3/2) x M</a:t>
            </a:r>
            <a:r>
              <a:rPr lang="en-GB" sz="1800" baseline="-25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L3</a:t>
            </a: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+ (g x (L2 + L3) x M</a:t>
            </a:r>
            <a:r>
              <a:rPr lang="en-GB" sz="1800" baseline="-25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  <a:tabLst>
                <a:tab pos="914400" algn="l"/>
              </a:tabLst>
            </a:pP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(9.81x 0.4 x 7.453) + (9.81x 0.8 x 1.226) + (9.81x (0.8+0.05) x 0.5) + (9.81x (0.8+0.1) x 2) =60.69 Nm 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  <a:tabLst>
                <a:tab pos="914400" algn="l"/>
              </a:tabLst>
            </a:pP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(from moments for end effector, structural member 3, joint 3 and structural member 2)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4045F1AE-6627-4EE1-A0D9-0AC3B2F5B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927" y="6203559"/>
            <a:ext cx="8490145" cy="39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74650" indent="-3746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651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15000"/>
              </a:lnSpc>
              <a:spcAft>
                <a:spcPts val="1000"/>
              </a:spcAft>
              <a:tabLst>
                <a:tab pos="914400" algn="l"/>
              </a:tabLst>
            </a:pP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Mass of joint 2 (M</a:t>
            </a:r>
            <a:r>
              <a:rPr lang="en-GB" sz="1800" baseline="-25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J2</a:t>
            </a: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from </a:t>
            </a:r>
            <a:r>
              <a:rPr lang="en-GB" sz="1800" dirty="0">
                <a:solidFill>
                  <a:prstClr val="black"/>
                </a:solidFill>
                <a:latin typeface="Arial" panose="020B0604020202020204" pitchFamily="34" charset="0"/>
              </a:rPr>
              <a:t>criteria for joint mass </a:t>
            </a: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above = 60.69/1.8= 33.72Kg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825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0" grpId="0"/>
      <p:bldP spid="16" grpId="0"/>
      <p:bldP spid="109" grpId="0"/>
      <p:bldP spid="110" grpId="0"/>
      <p:bldP spid="3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Example</a:t>
            </a:r>
            <a:endParaRPr lang="en-GB" sz="2400" dirty="0">
              <a:cs typeface="Arial"/>
            </a:endParaRPr>
          </a:p>
        </p:txBody>
      </p:sp>
      <p:sp>
        <p:nvSpPr>
          <p:cNvPr id="16" name="Text Box 18">
            <a:extLst>
              <a:ext uri="{FF2B5EF4-FFF2-40B4-BE49-F238E27FC236}">
                <a16:creationId xmlns:a16="http://schemas.microsoft.com/office/drawing/2014/main" id="{31EB5CD8-074D-47A0-918A-79758E399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931629"/>
            <a:ext cx="8490145" cy="1811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74650" indent="-3746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651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15000"/>
              </a:lnSpc>
              <a:spcAft>
                <a:spcPts val="400"/>
              </a:spcAft>
              <a:tabLst>
                <a:tab pos="914400" algn="l"/>
              </a:tabLst>
            </a:pP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</a:rPr>
              <a:t>Mass of structural member 1 from criteria above </a:t>
            </a:r>
          </a:p>
          <a:p>
            <a:pPr algn="just">
              <a:lnSpc>
                <a:spcPct val="115000"/>
              </a:lnSpc>
              <a:spcAft>
                <a:spcPts val="400"/>
              </a:spcAft>
              <a:tabLst>
                <a:tab pos="914400" algn="l"/>
              </a:tabLst>
            </a:pP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</a:rPr>
              <a:t>M</a:t>
            </a:r>
            <a:r>
              <a:rPr lang="en-GB" sz="1800" baseline="-25000" dirty="0">
                <a:latin typeface="Arial" panose="020B0604020202020204" pitchFamily="34" charset="0"/>
                <a:ea typeface="Calibri" panose="020F0502020204030204" pitchFamily="34" charset="0"/>
              </a:rPr>
              <a:t>L1</a:t>
            </a: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</a:rPr>
              <a:t>= 2.5 x (M</a:t>
            </a:r>
            <a:r>
              <a:rPr lang="en-GB" sz="1800" baseline="-25000" dirty="0">
                <a:latin typeface="Arial" panose="020B0604020202020204" pitchFamily="34" charset="0"/>
                <a:ea typeface="Calibri" panose="020F0502020204030204" pitchFamily="34" charset="0"/>
              </a:rPr>
              <a:t>J2 + </a:t>
            </a: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</a:rPr>
              <a:t>M</a:t>
            </a:r>
            <a:r>
              <a:rPr lang="en-GB" sz="1800" baseline="-25000" dirty="0">
                <a:latin typeface="Arial" panose="020B0604020202020204" pitchFamily="34" charset="0"/>
                <a:ea typeface="Calibri" panose="020F0502020204030204" pitchFamily="34" charset="0"/>
              </a:rPr>
              <a:t>L2  + </a:t>
            </a: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</a:rPr>
              <a:t>M</a:t>
            </a:r>
            <a:r>
              <a:rPr lang="en-GB" sz="1800" baseline="-25000" dirty="0">
                <a:latin typeface="Arial" panose="020B0604020202020204" pitchFamily="34" charset="0"/>
                <a:ea typeface="Calibri" panose="020F0502020204030204" pitchFamily="34" charset="0"/>
              </a:rPr>
              <a:t>J3 + </a:t>
            </a: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</a:rPr>
              <a:t>M</a:t>
            </a:r>
            <a:r>
              <a:rPr lang="en-GB" sz="1800" baseline="-25000" dirty="0">
                <a:latin typeface="Arial" panose="020B0604020202020204" pitchFamily="34" charset="0"/>
                <a:ea typeface="Calibri" panose="020F0502020204030204" pitchFamily="34" charset="0"/>
              </a:rPr>
              <a:t>L3 +</a:t>
            </a: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</a:rPr>
              <a:t>M</a:t>
            </a:r>
            <a:r>
              <a:rPr lang="en-GB" sz="1800" baseline="-25000" dirty="0">
                <a:latin typeface="Arial" panose="020B0604020202020204" pitchFamily="34" charset="0"/>
                <a:ea typeface="Calibri" panose="020F0502020204030204" pitchFamily="34" charset="0"/>
              </a:rPr>
              <a:t>E</a:t>
            </a: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</a:rPr>
              <a:t>) x L1 </a:t>
            </a:r>
          </a:p>
          <a:p>
            <a:pPr algn="just">
              <a:lnSpc>
                <a:spcPct val="115000"/>
              </a:lnSpc>
              <a:spcAft>
                <a:spcPts val="400"/>
              </a:spcAft>
              <a:tabLst>
                <a:tab pos="914400" algn="l"/>
              </a:tabLst>
            </a:pP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</a:rPr>
              <a:t>      =  2.5 x (33.72+7.453+1.226+0.5+2) x 0.6 = 66.63 kg </a:t>
            </a:r>
          </a:p>
          <a:p>
            <a:pPr algn="just">
              <a:lnSpc>
                <a:spcPct val="115000"/>
              </a:lnSpc>
              <a:spcAft>
                <a:spcPts val="400"/>
              </a:spcAft>
              <a:tabLst>
                <a:tab pos="914400" algn="l"/>
              </a:tabLst>
            </a:pP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</a:rPr>
              <a:t>(from holding joint 2, structural member 2,  joint 3, structural member 3 and end effector mass)</a:t>
            </a:r>
            <a:endParaRPr lang="en-GB" sz="18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Rectangle 17">
            <a:extLst>
              <a:ext uri="{FF2B5EF4-FFF2-40B4-BE49-F238E27FC236}">
                <a16:creationId xmlns:a16="http://schemas.microsoft.com/office/drawing/2014/main" id="{40CE5109-F614-4451-A76E-A39771380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" y="131136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dirty="0"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0E95030D-62DE-48AA-88F6-BF5F62E5D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" y="176856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dirty="0"/>
          </a:p>
        </p:txBody>
      </p:sp>
      <p:sp>
        <p:nvSpPr>
          <p:cNvPr id="109" name="object 4">
            <a:extLst>
              <a:ext uri="{FF2B5EF4-FFF2-40B4-BE49-F238E27FC236}">
                <a16:creationId xmlns:a16="http://schemas.microsoft.com/office/drawing/2014/main" id="{5E540BC7-1F99-4539-98FF-807D19BF351A}"/>
              </a:ext>
            </a:extLst>
          </p:cNvPr>
          <p:cNvSpPr txBox="1"/>
          <p:nvPr/>
        </p:nvSpPr>
        <p:spPr>
          <a:xfrm>
            <a:off x="129541" y="539374"/>
            <a:ext cx="823671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GB" b="1" dirty="0"/>
              <a:t>Finally Joint 1</a:t>
            </a:r>
            <a:endParaRPr sz="2000" dirty="0">
              <a:latin typeface="+mn-lt"/>
              <a:cs typeface="SimSun"/>
            </a:endParaRPr>
          </a:p>
        </p:txBody>
      </p:sp>
      <p:sp>
        <p:nvSpPr>
          <p:cNvPr id="110" name="Text Box 18">
            <a:extLst>
              <a:ext uri="{FF2B5EF4-FFF2-40B4-BE49-F238E27FC236}">
                <a16:creationId xmlns:a16="http://schemas.microsoft.com/office/drawing/2014/main" id="{CA089087-3328-4DC6-9876-59CD8A2693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926" y="2860757"/>
            <a:ext cx="8490145" cy="313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74650" indent="-3746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651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15000"/>
              </a:lnSpc>
              <a:spcAft>
                <a:spcPts val="1000"/>
              </a:spcAft>
              <a:tabLst>
                <a:tab pos="914400" algn="l"/>
              </a:tabLst>
            </a:pP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Torque on Joint 1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  <a:tabLst>
                <a:tab pos="914400" algn="l"/>
              </a:tabLst>
            </a:pP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</a:rPr>
              <a:t>= (g x L1/2 x M</a:t>
            </a:r>
            <a:r>
              <a:rPr lang="en-GB" sz="1800" baseline="-25000" dirty="0">
                <a:latin typeface="Arial" panose="020B0604020202020204" pitchFamily="34" charset="0"/>
                <a:ea typeface="Calibri" panose="020F0502020204030204" pitchFamily="34" charset="0"/>
              </a:rPr>
              <a:t>L1</a:t>
            </a: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</a:rPr>
              <a:t>) + (g x L1x M</a:t>
            </a:r>
            <a:r>
              <a:rPr lang="en-GB" sz="1800" baseline="-25000" dirty="0">
                <a:latin typeface="Arial" panose="020B0604020202020204" pitchFamily="34" charset="0"/>
                <a:ea typeface="Calibri" panose="020F0502020204030204" pitchFamily="34" charset="0"/>
              </a:rPr>
              <a:t>j2</a:t>
            </a: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</a:rPr>
              <a:t>) + (g x (L1 +L2/2) x M</a:t>
            </a:r>
            <a:r>
              <a:rPr lang="en-GB" sz="1800" baseline="-25000" dirty="0">
                <a:latin typeface="Arial" panose="020B0604020202020204" pitchFamily="34" charset="0"/>
                <a:ea typeface="Calibri" panose="020F0502020204030204" pitchFamily="34" charset="0"/>
              </a:rPr>
              <a:t>L2</a:t>
            </a: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</a:rPr>
              <a:t>) + (g x (L1 + L2) x M</a:t>
            </a:r>
            <a:r>
              <a:rPr lang="en-GB" sz="1800" baseline="-25000" dirty="0">
                <a:latin typeface="Arial" panose="020B0604020202020204" pitchFamily="34" charset="0"/>
                <a:ea typeface="Calibri" panose="020F0502020204030204" pitchFamily="34" charset="0"/>
              </a:rPr>
              <a:t>J3</a:t>
            </a: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</a:rPr>
              <a:t>) + (g x (L1 +L2+ L3/2) x M</a:t>
            </a:r>
            <a:r>
              <a:rPr lang="en-GB" sz="1800" baseline="-25000" dirty="0">
                <a:latin typeface="Arial" panose="020B0604020202020204" pitchFamily="34" charset="0"/>
                <a:ea typeface="Calibri" panose="020F0502020204030204" pitchFamily="34" charset="0"/>
              </a:rPr>
              <a:t>L3</a:t>
            </a: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</a:rPr>
              <a:t>) + (g x (L1+ L2 + L3) x M</a:t>
            </a:r>
            <a:r>
              <a:rPr lang="en-GB" sz="1800" baseline="-25000" dirty="0">
                <a:latin typeface="Arial" panose="020B0604020202020204" pitchFamily="34" charset="0"/>
                <a:ea typeface="Calibri" panose="020F0502020204030204" pitchFamily="34" charset="0"/>
              </a:rPr>
              <a:t>E</a:t>
            </a: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</a:rPr>
              <a:t>) 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  <a:tabLst>
                <a:tab pos="914400" algn="l"/>
              </a:tabLst>
            </a:pP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</a:rPr>
              <a:t>= (9.81x 0.3 x 66.63) + (9.81x 0.6 x 33.72) + (9.81x (0.6+0.4) x 7.453) + (9.81x (0.6 +0.8) x 1.226) + (9.81x (0.6+0.8+0.05) x 0.5) + (9.81x (0.6+0.8+0.1) x 2)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  <a:tabLst>
                <a:tab pos="914400" algn="l"/>
              </a:tabLst>
            </a:pP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</a:rPr>
              <a:t>=514.38Nm 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  <a:tabLst>
                <a:tab pos="914400" algn="l"/>
              </a:tabLst>
            </a:pP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</a:rPr>
              <a:t>(from moments for end effector, structural member 3, joint 3, structural member 2, joint 2 and structural member 1)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4045F1AE-6627-4EE1-A0D9-0AC3B2F5B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6089001"/>
            <a:ext cx="8490145" cy="708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74650" indent="-3746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651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15000"/>
              </a:lnSpc>
              <a:spcAft>
                <a:spcPts val="1000"/>
              </a:spcAft>
              <a:tabLst>
                <a:tab pos="914400" algn="l"/>
              </a:tabLst>
            </a:pPr>
            <a:r>
              <a:rPr lang="en-GB" sz="1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Mass of joint 1 is not required as this is part of the base and does not feature in any calculations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260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09" grpId="0"/>
      <p:bldP spid="110" grpId="0"/>
      <p:bldP spid="3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General Approach</a:t>
            </a:r>
            <a:endParaRPr lang="en-GB" sz="2400" dirty="0">
              <a:cs typeface="Arial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194393" y="605557"/>
            <a:ext cx="8677319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GB" sz="2000" b="1" dirty="0">
                <a:latin typeface="+mn-lt"/>
                <a:cs typeface="Times New Roman"/>
              </a:rPr>
              <a:t>When we are trying to deal with moving masses there are two general approaches used</a:t>
            </a:r>
            <a:endParaRPr sz="2000" dirty="0">
              <a:latin typeface="+mn-lt"/>
              <a:cs typeface="SimSun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1D030F2-F50C-4149-99C5-E1584FF3A27C}"/>
              </a:ext>
            </a:extLst>
          </p:cNvPr>
          <p:cNvGrpSpPr/>
          <p:nvPr/>
        </p:nvGrpSpPr>
        <p:grpSpPr>
          <a:xfrm>
            <a:off x="616585" y="1500442"/>
            <a:ext cx="8143875" cy="2821272"/>
            <a:chOff x="616585" y="1500442"/>
            <a:chExt cx="8143875" cy="2821272"/>
          </a:xfrm>
        </p:grpSpPr>
        <p:sp>
          <p:nvSpPr>
            <p:cNvPr id="82" name="Rectangle 5">
              <a:extLst>
                <a:ext uri="{FF2B5EF4-FFF2-40B4-BE49-F238E27FC236}">
                  <a16:creationId xmlns:a16="http://schemas.microsoft.com/office/drawing/2014/main" id="{798B6DE2-D578-47C7-B666-933DA32BE1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6585" y="1500442"/>
              <a:ext cx="8143875" cy="2116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Newton-Euler approach</a:t>
              </a:r>
            </a:p>
            <a:p>
              <a:pPr lvl="1" eaLnBrk="1" hangingPunct="1">
                <a:buFont typeface="Wingdings" panose="05000000000000000000" pitchFamily="2" charset="2"/>
                <a:buChar char="§"/>
              </a:pPr>
              <a:r>
                <a:rPr lang="en-US" alt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P is absolute linear momentum</a:t>
              </a:r>
            </a:p>
            <a:p>
              <a:pPr lvl="1" eaLnBrk="1" hangingPunct="1">
                <a:buFont typeface="Wingdings" panose="05000000000000000000" pitchFamily="2" charset="2"/>
                <a:buChar char="§"/>
              </a:pPr>
              <a:r>
                <a:rPr lang="en-US" alt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F is resultant external force</a:t>
              </a:r>
            </a:p>
            <a:p>
              <a:pPr lvl="1" eaLnBrk="1" hangingPunct="1">
                <a:buFont typeface="Wingdings" panose="05000000000000000000" pitchFamily="2" charset="2"/>
                <a:buChar char="§"/>
              </a:pPr>
              <a:r>
                <a:rPr lang="en-US" alt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M</a:t>
              </a:r>
              <a:r>
                <a:rPr lang="en-US" altLang="en-US" sz="20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  <a:r>
                <a:rPr lang="en-US" alt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is resultant external moment with respect to point o</a:t>
              </a:r>
            </a:p>
            <a:p>
              <a:pPr lvl="1" eaLnBrk="1" hangingPunct="1">
                <a:buFont typeface="Wingdings" panose="05000000000000000000" pitchFamily="2" charset="2"/>
                <a:buChar char="§"/>
              </a:pPr>
              <a:r>
                <a:rPr lang="en-US" alt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  <a:r>
                <a:rPr lang="en-US" altLang="en-US" sz="20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  <a:r>
                <a:rPr lang="en-US" alt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is moment of momentum with respect to point o</a:t>
              </a:r>
            </a:p>
            <a:p>
              <a:pPr eaLnBrk="1" hangingPunct="1"/>
              <a:endParaRPr lang="en-US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indent="0" eaLnBrk="1" hangingPunct="1">
                <a:buNone/>
              </a:pPr>
              <a:endParaRPr lang="en-US" altLang="en-US" dirty="0"/>
            </a:p>
          </p:txBody>
        </p:sp>
        <p:pic>
          <p:nvPicPr>
            <p:cNvPr id="83" name="Picture 8" descr="Edittex">
              <a:extLst>
                <a:ext uri="{FF2B5EF4-FFF2-40B4-BE49-F238E27FC236}">
                  <a16:creationId xmlns:a16="http://schemas.microsoft.com/office/drawing/2014/main" id="{86F8A269-1C4A-4955-88B8-F6FADDA739DE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1"/>
              </p:custDataLst>
            </p:nvPr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67154" y="3559714"/>
              <a:ext cx="2286000" cy="762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5" name="Picture 7" descr="Edittex">
              <a:extLst>
                <a:ext uri="{FF2B5EF4-FFF2-40B4-BE49-F238E27FC236}">
                  <a16:creationId xmlns:a16="http://schemas.microsoft.com/office/drawing/2014/main" id="{B19E92D3-B00D-4966-A6E8-BEE6A5DD8CC2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2"/>
              </p:custDataLst>
            </p:nvPr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7077" y="3502468"/>
              <a:ext cx="2663825" cy="762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3F6CF8A-FFC3-4435-AC11-F8D267CD1D70}"/>
              </a:ext>
            </a:extLst>
          </p:cNvPr>
          <p:cNvGrpSpPr/>
          <p:nvPr/>
        </p:nvGrpSpPr>
        <p:grpSpPr>
          <a:xfrm>
            <a:off x="724154" y="4603323"/>
            <a:ext cx="5151998" cy="1620192"/>
            <a:chOff x="724154" y="4603323"/>
            <a:chExt cx="5151998" cy="1620192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05660F7D-94AD-4BC1-BBB3-5D69C11CA4D9}"/>
                </a:ext>
              </a:extLst>
            </p:cNvPr>
            <p:cNvSpPr txBox="1"/>
            <p:nvPr/>
          </p:nvSpPr>
          <p:spPr>
            <a:xfrm>
              <a:off x="724154" y="4603323"/>
              <a:ext cx="4572000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 eaLnBrk="1" hangingPunct="1">
                <a:buFont typeface="Arial" panose="020B0604020202020204" pitchFamily="34" charset="0"/>
                <a:buChar char="•"/>
              </a:pPr>
              <a:r>
                <a:rPr lang="en-US" altLang="en-US" sz="2000" b="1" dirty="0" err="1"/>
                <a:t>Lagrangian</a:t>
              </a:r>
              <a:r>
                <a:rPr lang="en-US" altLang="en-US" sz="2000" b="1" dirty="0"/>
                <a:t> (energy methods)</a:t>
              </a:r>
            </a:p>
            <a:p>
              <a:pPr marL="800100" lvl="1" indent="-342900" eaLnBrk="1" hangingPunct="1">
                <a:buFont typeface="Wingdings" panose="05000000000000000000" pitchFamily="2" charset="2"/>
                <a:buChar char="§"/>
              </a:pPr>
              <a:r>
                <a:rPr lang="en-US" altLang="en-US" sz="2000" dirty="0"/>
                <a:t>Kinetic Energy (T) </a:t>
              </a:r>
            </a:p>
            <a:p>
              <a:pPr marL="800100" lvl="1" indent="-342900" eaLnBrk="1" hangingPunct="1">
                <a:buFont typeface="Wingdings" panose="05000000000000000000" pitchFamily="2" charset="2"/>
                <a:buChar char="§"/>
              </a:pPr>
              <a:r>
                <a:rPr lang="en-US" altLang="en-US" sz="2000" dirty="0"/>
                <a:t>Potential Energy (U)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7361BA2-6EFC-453D-9CD2-8A218D0320DC}"/>
                </a:ext>
              </a:extLst>
            </p:cNvPr>
            <p:cNvSpPr txBox="1"/>
            <p:nvPr/>
          </p:nvSpPr>
          <p:spPr>
            <a:xfrm>
              <a:off x="2681431" y="5761850"/>
              <a:ext cx="31947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i="1" dirty="0"/>
                <a:t>L = K.E. – P.E. = T - 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6874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Accounting for Gravity Using Lagrange</a:t>
            </a:r>
            <a:endParaRPr lang="en-GB" sz="2400" dirty="0">
              <a:cs typeface="Arial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194393" y="605557"/>
            <a:ext cx="8677319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GB" sz="2000" b="1" dirty="0">
                <a:latin typeface="+mn-lt"/>
                <a:cs typeface="Times New Roman"/>
              </a:rPr>
              <a:t>In the case of a single link rotating with the effects of gravity it is possible to derive a time varying equation for the torque.</a:t>
            </a:r>
            <a:endParaRPr sz="2000" dirty="0">
              <a:latin typeface="+mn-lt"/>
              <a:cs typeface="SimSun"/>
            </a:endParaRPr>
          </a:p>
        </p:txBody>
      </p:sp>
      <p:sp>
        <p:nvSpPr>
          <p:cNvPr id="41" name="object 30">
            <a:extLst>
              <a:ext uri="{FF2B5EF4-FFF2-40B4-BE49-F238E27FC236}">
                <a16:creationId xmlns:a16="http://schemas.microsoft.com/office/drawing/2014/main" id="{B8B47C44-6270-42B6-A81A-21D9CB48FE59}"/>
              </a:ext>
            </a:extLst>
          </p:cNvPr>
          <p:cNvSpPr/>
          <p:nvPr/>
        </p:nvSpPr>
        <p:spPr>
          <a:xfrm>
            <a:off x="5426799" y="1416364"/>
            <a:ext cx="3227294" cy="2972756"/>
          </a:xfrm>
          <a:prstGeom prst="rect">
            <a:avLst/>
          </a:prstGeom>
          <a:blipFill>
            <a:blip r:embed="rId3" cstate="print"/>
            <a:stretch>
              <a:fillRect b="-15890"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6" name="Group 5"/>
          <p:cNvGrpSpPr/>
          <p:nvPr/>
        </p:nvGrpSpPr>
        <p:grpSpPr>
          <a:xfrm>
            <a:off x="321238" y="1169344"/>
            <a:ext cx="5243804" cy="5323072"/>
            <a:chOff x="321238" y="1169344"/>
            <a:chExt cx="5243804" cy="5323072"/>
          </a:xfrm>
        </p:grpSpPr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982D7A34-7B8C-47EC-A449-8C2AF5235390}"/>
                </a:ext>
              </a:extLst>
            </p:cNvPr>
            <p:cNvSpPr/>
            <p:nvPr/>
          </p:nvSpPr>
          <p:spPr>
            <a:xfrm>
              <a:off x="1539769" y="1896757"/>
              <a:ext cx="208429" cy="0"/>
            </a:xfrm>
            <a:custGeom>
              <a:avLst/>
              <a:gdLst/>
              <a:ahLst/>
              <a:cxnLst/>
              <a:rect l="l" t="t" r="r" b="b"/>
              <a:pathLst>
                <a:path w="236219">
                  <a:moveTo>
                    <a:pt x="0" y="0"/>
                  </a:moveTo>
                  <a:lnTo>
                    <a:pt x="236220" y="0"/>
                  </a:lnTo>
                </a:path>
              </a:pathLst>
            </a:custGeom>
            <a:ln w="197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6">
              <a:extLst>
                <a:ext uri="{FF2B5EF4-FFF2-40B4-BE49-F238E27FC236}">
                  <a16:creationId xmlns:a16="http://schemas.microsoft.com/office/drawing/2014/main" id="{092A8780-4B85-449C-B9F2-87C2EBE35FE2}"/>
                </a:ext>
              </a:extLst>
            </p:cNvPr>
            <p:cNvSpPr/>
            <p:nvPr/>
          </p:nvSpPr>
          <p:spPr>
            <a:xfrm>
              <a:off x="2198675" y="1896757"/>
              <a:ext cx="220195" cy="0"/>
            </a:xfrm>
            <a:custGeom>
              <a:avLst/>
              <a:gdLst/>
              <a:ahLst/>
              <a:cxnLst/>
              <a:rect l="l" t="t" r="r" b="b"/>
              <a:pathLst>
                <a:path w="249555">
                  <a:moveTo>
                    <a:pt x="0" y="0"/>
                  </a:moveTo>
                  <a:lnTo>
                    <a:pt x="249174" y="0"/>
                  </a:lnTo>
                </a:path>
              </a:pathLst>
            </a:custGeom>
            <a:ln w="197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8" name="object 7">
              <a:extLst>
                <a:ext uri="{FF2B5EF4-FFF2-40B4-BE49-F238E27FC236}">
                  <a16:creationId xmlns:a16="http://schemas.microsoft.com/office/drawing/2014/main" id="{B4DBF281-5390-4CF0-96DB-20972BEA755C}"/>
                </a:ext>
              </a:extLst>
            </p:cNvPr>
            <p:cNvSpPr/>
            <p:nvPr/>
          </p:nvSpPr>
          <p:spPr>
            <a:xfrm>
              <a:off x="3265026" y="1896757"/>
              <a:ext cx="209550" cy="0"/>
            </a:xfrm>
            <a:custGeom>
              <a:avLst/>
              <a:gdLst/>
              <a:ahLst/>
              <a:cxnLst/>
              <a:rect l="l" t="t" r="r" b="b"/>
              <a:pathLst>
                <a:path w="237489">
                  <a:moveTo>
                    <a:pt x="0" y="0"/>
                  </a:moveTo>
                  <a:lnTo>
                    <a:pt x="236982" y="0"/>
                  </a:lnTo>
                </a:path>
              </a:pathLst>
            </a:custGeom>
            <a:ln w="197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9" name="object 8">
              <a:extLst>
                <a:ext uri="{FF2B5EF4-FFF2-40B4-BE49-F238E27FC236}">
                  <a16:creationId xmlns:a16="http://schemas.microsoft.com/office/drawing/2014/main" id="{18D2C05E-04D2-44C3-AA81-9BE71E1D3F6C}"/>
                </a:ext>
              </a:extLst>
            </p:cNvPr>
            <p:cNvSpPr/>
            <p:nvPr/>
          </p:nvSpPr>
          <p:spPr>
            <a:xfrm>
              <a:off x="3540020" y="1896757"/>
              <a:ext cx="621366" cy="0"/>
            </a:xfrm>
            <a:custGeom>
              <a:avLst/>
              <a:gdLst/>
              <a:ahLst/>
              <a:cxnLst/>
              <a:rect l="l" t="t" r="r" b="b"/>
              <a:pathLst>
                <a:path w="704214">
                  <a:moveTo>
                    <a:pt x="0" y="0"/>
                  </a:moveTo>
                  <a:lnTo>
                    <a:pt x="704088" y="0"/>
                  </a:lnTo>
                </a:path>
              </a:pathLst>
            </a:custGeom>
            <a:ln w="197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0" name="object 9">
              <a:extLst>
                <a:ext uri="{FF2B5EF4-FFF2-40B4-BE49-F238E27FC236}">
                  <a16:creationId xmlns:a16="http://schemas.microsoft.com/office/drawing/2014/main" id="{D0DD3FF0-2281-4989-82A4-A30EF79323B2}"/>
                </a:ext>
              </a:extLst>
            </p:cNvPr>
            <p:cNvSpPr/>
            <p:nvPr/>
          </p:nvSpPr>
          <p:spPr>
            <a:xfrm>
              <a:off x="2171108" y="2844775"/>
              <a:ext cx="220195" cy="0"/>
            </a:xfrm>
            <a:custGeom>
              <a:avLst/>
              <a:gdLst/>
              <a:ahLst/>
              <a:cxnLst/>
              <a:rect l="l" t="t" r="r" b="b"/>
              <a:pathLst>
                <a:path w="249555">
                  <a:moveTo>
                    <a:pt x="0" y="0"/>
                  </a:moveTo>
                  <a:lnTo>
                    <a:pt x="249174" y="0"/>
                  </a:lnTo>
                </a:path>
              </a:pathLst>
            </a:custGeom>
            <a:ln w="197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1" name="object 10">
              <a:extLst>
                <a:ext uri="{FF2B5EF4-FFF2-40B4-BE49-F238E27FC236}">
                  <a16:creationId xmlns:a16="http://schemas.microsoft.com/office/drawing/2014/main" id="{71FDCCCE-E12A-469C-B701-EC26CE20945A}"/>
                </a:ext>
              </a:extLst>
            </p:cNvPr>
            <p:cNvSpPr/>
            <p:nvPr/>
          </p:nvSpPr>
          <p:spPr>
            <a:xfrm>
              <a:off x="2720421" y="2844775"/>
              <a:ext cx="220195" cy="0"/>
            </a:xfrm>
            <a:custGeom>
              <a:avLst/>
              <a:gdLst/>
              <a:ahLst/>
              <a:cxnLst/>
              <a:rect l="l" t="t" r="r" b="b"/>
              <a:pathLst>
                <a:path w="249554">
                  <a:moveTo>
                    <a:pt x="0" y="0"/>
                  </a:moveTo>
                  <a:lnTo>
                    <a:pt x="249174" y="0"/>
                  </a:lnTo>
                </a:path>
              </a:pathLst>
            </a:custGeom>
            <a:ln w="197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2" name="object 11">
              <a:extLst>
                <a:ext uri="{FF2B5EF4-FFF2-40B4-BE49-F238E27FC236}">
                  <a16:creationId xmlns:a16="http://schemas.microsoft.com/office/drawing/2014/main" id="{EAF3E9D4-266C-4906-9DCB-648E3CF859A7}"/>
                </a:ext>
              </a:extLst>
            </p:cNvPr>
            <p:cNvSpPr txBox="1"/>
            <p:nvPr/>
          </p:nvSpPr>
          <p:spPr>
            <a:xfrm>
              <a:off x="2794603" y="1610841"/>
              <a:ext cx="124946" cy="258506"/>
            </a:xfrm>
            <a:prstGeom prst="rect">
              <a:avLst/>
            </a:prstGeom>
          </p:spPr>
          <p:txBody>
            <a:bodyPr vert="horz" wrap="square" lIns="0" tIns="14007" rIns="0" bIns="0" rtlCol="0">
              <a:spAutoFit/>
            </a:bodyPr>
            <a:lstStyle/>
            <a:p>
              <a:pPr marL="11206">
                <a:spcBef>
                  <a:spcPts val="110"/>
                </a:spcBef>
              </a:pPr>
              <a:r>
                <a:rPr sz="1588" spc="4" dirty="0">
                  <a:latin typeface="Times New Roman"/>
                  <a:cs typeface="Times New Roman"/>
                </a:rPr>
                <a:t>2</a:t>
              </a:r>
              <a:endParaRPr sz="1588" dirty="0">
                <a:latin typeface="Times New Roman"/>
                <a:cs typeface="Times New Roman"/>
              </a:endParaRPr>
            </a:p>
          </p:txBody>
        </p:sp>
        <p:sp>
          <p:nvSpPr>
            <p:cNvPr id="23" name="object 12">
              <a:extLst>
                <a:ext uri="{FF2B5EF4-FFF2-40B4-BE49-F238E27FC236}">
                  <a16:creationId xmlns:a16="http://schemas.microsoft.com/office/drawing/2014/main" id="{DE39E74F-AA96-4069-9FD4-7427159FB9C1}"/>
                </a:ext>
              </a:extLst>
            </p:cNvPr>
            <p:cNvSpPr txBox="1"/>
            <p:nvPr/>
          </p:nvSpPr>
          <p:spPr>
            <a:xfrm>
              <a:off x="4177634" y="1599911"/>
              <a:ext cx="490257" cy="465052"/>
            </a:xfrm>
            <a:prstGeom prst="rect">
              <a:avLst/>
            </a:prstGeom>
          </p:spPr>
          <p:txBody>
            <a:bodyPr vert="horz" wrap="square" lIns="0" tIns="10085" rIns="0" bIns="0" rtlCol="0">
              <a:spAutoFit/>
            </a:bodyPr>
            <a:lstStyle/>
            <a:p>
              <a:pPr marL="11206">
                <a:spcBef>
                  <a:spcPts val="79"/>
                </a:spcBef>
                <a:tabLst>
                  <a:tab pos="379900" algn="l"/>
                </a:tabLst>
              </a:pPr>
              <a:r>
                <a:rPr sz="2956" i="1" spc="-88" dirty="0">
                  <a:latin typeface="Symbol"/>
                  <a:cs typeface="Symbol"/>
                </a:rPr>
                <a:t></a:t>
              </a:r>
              <a:r>
                <a:rPr sz="2956" spc="-88" dirty="0">
                  <a:latin typeface="Times New Roman"/>
                  <a:cs typeface="Times New Roman"/>
                </a:rPr>
                <a:t>	</a:t>
              </a:r>
              <a:r>
                <a:rPr sz="2780" dirty="0">
                  <a:latin typeface="Times New Roman"/>
                  <a:cs typeface="Times New Roman"/>
                </a:rPr>
                <a:t>;</a:t>
              </a:r>
            </a:p>
          </p:txBody>
        </p:sp>
        <p:sp>
          <p:nvSpPr>
            <p:cNvPr id="24" name="object 13">
              <a:extLst>
                <a:ext uri="{FF2B5EF4-FFF2-40B4-BE49-F238E27FC236}">
                  <a16:creationId xmlns:a16="http://schemas.microsoft.com/office/drawing/2014/main" id="{FD73A0F9-6468-4D61-9A6C-E5E1A74C0348}"/>
                </a:ext>
              </a:extLst>
            </p:cNvPr>
            <p:cNvSpPr txBox="1"/>
            <p:nvPr/>
          </p:nvSpPr>
          <p:spPr>
            <a:xfrm>
              <a:off x="929481" y="1620045"/>
              <a:ext cx="535641" cy="440256"/>
            </a:xfrm>
            <a:prstGeom prst="rect">
              <a:avLst/>
            </a:prstGeom>
          </p:spPr>
          <p:txBody>
            <a:bodyPr vert="horz" wrap="square" lIns="0" tIns="12326" rIns="0" bIns="0" rtlCol="0">
              <a:spAutoFit/>
            </a:bodyPr>
            <a:lstStyle/>
            <a:p>
              <a:pPr marL="11206">
                <a:spcBef>
                  <a:spcPts val="97"/>
                </a:spcBef>
              </a:pPr>
              <a:r>
                <a:rPr sz="2780" i="1" dirty="0">
                  <a:latin typeface="Times New Roman"/>
                  <a:cs typeface="Times New Roman"/>
                </a:rPr>
                <a:t>T</a:t>
              </a:r>
              <a:r>
                <a:rPr sz="2780" i="1" spc="176" dirty="0">
                  <a:latin typeface="Times New Roman"/>
                  <a:cs typeface="Times New Roman"/>
                </a:rPr>
                <a:t> </a:t>
              </a:r>
              <a:r>
                <a:rPr sz="2780" dirty="0">
                  <a:latin typeface="Symbol"/>
                  <a:cs typeface="Symbol"/>
                </a:rPr>
                <a:t></a:t>
              </a:r>
            </a:p>
          </p:txBody>
        </p:sp>
        <p:sp>
          <p:nvSpPr>
            <p:cNvPr id="25" name="object 14">
              <a:extLst>
                <a:ext uri="{FF2B5EF4-FFF2-40B4-BE49-F238E27FC236}">
                  <a16:creationId xmlns:a16="http://schemas.microsoft.com/office/drawing/2014/main" id="{D0679DA2-804E-4AB3-8E8F-1151908D2B69}"/>
                </a:ext>
              </a:extLst>
            </p:cNvPr>
            <p:cNvSpPr txBox="1"/>
            <p:nvPr/>
          </p:nvSpPr>
          <p:spPr>
            <a:xfrm>
              <a:off x="1797366" y="1599900"/>
              <a:ext cx="1410260" cy="465052"/>
            </a:xfrm>
            <a:prstGeom prst="rect">
              <a:avLst/>
            </a:prstGeom>
          </p:spPr>
          <p:txBody>
            <a:bodyPr vert="horz" wrap="square" lIns="0" tIns="10085" rIns="0" bIns="0" rtlCol="0">
              <a:spAutoFit/>
            </a:bodyPr>
            <a:lstStyle/>
            <a:p>
              <a:pPr marL="11206">
                <a:spcBef>
                  <a:spcPts val="79"/>
                </a:spcBef>
                <a:tabLst>
                  <a:tab pos="648295" algn="l"/>
                  <a:tab pos="1204136" algn="l"/>
                </a:tabLst>
              </a:pPr>
              <a:r>
                <a:rPr sz="2780" i="1" spc="18" dirty="0">
                  <a:latin typeface="Times New Roman"/>
                  <a:cs typeface="Times New Roman"/>
                </a:rPr>
                <a:t>m</a:t>
              </a:r>
              <a:r>
                <a:rPr sz="2780" dirty="0">
                  <a:latin typeface="Times New Roman"/>
                  <a:cs typeface="Times New Roman"/>
                </a:rPr>
                <a:t>(	</a:t>
              </a:r>
              <a:r>
                <a:rPr sz="2956" i="1" spc="-88" dirty="0">
                  <a:latin typeface="Symbol"/>
                  <a:cs typeface="Symbol"/>
                </a:rPr>
                <a:t></a:t>
              </a:r>
              <a:r>
                <a:rPr sz="2956" spc="-379" dirty="0">
                  <a:latin typeface="Times New Roman"/>
                  <a:cs typeface="Times New Roman"/>
                </a:rPr>
                <a:t> </a:t>
              </a:r>
              <a:r>
                <a:rPr sz="2780" dirty="0">
                  <a:latin typeface="Times New Roman"/>
                  <a:cs typeface="Times New Roman"/>
                </a:rPr>
                <a:t>)	</a:t>
              </a:r>
              <a:r>
                <a:rPr sz="2780" dirty="0">
                  <a:latin typeface="Symbol"/>
                  <a:cs typeface="Symbol"/>
                </a:rPr>
                <a:t></a:t>
              </a:r>
            </a:p>
          </p:txBody>
        </p:sp>
        <p:sp>
          <p:nvSpPr>
            <p:cNvPr id="26" name="object 15">
              <a:extLst>
                <a:ext uri="{FF2B5EF4-FFF2-40B4-BE49-F238E27FC236}">
                  <a16:creationId xmlns:a16="http://schemas.microsoft.com/office/drawing/2014/main" id="{E90B993E-625D-4867-8E01-AECD19275BA8}"/>
                </a:ext>
              </a:extLst>
            </p:cNvPr>
            <p:cNvSpPr txBox="1"/>
            <p:nvPr/>
          </p:nvSpPr>
          <p:spPr>
            <a:xfrm>
              <a:off x="918746" y="2547929"/>
              <a:ext cx="3111484" cy="741153"/>
            </a:xfrm>
            <a:prstGeom prst="rect">
              <a:avLst/>
            </a:prstGeom>
          </p:spPr>
          <p:txBody>
            <a:bodyPr vert="horz" wrap="square" lIns="0" tIns="10085" rIns="0" bIns="0" rtlCol="0">
              <a:spAutoFit/>
            </a:bodyPr>
            <a:lstStyle/>
            <a:p>
              <a:pPr marL="11206">
                <a:lnSpc>
                  <a:spcPts val="2952"/>
                </a:lnSpc>
                <a:spcBef>
                  <a:spcPts val="79"/>
                </a:spcBef>
              </a:pPr>
              <a:r>
                <a:rPr sz="2780" i="1" dirty="0">
                  <a:latin typeface="Times New Roman"/>
                  <a:cs typeface="Times New Roman"/>
                </a:rPr>
                <a:t>U</a:t>
              </a:r>
              <a:r>
                <a:rPr sz="2780" i="1" spc="251" dirty="0">
                  <a:latin typeface="Times New Roman"/>
                  <a:cs typeface="Times New Roman"/>
                </a:rPr>
                <a:t> </a:t>
              </a:r>
              <a:r>
                <a:rPr sz="2780" dirty="0">
                  <a:latin typeface="Symbol"/>
                  <a:cs typeface="Symbol"/>
                </a:rPr>
                <a:t></a:t>
              </a:r>
              <a:r>
                <a:rPr sz="2780" spc="-84" dirty="0">
                  <a:latin typeface="Times New Roman"/>
                  <a:cs typeface="Times New Roman"/>
                </a:rPr>
                <a:t> </a:t>
              </a:r>
              <a:r>
                <a:rPr sz="2780" i="1" spc="57" dirty="0">
                  <a:latin typeface="Times New Roman"/>
                  <a:cs typeface="Times New Roman"/>
                </a:rPr>
                <a:t>mg</a:t>
              </a:r>
              <a:r>
                <a:rPr sz="2780" spc="57" dirty="0">
                  <a:latin typeface="Times New Roman"/>
                  <a:cs typeface="Times New Roman"/>
                </a:rPr>
                <a:t>(</a:t>
              </a:r>
              <a:r>
                <a:rPr sz="2780" spc="-424" dirty="0">
                  <a:latin typeface="Times New Roman"/>
                  <a:cs typeface="Times New Roman"/>
                </a:rPr>
                <a:t> </a:t>
              </a:r>
              <a:r>
                <a:rPr sz="4169" i="1" baseline="35273" dirty="0">
                  <a:latin typeface="Times New Roman"/>
                  <a:cs typeface="Times New Roman"/>
                </a:rPr>
                <a:t>a</a:t>
              </a:r>
              <a:r>
                <a:rPr sz="4169" i="1" spc="13" baseline="35273" dirty="0">
                  <a:latin typeface="Times New Roman"/>
                  <a:cs typeface="Times New Roman"/>
                </a:rPr>
                <a:t> </a:t>
              </a:r>
              <a:r>
                <a:rPr sz="2780" dirty="0">
                  <a:latin typeface="Symbol"/>
                  <a:cs typeface="Symbol"/>
                </a:rPr>
                <a:t></a:t>
              </a:r>
              <a:r>
                <a:rPr sz="2780" spc="-35" dirty="0">
                  <a:latin typeface="Times New Roman"/>
                  <a:cs typeface="Times New Roman"/>
                </a:rPr>
                <a:t> </a:t>
              </a:r>
              <a:r>
                <a:rPr sz="4169" i="1" baseline="35273" dirty="0">
                  <a:latin typeface="Times New Roman"/>
                  <a:cs typeface="Times New Roman"/>
                </a:rPr>
                <a:t>a</a:t>
              </a:r>
              <a:r>
                <a:rPr sz="4169" i="1" spc="-172" baseline="35273" dirty="0">
                  <a:latin typeface="Times New Roman"/>
                  <a:cs typeface="Times New Roman"/>
                </a:rPr>
                <a:t> </a:t>
              </a:r>
              <a:r>
                <a:rPr sz="2780" i="1" spc="-163" dirty="0">
                  <a:latin typeface="Times New Roman"/>
                  <a:cs typeface="Times New Roman"/>
                </a:rPr>
                <a:t>c</a:t>
              </a:r>
              <a:r>
                <a:rPr lang="en-GB" sz="2780" i="1" spc="-163" dirty="0" err="1">
                  <a:latin typeface="Times New Roman"/>
                  <a:cs typeface="Times New Roman"/>
                </a:rPr>
                <a:t>os</a:t>
              </a:r>
              <a:r>
                <a:rPr sz="2956" i="1" spc="-163" dirty="0">
                  <a:latin typeface="Symbol"/>
                  <a:cs typeface="Symbol"/>
                </a:rPr>
                <a:t></a:t>
              </a:r>
              <a:r>
                <a:rPr sz="2956" i="1" spc="-388" dirty="0">
                  <a:latin typeface="Times New Roman"/>
                  <a:cs typeface="Times New Roman"/>
                </a:rPr>
                <a:t> </a:t>
              </a:r>
              <a:r>
                <a:rPr sz="2780" dirty="0">
                  <a:latin typeface="Times New Roman"/>
                  <a:cs typeface="Times New Roman"/>
                </a:rPr>
                <a:t>)</a:t>
              </a:r>
            </a:p>
            <a:p>
              <a:pPr marL="1279780">
                <a:lnSpc>
                  <a:spcPts val="2740"/>
                </a:lnSpc>
                <a:tabLst>
                  <a:tab pos="1828897" algn="l"/>
                </a:tabLst>
              </a:pPr>
              <a:r>
                <a:rPr sz="2780" dirty="0">
                  <a:latin typeface="Times New Roman"/>
                  <a:cs typeface="Times New Roman"/>
                </a:rPr>
                <a:t>2	2</a:t>
              </a:r>
            </a:p>
          </p:txBody>
        </p:sp>
        <p:sp>
          <p:nvSpPr>
            <p:cNvPr id="27" name="object 16">
              <a:extLst>
                <a:ext uri="{FF2B5EF4-FFF2-40B4-BE49-F238E27FC236}">
                  <a16:creationId xmlns:a16="http://schemas.microsoft.com/office/drawing/2014/main" id="{7E327DE3-15FE-41A7-99AE-FC9EC45F54DB}"/>
                </a:ext>
              </a:extLst>
            </p:cNvPr>
            <p:cNvSpPr txBox="1"/>
            <p:nvPr/>
          </p:nvSpPr>
          <p:spPr>
            <a:xfrm>
              <a:off x="1544699" y="1322373"/>
              <a:ext cx="2578474" cy="1020257"/>
            </a:xfrm>
            <a:prstGeom prst="rect">
              <a:avLst/>
            </a:prstGeom>
          </p:spPr>
          <p:txBody>
            <a:bodyPr vert="horz" wrap="square" lIns="0" tIns="86846" rIns="0" bIns="0" rtlCol="0">
              <a:spAutoFit/>
            </a:bodyPr>
            <a:lstStyle/>
            <a:p>
              <a:pPr marL="11206">
                <a:spcBef>
                  <a:spcPts val="684"/>
                </a:spcBef>
                <a:tabLst>
                  <a:tab pos="675751" algn="l"/>
                  <a:tab pos="1010264" algn="l"/>
                  <a:tab pos="1737004" algn="l"/>
                </a:tabLst>
              </a:pPr>
              <a:r>
                <a:rPr sz="2780" dirty="0">
                  <a:latin typeface="Times New Roman"/>
                  <a:cs typeface="Times New Roman"/>
                </a:rPr>
                <a:t>1	</a:t>
              </a:r>
              <a:r>
                <a:rPr sz="2780" i="1" dirty="0">
                  <a:latin typeface="Times New Roman"/>
                  <a:cs typeface="Times New Roman"/>
                </a:rPr>
                <a:t>a	</a:t>
              </a:r>
              <a:r>
                <a:rPr sz="4169" spc="-1171" baseline="-19400" dirty="0">
                  <a:latin typeface="Lucida Sans Unicode"/>
                  <a:cs typeface="Lucida Sans Unicode"/>
                </a:rPr>
                <a:t>˙	</a:t>
              </a:r>
              <a:r>
                <a:rPr sz="2780" dirty="0">
                  <a:latin typeface="Times New Roman"/>
                  <a:cs typeface="Times New Roman"/>
                </a:rPr>
                <a:t>1</a:t>
              </a:r>
              <a:r>
                <a:rPr sz="2780" spc="44" dirty="0">
                  <a:latin typeface="Times New Roman"/>
                  <a:cs typeface="Times New Roman"/>
                </a:rPr>
                <a:t> </a:t>
              </a:r>
              <a:r>
                <a:rPr sz="2780" i="1" spc="35" dirty="0">
                  <a:latin typeface="Times New Roman"/>
                  <a:cs typeface="Times New Roman"/>
                </a:rPr>
                <a:t>ma</a:t>
              </a:r>
              <a:r>
                <a:rPr sz="2382" spc="53" baseline="43209" dirty="0">
                  <a:latin typeface="Times New Roman"/>
                  <a:cs typeface="Times New Roman"/>
                </a:rPr>
                <a:t>2</a:t>
              </a:r>
              <a:endParaRPr sz="2382" baseline="43209" dirty="0">
                <a:latin typeface="Times New Roman"/>
                <a:cs typeface="Times New Roman"/>
              </a:endParaRPr>
            </a:p>
            <a:p>
              <a:pPr marL="16249">
                <a:spcBef>
                  <a:spcPts val="596"/>
                </a:spcBef>
                <a:tabLst>
                  <a:tab pos="678552" algn="l"/>
                  <a:tab pos="1742046" algn="l"/>
                  <a:tab pos="2116344" algn="l"/>
                </a:tabLst>
              </a:pPr>
              <a:r>
                <a:rPr sz="2780" dirty="0">
                  <a:latin typeface="Times New Roman"/>
                  <a:cs typeface="Times New Roman"/>
                </a:rPr>
                <a:t>2	</a:t>
              </a:r>
              <a:r>
                <a:rPr sz="2780" i="1" dirty="0">
                  <a:latin typeface="Times New Roman"/>
                  <a:cs typeface="Times New Roman"/>
                </a:rPr>
                <a:t>2	</a:t>
              </a:r>
              <a:r>
                <a:rPr sz="2780" dirty="0">
                  <a:latin typeface="Times New Roman"/>
                  <a:cs typeface="Times New Roman"/>
                </a:rPr>
                <a:t>2	</a:t>
              </a:r>
              <a:r>
                <a:rPr sz="2780" spc="-4" dirty="0">
                  <a:latin typeface="Times New Roman"/>
                  <a:cs typeface="Times New Roman"/>
                </a:rPr>
                <a:t>12</a:t>
              </a:r>
              <a:endParaRPr sz="2780" dirty="0">
                <a:latin typeface="Times New Roman"/>
                <a:cs typeface="Times New Roman"/>
              </a:endParaRPr>
            </a:p>
          </p:txBody>
        </p:sp>
        <p:sp>
          <p:nvSpPr>
            <p:cNvPr id="28" name="object 17">
              <a:extLst>
                <a:ext uri="{FF2B5EF4-FFF2-40B4-BE49-F238E27FC236}">
                  <a16:creationId xmlns:a16="http://schemas.microsoft.com/office/drawing/2014/main" id="{06C7CE7F-28A7-462A-B6B7-E81779C318F4}"/>
                </a:ext>
              </a:extLst>
            </p:cNvPr>
            <p:cNvSpPr txBox="1"/>
            <p:nvPr/>
          </p:nvSpPr>
          <p:spPr>
            <a:xfrm>
              <a:off x="4286597" y="1461393"/>
              <a:ext cx="255494" cy="440192"/>
            </a:xfrm>
            <a:prstGeom prst="rect">
              <a:avLst/>
            </a:prstGeom>
          </p:spPr>
          <p:txBody>
            <a:bodyPr vert="horz" wrap="square" lIns="0" tIns="12326" rIns="0" bIns="0" rtlCol="0">
              <a:spAutoFit/>
            </a:bodyPr>
            <a:lstStyle/>
            <a:p>
              <a:pPr marL="11206">
                <a:spcBef>
                  <a:spcPts val="97"/>
                </a:spcBef>
              </a:pPr>
              <a:r>
                <a:rPr sz="4169" spc="-1025" baseline="-8818" dirty="0">
                  <a:latin typeface="Lucida Sans Unicode"/>
                  <a:cs typeface="Lucida Sans Unicode"/>
                </a:rPr>
                <a:t>˙</a:t>
              </a:r>
              <a:r>
                <a:rPr sz="1588" spc="4" dirty="0">
                  <a:latin typeface="Times New Roman"/>
                  <a:cs typeface="Times New Roman"/>
                </a:rPr>
                <a:t>2</a:t>
              </a:r>
              <a:endParaRPr sz="1588" dirty="0">
                <a:latin typeface="Times New Roman"/>
                <a:cs typeface="Times New Roman"/>
              </a:endParaRPr>
            </a:p>
          </p:txBody>
        </p:sp>
        <p:sp>
          <p:nvSpPr>
            <p:cNvPr id="29" name="object 18">
              <a:extLst>
                <a:ext uri="{FF2B5EF4-FFF2-40B4-BE49-F238E27FC236}">
                  <a16:creationId xmlns:a16="http://schemas.microsoft.com/office/drawing/2014/main" id="{FF761979-71E1-447E-9D29-B890C9EBD23D}"/>
                </a:ext>
              </a:extLst>
            </p:cNvPr>
            <p:cNvSpPr/>
            <p:nvPr/>
          </p:nvSpPr>
          <p:spPr>
            <a:xfrm>
              <a:off x="710758" y="4998994"/>
              <a:ext cx="307041" cy="0"/>
            </a:xfrm>
            <a:custGeom>
              <a:avLst/>
              <a:gdLst/>
              <a:ahLst/>
              <a:cxnLst/>
              <a:rect l="l" t="t" r="r" b="b"/>
              <a:pathLst>
                <a:path w="347980">
                  <a:moveTo>
                    <a:pt x="0" y="0"/>
                  </a:moveTo>
                  <a:lnTo>
                    <a:pt x="347472" y="0"/>
                  </a:lnTo>
                </a:path>
              </a:pathLst>
            </a:custGeom>
            <a:ln w="163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object 19">
              <a:extLst>
                <a:ext uri="{FF2B5EF4-FFF2-40B4-BE49-F238E27FC236}">
                  <a16:creationId xmlns:a16="http://schemas.microsoft.com/office/drawing/2014/main" id="{B5528E09-474E-4B6F-9D03-2D3ED31C7975}"/>
                </a:ext>
              </a:extLst>
            </p:cNvPr>
            <p:cNvSpPr/>
            <p:nvPr/>
          </p:nvSpPr>
          <p:spPr>
            <a:xfrm>
              <a:off x="1196869" y="4998994"/>
              <a:ext cx="369234" cy="0"/>
            </a:xfrm>
            <a:custGeom>
              <a:avLst/>
              <a:gdLst/>
              <a:ahLst/>
              <a:cxnLst/>
              <a:rect l="l" t="t" r="r" b="b"/>
              <a:pathLst>
                <a:path w="418464">
                  <a:moveTo>
                    <a:pt x="0" y="0"/>
                  </a:moveTo>
                  <a:lnTo>
                    <a:pt x="418338" y="0"/>
                  </a:lnTo>
                </a:path>
              </a:pathLst>
            </a:custGeom>
            <a:ln w="163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1" name="object 20">
              <a:extLst>
                <a:ext uri="{FF2B5EF4-FFF2-40B4-BE49-F238E27FC236}">
                  <a16:creationId xmlns:a16="http://schemas.microsoft.com/office/drawing/2014/main" id="{4352CE11-98C2-4CC7-9DC5-9F7EA0640629}"/>
                </a:ext>
              </a:extLst>
            </p:cNvPr>
            <p:cNvSpPr/>
            <p:nvPr/>
          </p:nvSpPr>
          <p:spPr>
            <a:xfrm>
              <a:off x="2022519" y="4998994"/>
              <a:ext cx="177053" cy="0"/>
            </a:xfrm>
            <a:custGeom>
              <a:avLst/>
              <a:gdLst/>
              <a:ahLst/>
              <a:cxnLst/>
              <a:rect l="l" t="t" r="r" b="b"/>
              <a:pathLst>
                <a:path w="200660">
                  <a:moveTo>
                    <a:pt x="0" y="0"/>
                  </a:moveTo>
                  <a:lnTo>
                    <a:pt x="200406" y="0"/>
                  </a:lnTo>
                </a:path>
              </a:pathLst>
            </a:custGeom>
            <a:ln w="163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2" name="object 21">
              <a:extLst>
                <a:ext uri="{FF2B5EF4-FFF2-40B4-BE49-F238E27FC236}">
                  <a16:creationId xmlns:a16="http://schemas.microsoft.com/office/drawing/2014/main" id="{594ACFCC-176B-47CA-9281-9E8D7DFE50E5}"/>
                </a:ext>
              </a:extLst>
            </p:cNvPr>
            <p:cNvSpPr/>
            <p:nvPr/>
          </p:nvSpPr>
          <p:spPr>
            <a:xfrm>
              <a:off x="3139969" y="4998994"/>
              <a:ext cx="369234" cy="0"/>
            </a:xfrm>
            <a:custGeom>
              <a:avLst/>
              <a:gdLst/>
              <a:ahLst/>
              <a:cxnLst/>
              <a:rect l="l" t="t" r="r" b="b"/>
              <a:pathLst>
                <a:path w="418464">
                  <a:moveTo>
                    <a:pt x="0" y="0"/>
                  </a:moveTo>
                  <a:lnTo>
                    <a:pt x="418338" y="0"/>
                  </a:lnTo>
                </a:path>
              </a:pathLst>
            </a:custGeom>
            <a:ln w="163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3" name="object 22">
              <a:extLst>
                <a:ext uri="{FF2B5EF4-FFF2-40B4-BE49-F238E27FC236}">
                  <a16:creationId xmlns:a16="http://schemas.microsoft.com/office/drawing/2014/main" id="{E31E1622-C4C1-4AEA-AA4F-3C111090524A}"/>
                </a:ext>
              </a:extLst>
            </p:cNvPr>
            <p:cNvSpPr/>
            <p:nvPr/>
          </p:nvSpPr>
          <p:spPr>
            <a:xfrm>
              <a:off x="4085297" y="4998994"/>
              <a:ext cx="197224" cy="0"/>
            </a:xfrm>
            <a:custGeom>
              <a:avLst/>
              <a:gdLst/>
              <a:ahLst/>
              <a:cxnLst/>
              <a:rect l="l" t="t" r="r" b="b"/>
              <a:pathLst>
                <a:path w="223520">
                  <a:moveTo>
                    <a:pt x="0" y="0"/>
                  </a:moveTo>
                  <a:lnTo>
                    <a:pt x="223265" y="0"/>
                  </a:lnTo>
                </a:path>
              </a:pathLst>
            </a:custGeom>
            <a:ln w="163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4" name="object 23">
              <a:extLst>
                <a:ext uri="{FF2B5EF4-FFF2-40B4-BE49-F238E27FC236}">
                  <a16:creationId xmlns:a16="http://schemas.microsoft.com/office/drawing/2014/main" id="{CAAB021D-B009-4027-8E13-BA27CDF6159A}"/>
                </a:ext>
              </a:extLst>
            </p:cNvPr>
            <p:cNvSpPr txBox="1"/>
            <p:nvPr/>
          </p:nvSpPr>
          <p:spPr>
            <a:xfrm>
              <a:off x="723775" y="4999959"/>
              <a:ext cx="269501" cy="394943"/>
            </a:xfrm>
            <a:prstGeom prst="rect">
              <a:avLst/>
            </a:prstGeom>
          </p:spPr>
          <p:txBody>
            <a:bodyPr vert="horz" wrap="square" lIns="0" tIns="14568" rIns="0" bIns="0" rtlCol="0">
              <a:spAutoFit/>
            </a:bodyPr>
            <a:lstStyle/>
            <a:p>
              <a:pPr marL="11206">
                <a:spcBef>
                  <a:spcPts val="115"/>
                </a:spcBef>
              </a:pPr>
              <a:r>
                <a:rPr sz="2471" i="1" spc="4" dirty="0">
                  <a:latin typeface="Times New Roman"/>
                  <a:cs typeface="Times New Roman"/>
                </a:rPr>
                <a:t>dt</a:t>
              </a:r>
              <a:endParaRPr sz="2471" dirty="0">
                <a:latin typeface="Times New Roman"/>
                <a:cs typeface="Times New Roman"/>
              </a:endParaRPr>
            </a:p>
          </p:txBody>
        </p:sp>
        <p:sp>
          <p:nvSpPr>
            <p:cNvPr id="35" name="object 24">
              <a:extLst>
                <a:ext uri="{FF2B5EF4-FFF2-40B4-BE49-F238E27FC236}">
                  <a16:creationId xmlns:a16="http://schemas.microsoft.com/office/drawing/2014/main" id="{D4918491-7FD1-41AA-ABC6-E51D108CE958}"/>
                </a:ext>
              </a:extLst>
            </p:cNvPr>
            <p:cNvSpPr txBox="1"/>
            <p:nvPr/>
          </p:nvSpPr>
          <p:spPr>
            <a:xfrm>
              <a:off x="2012937" y="4947315"/>
              <a:ext cx="2254063" cy="394943"/>
            </a:xfrm>
            <a:prstGeom prst="rect">
              <a:avLst/>
            </a:prstGeom>
          </p:spPr>
          <p:txBody>
            <a:bodyPr vert="horz" wrap="square" lIns="0" tIns="14568" rIns="0" bIns="0" rtlCol="0">
              <a:spAutoFit/>
            </a:bodyPr>
            <a:lstStyle/>
            <a:p>
              <a:pPr marL="11206">
                <a:spcBef>
                  <a:spcPts val="115"/>
                </a:spcBef>
                <a:tabLst>
                  <a:tab pos="1141940" algn="l"/>
                  <a:tab pos="2083845" algn="l"/>
                </a:tabLst>
              </a:pPr>
              <a:r>
                <a:rPr sz="2471" spc="9" dirty="0">
                  <a:latin typeface="Times New Roman"/>
                  <a:cs typeface="Times New Roman"/>
                </a:rPr>
                <a:t>3	</a:t>
              </a:r>
              <a:r>
                <a:rPr sz="2471" spc="-13" dirty="0">
                  <a:latin typeface="Symbol"/>
                  <a:cs typeface="Symbol"/>
                </a:rPr>
                <a:t></a:t>
              </a:r>
              <a:r>
                <a:rPr sz="2471" spc="9" dirty="0">
                  <a:latin typeface="Symbol"/>
                  <a:cs typeface="Symbol"/>
                </a:rPr>
                <a:t></a:t>
              </a:r>
              <a:r>
                <a:rPr sz="2471" dirty="0">
                  <a:latin typeface="Times New Roman"/>
                  <a:cs typeface="Times New Roman"/>
                </a:rPr>
                <a:t>	</a:t>
              </a:r>
              <a:r>
                <a:rPr sz="2471" spc="9" dirty="0">
                  <a:latin typeface="Times New Roman"/>
                  <a:cs typeface="Times New Roman"/>
                </a:rPr>
                <a:t>2</a:t>
              </a:r>
              <a:endParaRPr sz="2471" dirty="0">
                <a:latin typeface="Times New Roman"/>
                <a:cs typeface="Times New Roman"/>
              </a:endParaRPr>
            </a:p>
          </p:txBody>
        </p:sp>
        <p:sp>
          <p:nvSpPr>
            <p:cNvPr id="36" name="object 25">
              <a:extLst>
                <a:ext uri="{FF2B5EF4-FFF2-40B4-BE49-F238E27FC236}">
                  <a16:creationId xmlns:a16="http://schemas.microsoft.com/office/drawing/2014/main" id="{C7A909E4-EA39-4145-8243-7EB2B531A0AB}"/>
                </a:ext>
              </a:extLst>
            </p:cNvPr>
            <p:cNvSpPr txBox="1"/>
            <p:nvPr/>
          </p:nvSpPr>
          <p:spPr>
            <a:xfrm>
              <a:off x="787553" y="4699653"/>
              <a:ext cx="4777489" cy="584995"/>
            </a:xfrm>
            <a:prstGeom prst="rect">
              <a:avLst/>
            </a:prstGeom>
          </p:spPr>
          <p:txBody>
            <a:bodyPr vert="horz" wrap="square" lIns="0" tIns="14568" rIns="0" bIns="0" rtlCol="0">
              <a:spAutoFit/>
            </a:bodyPr>
            <a:lstStyle/>
            <a:p>
              <a:pPr marL="11206">
                <a:spcBef>
                  <a:spcPts val="115"/>
                </a:spcBef>
                <a:tabLst>
                  <a:tab pos="316023" algn="l"/>
                </a:tabLst>
              </a:pPr>
              <a:r>
                <a:rPr sz="3706" i="1" spc="13" baseline="35714" dirty="0">
                  <a:latin typeface="Times New Roman"/>
                  <a:cs typeface="Times New Roman"/>
                </a:rPr>
                <a:t>d	</a:t>
              </a:r>
              <a:r>
                <a:rPr sz="2471" spc="4" dirty="0">
                  <a:latin typeface="Times New Roman"/>
                  <a:cs typeface="Times New Roman"/>
                </a:rPr>
                <a:t>(</a:t>
              </a:r>
              <a:r>
                <a:rPr sz="2471" spc="-371" dirty="0">
                  <a:latin typeface="Times New Roman"/>
                  <a:cs typeface="Times New Roman"/>
                </a:rPr>
                <a:t> </a:t>
              </a:r>
              <a:r>
                <a:rPr sz="3706" baseline="35714" dirty="0">
                  <a:latin typeface="Symbol"/>
                  <a:cs typeface="Symbol"/>
                </a:rPr>
                <a:t></a:t>
              </a:r>
              <a:r>
                <a:rPr sz="3706" i="1" baseline="35714" dirty="0">
                  <a:latin typeface="Times New Roman"/>
                  <a:cs typeface="Times New Roman"/>
                </a:rPr>
                <a:t>L</a:t>
              </a:r>
              <a:r>
                <a:rPr sz="3706" i="1" spc="-522" baseline="35714" dirty="0">
                  <a:latin typeface="Times New Roman"/>
                  <a:cs typeface="Times New Roman"/>
                </a:rPr>
                <a:t> </a:t>
              </a:r>
              <a:r>
                <a:rPr sz="2471" spc="4" dirty="0">
                  <a:latin typeface="Times New Roman"/>
                  <a:cs typeface="Times New Roman"/>
                </a:rPr>
                <a:t>)</a:t>
              </a:r>
              <a:r>
                <a:rPr sz="2471" spc="-9" dirty="0">
                  <a:latin typeface="Times New Roman"/>
                  <a:cs typeface="Times New Roman"/>
                </a:rPr>
                <a:t> </a:t>
              </a:r>
              <a:r>
                <a:rPr sz="2471" spc="9" dirty="0">
                  <a:latin typeface="Symbol"/>
                  <a:cs typeface="Symbol"/>
                </a:rPr>
                <a:t></a:t>
              </a:r>
              <a:r>
                <a:rPr sz="2471" spc="97" dirty="0">
                  <a:latin typeface="Times New Roman"/>
                  <a:cs typeface="Times New Roman"/>
                </a:rPr>
                <a:t> </a:t>
              </a:r>
              <a:r>
                <a:rPr sz="3706" spc="13" baseline="35714" dirty="0">
                  <a:latin typeface="Times New Roman"/>
                  <a:cs typeface="Times New Roman"/>
                </a:rPr>
                <a:t>1</a:t>
              </a:r>
              <a:r>
                <a:rPr sz="3706" spc="-46" baseline="35714" dirty="0">
                  <a:latin typeface="Times New Roman"/>
                  <a:cs typeface="Times New Roman"/>
                </a:rPr>
                <a:t> </a:t>
              </a:r>
              <a:r>
                <a:rPr sz="2471" i="1" spc="9" dirty="0">
                  <a:latin typeface="Times New Roman"/>
                  <a:cs typeface="Times New Roman"/>
                </a:rPr>
                <a:t>ma</a:t>
              </a:r>
              <a:r>
                <a:rPr sz="2471" i="1" spc="-326" dirty="0">
                  <a:latin typeface="Times New Roman"/>
                  <a:cs typeface="Times New Roman"/>
                </a:rPr>
                <a:t> </a:t>
              </a:r>
              <a:r>
                <a:rPr sz="3044" spc="-887" baseline="30193" dirty="0">
                  <a:latin typeface="Times New Roman"/>
                  <a:cs typeface="Times New Roman"/>
                </a:rPr>
                <a:t>2</a:t>
              </a:r>
              <a:r>
                <a:rPr lang="en-GB" sz="3044" spc="-887" baseline="30193" dirty="0">
                  <a:latin typeface="Times New Roman"/>
                  <a:cs typeface="Times New Roman"/>
                </a:rPr>
                <a:t>                                               </a:t>
              </a:r>
              <a:r>
                <a:rPr lang="en-GB" sz="3706" spc="-887" baseline="16865" dirty="0">
                  <a:latin typeface="Lucida Sans Unicode"/>
                  <a:cs typeface="Lucida Sans Unicode"/>
                </a:rPr>
                <a:t> </a:t>
              </a:r>
              <a:r>
                <a:rPr lang="en-GB" sz="3706" spc="-887" dirty="0">
                  <a:latin typeface="Lucida Sans Unicode"/>
                  <a:cs typeface="Lucida Sans Unicode"/>
                </a:rPr>
                <a:t>   </a:t>
              </a:r>
              <a:r>
                <a:rPr sz="2471" spc="-591" dirty="0">
                  <a:latin typeface="Symbol"/>
                  <a:cs typeface="Symbol"/>
                </a:rPr>
                <a:t></a:t>
              </a:r>
              <a:r>
                <a:rPr lang="en-GB" sz="3706" spc="-887" baseline="16865" dirty="0">
                  <a:latin typeface="Lucida Sans Unicode"/>
                  <a:cs typeface="Lucida Sans Unicode"/>
                </a:rPr>
                <a:t> </a:t>
              </a:r>
              <a:r>
                <a:rPr lang="en-GB" sz="3706" spc="-887" dirty="0">
                  <a:latin typeface="Lucida Sans Unicode"/>
                  <a:cs typeface="Lucida Sans Unicode"/>
                </a:rPr>
                <a:t> </a:t>
              </a:r>
              <a:r>
                <a:rPr sz="2471" spc="-591" dirty="0">
                  <a:latin typeface="Times New Roman"/>
                  <a:cs typeface="Times New Roman"/>
                </a:rPr>
                <a:t>;</a:t>
              </a:r>
              <a:r>
                <a:rPr lang="en-GB" sz="2471" spc="-591" dirty="0">
                  <a:latin typeface="Times New Roman"/>
                  <a:cs typeface="Times New Roman"/>
                </a:rPr>
                <a:t>                                             </a:t>
              </a:r>
              <a:r>
                <a:rPr sz="2471" spc="-591" dirty="0">
                  <a:latin typeface="Times New Roman"/>
                  <a:cs typeface="Times New Roman"/>
                </a:rPr>
                <a:t> </a:t>
              </a:r>
              <a:r>
                <a:rPr sz="3706" spc="-6" baseline="35714" dirty="0">
                  <a:latin typeface="Symbol"/>
                  <a:cs typeface="Symbol"/>
                </a:rPr>
                <a:t></a:t>
              </a:r>
              <a:r>
                <a:rPr sz="3706" i="1" spc="-6" baseline="35714" dirty="0">
                  <a:latin typeface="Times New Roman"/>
                  <a:cs typeface="Times New Roman"/>
                </a:rPr>
                <a:t>L</a:t>
              </a:r>
              <a:r>
                <a:rPr sz="3706" i="1" spc="364" baseline="35714" dirty="0">
                  <a:latin typeface="Times New Roman"/>
                  <a:cs typeface="Times New Roman"/>
                </a:rPr>
                <a:t> </a:t>
              </a:r>
              <a:r>
                <a:rPr sz="2471" spc="9" dirty="0">
                  <a:latin typeface="Symbol"/>
                  <a:cs typeface="Symbol"/>
                </a:rPr>
                <a:t></a:t>
              </a:r>
              <a:r>
                <a:rPr sz="2471" spc="-4" dirty="0">
                  <a:latin typeface="Times New Roman"/>
                  <a:cs typeface="Times New Roman"/>
                </a:rPr>
                <a:t> </a:t>
              </a:r>
              <a:r>
                <a:rPr sz="2471" spc="9" dirty="0">
                  <a:latin typeface="Symbol"/>
                  <a:cs typeface="Symbol"/>
                </a:rPr>
                <a:t></a:t>
              </a:r>
              <a:r>
                <a:rPr sz="2471" spc="-4" dirty="0">
                  <a:latin typeface="Times New Roman"/>
                  <a:cs typeface="Times New Roman"/>
                </a:rPr>
                <a:t> </a:t>
              </a:r>
              <a:r>
                <a:rPr sz="3706" spc="13" baseline="35714" dirty="0">
                  <a:latin typeface="Times New Roman"/>
                  <a:cs typeface="Times New Roman"/>
                </a:rPr>
                <a:t>1</a:t>
              </a:r>
              <a:r>
                <a:rPr sz="3706" spc="66" baseline="35714" dirty="0">
                  <a:latin typeface="Times New Roman"/>
                  <a:cs typeface="Times New Roman"/>
                </a:rPr>
                <a:t> </a:t>
              </a:r>
              <a:r>
                <a:rPr sz="2471" i="1" spc="4" dirty="0" err="1">
                  <a:latin typeface="Times New Roman"/>
                  <a:cs typeface="Times New Roman"/>
                </a:rPr>
                <a:t>mga</a:t>
              </a:r>
              <a:r>
                <a:rPr lang="en-GB" sz="2471" i="1" spc="4" dirty="0">
                  <a:latin typeface="Times New Roman"/>
                  <a:cs typeface="Times New Roman"/>
                </a:rPr>
                <a:t> </a:t>
              </a:r>
              <a:r>
                <a:rPr sz="2471" i="1" spc="4" dirty="0">
                  <a:latin typeface="Times New Roman"/>
                  <a:cs typeface="Times New Roman"/>
                </a:rPr>
                <a:t>s</a:t>
              </a:r>
              <a:r>
                <a:rPr lang="en-GB" sz="2471" i="1" spc="4" dirty="0">
                  <a:latin typeface="Times New Roman"/>
                  <a:cs typeface="Times New Roman"/>
                </a:rPr>
                <a:t>in</a:t>
              </a:r>
              <a:r>
                <a:rPr sz="2471" spc="4" dirty="0">
                  <a:latin typeface="Symbol"/>
                  <a:cs typeface="Symbol"/>
                </a:rPr>
                <a:t></a:t>
              </a:r>
              <a:endParaRPr sz="2471" dirty="0">
                <a:latin typeface="Symbol"/>
                <a:cs typeface="Symbol"/>
              </a:endParaRPr>
            </a:p>
          </p:txBody>
        </p:sp>
        <p:sp>
          <p:nvSpPr>
            <p:cNvPr id="37" name="object 26">
              <a:extLst>
                <a:ext uri="{FF2B5EF4-FFF2-40B4-BE49-F238E27FC236}">
                  <a16:creationId xmlns:a16="http://schemas.microsoft.com/office/drawing/2014/main" id="{069227F8-8ECF-4155-88C1-9F2E8CF6371B}"/>
                </a:ext>
              </a:extLst>
            </p:cNvPr>
            <p:cNvSpPr txBox="1"/>
            <p:nvPr/>
          </p:nvSpPr>
          <p:spPr>
            <a:xfrm>
              <a:off x="1213879" y="5021475"/>
              <a:ext cx="309843" cy="394943"/>
            </a:xfrm>
            <a:prstGeom prst="rect">
              <a:avLst/>
            </a:prstGeom>
          </p:spPr>
          <p:txBody>
            <a:bodyPr vert="horz" wrap="square" lIns="0" tIns="14568" rIns="0" bIns="0" rtlCol="0">
              <a:spAutoFit/>
            </a:bodyPr>
            <a:lstStyle/>
            <a:p>
              <a:pPr marL="11206">
                <a:spcBef>
                  <a:spcPts val="115"/>
                </a:spcBef>
              </a:pPr>
              <a:r>
                <a:rPr sz="2471" spc="-18" dirty="0">
                  <a:latin typeface="Symbol"/>
                  <a:cs typeface="Symbol"/>
                </a:rPr>
                <a:t></a:t>
              </a:r>
              <a:r>
                <a:rPr sz="2471" spc="-1068" dirty="0">
                  <a:latin typeface="Symbol"/>
                  <a:cs typeface="Symbol"/>
                </a:rPr>
                <a:t></a:t>
              </a:r>
              <a:r>
                <a:rPr sz="3706" spc="-1032" baseline="16865" dirty="0">
                  <a:latin typeface="Lucida Sans Unicode"/>
                  <a:cs typeface="Lucida Sans Unicode"/>
                </a:rPr>
                <a:t>˙</a:t>
              </a:r>
              <a:endParaRPr sz="3706" baseline="16865" dirty="0">
                <a:latin typeface="Lucida Sans Unicode"/>
                <a:cs typeface="Lucida Sans Unicode"/>
              </a:endParaRPr>
            </a:p>
          </p:txBody>
        </p:sp>
        <p:sp>
          <p:nvSpPr>
            <p:cNvPr id="38" name="object 27">
              <a:extLst>
                <a:ext uri="{FF2B5EF4-FFF2-40B4-BE49-F238E27FC236}">
                  <a16:creationId xmlns:a16="http://schemas.microsoft.com/office/drawing/2014/main" id="{D158CD87-2AE5-45CA-8F50-77AECE66B988}"/>
                </a:ext>
              </a:extLst>
            </p:cNvPr>
            <p:cNvSpPr/>
            <p:nvPr/>
          </p:nvSpPr>
          <p:spPr>
            <a:xfrm>
              <a:off x="835815" y="6043831"/>
              <a:ext cx="212912" cy="0"/>
            </a:xfrm>
            <a:custGeom>
              <a:avLst/>
              <a:gdLst/>
              <a:ahLst/>
              <a:cxnLst/>
              <a:rect l="l" t="t" r="r" b="b"/>
              <a:pathLst>
                <a:path w="241300">
                  <a:moveTo>
                    <a:pt x="0" y="0"/>
                  </a:moveTo>
                  <a:lnTo>
                    <a:pt x="240792" y="0"/>
                  </a:lnTo>
                </a:path>
              </a:pathLst>
            </a:custGeom>
            <a:ln w="17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9" name="object 28">
              <a:extLst>
                <a:ext uri="{FF2B5EF4-FFF2-40B4-BE49-F238E27FC236}">
                  <a16:creationId xmlns:a16="http://schemas.microsoft.com/office/drawing/2014/main" id="{F9FE687D-88D7-4A61-B8B6-18A98FA4BA89}"/>
                </a:ext>
              </a:extLst>
            </p:cNvPr>
            <p:cNvSpPr/>
            <p:nvPr/>
          </p:nvSpPr>
          <p:spPr>
            <a:xfrm>
              <a:off x="2245068" y="6043831"/>
              <a:ext cx="217954" cy="0"/>
            </a:xfrm>
            <a:custGeom>
              <a:avLst/>
              <a:gdLst/>
              <a:ahLst/>
              <a:cxnLst/>
              <a:rect l="l" t="t" r="r" b="b"/>
              <a:pathLst>
                <a:path w="247014">
                  <a:moveTo>
                    <a:pt x="0" y="0"/>
                  </a:moveTo>
                  <a:lnTo>
                    <a:pt x="246888" y="0"/>
                  </a:lnTo>
                </a:path>
              </a:pathLst>
            </a:custGeom>
            <a:ln w="17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0" name="object 29">
              <a:extLst>
                <a:ext uri="{FF2B5EF4-FFF2-40B4-BE49-F238E27FC236}">
                  <a16:creationId xmlns:a16="http://schemas.microsoft.com/office/drawing/2014/main" id="{BD4BD268-E7EF-426C-9353-E3CB477AF519}"/>
                </a:ext>
              </a:extLst>
            </p:cNvPr>
            <p:cNvSpPr txBox="1"/>
            <p:nvPr/>
          </p:nvSpPr>
          <p:spPr>
            <a:xfrm>
              <a:off x="843412" y="5737873"/>
              <a:ext cx="3698679" cy="754543"/>
            </a:xfrm>
            <a:prstGeom prst="rect">
              <a:avLst/>
            </a:prstGeom>
          </p:spPr>
          <p:txBody>
            <a:bodyPr vert="horz" wrap="square" lIns="0" tIns="10646" rIns="0" bIns="0" rtlCol="0">
              <a:spAutoFit/>
            </a:bodyPr>
            <a:lstStyle/>
            <a:p>
              <a:pPr marL="13448">
                <a:lnSpc>
                  <a:spcPts val="3035"/>
                </a:lnSpc>
                <a:spcBef>
                  <a:spcPts val="84"/>
                </a:spcBef>
              </a:pPr>
              <a:r>
                <a:rPr sz="4302" i="1" baseline="35042" dirty="0">
                  <a:latin typeface="Times New Roman"/>
                  <a:cs typeface="Times New Roman"/>
                </a:rPr>
                <a:t>1 </a:t>
              </a:r>
              <a:r>
                <a:rPr sz="2868" i="1" spc="-146" dirty="0">
                  <a:latin typeface="Times New Roman"/>
                  <a:cs typeface="Times New Roman"/>
                </a:rPr>
                <a:t>ma</a:t>
              </a:r>
              <a:r>
                <a:rPr sz="2515" i="1" spc="-218" baseline="42397" dirty="0">
                  <a:latin typeface="Times New Roman"/>
                  <a:cs typeface="Times New Roman"/>
                </a:rPr>
                <a:t>2</a:t>
              </a:r>
              <a:r>
                <a:rPr sz="3044" i="1" spc="-146" dirty="0">
                  <a:latin typeface="Symbol"/>
                  <a:cs typeface="Symbol"/>
                </a:rPr>
                <a:t></a:t>
              </a:r>
              <a:r>
                <a:rPr sz="4302" b="1" spc="-218" baseline="15384" dirty="0">
                  <a:latin typeface="Malgun Gothic"/>
                  <a:cs typeface="Malgun Gothic"/>
                </a:rPr>
                <a:t>˙ </a:t>
              </a:r>
              <a:r>
                <a:rPr sz="2868" dirty="0">
                  <a:latin typeface="Symbol"/>
                  <a:cs typeface="Symbol"/>
                </a:rPr>
                <a:t></a:t>
              </a:r>
              <a:r>
                <a:rPr sz="2868" dirty="0">
                  <a:latin typeface="Times New Roman"/>
                  <a:cs typeface="Times New Roman"/>
                </a:rPr>
                <a:t> </a:t>
              </a:r>
              <a:r>
                <a:rPr sz="4302" baseline="35042" dirty="0">
                  <a:latin typeface="Times New Roman"/>
                  <a:cs typeface="Times New Roman"/>
                </a:rPr>
                <a:t>1 </a:t>
              </a:r>
              <a:r>
                <a:rPr sz="2868" i="1" spc="-31" dirty="0" err="1">
                  <a:latin typeface="Times New Roman"/>
                  <a:cs typeface="Times New Roman"/>
                </a:rPr>
                <a:t>mga</a:t>
              </a:r>
              <a:r>
                <a:rPr lang="en-GB" sz="2868" i="1" spc="-31" dirty="0">
                  <a:latin typeface="Times New Roman"/>
                  <a:cs typeface="Times New Roman"/>
                </a:rPr>
                <a:t> </a:t>
              </a:r>
              <a:r>
                <a:rPr sz="2868" i="1" spc="-31" dirty="0">
                  <a:latin typeface="Times New Roman"/>
                  <a:cs typeface="Times New Roman"/>
                </a:rPr>
                <a:t>s</a:t>
              </a:r>
              <a:r>
                <a:rPr lang="en-GB" sz="2868" i="1" spc="-31" dirty="0">
                  <a:latin typeface="Times New Roman"/>
                  <a:cs typeface="Times New Roman"/>
                </a:rPr>
                <a:t>in</a:t>
              </a:r>
              <a:r>
                <a:rPr sz="3044" i="1" spc="-31" dirty="0">
                  <a:latin typeface="Symbol"/>
                  <a:cs typeface="Symbol"/>
                </a:rPr>
                <a:t></a:t>
              </a:r>
              <a:r>
                <a:rPr sz="3044" i="1" spc="-31" dirty="0">
                  <a:latin typeface="Times New Roman"/>
                  <a:cs typeface="Times New Roman"/>
                </a:rPr>
                <a:t> </a:t>
              </a:r>
              <a:r>
                <a:rPr sz="2868" dirty="0">
                  <a:latin typeface="Symbol"/>
                  <a:cs typeface="Symbol"/>
                </a:rPr>
                <a:t></a:t>
              </a:r>
              <a:r>
                <a:rPr sz="2868" spc="-485" dirty="0">
                  <a:latin typeface="Times New Roman"/>
                  <a:cs typeface="Times New Roman"/>
                </a:rPr>
                <a:t> </a:t>
              </a:r>
              <a:r>
                <a:rPr sz="3044" i="1" spc="-75" dirty="0">
                  <a:latin typeface="Symbol"/>
                  <a:cs typeface="Symbol"/>
                </a:rPr>
                <a:t></a:t>
              </a:r>
              <a:endParaRPr sz="3044" dirty="0">
                <a:latin typeface="Symbol"/>
                <a:cs typeface="Symbol"/>
              </a:endParaRPr>
            </a:p>
            <a:p>
              <a:pPr marL="11206">
                <a:lnSpc>
                  <a:spcPts val="2824"/>
                </a:lnSpc>
                <a:tabLst>
                  <a:tab pos="1425464" algn="l"/>
                </a:tabLst>
              </a:pPr>
              <a:r>
                <a:rPr sz="2868" i="1" dirty="0">
                  <a:latin typeface="Times New Roman"/>
                  <a:cs typeface="Times New Roman"/>
                </a:rPr>
                <a:t>3	</a:t>
              </a:r>
              <a:r>
                <a:rPr sz="2868" dirty="0">
                  <a:latin typeface="Times New Roman"/>
                  <a:cs typeface="Times New Roman"/>
                </a:rPr>
                <a:t>2</a:t>
              </a:r>
            </a:p>
          </p:txBody>
        </p:sp>
        <p:sp>
          <p:nvSpPr>
            <p:cNvPr id="42" name="object 31">
              <a:extLst>
                <a:ext uri="{FF2B5EF4-FFF2-40B4-BE49-F238E27FC236}">
                  <a16:creationId xmlns:a16="http://schemas.microsoft.com/office/drawing/2014/main" id="{34913FB9-C8ED-4C5A-B8C6-905856545ADD}"/>
                </a:ext>
              </a:extLst>
            </p:cNvPr>
            <p:cNvSpPr/>
            <p:nvPr/>
          </p:nvSpPr>
          <p:spPr>
            <a:xfrm>
              <a:off x="2220190" y="3935332"/>
              <a:ext cx="593912" cy="0"/>
            </a:xfrm>
            <a:custGeom>
              <a:avLst/>
              <a:gdLst/>
              <a:ahLst/>
              <a:cxnLst/>
              <a:rect l="l" t="t" r="r" b="b"/>
              <a:pathLst>
                <a:path w="673100">
                  <a:moveTo>
                    <a:pt x="0" y="0"/>
                  </a:moveTo>
                  <a:lnTo>
                    <a:pt x="672846" y="0"/>
                  </a:lnTo>
                </a:path>
              </a:pathLst>
            </a:custGeom>
            <a:ln w="155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3" name="object 32">
              <a:extLst>
                <a:ext uri="{FF2B5EF4-FFF2-40B4-BE49-F238E27FC236}">
                  <a16:creationId xmlns:a16="http://schemas.microsoft.com/office/drawing/2014/main" id="{75B9F3F9-5451-4F63-A6EA-004A4E6D5494}"/>
                </a:ext>
              </a:extLst>
            </p:cNvPr>
            <p:cNvSpPr/>
            <p:nvPr/>
          </p:nvSpPr>
          <p:spPr>
            <a:xfrm>
              <a:off x="3960240" y="3935332"/>
              <a:ext cx="208429" cy="0"/>
            </a:xfrm>
            <a:custGeom>
              <a:avLst/>
              <a:gdLst/>
              <a:ahLst/>
              <a:cxnLst/>
              <a:rect l="l" t="t" r="r" b="b"/>
              <a:pathLst>
                <a:path w="236220">
                  <a:moveTo>
                    <a:pt x="0" y="0"/>
                  </a:moveTo>
                  <a:lnTo>
                    <a:pt x="236220" y="0"/>
                  </a:lnTo>
                </a:path>
              </a:pathLst>
            </a:custGeom>
            <a:ln w="155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4" name="object 33">
              <a:extLst>
                <a:ext uri="{FF2B5EF4-FFF2-40B4-BE49-F238E27FC236}">
                  <a16:creationId xmlns:a16="http://schemas.microsoft.com/office/drawing/2014/main" id="{060FCE31-7AC7-4C4E-8708-AC9E6B7FF2EB}"/>
                </a:ext>
              </a:extLst>
            </p:cNvPr>
            <p:cNvSpPr txBox="1"/>
            <p:nvPr/>
          </p:nvSpPr>
          <p:spPr>
            <a:xfrm>
              <a:off x="3971222" y="3396670"/>
              <a:ext cx="192741" cy="960663"/>
            </a:xfrm>
            <a:prstGeom prst="rect">
              <a:avLst/>
            </a:prstGeom>
          </p:spPr>
          <p:txBody>
            <a:bodyPr vert="horz" wrap="square" lIns="0" tIns="81803" rIns="0" bIns="0" rtlCol="0">
              <a:spAutoFit/>
            </a:bodyPr>
            <a:lstStyle/>
            <a:p>
              <a:pPr marL="11206">
                <a:spcBef>
                  <a:spcPts val="644"/>
                </a:spcBef>
              </a:pPr>
              <a:r>
                <a:rPr sz="2603" i="1" dirty="0">
                  <a:latin typeface="Times New Roman"/>
                  <a:cs typeface="Times New Roman"/>
                </a:rPr>
                <a:t>a</a:t>
              </a:r>
              <a:endParaRPr sz="2603" dirty="0">
                <a:latin typeface="Times New Roman"/>
                <a:cs typeface="Times New Roman"/>
              </a:endParaRPr>
            </a:p>
            <a:p>
              <a:pPr marL="15689">
                <a:spcBef>
                  <a:spcPts val="552"/>
                </a:spcBef>
              </a:pPr>
              <a:r>
                <a:rPr sz="2603" dirty="0">
                  <a:latin typeface="Times New Roman"/>
                  <a:cs typeface="Times New Roman"/>
                </a:rPr>
                <a:t>2</a:t>
              </a:r>
            </a:p>
          </p:txBody>
        </p:sp>
        <p:sp>
          <p:nvSpPr>
            <p:cNvPr id="45" name="object 34">
              <a:extLst>
                <a:ext uri="{FF2B5EF4-FFF2-40B4-BE49-F238E27FC236}">
                  <a16:creationId xmlns:a16="http://schemas.microsoft.com/office/drawing/2014/main" id="{26BF0794-E892-416B-ABD6-A40C4FFA7047}"/>
                </a:ext>
              </a:extLst>
            </p:cNvPr>
            <p:cNvSpPr txBox="1"/>
            <p:nvPr/>
          </p:nvSpPr>
          <p:spPr>
            <a:xfrm>
              <a:off x="2408000" y="3933968"/>
              <a:ext cx="188259" cy="412440"/>
            </a:xfrm>
            <a:prstGeom prst="rect">
              <a:avLst/>
            </a:prstGeom>
          </p:spPr>
          <p:txBody>
            <a:bodyPr vert="horz" wrap="square" lIns="0" tIns="11766" rIns="0" bIns="0" rtlCol="0">
              <a:spAutoFit/>
            </a:bodyPr>
            <a:lstStyle/>
            <a:p>
              <a:pPr marL="11206">
                <a:spcBef>
                  <a:spcPts val="93"/>
                </a:spcBef>
              </a:pPr>
              <a:r>
                <a:rPr sz="2603" i="1" dirty="0">
                  <a:latin typeface="Times New Roman"/>
                  <a:cs typeface="Times New Roman"/>
                </a:rPr>
                <a:t>6</a:t>
              </a:r>
              <a:endParaRPr sz="2603" dirty="0">
                <a:latin typeface="Times New Roman"/>
                <a:cs typeface="Times New Roman"/>
              </a:endParaRPr>
            </a:p>
          </p:txBody>
        </p:sp>
        <p:sp>
          <p:nvSpPr>
            <p:cNvPr id="46" name="object 35">
              <a:extLst>
                <a:ext uri="{FF2B5EF4-FFF2-40B4-BE49-F238E27FC236}">
                  <a16:creationId xmlns:a16="http://schemas.microsoft.com/office/drawing/2014/main" id="{1E52F7C9-43F3-4BDE-8E44-50ABF14A76FA}"/>
                </a:ext>
              </a:extLst>
            </p:cNvPr>
            <p:cNvSpPr txBox="1"/>
            <p:nvPr/>
          </p:nvSpPr>
          <p:spPr>
            <a:xfrm>
              <a:off x="2231161" y="3466659"/>
              <a:ext cx="542925" cy="412440"/>
            </a:xfrm>
            <a:prstGeom prst="rect">
              <a:avLst/>
            </a:prstGeom>
          </p:spPr>
          <p:txBody>
            <a:bodyPr vert="horz" wrap="square" lIns="0" tIns="11766" rIns="0" bIns="0" rtlCol="0">
              <a:spAutoFit/>
            </a:bodyPr>
            <a:lstStyle/>
            <a:p>
              <a:pPr marL="11206">
                <a:spcBef>
                  <a:spcPts val="93"/>
                </a:spcBef>
              </a:pPr>
              <a:r>
                <a:rPr sz="2603" i="1" spc="-4" dirty="0">
                  <a:latin typeface="Times New Roman"/>
                  <a:cs typeface="Times New Roman"/>
                </a:rPr>
                <a:t>m</a:t>
              </a:r>
              <a:r>
                <a:rPr sz="2603" i="1" spc="146" dirty="0">
                  <a:latin typeface="Times New Roman"/>
                  <a:cs typeface="Times New Roman"/>
                </a:rPr>
                <a:t>a</a:t>
              </a:r>
              <a:r>
                <a:rPr sz="2250" i="1" spc="6" baseline="42483" dirty="0">
                  <a:latin typeface="Times New Roman"/>
                  <a:cs typeface="Times New Roman"/>
                </a:rPr>
                <a:t>2</a:t>
              </a:r>
              <a:endParaRPr sz="2250" baseline="42483" dirty="0">
                <a:latin typeface="Times New Roman"/>
                <a:cs typeface="Times New Roman"/>
              </a:endParaRPr>
            </a:p>
          </p:txBody>
        </p:sp>
        <p:sp>
          <p:nvSpPr>
            <p:cNvPr id="47" name="object 36">
              <a:extLst>
                <a:ext uri="{FF2B5EF4-FFF2-40B4-BE49-F238E27FC236}">
                  <a16:creationId xmlns:a16="http://schemas.microsoft.com/office/drawing/2014/main" id="{D65F2164-433B-449F-824A-F31AAD161694}"/>
                </a:ext>
              </a:extLst>
            </p:cNvPr>
            <p:cNvSpPr txBox="1"/>
            <p:nvPr/>
          </p:nvSpPr>
          <p:spPr>
            <a:xfrm>
              <a:off x="4208562" y="3656958"/>
              <a:ext cx="1330364" cy="434463"/>
            </a:xfrm>
            <a:prstGeom prst="rect">
              <a:avLst/>
            </a:prstGeom>
          </p:spPr>
          <p:txBody>
            <a:bodyPr vert="horz" wrap="square" lIns="0" tIns="13447" rIns="0" bIns="0" rtlCol="0">
              <a:spAutoFit/>
            </a:bodyPr>
            <a:lstStyle/>
            <a:p>
              <a:pPr marL="11206">
                <a:spcBef>
                  <a:spcPts val="106"/>
                </a:spcBef>
              </a:pPr>
              <a:r>
                <a:rPr sz="2603" spc="-13" dirty="0">
                  <a:latin typeface="Times New Roman"/>
                  <a:cs typeface="Times New Roman"/>
                </a:rPr>
                <a:t>(1</a:t>
              </a:r>
              <a:r>
                <a:rPr sz="2603" spc="-13" dirty="0">
                  <a:latin typeface="Symbol"/>
                  <a:cs typeface="Symbol"/>
                </a:rPr>
                <a:t></a:t>
              </a:r>
              <a:r>
                <a:rPr sz="2603" spc="-300" dirty="0">
                  <a:latin typeface="Times New Roman"/>
                  <a:cs typeface="Times New Roman"/>
                </a:rPr>
                <a:t> </a:t>
              </a:r>
              <a:r>
                <a:rPr sz="2603" i="1" spc="-49" dirty="0">
                  <a:latin typeface="Times New Roman"/>
                  <a:cs typeface="Times New Roman"/>
                </a:rPr>
                <a:t>c</a:t>
              </a:r>
              <a:r>
                <a:rPr lang="en-GB" sz="2603" i="1" spc="-49" dirty="0" err="1">
                  <a:latin typeface="Times New Roman"/>
                  <a:cs typeface="Times New Roman"/>
                </a:rPr>
                <a:t>os</a:t>
              </a:r>
              <a:r>
                <a:rPr sz="2735" i="1" spc="-49" dirty="0">
                  <a:latin typeface="Symbol"/>
                  <a:cs typeface="Symbol"/>
                </a:rPr>
                <a:t></a:t>
              </a:r>
              <a:r>
                <a:rPr sz="2735" i="1" spc="-379" dirty="0">
                  <a:latin typeface="Times New Roman"/>
                  <a:cs typeface="Times New Roman"/>
                </a:rPr>
                <a:t> </a:t>
              </a:r>
              <a:r>
                <a:rPr sz="2603" dirty="0">
                  <a:latin typeface="Times New Roman"/>
                  <a:cs typeface="Times New Roman"/>
                </a:rPr>
                <a:t>)</a:t>
              </a:r>
            </a:p>
          </p:txBody>
        </p:sp>
        <p:sp>
          <p:nvSpPr>
            <p:cNvPr id="48" name="object 37">
              <a:extLst>
                <a:ext uri="{FF2B5EF4-FFF2-40B4-BE49-F238E27FC236}">
                  <a16:creationId xmlns:a16="http://schemas.microsoft.com/office/drawing/2014/main" id="{7B5D3D18-9B1A-4C67-AA9F-16206683653A}"/>
                </a:ext>
              </a:extLst>
            </p:cNvPr>
            <p:cNvSpPr txBox="1"/>
            <p:nvPr/>
          </p:nvSpPr>
          <p:spPr>
            <a:xfrm>
              <a:off x="2828233" y="3656958"/>
              <a:ext cx="1075204" cy="434463"/>
            </a:xfrm>
            <a:prstGeom prst="rect">
              <a:avLst/>
            </a:prstGeom>
          </p:spPr>
          <p:txBody>
            <a:bodyPr vert="horz" wrap="square" lIns="0" tIns="13447" rIns="0" bIns="0" rtlCol="0">
              <a:spAutoFit/>
            </a:bodyPr>
            <a:lstStyle/>
            <a:p>
              <a:pPr marL="11206">
                <a:spcBef>
                  <a:spcPts val="106"/>
                </a:spcBef>
                <a:tabLst>
                  <a:tab pos="423045" algn="l"/>
                </a:tabLst>
              </a:pPr>
              <a:r>
                <a:rPr sz="2735" i="1" spc="-71" dirty="0">
                  <a:latin typeface="Symbol"/>
                  <a:cs typeface="Symbol"/>
                </a:rPr>
                <a:t></a:t>
              </a:r>
              <a:r>
                <a:rPr sz="2735" spc="-71" dirty="0">
                  <a:latin typeface="Times New Roman"/>
                  <a:cs typeface="Times New Roman"/>
                </a:rPr>
                <a:t>	</a:t>
              </a:r>
              <a:r>
                <a:rPr sz="2603" dirty="0">
                  <a:latin typeface="Symbol"/>
                  <a:cs typeface="Symbol"/>
                </a:rPr>
                <a:t></a:t>
              </a:r>
              <a:r>
                <a:rPr sz="2603" spc="-291" dirty="0">
                  <a:latin typeface="Times New Roman"/>
                  <a:cs typeface="Times New Roman"/>
                </a:rPr>
                <a:t> </a:t>
              </a:r>
              <a:r>
                <a:rPr sz="2603" i="1" spc="-4" dirty="0">
                  <a:latin typeface="Times New Roman"/>
                  <a:cs typeface="Times New Roman"/>
                </a:rPr>
                <a:t>mg</a:t>
              </a:r>
              <a:endParaRPr sz="2603" dirty="0">
                <a:latin typeface="Times New Roman"/>
                <a:cs typeface="Times New Roman"/>
              </a:endParaRPr>
            </a:p>
          </p:txBody>
        </p:sp>
        <p:sp>
          <p:nvSpPr>
            <p:cNvPr id="49" name="object 38">
              <a:extLst>
                <a:ext uri="{FF2B5EF4-FFF2-40B4-BE49-F238E27FC236}">
                  <a16:creationId xmlns:a16="http://schemas.microsoft.com/office/drawing/2014/main" id="{2B4165B9-C406-4EC9-BC80-2A7B7AC5EF4E}"/>
                </a:ext>
              </a:extLst>
            </p:cNvPr>
            <p:cNvSpPr txBox="1"/>
            <p:nvPr/>
          </p:nvSpPr>
          <p:spPr>
            <a:xfrm>
              <a:off x="689465" y="3675750"/>
              <a:ext cx="1461806" cy="412440"/>
            </a:xfrm>
            <a:prstGeom prst="rect">
              <a:avLst/>
            </a:prstGeom>
          </p:spPr>
          <p:txBody>
            <a:bodyPr vert="horz" wrap="square" lIns="0" tIns="11766" rIns="0" bIns="0" rtlCol="0">
              <a:spAutoFit/>
            </a:bodyPr>
            <a:lstStyle/>
            <a:p>
              <a:pPr marL="11206">
                <a:spcBef>
                  <a:spcPts val="93"/>
                </a:spcBef>
              </a:pPr>
              <a:r>
                <a:rPr sz="2603" i="1" dirty="0">
                  <a:latin typeface="Times New Roman"/>
                  <a:cs typeface="Times New Roman"/>
                </a:rPr>
                <a:t>L </a:t>
              </a:r>
              <a:r>
                <a:rPr sz="2603" dirty="0">
                  <a:latin typeface="Symbol"/>
                  <a:cs typeface="Symbol"/>
                </a:rPr>
                <a:t></a:t>
              </a:r>
              <a:r>
                <a:rPr sz="2603" dirty="0">
                  <a:latin typeface="Times New Roman"/>
                  <a:cs typeface="Times New Roman"/>
                </a:rPr>
                <a:t> </a:t>
              </a:r>
              <a:r>
                <a:rPr sz="2603" i="1" dirty="0">
                  <a:latin typeface="Times New Roman"/>
                  <a:cs typeface="Times New Roman"/>
                </a:rPr>
                <a:t>T </a:t>
              </a:r>
              <a:r>
                <a:rPr sz="2603" i="1" spc="88" dirty="0">
                  <a:latin typeface="Times New Roman"/>
                  <a:cs typeface="Times New Roman"/>
                </a:rPr>
                <a:t>-U</a:t>
              </a:r>
              <a:r>
                <a:rPr sz="2603" i="1" spc="-44" dirty="0">
                  <a:latin typeface="Times New Roman"/>
                  <a:cs typeface="Times New Roman"/>
                </a:rPr>
                <a:t> </a:t>
              </a:r>
              <a:r>
                <a:rPr sz="2603" dirty="0">
                  <a:latin typeface="Symbol"/>
                  <a:cs typeface="Symbol"/>
                </a:rPr>
                <a:t></a:t>
              </a:r>
            </a:p>
          </p:txBody>
        </p:sp>
        <p:sp>
          <p:nvSpPr>
            <p:cNvPr id="50" name="object 39">
              <a:extLst>
                <a:ext uri="{FF2B5EF4-FFF2-40B4-BE49-F238E27FC236}">
                  <a16:creationId xmlns:a16="http://schemas.microsoft.com/office/drawing/2014/main" id="{81D2E792-0147-401D-A28D-08B55596B5BA}"/>
                </a:ext>
              </a:extLst>
            </p:cNvPr>
            <p:cNvSpPr txBox="1"/>
            <p:nvPr/>
          </p:nvSpPr>
          <p:spPr>
            <a:xfrm>
              <a:off x="2929769" y="3527194"/>
              <a:ext cx="246529" cy="412503"/>
            </a:xfrm>
            <a:prstGeom prst="rect">
              <a:avLst/>
            </a:prstGeom>
          </p:spPr>
          <p:txBody>
            <a:bodyPr vert="horz" wrap="square" lIns="0" tIns="11766" rIns="0" bIns="0" rtlCol="0">
              <a:spAutoFit/>
            </a:bodyPr>
            <a:lstStyle/>
            <a:p>
              <a:pPr marL="11206">
                <a:spcBef>
                  <a:spcPts val="93"/>
                </a:spcBef>
              </a:pPr>
              <a:r>
                <a:rPr sz="3905" spc="-899" baseline="-9416" dirty="0">
                  <a:latin typeface="Lucida Sans Unicode"/>
                  <a:cs typeface="Lucida Sans Unicode"/>
                </a:rPr>
                <a:t>˙</a:t>
              </a:r>
              <a:r>
                <a:rPr sz="1500" spc="4" dirty="0">
                  <a:latin typeface="Times New Roman"/>
                  <a:cs typeface="Times New Roman"/>
                </a:rPr>
                <a:t>2</a:t>
              </a:r>
              <a:endParaRPr sz="1500" dirty="0">
                <a:latin typeface="Times New Roman"/>
                <a:cs typeface="Times New Roman"/>
              </a:endParaRPr>
            </a:p>
          </p:txBody>
        </p:sp>
        <p:sp>
          <p:nvSpPr>
            <p:cNvPr id="51" name="object 40">
              <a:extLst>
                <a:ext uri="{FF2B5EF4-FFF2-40B4-BE49-F238E27FC236}">
                  <a16:creationId xmlns:a16="http://schemas.microsoft.com/office/drawing/2014/main" id="{39FDBBB4-A984-4164-8159-105F32447386}"/>
                </a:ext>
              </a:extLst>
            </p:cNvPr>
            <p:cNvSpPr/>
            <p:nvPr/>
          </p:nvSpPr>
          <p:spPr>
            <a:xfrm>
              <a:off x="632764" y="3417560"/>
              <a:ext cx="4906162" cy="932506"/>
            </a:xfrm>
            <a:custGeom>
              <a:avLst/>
              <a:gdLst/>
              <a:ahLst/>
              <a:cxnLst/>
              <a:rect l="l" t="t" r="r" b="b"/>
              <a:pathLst>
                <a:path w="5231130" h="1050925">
                  <a:moveTo>
                    <a:pt x="5231130" y="1050798"/>
                  </a:moveTo>
                  <a:lnTo>
                    <a:pt x="5231130" y="0"/>
                  </a:lnTo>
                  <a:lnTo>
                    <a:pt x="0" y="0"/>
                  </a:lnTo>
                  <a:lnTo>
                    <a:pt x="0" y="1050798"/>
                  </a:lnTo>
                  <a:lnTo>
                    <a:pt x="4571" y="1050798"/>
                  </a:lnTo>
                  <a:lnTo>
                    <a:pt x="4572" y="9144"/>
                  </a:lnTo>
                  <a:lnTo>
                    <a:pt x="9144" y="4572"/>
                  </a:lnTo>
                  <a:lnTo>
                    <a:pt x="9143" y="9144"/>
                  </a:lnTo>
                  <a:lnTo>
                    <a:pt x="5221223" y="9144"/>
                  </a:lnTo>
                  <a:lnTo>
                    <a:pt x="5221223" y="4571"/>
                  </a:lnTo>
                  <a:lnTo>
                    <a:pt x="5225796" y="9144"/>
                  </a:lnTo>
                  <a:lnTo>
                    <a:pt x="5225796" y="1050798"/>
                  </a:lnTo>
                  <a:lnTo>
                    <a:pt x="5231130" y="1050798"/>
                  </a:lnTo>
                  <a:close/>
                </a:path>
                <a:path w="5231130" h="1050925">
                  <a:moveTo>
                    <a:pt x="9144" y="9144"/>
                  </a:move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close/>
                </a:path>
                <a:path w="5231130" h="1050925">
                  <a:moveTo>
                    <a:pt x="9144" y="1040892"/>
                  </a:moveTo>
                  <a:lnTo>
                    <a:pt x="9144" y="9144"/>
                  </a:lnTo>
                  <a:lnTo>
                    <a:pt x="4572" y="9144"/>
                  </a:lnTo>
                  <a:lnTo>
                    <a:pt x="4572" y="1040892"/>
                  </a:lnTo>
                  <a:lnTo>
                    <a:pt x="9144" y="1040892"/>
                  </a:lnTo>
                  <a:close/>
                </a:path>
                <a:path w="5231130" h="1050925">
                  <a:moveTo>
                    <a:pt x="5225796" y="1040892"/>
                  </a:moveTo>
                  <a:lnTo>
                    <a:pt x="4572" y="1040892"/>
                  </a:lnTo>
                  <a:lnTo>
                    <a:pt x="9144" y="1046226"/>
                  </a:lnTo>
                  <a:lnTo>
                    <a:pt x="9144" y="1050798"/>
                  </a:lnTo>
                  <a:lnTo>
                    <a:pt x="5221223" y="1050798"/>
                  </a:lnTo>
                  <a:lnTo>
                    <a:pt x="5221223" y="1046226"/>
                  </a:lnTo>
                  <a:lnTo>
                    <a:pt x="5225796" y="1040892"/>
                  </a:lnTo>
                  <a:close/>
                </a:path>
                <a:path w="5231130" h="1050925">
                  <a:moveTo>
                    <a:pt x="9144" y="1050798"/>
                  </a:moveTo>
                  <a:lnTo>
                    <a:pt x="9144" y="1046226"/>
                  </a:lnTo>
                  <a:lnTo>
                    <a:pt x="4572" y="1040892"/>
                  </a:lnTo>
                  <a:lnTo>
                    <a:pt x="4571" y="1050798"/>
                  </a:lnTo>
                  <a:lnTo>
                    <a:pt x="9144" y="1050798"/>
                  </a:lnTo>
                  <a:close/>
                </a:path>
                <a:path w="5231130" h="1050925">
                  <a:moveTo>
                    <a:pt x="5225796" y="9144"/>
                  </a:moveTo>
                  <a:lnTo>
                    <a:pt x="5221223" y="4571"/>
                  </a:lnTo>
                  <a:lnTo>
                    <a:pt x="5221223" y="9144"/>
                  </a:lnTo>
                  <a:lnTo>
                    <a:pt x="5225796" y="9144"/>
                  </a:lnTo>
                  <a:close/>
                </a:path>
                <a:path w="5231130" h="1050925">
                  <a:moveTo>
                    <a:pt x="5225796" y="1040892"/>
                  </a:moveTo>
                  <a:lnTo>
                    <a:pt x="5225796" y="9144"/>
                  </a:lnTo>
                  <a:lnTo>
                    <a:pt x="5221223" y="9144"/>
                  </a:lnTo>
                  <a:lnTo>
                    <a:pt x="5221223" y="1040892"/>
                  </a:lnTo>
                  <a:lnTo>
                    <a:pt x="5225796" y="1040892"/>
                  </a:lnTo>
                  <a:close/>
                </a:path>
                <a:path w="5231130" h="1050925">
                  <a:moveTo>
                    <a:pt x="5225796" y="1050798"/>
                  </a:moveTo>
                  <a:lnTo>
                    <a:pt x="5225796" y="1040892"/>
                  </a:lnTo>
                  <a:lnTo>
                    <a:pt x="5221223" y="1046226"/>
                  </a:lnTo>
                  <a:lnTo>
                    <a:pt x="5221223" y="1050798"/>
                  </a:lnTo>
                  <a:lnTo>
                    <a:pt x="5225796" y="10507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349502" y="1169344"/>
              <a:ext cx="16722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Kinetic Energy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53724" y="2233716"/>
              <a:ext cx="18774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Potential Energy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21238" y="3087581"/>
              <a:ext cx="14671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Total Energy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836405" y="4514848"/>
              <a:ext cx="2696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0345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Other Forces</a:t>
            </a:r>
            <a:endParaRPr lang="en-GB" sz="2400" dirty="0">
              <a:cs typeface="Arial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194393" y="605557"/>
            <a:ext cx="8677319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GB" sz="2000" b="1" dirty="0">
                <a:latin typeface="+mn-lt"/>
                <a:cs typeface="Times New Roman"/>
              </a:rPr>
              <a:t>When your dynamic problem goes beyond a single link other forces come into play.</a:t>
            </a:r>
            <a:endParaRPr sz="2000" dirty="0">
              <a:latin typeface="+mn-lt"/>
              <a:cs typeface="SimSun"/>
            </a:endParaRPr>
          </a:p>
        </p:txBody>
      </p:sp>
      <p:pic>
        <p:nvPicPr>
          <p:cNvPr id="4098" name="Picture 2" descr="Image result for coriolis force on two link arm">
            <a:extLst>
              <a:ext uri="{FF2B5EF4-FFF2-40B4-BE49-F238E27FC236}">
                <a16:creationId xmlns:a16="http://schemas.microsoft.com/office/drawing/2014/main" id="{F6D6760D-AB62-455D-81C1-3C9BFC316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304" y="1519936"/>
            <a:ext cx="5377099" cy="3923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5F053444-A129-4DCF-8C10-D16BECDFE032}"/>
              </a:ext>
            </a:extLst>
          </p:cNvPr>
          <p:cNvGrpSpPr/>
          <p:nvPr/>
        </p:nvGrpSpPr>
        <p:grpSpPr>
          <a:xfrm>
            <a:off x="3381248" y="3525766"/>
            <a:ext cx="5421803" cy="369332"/>
            <a:chOff x="3381248" y="3525766"/>
            <a:chExt cx="5421803" cy="369332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B86194A0-D802-4591-9B22-BB6933606241}"/>
                </a:ext>
              </a:extLst>
            </p:cNvPr>
            <p:cNvCxnSpPr>
              <a:cxnSpLocks/>
              <a:endCxn id="5" idx="1"/>
            </p:cNvCxnSpPr>
            <p:nvPr/>
          </p:nvCxnSpPr>
          <p:spPr>
            <a:xfrm>
              <a:off x="3381248" y="3665728"/>
              <a:ext cx="2650155" cy="447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FC874C7-9ED3-46E4-87D5-264C8BC1B667}"/>
                </a:ext>
              </a:extLst>
            </p:cNvPr>
            <p:cNvSpPr txBox="1"/>
            <p:nvPr/>
          </p:nvSpPr>
          <p:spPr>
            <a:xfrm>
              <a:off x="6031403" y="3525766"/>
              <a:ext cx="27716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rgbClr val="FF0000"/>
                  </a:solidFill>
                </a:rPr>
                <a:t>Centripetal Force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9F25024-A81B-4147-84AA-F3D764410062}"/>
              </a:ext>
            </a:extLst>
          </p:cNvPr>
          <p:cNvGrpSpPr/>
          <p:nvPr/>
        </p:nvGrpSpPr>
        <p:grpSpPr>
          <a:xfrm>
            <a:off x="1315131" y="1923703"/>
            <a:ext cx="2771648" cy="1685129"/>
            <a:chOff x="1315131" y="1923703"/>
            <a:chExt cx="2771648" cy="1685129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4D9C0A1-3979-49D4-A62F-0B396C9DE647}"/>
                </a:ext>
              </a:extLst>
            </p:cNvPr>
            <p:cNvCxnSpPr/>
            <p:nvPr/>
          </p:nvCxnSpPr>
          <p:spPr>
            <a:xfrm flipH="1" flipV="1">
              <a:off x="2178304" y="2340864"/>
              <a:ext cx="1202944" cy="126796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4D397C4-2A4A-4ECD-B244-2034EC5886C6}"/>
                </a:ext>
              </a:extLst>
            </p:cNvPr>
            <p:cNvSpPr txBox="1"/>
            <p:nvPr/>
          </p:nvSpPr>
          <p:spPr>
            <a:xfrm>
              <a:off x="1315131" y="1923703"/>
              <a:ext cx="27716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rgbClr val="FF0000"/>
                  </a:solidFill>
                </a:rPr>
                <a:t>Coriolis Force</a:t>
              </a:r>
            </a:p>
          </p:txBody>
        </p:sp>
      </p:grpSp>
      <p:sp>
        <p:nvSpPr>
          <p:cNvPr id="53" name="object 4">
            <a:extLst>
              <a:ext uri="{FF2B5EF4-FFF2-40B4-BE49-F238E27FC236}">
                <a16:creationId xmlns:a16="http://schemas.microsoft.com/office/drawing/2014/main" id="{45923DCE-86BD-4602-9A45-86EF5885E77B}"/>
              </a:ext>
            </a:extLst>
          </p:cNvPr>
          <p:cNvSpPr txBox="1"/>
          <p:nvPr/>
        </p:nvSpPr>
        <p:spPr>
          <a:xfrm>
            <a:off x="414695" y="5583500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Centripetal Force is due to the effect on link 2 of being spun by link 1</a:t>
            </a:r>
          </a:p>
        </p:txBody>
      </p:sp>
      <p:sp>
        <p:nvSpPr>
          <p:cNvPr id="54" name="object 4">
            <a:extLst>
              <a:ext uri="{FF2B5EF4-FFF2-40B4-BE49-F238E27FC236}">
                <a16:creationId xmlns:a16="http://schemas.microsoft.com/office/drawing/2014/main" id="{82CFD4FE-B9C1-49E1-A997-F672AE95A957}"/>
              </a:ext>
            </a:extLst>
          </p:cNvPr>
          <p:cNvSpPr txBox="1"/>
          <p:nvPr/>
        </p:nvSpPr>
        <p:spPr>
          <a:xfrm>
            <a:off x="414694" y="5957367"/>
            <a:ext cx="823671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US" altLang="en-US" dirty="0"/>
              <a:t>Coriolis Force is due link 2 moving in the rotating reference frame of link 1</a:t>
            </a:r>
          </a:p>
        </p:txBody>
      </p:sp>
    </p:spTree>
    <p:extLst>
      <p:ext uri="{BB962C8B-B14F-4D97-AF65-F5344CB8AC3E}">
        <p14:creationId xmlns:p14="http://schemas.microsoft.com/office/powerpoint/2010/main" val="496813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3" grpId="0"/>
      <p:bldP spid="5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Multi Link Dynamics</a:t>
            </a:r>
            <a:endParaRPr lang="en-GB" sz="2400" dirty="0">
              <a:cs typeface="Arial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194393" y="605557"/>
            <a:ext cx="8677319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070">
              <a:lnSpc>
                <a:spcPct val="100000"/>
              </a:lnSpc>
            </a:pPr>
            <a:r>
              <a:rPr lang="en-GB" sz="2000" b="1" dirty="0">
                <a:latin typeface="+mn-lt"/>
                <a:cs typeface="Times New Roman"/>
              </a:rPr>
              <a:t>For a multi link manipulator we must use matrix transformations again like the ones you saw in the kinematic lectures.</a:t>
            </a:r>
            <a:endParaRPr sz="2000" dirty="0">
              <a:latin typeface="+mn-lt"/>
              <a:cs typeface="SimSun"/>
            </a:endParaRPr>
          </a:p>
        </p:txBody>
      </p:sp>
      <p:graphicFrame>
        <p:nvGraphicFramePr>
          <p:cNvPr id="13" name="Object 3">
            <a:extLst>
              <a:ext uri="{FF2B5EF4-FFF2-40B4-BE49-F238E27FC236}">
                <a16:creationId xmlns:a16="http://schemas.microsoft.com/office/drawing/2014/main" id="{E5FD41EC-B4BF-4786-A7CD-47E1367281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6602205"/>
              </p:ext>
            </p:extLst>
          </p:nvPr>
        </p:nvGraphicFramePr>
        <p:xfrm>
          <a:off x="1094804" y="1458913"/>
          <a:ext cx="6442075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63560" imgH="228600" progId="Equation.3">
                  <p:embed/>
                </p:oleObj>
              </mc:Choice>
              <mc:Fallback>
                <p:oleObj name="Equation" r:id="rId3" imgW="1663560" imgH="228600" progId="Equation.3">
                  <p:embed/>
                  <p:pic>
                    <p:nvPicPr>
                      <p:cNvPr id="38916" name="Object 3">
                        <a:extLst>
                          <a:ext uri="{FF2B5EF4-FFF2-40B4-BE49-F238E27FC236}">
                            <a16:creationId xmlns:a16="http://schemas.microsoft.com/office/drawing/2014/main" id="{F1770374-5B26-4759-99AB-E452F90F7E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4804" y="1458913"/>
                        <a:ext cx="6442075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2">
            <a:extLst>
              <a:ext uri="{FF2B5EF4-FFF2-40B4-BE49-F238E27FC236}">
                <a16:creationId xmlns:a16="http://schemas.microsoft.com/office/drawing/2014/main" id="{6BCA2D4B-C3CD-4B0B-BDC0-878E93E787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2667000"/>
          <a:ext cx="18288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95400" imgH="711200" progId="Equation.3">
                  <p:embed/>
                </p:oleObj>
              </mc:Choice>
              <mc:Fallback>
                <p:oleObj name="Equation" r:id="rId5" imgW="1295400" imgH="711200" progId="Equation.3">
                  <p:embed/>
                  <p:pic>
                    <p:nvPicPr>
                      <p:cNvPr id="38917" name="Object 12">
                        <a:extLst>
                          <a:ext uri="{FF2B5EF4-FFF2-40B4-BE49-F238E27FC236}">
                            <a16:creationId xmlns:a16="http://schemas.microsoft.com/office/drawing/2014/main" id="{81EDDE3D-6782-4899-B51A-0FA17B1279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667000"/>
                        <a:ext cx="18288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3">
            <a:extLst>
              <a:ext uri="{FF2B5EF4-FFF2-40B4-BE49-F238E27FC236}">
                <a16:creationId xmlns:a16="http://schemas.microsoft.com/office/drawing/2014/main" id="{1D22D27F-CE0E-4EBF-AA9D-C238BF5616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3733800"/>
          <a:ext cx="14478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63225" imgH="710891" progId="Equation.3">
                  <p:embed/>
                </p:oleObj>
              </mc:Choice>
              <mc:Fallback>
                <p:oleObj name="Equation" r:id="rId7" imgW="863225" imgH="710891" progId="Equation.3">
                  <p:embed/>
                  <p:pic>
                    <p:nvPicPr>
                      <p:cNvPr id="38918" name="Object 13">
                        <a:extLst>
                          <a:ext uri="{FF2B5EF4-FFF2-40B4-BE49-F238E27FC236}">
                            <a16:creationId xmlns:a16="http://schemas.microsoft.com/office/drawing/2014/main" id="{73921597-F43D-40FD-8E36-8546A1CC67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733800"/>
                        <a:ext cx="1447800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B156EF7D-4987-4EDC-BC51-C35124557E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5029200"/>
          <a:ext cx="1219200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87400" imgH="711200" progId="Equation.3">
                  <p:embed/>
                </p:oleObj>
              </mc:Choice>
              <mc:Fallback>
                <p:oleObj name="Equation" r:id="rId9" imgW="787400" imgH="711200" progId="Equation.3">
                  <p:embed/>
                  <p:pic>
                    <p:nvPicPr>
                      <p:cNvPr id="38920" name="Object 15">
                        <a:extLst>
                          <a:ext uri="{FF2B5EF4-FFF2-40B4-BE49-F238E27FC236}">
                            <a16:creationId xmlns:a16="http://schemas.microsoft.com/office/drawing/2014/main" id="{27BDFDB0-FF19-4C08-BFAC-39FDEEFB5F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029200"/>
                        <a:ext cx="1219200" cy="110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7">
            <a:extLst>
              <a:ext uri="{FF2B5EF4-FFF2-40B4-BE49-F238E27FC236}">
                <a16:creationId xmlns:a16="http://schemas.microsoft.com/office/drawing/2014/main" id="{27BA0326-AB0C-4A5D-93AE-EB493F184C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2779713"/>
            <a:ext cx="4419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dirty="0"/>
              <a:t>The Acceleration-related Inertia matrix term</a:t>
            </a:r>
          </a:p>
        </p:txBody>
      </p:sp>
      <p:sp>
        <p:nvSpPr>
          <p:cNvPr id="18" name="Text Box 18">
            <a:extLst>
              <a:ext uri="{FF2B5EF4-FFF2-40B4-BE49-F238E27FC236}">
                <a16:creationId xmlns:a16="http://schemas.microsoft.com/office/drawing/2014/main" id="{2CA95D7E-9128-4E11-9EB3-01F15DE84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4038600"/>
            <a:ext cx="441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dirty="0"/>
              <a:t>The Coriolis and Centrifugal terms</a:t>
            </a:r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83099358-53F4-476A-81B8-2EBB15C7E5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5486400"/>
            <a:ext cx="2362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dirty="0"/>
              <a:t>The Gravity terms</a:t>
            </a:r>
          </a:p>
        </p:txBody>
      </p:sp>
      <p:graphicFrame>
        <p:nvGraphicFramePr>
          <p:cNvPr id="20" name="Object 20">
            <a:extLst>
              <a:ext uri="{FF2B5EF4-FFF2-40B4-BE49-F238E27FC236}">
                <a16:creationId xmlns:a16="http://schemas.microsoft.com/office/drawing/2014/main" id="{CCEBCB46-71CA-4E3F-A8FC-44B68F108D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5029200"/>
          <a:ext cx="957263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33169" imgH="710891" progId="Equation.3">
                  <p:embed/>
                </p:oleObj>
              </mc:Choice>
              <mc:Fallback>
                <p:oleObj name="Equation" r:id="rId11" imgW="533169" imgH="710891" progId="Equation.3">
                  <p:embed/>
                  <p:pic>
                    <p:nvPicPr>
                      <p:cNvPr id="38924" name="Object 20">
                        <a:extLst>
                          <a:ext uri="{FF2B5EF4-FFF2-40B4-BE49-F238E27FC236}">
                            <a16:creationId xmlns:a16="http://schemas.microsoft.com/office/drawing/2014/main" id="{C07161E5-1814-44DA-9AF3-713D55465F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5029200"/>
                        <a:ext cx="957263" cy="1276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21">
            <a:extLst>
              <a:ext uri="{FF2B5EF4-FFF2-40B4-BE49-F238E27FC236}">
                <a16:creationId xmlns:a16="http://schemas.microsoft.com/office/drawing/2014/main" id="{A696D290-3574-4346-A13C-51CCD0CDE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5334000"/>
            <a:ext cx="2590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dirty="0"/>
              <a:t>Driving torque applied on each link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8BB4DED-845F-4CFE-B36D-82AE3E47C6BE}"/>
              </a:ext>
            </a:extLst>
          </p:cNvPr>
          <p:cNvGrpSpPr/>
          <p:nvPr/>
        </p:nvGrpSpPr>
        <p:grpSpPr>
          <a:xfrm>
            <a:off x="3486912" y="2093883"/>
            <a:ext cx="2441233" cy="547717"/>
            <a:chOff x="3486912" y="2093883"/>
            <a:chExt cx="2441233" cy="547717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599D66E-5E99-4D4B-BC2E-C2C22FCE0C6E}"/>
                </a:ext>
              </a:extLst>
            </p:cNvPr>
            <p:cNvSpPr txBox="1"/>
            <p:nvPr/>
          </p:nvSpPr>
          <p:spPr>
            <a:xfrm>
              <a:off x="3619500" y="2241490"/>
              <a:ext cx="230864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dirty="0"/>
                <a:t>Joint accelerations</a:t>
              </a: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72B7D8A4-673F-418F-B8A9-977EB761726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86912" y="2093883"/>
              <a:ext cx="251968" cy="29292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BD3525-C576-4064-8DF6-FB421884A372}"/>
              </a:ext>
            </a:extLst>
          </p:cNvPr>
          <p:cNvGrpSpPr/>
          <p:nvPr/>
        </p:nvGrpSpPr>
        <p:grpSpPr>
          <a:xfrm>
            <a:off x="2084832" y="1245658"/>
            <a:ext cx="6236654" cy="1141149"/>
            <a:chOff x="2084832" y="1245658"/>
            <a:chExt cx="6236654" cy="1141149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CAF8D4B-98BB-40E7-B303-1022E3174BD7}"/>
                </a:ext>
              </a:extLst>
            </p:cNvPr>
            <p:cNvCxnSpPr/>
            <p:nvPr/>
          </p:nvCxnSpPr>
          <p:spPr>
            <a:xfrm>
              <a:off x="2084832" y="1552448"/>
              <a:ext cx="3726688" cy="68904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CB8AC95-690E-406B-96CB-53144BFA544F}"/>
                </a:ext>
              </a:extLst>
            </p:cNvPr>
            <p:cNvCxnSpPr/>
            <p:nvPr/>
          </p:nvCxnSpPr>
          <p:spPr>
            <a:xfrm flipV="1">
              <a:off x="2084832" y="1458913"/>
              <a:ext cx="3600704" cy="92789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E221303-8770-42FE-AF8E-3249DBE66979}"/>
                </a:ext>
              </a:extLst>
            </p:cNvPr>
            <p:cNvSpPr txBox="1"/>
            <p:nvPr/>
          </p:nvSpPr>
          <p:spPr>
            <a:xfrm>
              <a:off x="5648960" y="1245658"/>
              <a:ext cx="26725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C00000"/>
                  </a:solidFill>
                </a:rPr>
                <a:t>Static form (gravity only)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8233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7" grpId="0"/>
      <p:bldP spid="18" grpId="0"/>
      <p:bldP spid="19" grpId="0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3">
            <a:extLst>
              <a:ext uri="{FF2B5EF4-FFF2-40B4-BE49-F238E27FC236}">
                <a16:creationId xmlns:a16="http://schemas.microsoft.com/office/drawing/2014/main" id="{32F09D34-D5F8-4E05-928A-36E5D3BEE6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50FD8E5-32A6-4A2C-AC3E-76A5408440F1}" type="slidenum">
              <a:rPr lang="en-US" altLang="en-US"/>
              <a:pPr/>
              <a:t>28</a:t>
            </a:fld>
            <a:endParaRPr lang="en-US" altLang="en-US" dirty="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E82C3603-F8BA-4229-A6BF-1865C694D8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9399" y="871981"/>
            <a:ext cx="8175801" cy="1476375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tx1"/>
                </a:solidFill>
              </a:rPr>
              <a:t>Puma 560</a:t>
            </a:r>
          </a:p>
        </p:txBody>
      </p:sp>
      <p:pic>
        <p:nvPicPr>
          <p:cNvPr id="44036" name="Picture 3" descr="\begin{figure}&#10;\begin{center}&#10;\epsfig {file=PICS/puma2.eps,width=10.5cm}\end{center}&#10;\end{figure}">
            <a:extLst>
              <a:ext uri="{FF2B5EF4-FFF2-40B4-BE49-F238E27FC236}">
                <a16:creationId xmlns:a16="http://schemas.microsoft.com/office/drawing/2014/main" id="{7653EC86-FF84-47E8-89BC-C7A7D77FA6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34999" y="1840802"/>
            <a:ext cx="6324600" cy="38623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7CE0057-7753-43C0-A3A5-4FB477958187}"/>
              </a:ext>
            </a:extLst>
          </p:cNvPr>
          <p:cNvSpPr/>
          <p:nvPr/>
        </p:nvSpPr>
        <p:spPr>
          <a:xfrm>
            <a:off x="457200" y="106926"/>
            <a:ext cx="5421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solidFill>
                  <a:srgbClr val="C60B2F"/>
                </a:solidFill>
                <a:cs typeface="Arial"/>
              </a:rPr>
              <a:t>Example of calculation required for a PUMA 560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21325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3">
            <a:extLst>
              <a:ext uri="{FF2B5EF4-FFF2-40B4-BE49-F238E27FC236}">
                <a16:creationId xmlns:a16="http://schemas.microsoft.com/office/drawing/2014/main" id="{32F09D34-D5F8-4E05-928A-36E5D3BEE6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16813" y="6149407"/>
            <a:ext cx="6177776" cy="365125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/>
              <a:t>T is transform matrix to relate radius r to base frame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CE0057-7753-43C0-A3A5-4FB477958187}"/>
              </a:ext>
            </a:extLst>
          </p:cNvPr>
          <p:cNvSpPr/>
          <p:nvPr/>
        </p:nvSpPr>
        <p:spPr>
          <a:xfrm>
            <a:off x="457200" y="106926"/>
            <a:ext cx="5421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solidFill>
                  <a:srgbClr val="C60B2F"/>
                </a:solidFill>
                <a:cs typeface="Arial"/>
              </a:rPr>
              <a:t>Example of calculation required for a PUMA 560</a:t>
            </a:r>
            <a:endParaRPr lang="en-GB" dirty="0"/>
          </a:p>
        </p:txBody>
      </p:sp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C884B597-AC68-4F80-A5B6-A91F1BF19292}"/>
              </a:ext>
            </a:extLst>
          </p:cNvPr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875434387"/>
              </p:ext>
            </p:extLst>
          </p:nvPr>
        </p:nvGraphicFramePr>
        <p:xfrm>
          <a:off x="1090295" y="2306862"/>
          <a:ext cx="6338887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49600" imgH="254000" progId="Equation.3">
                  <p:embed/>
                </p:oleObj>
              </mc:Choice>
              <mc:Fallback>
                <p:oleObj name="Equation" r:id="rId3" imgW="3149600" imgH="254000" progId="Equation.3">
                  <p:embed/>
                  <p:pic>
                    <p:nvPicPr>
                      <p:cNvPr id="48132" name="Object 5">
                        <a:extLst>
                          <a:ext uri="{FF2B5EF4-FFF2-40B4-BE49-F238E27FC236}">
                            <a16:creationId xmlns:a16="http://schemas.microsoft.com/office/drawing/2014/main" id="{477491EA-91C8-454B-B4E4-BD316DB168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0295" y="2306862"/>
                        <a:ext cx="6338887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7">
            <a:extLst>
              <a:ext uri="{FF2B5EF4-FFF2-40B4-BE49-F238E27FC236}">
                <a16:creationId xmlns:a16="http://schemas.microsoft.com/office/drawing/2014/main" id="{F38B9330-C178-4C8F-B8BA-8885168821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4606135"/>
              </p:ext>
            </p:extLst>
          </p:nvPr>
        </p:nvGraphicFramePr>
        <p:xfrm>
          <a:off x="1090295" y="2895032"/>
          <a:ext cx="5230813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90800" imgH="254000" progId="Equation.3">
                  <p:embed/>
                </p:oleObj>
              </mc:Choice>
              <mc:Fallback>
                <p:oleObj name="Equation" r:id="rId5" imgW="2590800" imgH="254000" progId="Equation.3">
                  <p:embed/>
                  <p:pic>
                    <p:nvPicPr>
                      <p:cNvPr id="48133" name="Object 7">
                        <a:extLst>
                          <a:ext uri="{FF2B5EF4-FFF2-40B4-BE49-F238E27FC236}">
                            <a16:creationId xmlns:a16="http://schemas.microsoft.com/office/drawing/2014/main" id="{16B0E3C0-CB9D-47FC-A5A6-F1F50D4332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0295" y="2895032"/>
                        <a:ext cx="5230813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9">
            <a:extLst>
              <a:ext uri="{FF2B5EF4-FFF2-40B4-BE49-F238E27FC236}">
                <a16:creationId xmlns:a16="http://schemas.microsoft.com/office/drawing/2014/main" id="{7F83DFBF-D157-4516-832F-FA735D1FB1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3537620"/>
              </p:ext>
            </p:extLst>
          </p:nvPr>
        </p:nvGraphicFramePr>
        <p:xfrm>
          <a:off x="1061720" y="3504632"/>
          <a:ext cx="3221038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00200" imgH="254000" progId="Equation.3">
                  <p:embed/>
                </p:oleObj>
              </mc:Choice>
              <mc:Fallback>
                <p:oleObj name="Equation" r:id="rId7" imgW="1600200" imgH="254000" progId="Equation.3">
                  <p:embed/>
                  <p:pic>
                    <p:nvPicPr>
                      <p:cNvPr id="48134" name="Object 9">
                        <a:extLst>
                          <a:ext uri="{FF2B5EF4-FFF2-40B4-BE49-F238E27FC236}">
                            <a16:creationId xmlns:a16="http://schemas.microsoft.com/office/drawing/2014/main" id="{EF1B86AE-8941-48BF-826A-9CF6742881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1720" y="3504632"/>
                        <a:ext cx="3221038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4">
            <a:extLst>
              <a:ext uri="{FF2B5EF4-FFF2-40B4-BE49-F238E27FC236}">
                <a16:creationId xmlns:a16="http://schemas.microsoft.com/office/drawing/2014/main" id="{42227F19-30C7-49F9-8CDF-29272FA26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" y="990032"/>
            <a:ext cx="381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eaLnBrk="1" hangingPunct="1">
              <a:spcBef>
                <a:spcPct val="50000"/>
              </a:spcBef>
            </a:pPr>
            <a:r>
              <a:rPr lang="en-US" altLang="en-US" sz="2400" dirty="0"/>
              <a:t>D, H, C terms </a:t>
            </a:r>
          </a:p>
        </p:txBody>
      </p:sp>
      <p:graphicFrame>
        <p:nvGraphicFramePr>
          <p:cNvPr id="14" name="Object 11">
            <a:extLst>
              <a:ext uri="{FF2B5EF4-FFF2-40B4-BE49-F238E27FC236}">
                <a16:creationId xmlns:a16="http://schemas.microsoft.com/office/drawing/2014/main" id="{95BCC2BB-82EB-4641-8671-879C904B86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9644418"/>
              </p:ext>
            </p:extLst>
          </p:nvPr>
        </p:nvGraphicFramePr>
        <p:xfrm>
          <a:off x="1063308" y="1294832"/>
          <a:ext cx="3375025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48728" imgH="444307" progId="Equation.3">
                  <p:embed/>
                </p:oleObj>
              </mc:Choice>
              <mc:Fallback>
                <p:oleObj name="Equation" r:id="rId9" imgW="1548728" imgH="444307" progId="Equation.3">
                  <p:embed/>
                  <p:pic>
                    <p:nvPicPr>
                      <p:cNvPr id="48136" name="Object 11">
                        <a:extLst>
                          <a:ext uri="{FF2B5EF4-FFF2-40B4-BE49-F238E27FC236}">
                            <a16:creationId xmlns:a16="http://schemas.microsoft.com/office/drawing/2014/main" id="{81315C12-391D-4763-9404-3915B1A74E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308" y="1294832"/>
                        <a:ext cx="3375025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ECF33C69-549F-4E45-904F-63AFE34A2C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9400266"/>
              </p:ext>
            </p:extLst>
          </p:nvPr>
        </p:nvGraphicFramePr>
        <p:xfrm>
          <a:off x="5379720" y="1523432"/>
          <a:ext cx="1919288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63225" imgH="203112" progId="Equation.3">
                  <p:embed/>
                </p:oleObj>
              </mc:Choice>
              <mc:Fallback>
                <p:oleObj name="Equation" r:id="rId11" imgW="863225" imgH="203112" progId="Equation.3">
                  <p:embed/>
                  <p:pic>
                    <p:nvPicPr>
                      <p:cNvPr id="48137" name="Object 14">
                        <a:extLst>
                          <a:ext uri="{FF2B5EF4-FFF2-40B4-BE49-F238E27FC236}">
                            <a16:creationId xmlns:a16="http://schemas.microsoft.com/office/drawing/2014/main" id="{2AC30E37-0CD2-4A89-9B3A-533BDC8E81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9720" y="1523432"/>
                        <a:ext cx="1919288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700BAFF5-7AB1-485F-8E81-73C264930B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5521320"/>
              </p:ext>
            </p:extLst>
          </p:nvPr>
        </p:nvGraphicFramePr>
        <p:xfrm>
          <a:off x="1074420" y="4114232"/>
          <a:ext cx="4557713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260600" imgH="254000" progId="Equation.3">
                  <p:embed/>
                </p:oleObj>
              </mc:Choice>
              <mc:Fallback>
                <p:oleObj name="Equation" r:id="rId13" imgW="2260600" imgH="254000" progId="Equation.3">
                  <p:embed/>
                  <p:pic>
                    <p:nvPicPr>
                      <p:cNvPr id="48138" name="Object 15">
                        <a:extLst>
                          <a:ext uri="{FF2B5EF4-FFF2-40B4-BE49-F238E27FC236}">
                            <a16:creationId xmlns:a16="http://schemas.microsoft.com/office/drawing/2014/main" id="{0CE1ED73-8692-4979-82F5-26ADC6BE23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4420" y="4114232"/>
                        <a:ext cx="4557713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2F8A9682-1346-4D26-9475-75FC44C813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0731412"/>
              </p:ext>
            </p:extLst>
          </p:nvPr>
        </p:nvGraphicFramePr>
        <p:xfrm>
          <a:off x="1061720" y="4723832"/>
          <a:ext cx="32766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625600" imgH="254000" progId="Equation.3">
                  <p:embed/>
                </p:oleObj>
              </mc:Choice>
              <mc:Fallback>
                <p:oleObj name="Equation" r:id="rId15" imgW="1625600" imgH="254000" progId="Equation.3">
                  <p:embed/>
                  <p:pic>
                    <p:nvPicPr>
                      <p:cNvPr id="48139" name="Object 16">
                        <a:extLst>
                          <a:ext uri="{FF2B5EF4-FFF2-40B4-BE49-F238E27FC236}">
                            <a16:creationId xmlns:a16="http://schemas.microsoft.com/office/drawing/2014/main" id="{003EF175-0FF3-472E-B4A2-573FD3DFC9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1720" y="4723832"/>
                        <a:ext cx="32766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F48DCED9-B29F-458E-9351-F3D8A2A03F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9226588"/>
              </p:ext>
            </p:extLst>
          </p:nvPr>
        </p:nvGraphicFramePr>
        <p:xfrm>
          <a:off x="1049020" y="5333432"/>
          <a:ext cx="253365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256755" imgH="253890" progId="Equation.3">
                  <p:embed/>
                </p:oleObj>
              </mc:Choice>
              <mc:Fallback>
                <p:oleObj name="Equation" r:id="rId17" imgW="1256755" imgH="253890" progId="Equation.3">
                  <p:embed/>
                  <p:pic>
                    <p:nvPicPr>
                      <p:cNvPr id="48140" name="Object 17">
                        <a:extLst>
                          <a:ext uri="{FF2B5EF4-FFF2-40B4-BE49-F238E27FC236}">
                            <a16:creationId xmlns:a16="http://schemas.microsoft.com/office/drawing/2014/main" id="{59EDBDBF-79ED-42CC-ABEA-B77D482905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9020" y="5333432"/>
                        <a:ext cx="253365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59299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CE0057-7753-43C0-A3A5-4FB477958187}"/>
              </a:ext>
            </a:extLst>
          </p:cNvPr>
          <p:cNvSpPr/>
          <p:nvPr/>
        </p:nvSpPr>
        <p:spPr>
          <a:xfrm>
            <a:off x="457200" y="106926"/>
            <a:ext cx="5421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solidFill>
                  <a:srgbClr val="C60B2F"/>
                </a:solidFill>
                <a:cs typeface="Arial"/>
              </a:rPr>
              <a:t>Example of calculation required for a PUMA 560</a:t>
            </a:r>
            <a:endParaRPr lang="en-GB" dirty="0"/>
          </a:p>
        </p:txBody>
      </p:sp>
      <p:graphicFrame>
        <p:nvGraphicFramePr>
          <p:cNvPr id="19" name="Object 3">
            <a:extLst>
              <a:ext uri="{FF2B5EF4-FFF2-40B4-BE49-F238E27FC236}">
                <a16:creationId xmlns:a16="http://schemas.microsoft.com/office/drawing/2014/main" id="{671B8A3A-5AC3-4B4F-B74B-5A65A3761F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886553"/>
              </p:ext>
            </p:extLst>
          </p:nvPr>
        </p:nvGraphicFramePr>
        <p:xfrm>
          <a:off x="522288" y="4038600"/>
          <a:ext cx="6804025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89300" imgH="254000" progId="Equation.3">
                  <p:embed/>
                </p:oleObj>
              </mc:Choice>
              <mc:Fallback>
                <p:oleObj name="Equation" r:id="rId3" imgW="3289300" imgH="254000" progId="Equation.3">
                  <p:embed/>
                  <p:pic>
                    <p:nvPicPr>
                      <p:cNvPr id="49156" name="Object 3">
                        <a:extLst>
                          <a:ext uri="{FF2B5EF4-FFF2-40B4-BE49-F238E27FC236}">
                            <a16:creationId xmlns:a16="http://schemas.microsoft.com/office/drawing/2014/main" id="{B813FC36-BB46-4440-972B-D0E6E8C386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288" y="4038600"/>
                        <a:ext cx="6804025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4">
            <a:extLst>
              <a:ext uri="{FF2B5EF4-FFF2-40B4-BE49-F238E27FC236}">
                <a16:creationId xmlns:a16="http://schemas.microsoft.com/office/drawing/2014/main" id="{5BD94AA8-E473-4E11-8ED4-8FCBC7243D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7702386"/>
              </p:ext>
            </p:extLst>
          </p:nvPr>
        </p:nvGraphicFramePr>
        <p:xfrm>
          <a:off x="3987800" y="1905000"/>
          <a:ext cx="334010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75673" imgH="444307" progId="Equation.3">
                  <p:embed/>
                </p:oleObj>
              </mc:Choice>
              <mc:Fallback>
                <p:oleObj name="Equation" r:id="rId5" imgW="1675673" imgH="444307" progId="Equation.3">
                  <p:embed/>
                  <p:pic>
                    <p:nvPicPr>
                      <p:cNvPr id="49157" name="Object 14">
                        <a:extLst>
                          <a:ext uri="{FF2B5EF4-FFF2-40B4-BE49-F238E27FC236}">
                            <a16:creationId xmlns:a16="http://schemas.microsoft.com/office/drawing/2014/main" id="{0F20DA94-63EF-48C5-8561-E1E9B8431F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7800" y="1905000"/>
                        <a:ext cx="3340100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0">
            <a:extLst>
              <a:ext uri="{FF2B5EF4-FFF2-40B4-BE49-F238E27FC236}">
                <a16:creationId xmlns:a16="http://schemas.microsoft.com/office/drawing/2014/main" id="{E1BD46B7-DB31-4E52-8F31-9982CBE6BE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8180547"/>
              </p:ext>
            </p:extLst>
          </p:nvPr>
        </p:nvGraphicFramePr>
        <p:xfrm>
          <a:off x="914400" y="1371600"/>
          <a:ext cx="1828800" cy="150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63225" imgH="710891" progId="Equation.3">
                  <p:embed/>
                </p:oleObj>
              </mc:Choice>
              <mc:Fallback>
                <p:oleObj name="Equation" r:id="rId7" imgW="863225" imgH="710891" progId="Equation.3">
                  <p:embed/>
                  <p:pic>
                    <p:nvPicPr>
                      <p:cNvPr id="49158" name="Object 10">
                        <a:extLst>
                          <a:ext uri="{FF2B5EF4-FFF2-40B4-BE49-F238E27FC236}">
                            <a16:creationId xmlns:a16="http://schemas.microsoft.com/office/drawing/2014/main" id="{9911464F-CF79-4AFF-B974-30B87D749D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371600"/>
                        <a:ext cx="1828800" cy="150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6">
            <a:extLst>
              <a:ext uri="{FF2B5EF4-FFF2-40B4-BE49-F238E27FC236}">
                <a16:creationId xmlns:a16="http://schemas.microsoft.com/office/drawing/2014/main" id="{1CC4717C-92B3-4DED-9FBA-BC0DB63D1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4400"/>
            <a:ext cx="381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eaLnBrk="1" hangingPunct="1">
              <a:spcBef>
                <a:spcPct val="50000"/>
              </a:spcBef>
            </a:pPr>
            <a:r>
              <a:rPr lang="en-US" altLang="en-US" sz="2400" dirty="0"/>
              <a:t>D, H, C terms </a:t>
            </a:r>
          </a:p>
        </p:txBody>
      </p:sp>
      <p:graphicFrame>
        <p:nvGraphicFramePr>
          <p:cNvPr id="23" name="Object 15">
            <a:extLst>
              <a:ext uri="{FF2B5EF4-FFF2-40B4-BE49-F238E27FC236}">
                <a16:creationId xmlns:a16="http://schemas.microsoft.com/office/drawing/2014/main" id="{9C105586-1030-40B2-9F5C-A066CEF5DA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9592587"/>
              </p:ext>
            </p:extLst>
          </p:nvPr>
        </p:nvGraphicFramePr>
        <p:xfrm>
          <a:off x="4038600" y="1143000"/>
          <a:ext cx="2349500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80588" imgH="431613" progId="Equation.3">
                  <p:embed/>
                </p:oleObj>
              </mc:Choice>
              <mc:Fallback>
                <p:oleObj name="Equation" r:id="rId9" imgW="1180588" imgH="431613" progId="Equation.3">
                  <p:embed/>
                  <p:pic>
                    <p:nvPicPr>
                      <p:cNvPr id="49160" name="Object 15">
                        <a:extLst>
                          <a:ext uri="{FF2B5EF4-FFF2-40B4-BE49-F238E27FC236}">
                            <a16:creationId xmlns:a16="http://schemas.microsoft.com/office/drawing/2014/main" id="{3025E4D8-6B82-4258-8BD8-F2886F47E0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1143000"/>
                        <a:ext cx="2349500" cy="85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7">
            <a:extLst>
              <a:ext uri="{FF2B5EF4-FFF2-40B4-BE49-F238E27FC236}">
                <a16:creationId xmlns:a16="http://schemas.microsoft.com/office/drawing/2014/main" id="{B21505A7-9088-4D28-859C-00988193BE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0335245"/>
              </p:ext>
            </p:extLst>
          </p:nvPr>
        </p:nvGraphicFramePr>
        <p:xfrm>
          <a:off x="495300" y="4495800"/>
          <a:ext cx="480695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324100" imgH="254000" progId="Equation.3">
                  <p:embed/>
                </p:oleObj>
              </mc:Choice>
              <mc:Fallback>
                <p:oleObj name="Equation" r:id="rId11" imgW="2324100" imgH="254000" progId="Equation.3">
                  <p:embed/>
                  <p:pic>
                    <p:nvPicPr>
                      <p:cNvPr id="49161" name="Object 17">
                        <a:extLst>
                          <a:ext uri="{FF2B5EF4-FFF2-40B4-BE49-F238E27FC236}">
                            <a16:creationId xmlns:a16="http://schemas.microsoft.com/office/drawing/2014/main" id="{674B177D-8639-4C33-87CC-574439191E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" y="4495800"/>
                        <a:ext cx="4806950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8">
            <a:extLst>
              <a:ext uri="{FF2B5EF4-FFF2-40B4-BE49-F238E27FC236}">
                <a16:creationId xmlns:a16="http://schemas.microsoft.com/office/drawing/2014/main" id="{C1FB4C45-14F5-40A4-A018-803E64AD2B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6627636"/>
              </p:ext>
            </p:extLst>
          </p:nvPr>
        </p:nvGraphicFramePr>
        <p:xfrm>
          <a:off x="5727700" y="5486400"/>
          <a:ext cx="2678113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295400" imgH="254000" progId="Equation.3">
                  <p:embed/>
                </p:oleObj>
              </mc:Choice>
              <mc:Fallback>
                <p:oleObj name="Equation" r:id="rId13" imgW="1295400" imgH="254000" progId="Equation.3">
                  <p:embed/>
                  <p:pic>
                    <p:nvPicPr>
                      <p:cNvPr id="49162" name="Object 18">
                        <a:extLst>
                          <a:ext uri="{FF2B5EF4-FFF2-40B4-BE49-F238E27FC236}">
                            <a16:creationId xmlns:a16="http://schemas.microsoft.com/office/drawing/2014/main" id="{43D795DC-010B-45D7-B1F8-577B3AF778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7700" y="5486400"/>
                        <a:ext cx="2678113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9">
            <a:extLst>
              <a:ext uri="{FF2B5EF4-FFF2-40B4-BE49-F238E27FC236}">
                <a16:creationId xmlns:a16="http://schemas.microsoft.com/office/drawing/2014/main" id="{153CC4C3-B190-42FC-8B2F-97C76504D9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7505387"/>
              </p:ext>
            </p:extLst>
          </p:nvPr>
        </p:nvGraphicFramePr>
        <p:xfrm>
          <a:off x="509588" y="4953000"/>
          <a:ext cx="4754562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298700" imgH="254000" progId="Equation.3">
                  <p:embed/>
                </p:oleObj>
              </mc:Choice>
              <mc:Fallback>
                <p:oleObj name="Equation" r:id="rId15" imgW="2298700" imgH="254000" progId="Equation.3">
                  <p:embed/>
                  <p:pic>
                    <p:nvPicPr>
                      <p:cNvPr id="49163" name="Object 19">
                        <a:extLst>
                          <a:ext uri="{FF2B5EF4-FFF2-40B4-BE49-F238E27FC236}">
                            <a16:creationId xmlns:a16="http://schemas.microsoft.com/office/drawing/2014/main" id="{EC7E7980-3183-4FDD-B0FE-A5981D9AE4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88" y="4953000"/>
                        <a:ext cx="4754562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0">
            <a:extLst>
              <a:ext uri="{FF2B5EF4-FFF2-40B4-BE49-F238E27FC236}">
                <a16:creationId xmlns:a16="http://schemas.microsoft.com/office/drawing/2014/main" id="{DEAF1F47-47B2-4706-BCFE-0D331176F3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6275835"/>
              </p:ext>
            </p:extLst>
          </p:nvPr>
        </p:nvGraphicFramePr>
        <p:xfrm>
          <a:off x="495300" y="5486400"/>
          <a:ext cx="4808538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324100" imgH="254000" progId="Equation.3">
                  <p:embed/>
                </p:oleObj>
              </mc:Choice>
              <mc:Fallback>
                <p:oleObj name="Equation" r:id="rId17" imgW="2324100" imgH="254000" progId="Equation.3">
                  <p:embed/>
                  <p:pic>
                    <p:nvPicPr>
                      <p:cNvPr id="49164" name="Object 20">
                        <a:extLst>
                          <a:ext uri="{FF2B5EF4-FFF2-40B4-BE49-F238E27FC236}">
                            <a16:creationId xmlns:a16="http://schemas.microsoft.com/office/drawing/2014/main" id="{BEB20EC5-A357-4623-8333-7E0B312013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" y="5486400"/>
                        <a:ext cx="4808538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2">
            <a:extLst>
              <a:ext uri="{FF2B5EF4-FFF2-40B4-BE49-F238E27FC236}">
                <a16:creationId xmlns:a16="http://schemas.microsoft.com/office/drawing/2014/main" id="{04A037E2-5C60-4042-89CD-CAEF46F7FE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448200"/>
              </p:ext>
            </p:extLst>
          </p:nvPr>
        </p:nvGraphicFramePr>
        <p:xfrm>
          <a:off x="457200" y="2819400"/>
          <a:ext cx="6119813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959100" imgH="508000" progId="Equation.3">
                  <p:embed/>
                </p:oleObj>
              </mc:Choice>
              <mc:Fallback>
                <p:oleObj name="Equation" r:id="rId19" imgW="2959100" imgH="508000" progId="Equation.3">
                  <p:embed/>
                  <p:pic>
                    <p:nvPicPr>
                      <p:cNvPr id="49166" name="Object 22">
                        <a:extLst>
                          <a:ext uri="{FF2B5EF4-FFF2-40B4-BE49-F238E27FC236}">
                            <a16:creationId xmlns:a16="http://schemas.microsoft.com/office/drawing/2014/main" id="{8E1AB80A-49B3-40B5-BEDA-8480F21C65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819400"/>
                        <a:ext cx="6119813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3">
            <a:extLst>
              <a:ext uri="{FF2B5EF4-FFF2-40B4-BE49-F238E27FC236}">
                <a16:creationId xmlns:a16="http://schemas.microsoft.com/office/drawing/2014/main" id="{1286D0FD-FF09-470A-9C51-EFDC07E7B8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2646875"/>
              </p:ext>
            </p:extLst>
          </p:nvPr>
        </p:nvGraphicFramePr>
        <p:xfrm>
          <a:off x="5727700" y="4876800"/>
          <a:ext cx="2678113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295400" imgH="254000" progId="Equation.3">
                  <p:embed/>
                </p:oleObj>
              </mc:Choice>
              <mc:Fallback>
                <p:oleObj name="Equation" r:id="rId21" imgW="1295400" imgH="254000" progId="Equation.3">
                  <p:embed/>
                  <p:pic>
                    <p:nvPicPr>
                      <p:cNvPr id="49167" name="Object 23">
                        <a:extLst>
                          <a:ext uri="{FF2B5EF4-FFF2-40B4-BE49-F238E27FC236}">
                            <a16:creationId xmlns:a16="http://schemas.microsoft.com/office/drawing/2014/main" id="{3014048B-E2F5-4B0D-9EE9-C7F5BBF0F3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7700" y="4876800"/>
                        <a:ext cx="2678113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8375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CE0057-7753-43C0-A3A5-4FB477958187}"/>
              </a:ext>
            </a:extLst>
          </p:cNvPr>
          <p:cNvSpPr/>
          <p:nvPr/>
        </p:nvSpPr>
        <p:spPr>
          <a:xfrm>
            <a:off x="457200" y="106926"/>
            <a:ext cx="5421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solidFill>
                  <a:srgbClr val="C60B2F"/>
                </a:solidFill>
                <a:cs typeface="Arial"/>
              </a:rPr>
              <a:t>Example of calculation required for a PUMA 560</a:t>
            </a:r>
            <a:endParaRPr lang="en-GB" dirty="0"/>
          </a:p>
        </p:txBody>
      </p:sp>
      <p:graphicFrame>
        <p:nvGraphicFramePr>
          <p:cNvPr id="15" name="Object 20">
            <a:extLst>
              <a:ext uri="{FF2B5EF4-FFF2-40B4-BE49-F238E27FC236}">
                <a16:creationId xmlns:a16="http://schemas.microsoft.com/office/drawing/2014/main" id="{C35776F0-84C7-485B-AC47-92CC71E75ADB}"/>
              </a:ext>
            </a:extLst>
          </p:cNvPr>
          <p:cNvGraphicFramePr>
            <a:graphicFrameLocks noGrp="1" noChangeAspect="1"/>
          </p:cNvGraphicFramePr>
          <p:nvPr>
            <p:ph sz="quarter" idx="1"/>
          </p:nvPr>
        </p:nvGraphicFramePr>
        <p:xfrm>
          <a:off x="3171952" y="3124200"/>
          <a:ext cx="1865313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27100" imgH="241300" progId="Equation.3">
                  <p:embed/>
                </p:oleObj>
              </mc:Choice>
              <mc:Fallback>
                <p:oleObj name="Equation" r:id="rId3" imgW="927100" imgH="241300" progId="Equation.3">
                  <p:embed/>
                  <p:pic>
                    <p:nvPicPr>
                      <p:cNvPr id="15" name="Object 20">
                        <a:extLst>
                          <a:ext uri="{FF2B5EF4-FFF2-40B4-BE49-F238E27FC236}">
                            <a16:creationId xmlns:a16="http://schemas.microsoft.com/office/drawing/2014/main" id="{C35776F0-84C7-485B-AC47-92CC71E75A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1952" y="3124200"/>
                        <a:ext cx="1865313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9">
            <a:extLst>
              <a:ext uri="{FF2B5EF4-FFF2-40B4-BE49-F238E27FC236}">
                <a16:creationId xmlns:a16="http://schemas.microsoft.com/office/drawing/2014/main" id="{FDC1C4E8-EC06-40B0-90EC-C627A638FF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52752" y="1219200"/>
          <a:ext cx="5867400" cy="158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30500" imgH="736600" progId="Equation.3">
                  <p:embed/>
                </p:oleObj>
              </mc:Choice>
              <mc:Fallback>
                <p:oleObj name="Equation" r:id="rId5" imgW="2730500" imgH="736600" progId="Equation.3">
                  <p:embed/>
                  <p:pic>
                    <p:nvPicPr>
                      <p:cNvPr id="16" name="Object 19">
                        <a:extLst>
                          <a:ext uri="{FF2B5EF4-FFF2-40B4-BE49-F238E27FC236}">
                            <a16:creationId xmlns:a16="http://schemas.microsoft.com/office/drawing/2014/main" id="{FDC1C4E8-EC06-40B0-90EC-C627A638FF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2752" y="1219200"/>
                        <a:ext cx="5867400" cy="1582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2">
            <a:extLst>
              <a:ext uri="{FF2B5EF4-FFF2-40B4-BE49-F238E27FC236}">
                <a16:creationId xmlns:a16="http://schemas.microsoft.com/office/drawing/2014/main" id="{6FF56E6E-CFB0-405C-8235-11CCA628DA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15152" y="3124200"/>
          <a:ext cx="18415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14400" imgH="241300" progId="Equation.3">
                  <p:embed/>
                </p:oleObj>
              </mc:Choice>
              <mc:Fallback>
                <p:oleObj name="Equation" r:id="rId7" imgW="914400" imgH="241300" progId="Equation.3">
                  <p:embed/>
                  <p:pic>
                    <p:nvPicPr>
                      <p:cNvPr id="17" name="Object 22">
                        <a:extLst>
                          <a:ext uri="{FF2B5EF4-FFF2-40B4-BE49-F238E27FC236}">
                            <a16:creationId xmlns:a16="http://schemas.microsoft.com/office/drawing/2014/main" id="{6FF56E6E-CFB0-405C-8235-11CCA628DA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5152" y="3124200"/>
                        <a:ext cx="184150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6">
            <a:extLst>
              <a:ext uri="{FF2B5EF4-FFF2-40B4-BE49-F238E27FC236}">
                <a16:creationId xmlns:a16="http://schemas.microsoft.com/office/drawing/2014/main" id="{27FD0E53-5F9E-4B65-9045-881939D984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752" y="836613"/>
            <a:ext cx="381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eaLnBrk="1" hangingPunct="1">
              <a:spcBef>
                <a:spcPct val="50000"/>
              </a:spcBef>
            </a:pPr>
            <a:r>
              <a:rPr lang="en-US" altLang="en-US" sz="2400" dirty="0"/>
              <a:t>D, H, C terms </a:t>
            </a:r>
          </a:p>
        </p:txBody>
      </p:sp>
      <p:graphicFrame>
        <p:nvGraphicFramePr>
          <p:cNvPr id="30" name="Object 10">
            <a:extLst>
              <a:ext uri="{FF2B5EF4-FFF2-40B4-BE49-F238E27FC236}">
                <a16:creationId xmlns:a16="http://schemas.microsoft.com/office/drawing/2014/main" id="{7829E460-9F36-47FA-9A7F-62491574F1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1152" y="3124200"/>
          <a:ext cx="186372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01309" imgH="241195" progId="Equation.3">
                  <p:embed/>
                </p:oleObj>
              </mc:Choice>
              <mc:Fallback>
                <p:oleObj name="Equation" r:id="rId9" imgW="901309" imgH="241195" progId="Equation.3">
                  <p:embed/>
                  <p:pic>
                    <p:nvPicPr>
                      <p:cNvPr id="30" name="Object 10">
                        <a:extLst>
                          <a:ext uri="{FF2B5EF4-FFF2-40B4-BE49-F238E27FC236}">
                            <a16:creationId xmlns:a16="http://schemas.microsoft.com/office/drawing/2014/main" id="{7829E460-9F36-47FA-9A7F-62491574F1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152" y="3124200"/>
                        <a:ext cx="186372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24">
            <a:extLst>
              <a:ext uri="{FF2B5EF4-FFF2-40B4-BE49-F238E27FC236}">
                <a16:creationId xmlns:a16="http://schemas.microsoft.com/office/drawing/2014/main" id="{84B511FD-A181-4D06-8CB8-A40215528B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48152" y="4572000"/>
          <a:ext cx="219392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91726" imgH="241195" progId="Equation.3">
                  <p:embed/>
                </p:oleObj>
              </mc:Choice>
              <mc:Fallback>
                <p:oleObj name="Equation" r:id="rId11" imgW="1091726" imgH="241195" progId="Equation.3">
                  <p:embed/>
                  <p:pic>
                    <p:nvPicPr>
                      <p:cNvPr id="31" name="Object 24">
                        <a:extLst>
                          <a:ext uri="{FF2B5EF4-FFF2-40B4-BE49-F238E27FC236}">
                            <a16:creationId xmlns:a16="http://schemas.microsoft.com/office/drawing/2014/main" id="{84B511FD-A181-4D06-8CB8-A40215528B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8152" y="4572000"/>
                        <a:ext cx="2193925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26">
            <a:extLst>
              <a:ext uri="{FF2B5EF4-FFF2-40B4-BE49-F238E27FC236}">
                <a16:creationId xmlns:a16="http://schemas.microsoft.com/office/drawing/2014/main" id="{C1EA74F6-095F-41D8-B920-41674612CE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72152" y="3810000"/>
          <a:ext cx="287020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435100" imgH="241300" progId="Equation.3">
                  <p:embed/>
                </p:oleObj>
              </mc:Choice>
              <mc:Fallback>
                <p:oleObj name="Equation" r:id="rId13" imgW="1435100" imgH="241300" progId="Equation.3">
                  <p:embed/>
                  <p:pic>
                    <p:nvPicPr>
                      <p:cNvPr id="32" name="Object 26">
                        <a:extLst>
                          <a:ext uri="{FF2B5EF4-FFF2-40B4-BE49-F238E27FC236}">
                            <a16:creationId xmlns:a16="http://schemas.microsoft.com/office/drawing/2014/main" id="{C1EA74F6-095F-41D8-B920-41674612CE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2152" y="3810000"/>
                        <a:ext cx="2870200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27">
            <a:extLst>
              <a:ext uri="{FF2B5EF4-FFF2-40B4-BE49-F238E27FC236}">
                <a16:creationId xmlns:a16="http://schemas.microsoft.com/office/drawing/2014/main" id="{14CB0E5C-F9B7-4080-B53C-D875996DC2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4952" y="4648200"/>
          <a:ext cx="208438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040948" imgH="241195" progId="Equation.3">
                  <p:embed/>
                </p:oleObj>
              </mc:Choice>
              <mc:Fallback>
                <p:oleObj name="Equation" r:id="rId15" imgW="1040948" imgH="241195" progId="Equation.3">
                  <p:embed/>
                  <p:pic>
                    <p:nvPicPr>
                      <p:cNvPr id="33" name="Object 27">
                        <a:extLst>
                          <a:ext uri="{FF2B5EF4-FFF2-40B4-BE49-F238E27FC236}">
                            <a16:creationId xmlns:a16="http://schemas.microsoft.com/office/drawing/2014/main" id="{14CB0E5C-F9B7-4080-B53C-D875996DC2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952" y="4648200"/>
                        <a:ext cx="2084388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8">
            <a:extLst>
              <a:ext uri="{FF2B5EF4-FFF2-40B4-BE49-F238E27FC236}">
                <a16:creationId xmlns:a16="http://schemas.microsoft.com/office/drawing/2014/main" id="{C88CE3A5-F5B4-4F2B-8A90-80E8B40D06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4952" y="3886200"/>
          <a:ext cx="289718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447800" imgH="241300" progId="Equation.3">
                  <p:embed/>
                </p:oleObj>
              </mc:Choice>
              <mc:Fallback>
                <p:oleObj name="Equation" r:id="rId17" imgW="1447800" imgH="241300" progId="Equation.3">
                  <p:embed/>
                  <p:pic>
                    <p:nvPicPr>
                      <p:cNvPr id="34" name="Object 28">
                        <a:extLst>
                          <a:ext uri="{FF2B5EF4-FFF2-40B4-BE49-F238E27FC236}">
                            <a16:creationId xmlns:a16="http://schemas.microsoft.com/office/drawing/2014/main" id="{C88CE3A5-F5B4-4F2B-8A90-80E8B40D06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952" y="3886200"/>
                        <a:ext cx="2897188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9">
            <a:extLst>
              <a:ext uri="{FF2B5EF4-FFF2-40B4-BE49-F238E27FC236}">
                <a16:creationId xmlns:a16="http://schemas.microsoft.com/office/drawing/2014/main" id="{080D36E7-B7E2-4EB6-A5D7-2610653A6A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15152" y="4572000"/>
          <a:ext cx="219392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091726" imgH="241195" progId="Equation.3">
                  <p:embed/>
                </p:oleObj>
              </mc:Choice>
              <mc:Fallback>
                <p:oleObj name="Equation" r:id="rId19" imgW="1091726" imgH="241195" progId="Equation.3">
                  <p:embed/>
                  <p:pic>
                    <p:nvPicPr>
                      <p:cNvPr id="35" name="Object 29">
                        <a:extLst>
                          <a:ext uri="{FF2B5EF4-FFF2-40B4-BE49-F238E27FC236}">
                            <a16:creationId xmlns:a16="http://schemas.microsoft.com/office/drawing/2014/main" id="{080D36E7-B7E2-4EB6-A5D7-2610653A6A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5152" y="4572000"/>
                        <a:ext cx="2193925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0">
            <a:extLst>
              <a:ext uri="{FF2B5EF4-FFF2-40B4-BE49-F238E27FC236}">
                <a16:creationId xmlns:a16="http://schemas.microsoft.com/office/drawing/2014/main" id="{C7E60292-C088-419E-80E3-DA20A7E2CE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4952" y="5334000"/>
          <a:ext cx="3208338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600200" imgH="241300" progId="Equation.3">
                  <p:embed/>
                </p:oleObj>
              </mc:Choice>
              <mc:Fallback>
                <p:oleObj name="Equation" r:id="rId21" imgW="1600200" imgH="241300" progId="Equation.3">
                  <p:embed/>
                  <p:pic>
                    <p:nvPicPr>
                      <p:cNvPr id="36" name="Object 30">
                        <a:extLst>
                          <a:ext uri="{FF2B5EF4-FFF2-40B4-BE49-F238E27FC236}">
                            <a16:creationId xmlns:a16="http://schemas.microsoft.com/office/drawing/2014/main" id="{C7E60292-C088-419E-80E3-DA20A7E2CE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952" y="5334000"/>
                        <a:ext cx="3208338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1">
            <a:extLst>
              <a:ext uri="{FF2B5EF4-FFF2-40B4-BE49-F238E27FC236}">
                <a16:creationId xmlns:a16="http://schemas.microsoft.com/office/drawing/2014/main" id="{01FE56F9-3BF5-41E5-8A31-7A0AC8E428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62552" y="5334000"/>
          <a:ext cx="205740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028254" imgH="241195" progId="Equation.3">
                  <p:embed/>
                </p:oleObj>
              </mc:Choice>
              <mc:Fallback>
                <p:oleObj name="Equation" r:id="rId23" imgW="1028254" imgH="241195" progId="Equation.3">
                  <p:embed/>
                  <p:pic>
                    <p:nvPicPr>
                      <p:cNvPr id="37" name="Object 31">
                        <a:extLst>
                          <a:ext uri="{FF2B5EF4-FFF2-40B4-BE49-F238E27FC236}">
                            <a16:creationId xmlns:a16="http://schemas.microsoft.com/office/drawing/2014/main" id="{01FE56F9-3BF5-41E5-8A31-7A0AC8E428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2552" y="5334000"/>
                        <a:ext cx="2057400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32">
            <a:extLst>
              <a:ext uri="{FF2B5EF4-FFF2-40B4-BE49-F238E27FC236}">
                <a16:creationId xmlns:a16="http://schemas.microsoft.com/office/drawing/2014/main" id="{193E4967-C0E5-42D8-A432-DC189B42BE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00952" y="5334000"/>
          <a:ext cx="211137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054100" imgH="241300" progId="Equation.3">
                  <p:embed/>
                </p:oleObj>
              </mc:Choice>
              <mc:Fallback>
                <p:oleObj name="Equation" r:id="rId25" imgW="1054100" imgH="241300" progId="Equation.3">
                  <p:embed/>
                  <p:pic>
                    <p:nvPicPr>
                      <p:cNvPr id="38" name="Object 32">
                        <a:extLst>
                          <a:ext uri="{FF2B5EF4-FFF2-40B4-BE49-F238E27FC236}">
                            <a16:creationId xmlns:a16="http://schemas.microsoft.com/office/drawing/2014/main" id="{193E4967-C0E5-42D8-A432-DC189B42BE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952" y="5334000"/>
                        <a:ext cx="2111375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181524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CE0057-7753-43C0-A3A5-4FB477958187}"/>
              </a:ext>
            </a:extLst>
          </p:cNvPr>
          <p:cNvSpPr/>
          <p:nvPr/>
        </p:nvSpPr>
        <p:spPr>
          <a:xfrm>
            <a:off x="457200" y="106926"/>
            <a:ext cx="5421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solidFill>
                  <a:srgbClr val="C60B2F"/>
                </a:solidFill>
                <a:cs typeface="Arial"/>
              </a:rPr>
              <a:t>Example of calculation required for a PUMA 560</a:t>
            </a:r>
            <a:endParaRPr lang="en-GB" dirty="0"/>
          </a:p>
        </p:txBody>
      </p:sp>
      <p:graphicFrame>
        <p:nvGraphicFramePr>
          <p:cNvPr id="19" name="Object 16">
            <a:extLst>
              <a:ext uri="{FF2B5EF4-FFF2-40B4-BE49-F238E27FC236}">
                <a16:creationId xmlns:a16="http://schemas.microsoft.com/office/drawing/2014/main" id="{D429CAAD-CC8E-484A-B603-E916669157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1905000"/>
          <a:ext cx="2743200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80588" imgH="444307" progId="Equation.3">
                  <p:embed/>
                </p:oleObj>
              </mc:Choice>
              <mc:Fallback>
                <p:oleObj name="Equation" r:id="rId3" imgW="1180588" imgH="444307" progId="Equation.3">
                  <p:embed/>
                  <p:pic>
                    <p:nvPicPr>
                      <p:cNvPr id="51204" name="Object 16">
                        <a:extLst>
                          <a:ext uri="{FF2B5EF4-FFF2-40B4-BE49-F238E27FC236}">
                            <a16:creationId xmlns:a16="http://schemas.microsoft.com/office/drawing/2014/main" id="{D2DAAC45-2DA8-4318-835A-D014092A2C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905000"/>
                        <a:ext cx="2743200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7">
            <a:extLst>
              <a:ext uri="{FF2B5EF4-FFF2-40B4-BE49-F238E27FC236}">
                <a16:creationId xmlns:a16="http://schemas.microsoft.com/office/drawing/2014/main" id="{C65D98B2-C6E4-4C2D-8C89-740F3E73EF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3048000"/>
          <a:ext cx="489902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38400" imgH="241300" progId="Equation.3">
                  <p:embed/>
                </p:oleObj>
              </mc:Choice>
              <mc:Fallback>
                <p:oleObj name="Equation" r:id="rId5" imgW="2438400" imgH="241300" progId="Equation.3">
                  <p:embed/>
                  <p:pic>
                    <p:nvPicPr>
                      <p:cNvPr id="51205" name="Object 17">
                        <a:extLst>
                          <a:ext uri="{FF2B5EF4-FFF2-40B4-BE49-F238E27FC236}">
                            <a16:creationId xmlns:a16="http://schemas.microsoft.com/office/drawing/2014/main" id="{0D278028-E8F2-4E50-A680-EFDD2CD77B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048000"/>
                        <a:ext cx="4899025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9">
            <a:extLst>
              <a:ext uri="{FF2B5EF4-FFF2-40B4-BE49-F238E27FC236}">
                <a16:creationId xmlns:a16="http://schemas.microsoft.com/office/drawing/2014/main" id="{2E63BEAD-B2A8-4534-9A77-98E07302BB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4038600"/>
          <a:ext cx="35941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78000" imgH="241300" progId="Equation.3">
                  <p:embed/>
                </p:oleObj>
              </mc:Choice>
              <mc:Fallback>
                <p:oleObj name="Equation" r:id="rId7" imgW="1778000" imgH="241300" progId="Equation.3">
                  <p:embed/>
                  <p:pic>
                    <p:nvPicPr>
                      <p:cNvPr id="51206" name="Object 19">
                        <a:extLst>
                          <a:ext uri="{FF2B5EF4-FFF2-40B4-BE49-F238E27FC236}">
                            <a16:creationId xmlns:a16="http://schemas.microsoft.com/office/drawing/2014/main" id="{B6776874-50E8-4988-8CAC-2D8B97892B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038600"/>
                        <a:ext cx="359410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6">
            <a:extLst>
              <a:ext uri="{FF2B5EF4-FFF2-40B4-BE49-F238E27FC236}">
                <a16:creationId xmlns:a16="http://schemas.microsoft.com/office/drawing/2014/main" id="{A79FD4A7-DB07-4042-AF7C-C2BAF64798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95400"/>
            <a:ext cx="381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eaLnBrk="1" hangingPunct="1">
              <a:spcBef>
                <a:spcPct val="50000"/>
              </a:spcBef>
            </a:pPr>
            <a:r>
              <a:rPr lang="en-US" altLang="en-US" sz="2400" dirty="0"/>
              <a:t>D, H, C terms </a:t>
            </a:r>
          </a:p>
        </p:txBody>
      </p:sp>
      <p:graphicFrame>
        <p:nvGraphicFramePr>
          <p:cNvPr id="23" name="Object 21">
            <a:extLst>
              <a:ext uri="{FF2B5EF4-FFF2-40B4-BE49-F238E27FC236}">
                <a16:creationId xmlns:a16="http://schemas.microsoft.com/office/drawing/2014/main" id="{F11A7799-3DBF-494F-A35F-4D84260A8D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4953000"/>
          <a:ext cx="206533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28254" imgH="241195" progId="Equation.3">
                  <p:embed/>
                </p:oleObj>
              </mc:Choice>
              <mc:Fallback>
                <p:oleObj name="Equation" r:id="rId9" imgW="1028254" imgH="241195" progId="Equation.3">
                  <p:embed/>
                  <p:pic>
                    <p:nvPicPr>
                      <p:cNvPr id="51208" name="Object 21">
                        <a:extLst>
                          <a:ext uri="{FF2B5EF4-FFF2-40B4-BE49-F238E27FC236}">
                            <a16:creationId xmlns:a16="http://schemas.microsoft.com/office/drawing/2014/main" id="{33A28C81-7D24-49A1-9DC7-5E382B28B1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953000"/>
                        <a:ext cx="2065338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11608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lvl="1" eaLnBrk="1" hangingPunct="1"/>
            <a:r>
              <a:rPr lang="en-US" altLang="en-US" sz="2000" dirty="0"/>
              <a:t>Reality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BC225645-2395-4399-A3EF-9424D592831F}"/>
              </a:ext>
            </a:extLst>
          </p:cNvPr>
          <p:cNvSpPr txBox="1"/>
          <p:nvPr/>
        </p:nvSpPr>
        <p:spPr>
          <a:xfrm>
            <a:off x="485509" y="563474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altLang="en-US" sz="2000" spc="-90" dirty="0">
                <a:latin typeface="+mn-lt"/>
                <a:cs typeface="Times New Roman"/>
              </a:rPr>
              <a:t>Even the matrix derived dynamics still requires accurate description of the moment of inertia for the given link</a:t>
            </a:r>
            <a:endParaRPr lang="en-US" altLang="en-US" sz="2000" dirty="0">
              <a:latin typeface="+mn-lt"/>
            </a:endParaRPr>
          </a:p>
        </p:txBody>
      </p:sp>
      <p:sp>
        <p:nvSpPr>
          <p:cNvPr id="28" name="Rectangle 23">
            <a:extLst>
              <a:ext uri="{FF2B5EF4-FFF2-40B4-BE49-F238E27FC236}">
                <a16:creationId xmlns:a16="http://schemas.microsoft.com/office/drawing/2014/main" id="{5748D514-8D3B-4504-B05B-9AF37AE26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2" y="-68516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dirty="0"/>
          </a:p>
        </p:txBody>
      </p:sp>
      <p:sp>
        <p:nvSpPr>
          <p:cNvPr id="30" name="Rectangle 31">
            <a:extLst>
              <a:ext uri="{FF2B5EF4-FFF2-40B4-BE49-F238E27FC236}">
                <a16:creationId xmlns:a16="http://schemas.microsoft.com/office/drawing/2014/main" id="{0E081405-DB04-4C8E-A2AE-FF4D02AC6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37" y="-22796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dirty="0"/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F3FADCED-395E-4659-856B-6BE409E75D83}"/>
              </a:ext>
            </a:extLst>
          </p:cNvPr>
          <p:cNvSpPr txBox="1"/>
          <p:nvPr/>
        </p:nvSpPr>
        <p:spPr>
          <a:xfrm>
            <a:off x="485509" y="1423010"/>
            <a:ext cx="823671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eaLnBrk="1" hangingPunct="1"/>
            <a:r>
              <a:rPr lang="en-GB" altLang="en-US" sz="2000" spc="-90" dirty="0">
                <a:latin typeface="+mn-lt"/>
                <a:cs typeface="Times New Roman"/>
              </a:rPr>
              <a:t>Most robot part are tested empirically to determine their characteristic first in order to simplify that application of a dynamic model</a:t>
            </a:r>
            <a:endParaRPr lang="en-US" alt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35204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tiny&#10;\[&#10;{\rm COM} =\bar{x} =  \frac{1}{m} \int_V \rho(x) x dV&#10;\]&#10;\end{document}&#10;"/>
  <p:tag name="EXTERNALNAME" val="Edittex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426"/>
  <p:tag name="BOXFONT" val="10"/>
  <p:tag name="BOXWRAP" val="False"/>
  <p:tag name="WORKAROUNDTRANSPARENCYBUG" val="False"/>
  <p:tag name="BITMAPFORMAT" val="bmpmono"/>
  <p:tag name="DEBUGINTERACTIVE" val="True"/>
  <p:tag name="ORIGWIDTH" val="184"/>
  <p:tag name="PICTUREFILESIZE" val="25580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tiny&#10;\[&#10;m = \int_{V_{\cal B}} \rho(x) dV&#10;\]&#10;\end{document}&#10;"/>
  <p:tag name="EXTERNALNAME" val="Edittex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426"/>
  <p:tag name="BOXFONT" val="10"/>
  <p:tag name="BOXWRAP" val="False"/>
  <p:tag name="WORKAROUNDTRANSPARENCYBUG" val="False"/>
  <p:tag name="BITMAPFORMAT" val="bmpmono"/>
  <p:tag name="DEBUGINTERACTIVE" val="True"/>
  <p:tag name="ORIGWIDTH" val="107"/>
  <p:tag name="PICTUREFILESIZE" val="15305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hlA}[3] {~^{#1}_{#2}{\!#3}}&#10;\begin{document}&#10;\tiny&#10;$$&#10;I = \int \left[\begin{array}{ccc}&#10;y^2 + z^2 &amp;  - xy &amp;-xz \\&#10;-yx &amp;    z^2 + x^2 &amp; -yz \\&#10;&#10;-zx &amp; -zy  &amp; x^2 + y^2 \end{array}\right] dm&#10;$$&#10;&#10;\end{document}&#10;"/>
  <p:tag name="EXTERNALNAME" val="Edittex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96"/>
  <p:tag name="BOXFONT" val="10"/>
  <p:tag name="BOXWRAP" val="False"/>
  <p:tag name="WORKAROUNDTRANSPARENCYBUG" val="False"/>
  <p:tag name="BITMAPFORMAT" val="bmpmono"/>
  <p:tag name="DEBUGINTERACTIVE" val="True"/>
  <p:tag name="ORIGWIDTH" val="286"/>
  <p:tag name="PICTUREFILESIZE" val="51619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hlA}[3] {~^{#1}_{#2}{\!#3}}&#10;\begin{document}&#10;\tiny&#10;$$&#10;=  \left[\begin{array}{ccc}&#10;I_{xx} &amp;  -I_{xy} &amp;-I_{xz} \\&#10;-I_{yx} &amp;    I_{yy} &amp; -I_{yz} \\&#10;&#10;-I_{zx} &amp; -I_{zy}  &amp; I_{zz} \end{array}\right]&#10;$$&#10;&#10;\end{document}&#10;"/>
  <p:tag name="EXTERNALNAME" val="Edittex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411"/>
  <p:tag name="BOXFONT" val="10"/>
  <p:tag name="BOXWRAP" val="False"/>
  <p:tag name="WORKAROUNDTRANSPARENCYBUG" val="False"/>
  <p:tag name="BITMAPFORMAT" val="bmpmono"/>
  <p:tag name="DEBUGINTERACTIVE" val="True"/>
  <p:tag name="ORIGWIDTH" val="168"/>
  <p:tag name="PICTUREFILESIZE" val="25209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hAl}[3] {~^{#1}{\!#2}_{#3}}&#10;\newcommand{\abA}[3]{~^{#1}_{#2}{\!#3}}&#10;\newcommand{\hA}[2] {~^{#1}{\!#2}}&#10;\begin{document}&#10;\tiny&#10;\[&#10;F(t)=\frac{dP}{dt}(t)&#10;\]&#10;\end{document}&#10;"/>
  <p:tag name="EXTERNALNAME" val="Edittex"/>
  <p:tag name="BLEND" val="False"/>
  <p:tag name="TRANSPARENT" val="False"/>
  <p:tag name="BITMAPFORMAT" val="bmpmono"/>
  <p:tag name="DEBUGINTERACTIVE" val="True"/>
  <p:tag name="ORIGWIDTH" val="9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hAl}[3] {~^{#1}{\!#2}_{#3}}&#10;\newcommand{\abA}[3]{~^{#1}_{#2}{\!#3}}&#10;\newcommand{\hA}[2] {~^{#1}{\!#2}}&#10;\begin{document}&#10;\tiny&#10;\[&#10;M_o(t)=\frac{dH_o}{dt}(t)&#10;\]&#10;\end{document}&#10;"/>
  <p:tag name="EXTERNALNAME" val="Edittex"/>
  <p:tag name="BLEND" val="False"/>
  <p:tag name="TRANSPARENT" val="False"/>
  <p:tag name="BITMAPFORMAT" val="bmpmono"/>
  <p:tag name="DEBUGINTERACTIVE" val="True"/>
  <p:tag name="ORIGWIDTH" val="104.875"/>
</p:tagLst>
</file>

<file path=ppt/theme/theme1.xml><?xml version="1.0" encoding="utf-8"?>
<a:theme xmlns:a="http://schemas.openxmlformats.org/drawingml/2006/main" name="UoS template_no_logo_white">
  <a:themeElements>
    <a:clrScheme name="UoS01">
      <a:dk1>
        <a:sysClr val="windowText" lastClr="000000"/>
      </a:dk1>
      <a:lt1>
        <a:sysClr val="window" lastClr="FFFFFF"/>
      </a:lt1>
      <a:dk2>
        <a:srgbClr val="C60C30"/>
      </a:dk2>
      <a:lt2>
        <a:srgbClr val="FFFFFF"/>
      </a:lt2>
      <a:accent1>
        <a:srgbClr val="C60C30"/>
      </a:accent1>
      <a:accent2>
        <a:srgbClr val="009AA6"/>
      </a:accent2>
      <a:accent3>
        <a:srgbClr val="920075"/>
      </a:accent3>
      <a:accent4>
        <a:srgbClr val="BED600"/>
      </a:accent4>
      <a:accent5>
        <a:srgbClr val="E37222"/>
      </a:accent5>
      <a:accent6>
        <a:srgbClr val="782327"/>
      </a:accent6>
      <a:hlink>
        <a:srgbClr val="002060"/>
      </a:hlink>
      <a:folHlink>
        <a:srgbClr val="C2BDB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UoS template_no_logo_white</Template>
  <TotalTime>4602</TotalTime>
  <Words>2693</Words>
  <Application>Microsoft Office PowerPoint</Application>
  <PresentationFormat>On-screen Show (4:3)</PresentationFormat>
  <Paragraphs>412</Paragraphs>
  <Slides>33</Slides>
  <Notes>33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6" baseType="lpstr">
      <vt:lpstr>Malgun Gothic</vt:lpstr>
      <vt:lpstr>Arial</vt:lpstr>
      <vt:lpstr>Arial Bold</vt:lpstr>
      <vt:lpstr>Calibri</vt:lpstr>
      <vt:lpstr>Century</vt:lpstr>
      <vt:lpstr>Lucida Sans Unicode</vt:lpstr>
      <vt:lpstr>Symbol</vt:lpstr>
      <vt:lpstr>Tahoma</vt:lpstr>
      <vt:lpstr>Times New Roman</vt:lpstr>
      <vt:lpstr>Verdana</vt:lpstr>
      <vt:lpstr>Wingdings</vt:lpstr>
      <vt:lpstr>UoS template_no_logo_white</vt:lpstr>
      <vt:lpstr>Equation</vt:lpstr>
      <vt:lpstr>BEng (Hons) Control and Automation</vt:lpstr>
      <vt:lpstr>Lecture Content:      Robot Manipulator Dynamics</vt:lpstr>
      <vt:lpstr>Dynamics</vt:lpstr>
      <vt:lpstr>Robot Joints</vt:lpstr>
      <vt:lpstr>Equations of Linear Motion</vt:lpstr>
      <vt:lpstr>Consideration of Forces</vt:lpstr>
      <vt:lpstr>Typical Dynamics Problem</vt:lpstr>
      <vt:lpstr>Typical Dynamics Problem</vt:lpstr>
      <vt:lpstr>Typical Dynamics Problem</vt:lpstr>
      <vt:lpstr>Equations of Angular Motion</vt:lpstr>
      <vt:lpstr>Moment of Inertia</vt:lpstr>
      <vt:lpstr>Consideration of Torques</vt:lpstr>
      <vt:lpstr>Similar Dynamics Problem</vt:lpstr>
      <vt:lpstr>Similar Dynamics Problem</vt:lpstr>
      <vt:lpstr>Similar Dynamics Problem</vt:lpstr>
      <vt:lpstr>More Complex Inertia</vt:lpstr>
      <vt:lpstr>More Complex Inertia</vt:lpstr>
      <vt:lpstr>More Complex Inertia</vt:lpstr>
      <vt:lpstr>Countering Gravity</vt:lpstr>
      <vt:lpstr>Example</vt:lpstr>
      <vt:lpstr>Example</vt:lpstr>
      <vt:lpstr>Example</vt:lpstr>
      <vt:lpstr>Example</vt:lpstr>
      <vt:lpstr>General Approach</vt:lpstr>
      <vt:lpstr>Accounting for Gravity Using Lagrange</vt:lpstr>
      <vt:lpstr>Other Forces</vt:lpstr>
      <vt:lpstr>Multi Link Dynamics</vt:lpstr>
      <vt:lpstr>Puma 560</vt:lpstr>
      <vt:lpstr>PowerPoint Presentation</vt:lpstr>
      <vt:lpstr>PowerPoint Presentation</vt:lpstr>
      <vt:lpstr>PowerPoint Presentation</vt:lpstr>
      <vt:lpstr>PowerPoint Presentation</vt:lpstr>
      <vt:lpstr>Reality</vt:lpstr>
    </vt:vector>
  </TitlesOfParts>
  <Company>University of Salford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Heading to go here heading to go here</dc:title>
  <dc:creator>Chambers Denis</dc:creator>
  <cp:lastModifiedBy>Saber Mahboubi Heydarabad</cp:lastModifiedBy>
  <cp:revision>382</cp:revision>
  <cp:lastPrinted>2018-11-13T09:28:07Z</cp:lastPrinted>
  <dcterms:created xsi:type="dcterms:W3CDTF">2011-12-09T09:26:53Z</dcterms:created>
  <dcterms:modified xsi:type="dcterms:W3CDTF">2023-08-27T14:33:16Z</dcterms:modified>
</cp:coreProperties>
</file>