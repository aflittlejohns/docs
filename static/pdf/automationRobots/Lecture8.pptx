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300" r:id="rId2"/>
    <p:sldId id="301" r:id="rId3"/>
    <p:sldId id="273" r:id="rId4"/>
    <p:sldId id="357" r:id="rId5"/>
    <p:sldId id="394" r:id="rId6"/>
    <p:sldId id="359" r:id="rId7"/>
    <p:sldId id="370" r:id="rId8"/>
    <p:sldId id="361" r:id="rId9"/>
    <p:sldId id="362" r:id="rId10"/>
    <p:sldId id="363" r:id="rId11"/>
    <p:sldId id="364" r:id="rId12"/>
    <p:sldId id="365" r:id="rId13"/>
    <p:sldId id="366" r:id="rId14"/>
    <p:sldId id="367" r:id="rId15"/>
    <p:sldId id="369" r:id="rId16"/>
    <p:sldId id="360" r:id="rId17"/>
    <p:sldId id="368" r:id="rId18"/>
    <p:sldId id="371" r:id="rId19"/>
    <p:sldId id="372" r:id="rId20"/>
    <p:sldId id="373" r:id="rId21"/>
    <p:sldId id="374" r:id="rId22"/>
    <p:sldId id="375" r:id="rId23"/>
    <p:sldId id="376" r:id="rId24"/>
    <p:sldId id="377" r:id="rId25"/>
    <p:sldId id="381" r:id="rId26"/>
    <p:sldId id="378" r:id="rId27"/>
    <p:sldId id="379" r:id="rId28"/>
    <p:sldId id="380" r:id="rId29"/>
    <p:sldId id="383" r:id="rId30"/>
    <p:sldId id="384" r:id="rId31"/>
    <p:sldId id="385" r:id="rId32"/>
    <p:sldId id="386" r:id="rId33"/>
    <p:sldId id="387" r:id="rId34"/>
    <p:sldId id="388" r:id="rId35"/>
    <p:sldId id="392" r:id="rId36"/>
    <p:sldId id="390" r:id="rId37"/>
    <p:sldId id="389" r:id="rId38"/>
    <p:sldId id="393" r:id="rId39"/>
    <p:sldId id="391" r:id="rId40"/>
  </p:sldIdLst>
  <p:sldSz cx="9144000" cy="6858000" type="screen4x3"/>
  <p:notesSz cx="6797675" cy="9926638"/>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60C3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6" autoAdjust="0"/>
    <p:restoredTop sz="94302" autoAdjust="0"/>
  </p:normalViewPr>
  <p:slideViewPr>
    <p:cSldViewPr snapToGrid="0" snapToObjects="1">
      <p:cViewPr varScale="1">
        <p:scale>
          <a:sx n="84" d="100"/>
          <a:sy n="84" d="100"/>
        </p:scale>
        <p:origin x="1430" y="6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139" d="100"/>
          <a:sy n="139" d="100"/>
        </p:scale>
        <p:origin x="6130" y="11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100" y="61913"/>
            <a:ext cx="5699125" cy="665162"/>
          </a:xfrm>
          <a:prstGeom prst="rect">
            <a:avLst/>
          </a:prstGeom>
        </p:spPr>
        <p:txBody>
          <a:bodyPr vert="horz" lIns="91440" tIns="45720" rIns="91440" bIns="45720" rtlCol="0"/>
          <a:lstStyle>
            <a:lvl1pPr algn="l" eaLnBrk="1" hangingPunct="1">
              <a:defRPr sz="1100">
                <a:latin typeface="Arial" charset="0"/>
                <a:cs typeface="Arial" charset="0"/>
              </a:defRPr>
            </a:lvl1pPr>
          </a:lstStyle>
          <a:p>
            <a:pPr>
              <a:defRPr/>
            </a:pPr>
            <a:endParaRPr lang="en-GB" dirty="0"/>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dirty="0"/>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endParaRPr lang="en-GB" altLang="en-US" dirty="0"/>
          </a:p>
        </p:txBody>
      </p:sp>
    </p:spTree>
    <p:extLst>
      <p:ext uri="{BB962C8B-B14F-4D97-AF65-F5344CB8AC3E}">
        <p14:creationId xmlns:p14="http://schemas.microsoft.com/office/powerpoint/2010/main" val="21338124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dirty="0"/>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CBDF0CDD-250B-44FA-B365-4CE5BD183BFF}" type="datetimeFigureOut">
              <a:rPr lang="en-GB"/>
              <a:pPr>
                <a:defRPr/>
              </a:pPr>
              <a:t>27/08/2023</a:t>
            </a:fld>
            <a:endParaRPr lang="en-GB"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dirty="0"/>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F8B4681-E8FC-4223-855F-F6D020695078}" type="slidenum">
              <a:rPr lang="en-GB" altLang="en-US"/>
              <a:pPr>
                <a:defRPr/>
              </a:pPr>
              <a:t>‹#›</a:t>
            </a:fld>
            <a:endParaRPr lang="en-GB" altLang="en-US" dirty="0"/>
          </a:p>
        </p:txBody>
      </p:sp>
    </p:spTree>
    <p:extLst>
      <p:ext uri="{BB962C8B-B14F-4D97-AF65-F5344CB8AC3E}">
        <p14:creationId xmlns:p14="http://schemas.microsoft.com/office/powerpoint/2010/main" val="2765648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C7BFCB-54E2-4FAD-ABE5-6D07B5A6197A}" type="slidenum">
              <a:rPr lang="en-GB" altLang="en-US" smtClean="0">
                <a:latin typeface="Arial" panose="020B0604020202020204" pitchFamily="34" charset="0"/>
                <a:cs typeface="Arial" panose="020B0604020202020204" pitchFamily="34" charset="0"/>
              </a:rPr>
              <a:pPr>
                <a:spcBef>
                  <a:spcPct val="0"/>
                </a:spcBef>
              </a:pPr>
              <a:t>1</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C04992B-7A2F-4E49-836D-152A541CA74E}" type="slidenum">
              <a:rPr lang="en-GB" altLang="en-US" smtClean="0">
                <a:latin typeface="Arial" panose="020B0604020202020204" pitchFamily="34" charset="0"/>
                <a:cs typeface="Arial" panose="020B0604020202020204" pitchFamily="34" charset="0"/>
              </a:rPr>
              <a:pPr>
                <a:spcBef>
                  <a:spcPct val="0"/>
                </a:spcBef>
              </a:pPr>
              <a:t>2</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4</a:t>
            </a:fld>
            <a:endParaRPr lang="en-GB"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404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2484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740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2809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8949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10</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4201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11</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1239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8980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13</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6469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43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8926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4273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694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2044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19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5890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20</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2838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21</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56423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0416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23</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9601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2602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3536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35939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0178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79884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29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66821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30</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607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31</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01524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32</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01436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33</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30722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34</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62917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35</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27512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36</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87018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37</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8834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38</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4089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44DC95-C5F5-4BF2-BDDB-C9377C2018B3}" type="slidenum">
              <a:rPr lang="en-GB" altLang="en-US" smtClean="0">
                <a:latin typeface="Arial" panose="020B0604020202020204" pitchFamily="34" charset="0"/>
                <a:cs typeface="Arial" panose="020B0604020202020204" pitchFamily="34" charset="0"/>
              </a:rPr>
              <a:pPr>
                <a:spcBef>
                  <a:spcPct val="0"/>
                </a:spcBef>
              </a:pPr>
              <a:t>39</a:t>
            </a:fld>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79741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MASTER_Salford logo_RGB.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7538" y="261938"/>
            <a:ext cx="2024062"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19150" y="2130425"/>
            <a:ext cx="7772400" cy="1470025"/>
          </a:xfrm>
          <a:prstGeom prst="rect">
            <a:avLst/>
          </a:prstGeom>
        </p:spPr>
        <p:txBody>
          <a:bodyPr/>
          <a:lstStyle>
            <a:lvl1pPr>
              <a:defRPr sz="4400"/>
            </a:lvl1pPr>
          </a:lstStyle>
          <a:p>
            <a:r>
              <a:rPr lang="en-US"/>
              <a:t>Click to edit Master title style</a:t>
            </a:r>
            <a:endParaRPr lang="en-US" dirty="0"/>
          </a:p>
        </p:txBody>
      </p:sp>
      <p:sp>
        <p:nvSpPr>
          <p:cNvPr id="3" name="Subtitle 2"/>
          <p:cNvSpPr>
            <a:spLocks noGrp="1"/>
          </p:cNvSpPr>
          <p:nvPr>
            <p:ph type="subTitle" idx="1"/>
          </p:nvPr>
        </p:nvSpPr>
        <p:spPr>
          <a:xfrm>
            <a:off x="823912" y="3600450"/>
            <a:ext cx="4129088" cy="2047875"/>
          </a:xfrm>
          <a:prstGeom prst="rect">
            <a:avLst/>
          </a:prstGeom>
        </p:spPr>
        <p:txBody>
          <a:bodyPr/>
          <a:lstStyle>
            <a:lvl1pPr marL="0" indent="0" algn="l">
              <a:buNone/>
              <a:defRPr sz="3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5040F1CA-107E-4C02-9350-2638B13676DD}" type="datetime1">
              <a:rPr lang="en-US"/>
              <a:pPr>
                <a:defRPr/>
              </a:pPr>
              <a:t>8/27/2023</a:t>
            </a:fld>
            <a:endParaRPr lang="en-US" dirty="0"/>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10AA4DB-3605-4FA3-B073-F6157C791C9B}" type="slidenum">
              <a:rPr lang="en-US" altLang="en-US"/>
              <a:pPr>
                <a:defRPr/>
              </a:pPr>
              <a:t>‹#›</a:t>
            </a:fld>
            <a:endParaRPr lang="en-US" altLang="en-US" dirty="0"/>
          </a:p>
        </p:txBody>
      </p:sp>
    </p:spTree>
    <p:extLst>
      <p:ext uri="{BB962C8B-B14F-4D97-AF65-F5344CB8AC3E}">
        <p14:creationId xmlns:p14="http://schemas.microsoft.com/office/powerpoint/2010/main" val="3696884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0998" y="2905124"/>
            <a:ext cx="8175801" cy="3221040"/>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260EB70C-1D28-4D0E-9EBF-F8A612BE2157}" type="datetime1">
              <a:rPr lang="en-US"/>
              <a:pPr>
                <a:defRPr/>
              </a:pPr>
              <a:t>8/27/2023</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06146ED-8A61-444D-BED3-FE896BEB6B42}" type="slidenum">
              <a:rPr lang="en-US" altLang="en-US"/>
              <a:pPr>
                <a:defRPr/>
              </a:pPr>
              <a:t>‹#›</a:t>
            </a:fld>
            <a:endParaRPr lang="en-US" altLang="en-US" dirty="0"/>
          </a:p>
        </p:txBody>
      </p:sp>
    </p:spTree>
    <p:extLst>
      <p:ext uri="{BB962C8B-B14F-4D97-AF65-F5344CB8AC3E}">
        <p14:creationId xmlns:p14="http://schemas.microsoft.com/office/powerpoint/2010/main" val="319619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5" descr="MASTER_Salford logo_RGB.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7538" y="261938"/>
            <a:ext cx="2024062"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A6A77813-D615-4EF5-8121-05F040F7EA32}" type="datetime1">
              <a:rPr lang="en-US"/>
              <a:pPr>
                <a:defRPr/>
              </a:pPr>
              <a:t>8/27/2023</a:t>
            </a:fld>
            <a:endParaRPr lang="en-US" dirty="0"/>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B63B96-E220-44D6-A3BE-F55E54885672}" type="slidenum">
              <a:rPr lang="en-US" altLang="en-US"/>
              <a:pPr>
                <a:defRPr/>
              </a:pPr>
              <a:t>‹#›</a:t>
            </a:fld>
            <a:endParaRPr lang="en-US" altLang="en-US" dirty="0"/>
          </a:p>
        </p:txBody>
      </p:sp>
    </p:spTree>
    <p:extLst>
      <p:ext uri="{BB962C8B-B14F-4D97-AF65-F5344CB8AC3E}">
        <p14:creationId xmlns:p14="http://schemas.microsoft.com/office/powerpoint/2010/main" val="330321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10998" y="2905125"/>
            <a:ext cx="3984801" cy="3221038"/>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62500" y="2905125"/>
            <a:ext cx="3924300" cy="3221038"/>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CC8ADA1B-B27B-44DF-94FD-5F80705E82A6}" type="datetime1">
              <a:rPr lang="en-US"/>
              <a:pPr>
                <a:defRPr/>
              </a:pPr>
              <a:t>8/27/2023</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297BDDE-412F-465E-9C0E-4A7A756F4291}" type="slidenum">
              <a:rPr lang="en-US" altLang="en-US"/>
              <a:pPr>
                <a:defRPr/>
              </a:pPr>
              <a:t>‹#›</a:t>
            </a:fld>
            <a:endParaRPr lang="en-US" altLang="en-US" dirty="0"/>
          </a:p>
        </p:txBody>
      </p:sp>
    </p:spTree>
    <p:extLst>
      <p:ext uri="{BB962C8B-B14F-4D97-AF65-F5344CB8AC3E}">
        <p14:creationId xmlns:p14="http://schemas.microsoft.com/office/powerpoint/2010/main" val="128377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10998" y="2911475"/>
            <a:ext cx="3986389" cy="7937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0998" y="3705225"/>
            <a:ext cx="3986390" cy="2420937"/>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2911475"/>
            <a:ext cx="4041775" cy="782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705225"/>
            <a:ext cx="4041775" cy="2420938"/>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E1F0045E-A52B-400C-BA7C-0AB7F1517D1E}" type="datetime1">
              <a:rPr lang="en-US"/>
              <a:pPr>
                <a:defRPr/>
              </a:pPr>
              <a:t>8/27/2023</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9493AE6-02A4-4579-B6A8-67567F8C0CE2}" type="slidenum">
              <a:rPr lang="en-US" altLang="en-US"/>
              <a:pPr>
                <a:defRPr/>
              </a:pPr>
              <a:t>‹#›</a:t>
            </a:fld>
            <a:endParaRPr lang="en-US" altLang="en-US" dirty="0"/>
          </a:p>
        </p:txBody>
      </p:sp>
    </p:spTree>
    <p:extLst>
      <p:ext uri="{BB962C8B-B14F-4D97-AF65-F5344CB8AC3E}">
        <p14:creationId xmlns:p14="http://schemas.microsoft.com/office/powerpoint/2010/main" val="131612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_quote">
    <p:spTree>
      <p:nvGrpSpPr>
        <p:cNvPr id="1" name=""/>
        <p:cNvGrpSpPr/>
        <p:nvPr/>
      </p:nvGrpSpPr>
      <p:grpSpPr>
        <a:xfrm>
          <a:off x="0" y="0"/>
          <a:ext cx="0" cy="0"/>
          <a:chOff x="0" y="0"/>
          <a:chExt cx="0" cy="0"/>
        </a:xfrm>
      </p:grpSpPr>
      <p:sp>
        <p:nvSpPr>
          <p:cNvPr id="10" name="Text Placeholder 3"/>
          <p:cNvSpPr>
            <a:spLocks noGrp="1"/>
          </p:cNvSpPr>
          <p:nvPr>
            <p:ph type="body" sz="half" idx="2"/>
          </p:nvPr>
        </p:nvSpPr>
        <p:spPr>
          <a:xfrm>
            <a:off x="510998" y="2905125"/>
            <a:ext cx="8175801" cy="1009650"/>
          </a:xfrm>
          <a:prstGeom prst="rect">
            <a:avLst/>
          </a:prstGeo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Content Placeholder 3"/>
          <p:cNvSpPr>
            <a:spLocks noGrp="1"/>
          </p:cNvSpPr>
          <p:nvPr>
            <p:ph sz="half" idx="13"/>
          </p:nvPr>
        </p:nvSpPr>
        <p:spPr>
          <a:xfrm>
            <a:off x="510998" y="4533900"/>
            <a:ext cx="8175802" cy="1592262"/>
          </a:xfrm>
          <a:prstGeom prst="rect">
            <a:avLst/>
          </a:prstGeom>
        </p:spPr>
        <p:txBody>
          <a:bodyPr/>
          <a:lstStyle>
            <a:lvl1pPr>
              <a:buClr>
                <a:srgbClr val="C60C30"/>
              </a:buClr>
              <a:buFont typeface="Arial" pitchFamily="34" charset="0"/>
              <a:buChar char="•"/>
              <a:defRPr sz="2400"/>
            </a:lvl1pPr>
            <a:lvl2pPr>
              <a:buClr>
                <a:srgbClr val="C60C30"/>
              </a:buClr>
              <a:defRPr sz="2000"/>
            </a:lvl2pPr>
            <a:lvl3pPr>
              <a:buClr>
                <a:srgbClr val="C60C30"/>
              </a:buClr>
              <a:defRPr sz="1800"/>
            </a:lvl3pPr>
            <a:lvl4pPr>
              <a:buClr>
                <a:srgbClr val="C60C30"/>
              </a:buClr>
              <a:defRPr sz="1600"/>
            </a:lvl4pPr>
            <a:lvl5pPr>
              <a:buClr>
                <a:srgbClr val="C60C30"/>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
          <p:cNvSpPr>
            <a:spLocks noGrp="1"/>
          </p:cNvSpPr>
          <p:nvPr>
            <p:ph type="body" sz="half" idx="14"/>
          </p:nvPr>
        </p:nvSpPr>
        <p:spPr>
          <a:xfrm>
            <a:off x="510998" y="4095750"/>
            <a:ext cx="8175802" cy="438150"/>
          </a:xfrm>
          <a:prstGeom prst="rect">
            <a:avLst/>
          </a:prstGeom>
        </p:spPr>
        <p:txBody>
          <a:bodyPr/>
          <a:lstStyle>
            <a:lvl1pPr marL="0" indent="0">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6" name="Date Placeholder 3"/>
          <p:cNvSpPr>
            <a:spLocks noGrp="1"/>
          </p:cNvSpPr>
          <p:nvPr>
            <p:ph type="dt" sz="half" idx="15"/>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B4A5F766-4D62-4C36-9E71-1230FDE576CE}" type="datetime1">
              <a:rPr lang="en-US"/>
              <a:pPr>
                <a:defRPr/>
              </a:pPr>
              <a:t>8/27/2023</a:t>
            </a:fld>
            <a:endParaRPr lang="en-US" dirty="0"/>
          </a:p>
        </p:txBody>
      </p:sp>
      <p:sp>
        <p:nvSpPr>
          <p:cNvPr id="7" name="Footer Placeholder 4"/>
          <p:cNvSpPr>
            <a:spLocks noGrp="1"/>
          </p:cNvSpPr>
          <p:nvPr>
            <p:ph type="ftr" sz="quarter" idx="16"/>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8" name="Slide Number Placeholder 5"/>
          <p:cNvSpPr>
            <a:spLocks noGrp="1"/>
          </p:cNvSpPr>
          <p:nvPr>
            <p:ph type="sldNum" sz="quarter" idx="17"/>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F6791AC-4FD0-45C4-BE8D-A0D20F345B37}" type="slidenum">
              <a:rPr lang="en-US" altLang="en-US"/>
              <a:pPr>
                <a:defRPr/>
              </a:pPr>
              <a:t>‹#›</a:t>
            </a:fld>
            <a:endParaRPr lang="en-US" altLang="en-US" dirty="0"/>
          </a:p>
        </p:txBody>
      </p:sp>
    </p:spTree>
    <p:extLst>
      <p:ext uri="{BB962C8B-B14F-4D97-AF65-F5344CB8AC3E}">
        <p14:creationId xmlns:p14="http://schemas.microsoft.com/office/powerpoint/2010/main" val="3984149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510999" y="1428749"/>
            <a:ext cx="8175801" cy="1476375"/>
          </a:xfrm>
          <a:prstGeom prst="rect">
            <a:avLst/>
          </a:prstGeom>
        </p:spPr>
        <p:txBody>
          <a:bodyPr/>
          <a:lstStyle>
            <a:lvl1pPr>
              <a:defRPr sz="4400"/>
            </a:lvl1pPr>
          </a:lstStyle>
          <a:p>
            <a:r>
              <a:rPr lang="en-US"/>
              <a:t>Click to edit Master title style</a:t>
            </a:r>
            <a:endParaRPr lang="en-US" dirty="0"/>
          </a:p>
        </p:txBody>
      </p:sp>
      <p:sp>
        <p:nvSpPr>
          <p:cNvPr id="3" name="Date Placeholder 2"/>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1E88F20-1AAB-4FD3-BF23-27A9452A5CF6}" type="datetime1">
              <a:rPr lang="en-US"/>
              <a:pPr>
                <a:defRPr/>
              </a:pPr>
              <a:t>8/27/2023</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161F95E-9EB3-41D2-AD4C-9F0FE5ADF1EB}" type="slidenum">
              <a:rPr lang="en-US" altLang="en-US"/>
              <a:pPr>
                <a:defRPr/>
              </a:pPr>
              <a:t>‹#›</a:t>
            </a:fld>
            <a:endParaRPr lang="en-US" altLang="en-US" dirty="0"/>
          </a:p>
        </p:txBody>
      </p:sp>
    </p:spTree>
    <p:extLst>
      <p:ext uri="{BB962C8B-B14F-4D97-AF65-F5344CB8AC3E}">
        <p14:creationId xmlns:p14="http://schemas.microsoft.com/office/powerpoint/2010/main" val="1747487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49DD050-0C74-48C3-8BCE-E6188004D976}" type="datetime1">
              <a:rPr lang="en-US"/>
              <a:pPr>
                <a:defRPr/>
              </a:pPr>
              <a:t>8/27/2023</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01412CD-2C22-49FD-A854-1BB75DC92DDC}" type="slidenum">
              <a:rPr lang="en-US" altLang="en-US"/>
              <a:pPr>
                <a:defRPr/>
              </a:pPr>
              <a:t>‹#›</a:t>
            </a:fld>
            <a:endParaRPr lang="en-US" altLang="en-US" dirty="0"/>
          </a:p>
        </p:txBody>
      </p:sp>
    </p:spTree>
    <p:extLst>
      <p:ext uri="{BB962C8B-B14F-4D97-AF65-F5344CB8AC3E}">
        <p14:creationId xmlns:p14="http://schemas.microsoft.com/office/powerpoint/2010/main" val="1489010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5" name="Picture Placeholder 2"/>
          <p:cNvSpPr>
            <a:spLocks noGrp="1"/>
          </p:cNvSpPr>
          <p:nvPr>
            <p:ph type="pic" idx="1"/>
          </p:nvPr>
        </p:nvSpPr>
        <p:spPr>
          <a:xfrm>
            <a:off x="257174" y="0"/>
            <a:ext cx="888682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6" name="Text Placeholder 3"/>
          <p:cNvSpPr>
            <a:spLocks noGrp="1"/>
          </p:cNvSpPr>
          <p:nvPr>
            <p:ph type="body" sz="half" idx="2"/>
          </p:nvPr>
        </p:nvSpPr>
        <p:spPr>
          <a:xfrm>
            <a:off x="533400" y="4181474"/>
            <a:ext cx="2800350" cy="1838325"/>
          </a:xfrm>
          <a:prstGeom prst="rect">
            <a:avLst/>
          </a:prstGeo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1"/>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95F7BE7A-A994-4833-8C88-7E73C52F6179}" type="datetime1">
              <a:rPr lang="en-US"/>
              <a:pPr>
                <a:defRPr/>
              </a:pPr>
              <a:t>8/27/2023</a:t>
            </a:fld>
            <a:endParaRPr lang="en-US" dirty="0"/>
          </a:p>
        </p:txBody>
      </p:sp>
      <p:sp>
        <p:nvSpPr>
          <p:cNvPr id="7" name="Footer Placeholder 2"/>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8" name="Slide Number Placeholder 3"/>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5FFA643-5063-437F-859D-8FD1C6FE3810}" type="slidenum">
              <a:rPr lang="en-US" altLang="en-US"/>
              <a:pPr>
                <a:defRPr/>
              </a:pPr>
              <a:t>‹#›</a:t>
            </a:fld>
            <a:endParaRPr lang="en-US" altLang="en-US" dirty="0"/>
          </a:p>
        </p:txBody>
      </p:sp>
    </p:spTree>
    <p:extLst>
      <p:ext uri="{BB962C8B-B14F-4D97-AF65-F5344CB8AC3E}">
        <p14:creationId xmlns:p14="http://schemas.microsoft.com/office/powerpoint/2010/main" val="2938234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95275"/>
            <a:ext cx="3008313" cy="83820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buClr>
                <a:srgbClr val="C60C30"/>
              </a:buClr>
              <a:buFont typeface="Arial" pitchFamily="34" charset="0"/>
              <a:buChar char="•"/>
              <a:defRPr sz="2800"/>
            </a:lvl1pPr>
            <a:lvl2pPr>
              <a:buClr>
                <a:srgbClr val="C60C30"/>
              </a:buClr>
              <a:defRPr sz="2400"/>
            </a:lvl2pPr>
            <a:lvl3pPr>
              <a:buClr>
                <a:srgbClr val="C60C30"/>
              </a:buClr>
              <a:defRPr sz="2000"/>
            </a:lvl3pPr>
            <a:lvl4pPr>
              <a:buClr>
                <a:srgbClr val="C60C30"/>
              </a:buClr>
              <a:defRPr sz="1800"/>
            </a:lvl4pPr>
            <a:lvl5pPr>
              <a:buClr>
                <a:srgbClr val="C60C30"/>
              </a:buCl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133475"/>
            <a:ext cx="3008313" cy="4992689"/>
          </a:xfrm>
          <a:prstGeom prst="rect">
            <a:avLst/>
          </a:prstGeom>
        </p:spPr>
        <p:txBody>
          <a:bodyPr/>
          <a:lstStyle>
            <a:lvl1pPr marL="0" indent="0">
              <a:buClr>
                <a:srgbClr val="C60C30"/>
              </a:buClr>
              <a:buFont typeface="Arial" pitchFamily="34" charse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329FA7F8-151E-40BF-B9EE-6D203BF2458B}" type="datetime1">
              <a:rPr lang="en-US"/>
              <a:pPr>
                <a:defRPr/>
              </a:pPr>
              <a:t>8/27/2023</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4D61F0F-4D0B-4117-9D0C-4C6BC2AAFB9C}" type="slidenum">
              <a:rPr lang="en-US" altLang="en-US"/>
              <a:pPr>
                <a:defRPr/>
              </a:pPr>
              <a:t>‹#›</a:t>
            </a:fld>
            <a:endParaRPr lang="en-US" altLang="en-US" dirty="0"/>
          </a:p>
        </p:txBody>
      </p:sp>
    </p:spTree>
    <p:extLst>
      <p:ext uri="{BB962C8B-B14F-4D97-AF65-F5344CB8AC3E}">
        <p14:creationId xmlns:p14="http://schemas.microsoft.com/office/powerpoint/2010/main" val="98989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590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8590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8590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F35BFFA0-2FB4-485B-B508-3C350D2D46BA}" type="datetime1">
              <a:rPr lang="en-US"/>
              <a:pPr>
                <a:defRPr/>
              </a:pPr>
              <a:t>8/27/2023</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72D1AF6-8CCE-453E-A992-4ACAED152958}" type="slidenum">
              <a:rPr lang="en-US" altLang="en-US"/>
              <a:pPr>
                <a:defRPr/>
              </a:pPr>
              <a:t>‹#›</a:t>
            </a:fld>
            <a:endParaRPr lang="en-US" altLang="en-US" dirty="0"/>
          </a:p>
        </p:txBody>
      </p:sp>
    </p:spTree>
    <p:extLst>
      <p:ext uri="{BB962C8B-B14F-4D97-AF65-F5344CB8AC3E}">
        <p14:creationId xmlns:p14="http://schemas.microsoft.com/office/powerpoint/2010/main" val="802916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30074" y="1819276"/>
            <a:ext cx="7956725" cy="4306888"/>
          </a:xfrm>
          <a:prstGeom prst="rect">
            <a:avLst/>
          </a:prstGeom>
        </p:spPr>
        <p:txBody>
          <a:bodyPr vert="eaVert"/>
          <a:lstStyle>
            <a:lvl1pPr>
              <a:buClr>
                <a:srgbClr val="C60C30"/>
              </a:buClr>
              <a:buFont typeface="Arial" pitchFamily="34" charset="0"/>
              <a:buChar char="•"/>
              <a:defRPr/>
            </a:lvl1pPr>
            <a:lvl2pPr>
              <a:buClr>
                <a:srgbClr val="C60C30"/>
              </a:buClr>
              <a:defRPr/>
            </a:lvl2pPr>
            <a:lvl3pPr>
              <a:buClr>
                <a:srgbClr val="C60C30"/>
              </a:buClr>
              <a:defRPr/>
            </a:lvl3pPr>
            <a:lvl4pPr>
              <a:buClr>
                <a:srgbClr val="C60C30"/>
              </a:buClr>
              <a:defRPr/>
            </a:lvl4pPr>
            <a:lvl5pPr>
              <a:buClr>
                <a:srgbClr val="C60C3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730074" y="342900"/>
            <a:ext cx="7956725" cy="1476375"/>
          </a:xfrm>
          <a:prstGeom prst="rect">
            <a:avLst/>
          </a:prstGeom>
        </p:spPr>
        <p:txBody>
          <a:bodyPr/>
          <a:lstStyle/>
          <a:p>
            <a:r>
              <a:rPr lang="en-US"/>
              <a:t>Click to edit Master 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D3D5E2B5-B450-4682-A92A-894F7F2B2141}" type="datetime1">
              <a:rPr lang="en-US"/>
              <a:pPr>
                <a:defRPr/>
              </a:pPr>
              <a:t>8/27/2023</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824A4E3-28B3-405D-957D-37D13CC524A8}" type="slidenum">
              <a:rPr lang="en-US" altLang="en-US"/>
              <a:pPr>
                <a:defRPr/>
              </a:pPr>
              <a:t>‹#›</a:t>
            </a:fld>
            <a:endParaRPr lang="en-US" altLang="en-US" dirty="0"/>
          </a:p>
        </p:txBody>
      </p:sp>
    </p:spTree>
    <p:extLst>
      <p:ext uri="{BB962C8B-B14F-4D97-AF65-F5344CB8AC3E}">
        <p14:creationId xmlns:p14="http://schemas.microsoft.com/office/powerpoint/2010/main" val="2978112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74638"/>
            <a:ext cx="2057400" cy="585152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305550" cy="5851525"/>
          </a:xfrm>
          <a:prstGeom prst="rect">
            <a:avLst/>
          </a:prstGeom>
        </p:spPr>
        <p:txBody>
          <a:bodyPr vert="eaVert"/>
          <a:lstStyle>
            <a:lvl1pPr>
              <a:buClr>
                <a:srgbClr val="C60C30"/>
              </a:buClr>
              <a:buFont typeface="Arial" pitchFamily="34" charset="0"/>
              <a:buChar char="•"/>
              <a:defRPr/>
            </a:lvl1pPr>
            <a:lvl2pPr>
              <a:buClr>
                <a:srgbClr val="C60C30"/>
              </a:buClr>
              <a:defRPr/>
            </a:lvl2pPr>
            <a:lvl3pPr>
              <a:buClr>
                <a:srgbClr val="C60C30"/>
              </a:buClr>
              <a:defRPr/>
            </a:lvl3pPr>
            <a:lvl4pPr>
              <a:buClr>
                <a:srgbClr val="C60C30"/>
              </a:buClr>
              <a:defRPr/>
            </a:lvl4pPr>
            <a:lvl5pPr>
              <a:buClr>
                <a:srgbClr val="C60C3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atin typeface="Arial" charset="0"/>
                <a:ea typeface="ＭＳ Ｐゴシック" charset="-128"/>
                <a:cs typeface="+mn-cs"/>
              </a:defRPr>
            </a:lvl1pPr>
          </a:lstStyle>
          <a:p>
            <a:pPr>
              <a:defRPr/>
            </a:pPr>
            <a:fld id="{B5321716-F687-4FF8-9100-52DE8ECBB97A}" type="datetime1">
              <a:rPr lang="en-US"/>
              <a:pPr>
                <a:defRPr/>
              </a:pPr>
              <a:t>8/27/2023</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D9506A1-0073-4CC4-A378-D74D20A87CCD}" type="slidenum">
              <a:rPr lang="en-US" altLang="en-US"/>
              <a:pPr>
                <a:defRPr/>
              </a:pPr>
              <a:t>‹#›</a:t>
            </a:fld>
            <a:endParaRPr lang="en-US" altLang="en-US" dirty="0"/>
          </a:p>
        </p:txBody>
      </p:sp>
    </p:spTree>
    <p:extLst>
      <p:ext uri="{BB962C8B-B14F-4D97-AF65-F5344CB8AC3E}">
        <p14:creationId xmlns:p14="http://schemas.microsoft.com/office/powerpoint/2010/main" val="210770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6"/>
          <p:cNvSpPr>
            <a:spLocks noChangeArrowheads="1"/>
          </p:cNvSpPr>
          <p:nvPr/>
        </p:nvSpPr>
        <p:spPr bwMode="auto">
          <a:xfrm>
            <a:off x="0" y="0"/>
            <a:ext cx="252413" cy="6858000"/>
          </a:xfrm>
          <a:prstGeom prst="rect">
            <a:avLst/>
          </a:prstGeom>
          <a:solidFill>
            <a:srgbClr val="C60C30"/>
          </a:solidFill>
          <a:ln>
            <a:noFill/>
          </a:ln>
          <a:effectLst>
            <a:outerShdw dist="23000" dir="5400000" rotWithShape="0">
              <a:srgbClr val="808080">
                <a:alpha val="34998"/>
              </a:srgbClr>
            </a:outerShdw>
          </a:effectLst>
          <a:extLst>
            <a:ext uri="{91240B29-F687-4F45-9708-019B960494DF}">
              <a14:hiddenLine xmlns:a14="http://schemas.microsoft.com/office/drawing/2010/main" w="0">
                <a:solidFill>
                  <a:srgbClr val="000000"/>
                </a:solidFill>
                <a:round/>
                <a:headEnd/>
                <a:tailEnd/>
              </a14:hiddenLine>
            </a:ext>
          </a:extLst>
        </p:spPr>
        <p:txBody>
          <a:bodyPr anchor="ct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34" charset="-128"/>
              </a:defRPr>
            </a:lvl9pPr>
          </a:lstStyle>
          <a:p>
            <a:pPr algn="ctr" eaLnBrk="1" hangingPunct="1">
              <a:defRPr/>
            </a:pPr>
            <a:endParaRPr lang="en-US" altLang="en-US" dirty="0">
              <a:solidFill>
                <a:srgbClr val="FFFFFF"/>
              </a:solidFill>
              <a:cs typeface="Arial" charset="0"/>
            </a:endParaRPr>
          </a:p>
        </p:txBody>
      </p:sp>
    </p:spTree>
  </p:cSld>
  <p:clrMap bg1="lt1" tx1="dk1" bg2="lt2" tx2="dk2" accent1="accent1" accent2="accent2" accent3="accent3" accent4="accent4" accent5="accent5" accent6="accent6" hlink="hlink" folHlink="folHlink"/>
  <p:sldLayoutIdLst>
    <p:sldLayoutId id="2147484960" r:id="rId1"/>
    <p:sldLayoutId id="2147484961" r:id="rId2"/>
    <p:sldLayoutId id="2147484962" r:id="rId3"/>
    <p:sldLayoutId id="2147484963" r:id="rId4"/>
    <p:sldLayoutId id="2147484964" r:id="rId5"/>
    <p:sldLayoutId id="2147484965" r:id="rId6"/>
    <p:sldLayoutId id="2147484966" r:id="rId7"/>
    <p:sldLayoutId id="2147484967" r:id="rId8"/>
    <p:sldLayoutId id="2147484968" r:id="rId9"/>
    <p:sldLayoutId id="2147484969" r:id="rId10"/>
    <p:sldLayoutId id="2147484970" r:id="rId11"/>
    <p:sldLayoutId id="2147484971" r:id="rId12"/>
    <p:sldLayoutId id="2147484972" r:id="rId13"/>
  </p:sldLayoutIdLst>
  <p:txStyles>
    <p:titleStyle>
      <a:lvl1pPr algn="l" defTabSz="457200" rtl="0" eaLnBrk="0" fontAlgn="base" hangingPunct="0">
        <a:spcBef>
          <a:spcPct val="0"/>
        </a:spcBef>
        <a:spcAft>
          <a:spcPct val="0"/>
        </a:spcAft>
        <a:defRPr sz="4000" kern="1200">
          <a:solidFill>
            <a:srgbClr val="C60C30"/>
          </a:solidFill>
          <a:latin typeface="Arial Bold"/>
          <a:ea typeface="ＭＳ Ｐゴシック" charset="-128"/>
          <a:cs typeface="Arial Bold"/>
        </a:defRPr>
      </a:lvl1pPr>
      <a:lvl2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2pPr>
      <a:lvl3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3pPr>
      <a:lvl4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4pPr>
      <a:lvl5pPr algn="l" defTabSz="457200" rtl="0" eaLnBrk="0" fontAlgn="base" hangingPunct="0">
        <a:spcBef>
          <a:spcPct val="0"/>
        </a:spcBef>
        <a:spcAft>
          <a:spcPct val="0"/>
        </a:spcAft>
        <a:defRPr sz="4000">
          <a:solidFill>
            <a:srgbClr val="C60C30"/>
          </a:solidFill>
          <a:latin typeface="Arial Bold" charset="0"/>
          <a:ea typeface="ＭＳ Ｐゴシック" charset="-128"/>
          <a:cs typeface="Arial Bold" pitchFamily="34" charset="0"/>
        </a:defRPr>
      </a:lvl5pPr>
      <a:lvl6pPr marL="457200" algn="l" defTabSz="457200" rtl="0" eaLnBrk="1" fontAlgn="base" hangingPunct="1">
        <a:spcBef>
          <a:spcPct val="0"/>
        </a:spcBef>
        <a:spcAft>
          <a:spcPct val="0"/>
        </a:spcAft>
        <a:defRPr sz="4000">
          <a:solidFill>
            <a:srgbClr val="C60C30"/>
          </a:solidFill>
          <a:latin typeface="Arial Bold" charset="0"/>
          <a:ea typeface="ＭＳ Ｐゴシック" charset="-128"/>
        </a:defRPr>
      </a:lvl6pPr>
      <a:lvl7pPr marL="914400" algn="l" defTabSz="457200" rtl="0" eaLnBrk="1" fontAlgn="base" hangingPunct="1">
        <a:spcBef>
          <a:spcPct val="0"/>
        </a:spcBef>
        <a:spcAft>
          <a:spcPct val="0"/>
        </a:spcAft>
        <a:defRPr sz="4000">
          <a:solidFill>
            <a:srgbClr val="C60C30"/>
          </a:solidFill>
          <a:latin typeface="Arial Bold" charset="0"/>
          <a:ea typeface="ＭＳ Ｐゴシック" charset="-128"/>
        </a:defRPr>
      </a:lvl7pPr>
      <a:lvl8pPr marL="1371600" algn="l" defTabSz="457200" rtl="0" eaLnBrk="1" fontAlgn="base" hangingPunct="1">
        <a:spcBef>
          <a:spcPct val="0"/>
        </a:spcBef>
        <a:spcAft>
          <a:spcPct val="0"/>
        </a:spcAft>
        <a:defRPr sz="4000">
          <a:solidFill>
            <a:srgbClr val="C60C30"/>
          </a:solidFill>
          <a:latin typeface="Arial Bold" charset="0"/>
          <a:ea typeface="ＭＳ Ｐゴシック" charset="-128"/>
        </a:defRPr>
      </a:lvl8pPr>
      <a:lvl9pPr marL="1828800" algn="l" defTabSz="457200" rtl="0" eaLnBrk="1" fontAlgn="base" hangingPunct="1">
        <a:spcBef>
          <a:spcPct val="0"/>
        </a:spcBef>
        <a:spcAft>
          <a:spcPct val="0"/>
        </a:spcAft>
        <a:defRPr sz="4000">
          <a:solidFill>
            <a:srgbClr val="C60C30"/>
          </a:solidFill>
          <a:latin typeface="Arial Bold" charset="0"/>
          <a:ea typeface="ＭＳ Ｐゴシック" charset="-128"/>
        </a:defRPr>
      </a:lvl9pPr>
    </p:titleStyle>
    <p:body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2.gif"/><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30.jpeg"/><Relationship Id="rId13" Type="http://schemas.openxmlformats.org/officeDocument/2006/relationships/image" Target="../media/image35.jpeg"/><Relationship Id="rId3" Type="http://schemas.openxmlformats.org/officeDocument/2006/relationships/image" Target="../media/image25.jpeg"/><Relationship Id="rId7" Type="http://schemas.openxmlformats.org/officeDocument/2006/relationships/image" Target="../media/image29.jpeg"/><Relationship Id="rId12"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8.jpeg"/><Relationship Id="rId11" Type="http://schemas.openxmlformats.org/officeDocument/2006/relationships/image" Target="../media/image33.jpeg"/><Relationship Id="rId5" Type="http://schemas.openxmlformats.org/officeDocument/2006/relationships/image" Target="../media/image27.jpeg"/><Relationship Id="rId10" Type="http://schemas.openxmlformats.org/officeDocument/2006/relationships/image" Target="../media/image32.jpeg"/><Relationship Id="rId4" Type="http://schemas.openxmlformats.org/officeDocument/2006/relationships/image" Target="../media/image26.jpeg"/><Relationship Id="rId9"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66.jp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69.jp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ctrTitle"/>
          </p:nvPr>
        </p:nvSpPr>
        <p:spPr bwMode="auto">
          <a:xfrm>
            <a:off x="819150" y="2047875"/>
            <a:ext cx="8324850" cy="8048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dirty="0">
                <a:latin typeface="Arial Bold" panose="020B0704020202020204" pitchFamily="34" charset="0"/>
                <a:ea typeface="ＭＳ Ｐゴシック" panose="020B0600070205080204" pitchFamily="34" charset="-128"/>
                <a:cs typeface="Arial Bold" panose="020B0704020202020204" pitchFamily="34" charset="0"/>
              </a:rPr>
              <a:t>BEng (Hons) Control and Automation</a:t>
            </a:r>
            <a:endParaRPr lang="en-US" altLang="en-US" sz="3600" i="1" dirty="0">
              <a:latin typeface="Arial Bold" panose="020B0704020202020204" pitchFamily="34" charset="0"/>
              <a:ea typeface="ＭＳ Ｐゴシック" panose="020B0600070205080204" pitchFamily="34" charset="-128"/>
              <a:cs typeface="Arial Bold" panose="020B0704020202020204" pitchFamily="34" charset="0"/>
            </a:endParaRPr>
          </a:p>
        </p:txBody>
      </p:sp>
      <p:sp>
        <p:nvSpPr>
          <p:cNvPr id="17411" name="Subtitle 2"/>
          <p:cNvSpPr>
            <a:spLocks noGrp="1"/>
          </p:cNvSpPr>
          <p:nvPr>
            <p:ph type="subTitle" idx="1"/>
          </p:nvPr>
        </p:nvSpPr>
        <p:spPr bwMode="auto">
          <a:xfrm>
            <a:off x="819150" y="2944813"/>
            <a:ext cx="7772400" cy="347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pPr>
            <a:r>
              <a:rPr lang="en-US" altLang="en-US" b="1" dirty="0">
                <a:latin typeface="Arial" panose="020B0604020202020204" pitchFamily="34" charset="0"/>
                <a:ea typeface="ＭＳ Ｐゴシック" panose="020B0600070205080204" pitchFamily="34" charset="-128"/>
                <a:cs typeface="Arial" panose="020B0604020202020204" pitchFamily="34" charset="0"/>
              </a:rPr>
              <a:t>Automation and Robotics</a:t>
            </a:r>
          </a:p>
          <a:p>
            <a:pPr eaLnBrk="1" hangingPunct="1">
              <a:spcBef>
                <a:spcPct val="0"/>
              </a:spcBef>
            </a:pPr>
            <a:endParaRPr lang="en-US" altLang="en-US" sz="24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CRN: 50295</a:t>
            </a:r>
          </a:p>
          <a:p>
            <a:pPr eaLnBrk="1" hangingPunct="1">
              <a:spcBef>
                <a:spcPct val="0"/>
              </a:spcBef>
            </a:pPr>
            <a:endParaRPr lang="en-US" altLang="en-US" sz="240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2800" b="1" dirty="0">
                <a:latin typeface="Arial" panose="020B0604020202020204" pitchFamily="34" charset="0"/>
                <a:ea typeface="ＭＳ Ｐゴシック" panose="020B0600070205080204" pitchFamily="34" charset="-128"/>
                <a:cs typeface="Arial" panose="020B0604020202020204" pitchFamily="34" charset="0"/>
              </a:rPr>
              <a:t>Dr Saber </a:t>
            </a:r>
            <a:r>
              <a:rPr lang="en-US" altLang="en-US" sz="2800" b="1" dirty="0" err="1">
                <a:latin typeface="Arial" panose="020B0604020202020204" pitchFamily="34" charset="0"/>
                <a:ea typeface="ＭＳ Ｐゴシック" panose="020B0600070205080204" pitchFamily="34" charset="-128"/>
                <a:cs typeface="Arial" panose="020B0604020202020204" pitchFamily="34" charset="0"/>
              </a:rPr>
              <a:t>Mahboubi</a:t>
            </a:r>
            <a:endParaRPr lang="en-US" altLang="en-US" sz="28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spcBef>
                <a:spcPct val="0"/>
              </a:spcBef>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Email:    s.mahboubiheydarabad@salford.ac.uk</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bwMode="auto">
          <a:xfrm>
            <a:off x="511175" y="1066800"/>
            <a:ext cx="8175625" cy="276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Lecture Content:</a:t>
            </a:r>
            <a:b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br>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		</a:t>
            </a:r>
            <a:b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br>
            <a:r>
              <a:rPr lang="en-GB" altLang="en-US" dirty="0">
                <a:solidFill>
                  <a:schemeClr val="tx1"/>
                </a:solidFill>
                <a:latin typeface="Arial Bold" panose="020B0704020202020204" pitchFamily="34" charset="0"/>
                <a:ea typeface="ＭＳ Ｐゴシック" panose="020B0600070205080204" pitchFamily="34" charset="-128"/>
                <a:cs typeface="Arial Bold" panose="020B0704020202020204" pitchFamily="34" charset="0"/>
              </a:rPr>
              <a:t>		Actuators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altLang="en-US" sz="2000" b="1" dirty="0"/>
              <a:t>Actuators come in three basic types depending upon their power source</a:t>
            </a:r>
            <a:endParaRPr sz="2000" b="1" dirty="0">
              <a:latin typeface="+mn-lt"/>
              <a:cs typeface="SimSun"/>
            </a:endParaRPr>
          </a:p>
        </p:txBody>
      </p:sp>
      <p:sp>
        <p:nvSpPr>
          <p:cNvPr id="7" name="object 4">
            <a:extLst>
              <a:ext uri="{FF2B5EF4-FFF2-40B4-BE49-F238E27FC236}">
                <a16:creationId xmlns:a16="http://schemas.microsoft.com/office/drawing/2014/main" id="{E4CD4C0E-E03A-4741-BBDF-D00FD3D93366}"/>
              </a:ext>
            </a:extLst>
          </p:cNvPr>
          <p:cNvSpPr txBox="1"/>
          <p:nvPr/>
        </p:nvSpPr>
        <p:spPr>
          <a:xfrm>
            <a:off x="420254" y="1454842"/>
            <a:ext cx="5799375" cy="1120820"/>
          </a:xfrm>
          <a:prstGeom prst="rect">
            <a:avLst/>
          </a:prstGeom>
        </p:spPr>
        <p:txBody>
          <a:bodyPr vert="horz" wrap="square" lIns="0" tIns="12700" rIns="0" bIns="0" rtlCol="0">
            <a:spAutoFit/>
          </a:bodyPr>
          <a:lstStyle/>
          <a:p>
            <a:pPr lvl="1"/>
            <a:r>
              <a:rPr lang="en-US" b="1" dirty="0"/>
              <a:t>Pneumatic Actuators.</a:t>
            </a:r>
            <a:endParaRPr lang="en-US" dirty="0"/>
          </a:p>
          <a:p>
            <a:pPr lvl="2"/>
            <a:r>
              <a:rPr lang="en-US" dirty="0"/>
              <a:t>These utilize pneumatic energy provided by the compressor and transforms it into mechanical energy by means of pistons or turbines</a:t>
            </a:r>
          </a:p>
        </p:txBody>
      </p:sp>
      <p:sp>
        <p:nvSpPr>
          <p:cNvPr id="3" name="Rectangle 2"/>
          <p:cNvSpPr/>
          <p:nvPr/>
        </p:nvSpPr>
        <p:spPr>
          <a:xfrm>
            <a:off x="292100" y="2920192"/>
            <a:ext cx="5832763" cy="1200329"/>
          </a:xfrm>
          <a:prstGeom prst="rect">
            <a:avLst/>
          </a:prstGeom>
        </p:spPr>
        <p:txBody>
          <a:bodyPr wrap="square">
            <a:spAutoFit/>
          </a:bodyPr>
          <a:lstStyle/>
          <a:p>
            <a:pPr lvl="1"/>
            <a:r>
              <a:rPr lang="en-US" b="1" dirty="0"/>
              <a:t>Hydraulic Actuators.</a:t>
            </a:r>
          </a:p>
          <a:p>
            <a:pPr lvl="2" algn="just"/>
            <a:r>
              <a:rPr lang="en-US" dirty="0"/>
              <a:t>These transform the energy from a moving fluid into mechanical movement by means of suitable pumps and pistons</a:t>
            </a:r>
          </a:p>
        </p:txBody>
      </p:sp>
      <p:sp>
        <p:nvSpPr>
          <p:cNvPr id="4" name="Rectangle 3"/>
          <p:cNvSpPr/>
          <p:nvPr/>
        </p:nvSpPr>
        <p:spPr>
          <a:xfrm>
            <a:off x="292100" y="4382891"/>
            <a:ext cx="5768108" cy="1477328"/>
          </a:xfrm>
          <a:prstGeom prst="rect">
            <a:avLst/>
          </a:prstGeom>
        </p:spPr>
        <p:txBody>
          <a:bodyPr wrap="square">
            <a:spAutoFit/>
          </a:bodyPr>
          <a:lstStyle/>
          <a:p>
            <a:pPr lvl="1"/>
            <a:r>
              <a:rPr lang="en-US" b="1" dirty="0"/>
              <a:t>Electric Actuators</a:t>
            </a:r>
            <a:r>
              <a:rPr lang="en-US" dirty="0"/>
              <a:t>.</a:t>
            </a:r>
          </a:p>
          <a:p>
            <a:pPr lvl="2" algn="just"/>
            <a:r>
              <a:rPr lang="en-US" dirty="0"/>
              <a:t>Electric actuators are simply electro-mechanical devices which allow movement through the use of electromotive force</a:t>
            </a:r>
          </a:p>
          <a:p>
            <a:pPr marL="742950" lvl="1" indent="-285750" eaLnBrk="1" hangingPunct="1">
              <a:buFont typeface="Arial" panose="020B0604020202020204" pitchFamily="34" charset="0"/>
              <a:buChar char="•"/>
            </a:pPr>
            <a:endParaRPr lang="en-US" altLang="en-US" dirty="0"/>
          </a:p>
        </p:txBody>
      </p:sp>
      <p:pic>
        <p:nvPicPr>
          <p:cNvPr id="31" name="Picture 4"/>
          <p:cNvPicPr>
            <a:picLocks noChangeAspect="1" noChangeArrowheads="1"/>
          </p:cNvPicPr>
          <p:nvPr/>
        </p:nvPicPr>
        <p:blipFill>
          <a:blip r:embed="rId3"/>
          <a:srcRect/>
          <a:stretch>
            <a:fillRect/>
          </a:stretch>
        </p:blipFill>
        <p:spPr bwMode="auto">
          <a:xfrm>
            <a:off x="6744709" y="1454842"/>
            <a:ext cx="2011363" cy="1530350"/>
          </a:xfrm>
          <a:prstGeom prst="rect">
            <a:avLst/>
          </a:prstGeom>
          <a:noFill/>
          <a:ln w="9525">
            <a:noFill/>
            <a:miter lim="800000"/>
            <a:headEnd/>
            <a:tailEnd/>
          </a:ln>
        </p:spPr>
      </p:pic>
      <p:pic>
        <p:nvPicPr>
          <p:cNvPr id="32" name="Picture 3"/>
          <p:cNvPicPr>
            <a:picLocks noChangeAspect="1" noChangeArrowheads="1"/>
          </p:cNvPicPr>
          <p:nvPr/>
        </p:nvPicPr>
        <p:blipFill>
          <a:blip r:embed="rId4"/>
          <a:srcRect/>
          <a:stretch>
            <a:fillRect/>
          </a:stretch>
        </p:blipFill>
        <p:spPr bwMode="auto">
          <a:xfrm>
            <a:off x="6672262" y="2920192"/>
            <a:ext cx="1795463" cy="1447800"/>
          </a:xfrm>
          <a:prstGeom prst="rect">
            <a:avLst/>
          </a:prstGeom>
          <a:noFill/>
          <a:ln w="9525">
            <a:noFill/>
            <a:miter lim="800000"/>
            <a:headEnd/>
            <a:tailEnd/>
          </a:ln>
        </p:spPr>
      </p:pic>
      <p:pic>
        <p:nvPicPr>
          <p:cNvPr id="33" name="Picture 1"/>
          <p:cNvPicPr>
            <a:picLocks noChangeAspect="1" noChangeArrowheads="1"/>
          </p:cNvPicPr>
          <p:nvPr/>
        </p:nvPicPr>
        <p:blipFill rotWithShape="1">
          <a:blip r:embed="rId5"/>
          <a:srcRect b="50000"/>
          <a:stretch/>
        </p:blipFill>
        <p:spPr bwMode="auto">
          <a:xfrm>
            <a:off x="6627161" y="4359791"/>
            <a:ext cx="1911350" cy="15795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Considerations with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altLang="en-US" sz="2000" b="1" dirty="0"/>
              <a:t>When choosing a suitable actuator for a robotic application you should consider the following</a:t>
            </a:r>
            <a:endParaRPr sz="2000" b="1" dirty="0">
              <a:latin typeface="+mn-lt"/>
              <a:cs typeface="SimSun"/>
            </a:endParaRPr>
          </a:p>
        </p:txBody>
      </p:sp>
      <p:sp>
        <p:nvSpPr>
          <p:cNvPr id="2" name="Rectangle 1"/>
          <p:cNvSpPr/>
          <p:nvPr/>
        </p:nvSpPr>
        <p:spPr>
          <a:xfrm>
            <a:off x="674913" y="1613825"/>
            <a:ext cx="6291943" cy="4247317"/>
          </a:xfrm>
          <a:prstGeom prst="rect">
            <a:avLst/>
          </a:prstGeom>
        </p:spPr>
        <p:txBody>
          <a:bodyPr wrap="square">
            <a:spAutoFit/>
          </a:bodyPr>
          <a:lstStyle/>
          <a:p>
            <a:pPr marL="285750" indent="-285750">
              <a:buFont typeface="Arial" panose="020B0604020202020204" pitchFamily="34" charset="0"/>
              <a:buChar char="•"/>
            </a:pPr>
            <a:r>
              <a:rPr lang="en-US" dirty="0"/>
              <a:t>Load ( torque to overcome inertia)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Speed (fast enough but not too fast)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Accuracy (will it move to where you want?)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Resolution (can you specify exactly where?)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Repeatability (will it do this every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(mean time between failures)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Power consumption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Energy supply &amp; weight.</a:t>
            </a:r>
          </a:p>
        </p:txBody>
      </p:sp>
    </p:spTree>
    <p:extLst>
      <p:ext uri="{BB962C8B-B14F-4D97-AF65-F5344CB8AC3E}">
        <p14:creationId xmlns:p14="http://schemas.microsoft.com/office/powerpoint/2010/main" val="284037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Considerations with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t>Actuator types should be chosen based on required output torques and speed</a:t>
            </a:r>
            <a:endParaRPr sz="2000" b="1" dirty="0">
              <a:latin typeface="+mn-lt"/>
              <a:cs typeface="SimSun"/>
            </a:endParaRPr>
          </a:p>
        </p:txBody>
      </p:sp>
      <p:pic>
        <p:nvPicPr>
          <p:cNvPr id="5" name="Picture 5" descr="motors_comparison">
            <a:extLst>
              <a:ext uri="{FF2B5EF4-FFF2-40B4-BE49-F238E27FC236}">
                <a16:creationId xmlns:a16="http://schemas.microsoft.com/office/drawing/2014/main" id="{C871CE52-D6C2-4E14-9704-263BC9C4E7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781"/>
          <a:stretch/>
        </p:blipFill>
        <p:spPr bwMode="auto">
          <a:xfrm>
            <a:off x="753550" y="1307678"/>
            <a:ext cx="7391400" cy="5335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593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Advantages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There are some good reasons for choosing pneumatic actuation</a:t>
            </a:r>
            <a:endParaRPr sz="2000" b="1" dirty="0">
              <a:latin typeface="+mn-lt"/>
              <a:cs typeface="SimSun"/>
            </a:endParaRPr>
          </a:p>
        </p:txBody>
      </p:sp>
      <p:sp>
        <p:nvSpPr>
          <p:cNvPr id="2" name="Rectangle 1"/>
          <p:cNvSpPr/>
          <p:nvPr/>
        </p:nvSpPr>
        <p:spPr>
          <a:xfrm>
            <a:off x="674913" y="1353729"/>
            <a:ext cx="6291943" cy="5299912"/>
          </a:xfrm>
          <a:prstGeom prst="rect">
            <a:avLst/>
          </a:prstGeom>
        </p:spPr>
        <p:txBody>
          <a:bodyPr wrap="square">
            <a:spAutoFit/>
          </a:bodyPr>
          <a:lstStyle/>
          <a:p>
            <a:pPr marL="285750" indent="-285750" eaLnBrk="1" hangingPunct="1">
              <a:lnSpc>
                <a:spcPct val="80000"/>
              </a:lnSpc>
              <a:buFont typeface="Arial" panose="020B0604020202020204" pitchFamily="34" charset="0"/>
              <a:buChar char="•"/>
            </a:pPr>
            <a:r>
              <a:rPr lang="en-US" altLang="en-US" b="1" dirty="0"/>
              <a:t>Weight</a:t>
            </a:r>
          </a:p>
          <a:p>
            <a:pPr lvl="1" eaLnBrk="1" hangingPunct="1">
              <a:lnSpc>
                <a:spcPct val="80000"/>
              </a:lnSpc>
            </a:pPr>
            <a:r>
              <a:rPr lang="en-US" altLang="en-US" dirty="0"/>
              <a:t>Cylinders generally much lighter than motors</a:t>
            </a:r>
          </a:p>
          <a:p>
            <a:pPr lvl="1" eaLnBrk="1" hangingPunct="1">
              <a:lnSpc>
                <a:spcPct val="80000"/>
              </a:lnSpc>
            </a:pPr>
            <a:r>
              <a:rPr lang="en-US" dirty="0"/>
              <a:t>Compressed air can be stored and conveyed easily over long distances</a:t>
            </a:r>
            <a:endParaRPr lang="en-US" altLang="en-US" dirty="0"/>
          </a:p>
          <a:p>
            <a:pPr lvl="1" eaLnBrk="1" hangingPunct="1">
              <a:lnSpc>
                <a:spcPct val="80000"/>
              </a:lnSpc>
            </a:pPr>
            <a:endParaRPr lang="en-US" altLang="en-US" dirty="0"/>
          </a:p>
          <a:p>
            <a:pPr marL="285750" indent="-285750" eaLnBrk="1" hangingPunct="1">
              <a:lnSpc>
                <a:spcPct val="80000"/>
              </a:lnSpc>
              <a:buFont typeface="Arial" panose="020B0604020202020204" pitchFamily="34" charset="0"/>
              <a:buChar char="•"/>
            </a:pPr>
            <a:r>
              <a:rPr lang="en-US" altLang="en-US" b="1" dirty="0"/>
              <a:t>Simple</a:t>
            </a:r>
          </a:p>
          <a:p>
            <a:pPr lvl="1" eaLnBrk="1" hangingPunct="1">
              <a:lnSpc>
                <a:spcPct val="80000"/>
              </a:lnSpc>
            </a:pPr>
            <a:r>
              <a:rPr lang="en-US" altLang="en-US" dirty="0"/>
              <a:t>Much easier to mount than motors</a:t>
            </a:r>
          </a:p>
          <a:p>
            <a:pPr lvl="1" eaLnBrk="1" hangingPunct="1">
              <a:lnSpc>
                <a:spcPct val="80000"/>
              </a:lnSpc>
            </a:pPr>
            <a:r>
              <a:rPr lang="en-US" dirty="0"/>
              <a:t>They have few moving parts making them inherently reliable and reducing maintenance costs</a:t>
            </a:r>
          </a:p>
          <a:p>
            <a:pPr lvl="1" eaLnBrk="1" hangingPunct="1">
              <a:lnSpc>
                <a:spcPct val="80000"/>
              </a:lnSpc>
            </a:pPr>
            <a:endParaRPr lang="en-US" altLang="en-US" dirty="0"/>
          </a:p>
          <a:p>
            <a:pPr marL="285750" indent="-285750" eaLnBrk="1" hangingPunct="1">
              <a:lnSpc>
                <a:spcPct val="80000"/>
              </a:lnSpc>
              <a:buFont typeface="Arial" panose="020B0604020202020204" pitchFamily="34" charset="0"/>
              <a:buChar char="•"/>
            </a:pPr>
            <a:r>
              <a:rPr lang="en-US" altLang="en-US" b="1" dirty="0"/>
              <a:t>Fast on/off type tasks </a:t>
            </a:r>
          </a:p>
          <a:p>
            <a:pPr marL="447675" eaLnBrk="1" hangingPunct="1">
              <a:lnSpc>
                <a:spcPct val="80000"/>
              </a:lnSpc>
            </a:pPr>
            <a:r>
              <a:rPr lang="en-US" dirty="0"/>
              <a:t>They have quick action and response time thus allowing for fast work cycles</a:t>
            </a:r>
          </a:p>
          <a:p>
            <a:pPr marL="447675" eaLnBrk="1" hangingPunct="1">
              <a:lnSpc>
                <a:spcPct val="80000"/>
              </a:lnSpc>
            </a:pPr>
            <a:endParaRPr lang="en-US" altLang="en-US" b="1" dirty="0"/>
          </a:p>
          <a:p>
            <a:pPr marL="285750" indent="-285750" eaLnBrk="1" hangingPunct="1">
              <a:lnSpc>
                <a:spcPct val="80000"/>
              </a:lnSpc>
              <a:buFont typeface="Arial" panose="020B0604020202020204" pitchFamily="34" charset="0"/>
              <a:buChar char="•"/>
            </a:pPr>
            <a:r>
              <a:rPr lang="en-US" altLang="en-US" b="1" dirty="0"/>
              <a:t>Big forces with elasticity</a:t>
            </a:r>
          </a:p>
          <a:p>
            <a:pPr marL="285750" indent="-285750" eaLnBrk="1" hangingPunct="1">
              <a:lnSpc>
                <a:spcPct val="80000"/>
              </a:lnSpc>
              <a:buFont typeface="Arial" panose="020B0604020202020204" pitchFamily="34" charset="0"/>
              <a:buChar char="•"/>
            </a:pPr>
            <a:endParaRPr lang="en-US" altLang="en-US" b="1" dirty="0"/>
          </a:p>
          <a:p>
            <a:pPr marL="285750" indent="-285750" eaLnBrk="1" hangingPunct="1">
              <a:lnSpc>
                <a:spcPct val="80000"/>
              </a:lnSpc>
              <a:buFont typeface="Arial" panose="020B0604020202020204" pitchFamily="34" charset="0"/>
              <a:buChar char="•"/>
            </a:pPr>
            <a:r>
              <a:rPr lang="en-US" altLang="en-US" b="1" dirty="0"/>
              <a:t>No leak contamination problems</a:t>
            </a:r>
          </a:p>
          <a:p>
            <a:pPr marL="285750" indent="-285750" eaLnBrk="1" hangingPunct="1">
              <a:lnSpc>
                <a:spcPct val="80000"/>
              </a:lnSpc>
              <a:buFont typeface="Arial" panose="020B0604020202020204" pitchFamily="34" charset="0"/>
              <a:buChar char="•"/>
            </a:pPr>
            <a:endParaRPr lang="en-US" altLang="en-US" b="1" dirty="0"/>
          </a:p>
          <a:p>
            <a:pPr marL="285750" indent="-285750" eaLnBrk="1" hangingPunct="1">
              <a:lnSpc>
                <a:spcPct val="80000"/>
              </a:lnSpc>
              <a:buFont typeface="Arial" panose="020B0604020202020204" pitchFamily="34" charset="0"/>
              <a:buChar char="•"/>
            </a:pPr>
            <a:r>
              <a:rPr lang="en-US" altLang="en-US" b="1" dirty="0"/>
              <a:t>No burnout</a:t>
            </a:r>
          </a:p>
          <a:p>
            <a:pPr lvl="1" eaLnBrk="1" hangingPunct="1">
              <a:lnSpc>
                <a:spcPct val="80000"/>
              </a:lnSpc>
            </a:pPr>
            <a:r>
              <a:rPr lang="en-US" altLang="en-US" dirty="0"/>
              <a:t>Cylinders can be stalled indefinitely without damage</a:t>
            </a:r>
          </a:p>
          <a:p>
            <a:pPr lvl="1" eaLnBrk="1" hangingPunct="1">
              <a:lnSpc>
                <a:spcPct val="80000"/>
              </a:lnSpc>
            </a:pPr>
            <a:endParaRPr lang="en-US" alt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77736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Disadvantages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altLang="en-US" sz="2000" b="1" dirty="0"/>
              <a:t>There are also some good reasons for not choosing pneumatic actuation</a:t>
            </a:r>
            <a:endParaRPr sz="2000" b="1" dirty="0">
              <a:latin typeface="+mn-lt"/>
              <a:cs typeface="SimSun"/>
            </a:endParaRPr>
          </a:p>
        </p:txBody>
      </p:sp>
      <p:sp>
        <p:nvSpPr>
          <p:cNvPr id="2" name="Rectangle 1"/>
          <p:cNvSpPr/>
          <p:nvPr/>
        </p:nvSpPr>
        <p:spPr>
          <a:xfrm>
            <a:off x="674913" y="1613825"/>
            <a:ext cx="6291943" cy="3693319"/>
          </a:xfrm>
          <a:prstGeom prst="rect">
            <a:avLst/>
          </a:prstGeom>
        </p:spPr>
        <p:txBody>
          <a:bodyPr wrap="square">
            <a:spAutoFit/>
          </a:bodyPr>
          <a:lstStyle/>
          <a:p>
            <a:pPr marL="285750" indent="-285750" eaLnBrk="1" hangingPunct="1">
              <a:lnSpc>
                <a:spcPct val="80000"/>
              </a:lnSpc>
              <a:buFont typeface="Arial" panose="020B0604020202020204" pitchFamily="34" charset="0"/>
              <a:buChar char="•"/>
            </a:pPr>
            <a:r>
              <a:rPr lang="en-US" altLang="en-US" dirty="0"/>
              <a:t>All the components are quite expensive</a:t>
            </a:r>
          </a:p>
          <a:p>
            <a:pPr marL="285750" indent="-285750" eaLnBrk="1" hangingPunct="1">
              <a:lnSpc>
                <a:spcPct val="80000"/>
              </a:lnSpc>
              <a:buFont typeface="Arial" panose="020B0604020202020204" pitchFamily="34" charset="0"/>
              <a:buChar char="•"/>
            </a:pPr>
            <a:endParaRPr lang="en-US" altLang="en-US" dirty="0"/>
          </a:p>
          <a:p>
            <a:pPr marL="285750" indent="-285750" eaLnBrk="1" hangingPunct="1">
              <a:lnSpc>
                <a:spcPct val="80000"/>
              </a:lnSpc>
              <a:buFont typeface="Arial" panose="020B0604020202020204" pitchFamily="34" charset="0"/>
              <a:buChar char="•"/>
            </a:pPr>
            <a:r>
              <a:rPr lang="en-US" altLang="en-US" dirty="0"/>
              <a:t>A properly designed system is more complex than an equivalent electromechanical system (electric motors, power screws, linear actuators, etc.)</a:t>
            </a:r>
          </a:p>
          <a:p>
            <a:pPr eaLnBrk="1" hangingPunct="1">
              <a:lnSpc>
                <a:spcPct val="80000"/>
              </a:lnSpc>
            </a:pPr>
            <a:r>
              <a:rPr lang="en-US" altLang="en-US" dirty="0"/>
              <a:t>  </a:t>
            </a:r>
          </a:p>
          <a:p>
            <a:pPr marL="285750" indent="-285750" eaLnBrk="1" hangingPunct="1">
              <a:lnSpc>
                <a:spcPct val="80000"/>
              </a:lnSpc>
              <a:buFont typeface="Arial" panose="020B0604020202020204" pitchFamily="34" charset="0"/>
              <a:buChar char="•"/>
            </a:pPr>
            <a:r>
              <a:rPr lang="en-US" altLang="en-US" dirty="0"/>
              <a:t>All these components take up quite a bit of valuable space within a robot. </a:t>
            </a:r>
          </a:p>
          <a:p>
            <a:pPr marL="285750" indent="-285750" eaLnBrk="1" hangingPunct="1">
              <a:lnSpc>
                <a:spcPct val="80000"/>
              </a:lnSpc>
              <a:buFont typeface="Arial" panose="020B0604020202020204" pitchFamily="34" charset="0"/>
              <a:buChar char="•"/>
            </a:pPr>
            <a:endParaRPr lang="en-US" altLang="en-US" dirty="0"/>
          </a:p>
          <a:p>
            <a:pPr marL="285750" indent="-285750" eaLnBrk="1" hangingPunct="1">
              <a:lnSpc>
                <a:spcPct val="80000"/>
              </a:lnSpc>
              <a:buFont typeface="Arial" panose="020B0604020202020204" pitchFamily="34" charset="0"/>
              <a:buChar char="•"/>
            </a:pPr>
            <a:r>
              <a:rPr lang="en-US" altLang="en-US" dirty="0"/>
              <a:t>Limited fine control</a:t>
            </a:r>
          </a:p>
          <a:p>
            <a:pPr eaLnBrk="1" hangingPunct="1">
              <a:lnSpc>
                <a:spcPct val="80000"/>
              </a:lnSpc>
            </a:pPr>
            <a:endParaRPr lang="en-US" altLang="en-US" dirty="0"/>
          </a:p>
          <a:p>
            <a:pPr marL="285750" indent="-285750" eaLnBrk="1" hangingPunct="1">
              <a:lnSpc>
                <a:spcPct val="80000"/>
              </a:lnSpc>
              <a:buFont typeface="Arial" panose="020B0604020202020204" pitchFamily="34" charset="0"/>
              <a:buChar char="•"/>
            </a:pPr>
            <a:r>
              <a:rPr lang="en-US" altLang="en-US" dirty="0"/>
              <a:t>No weight advantage if only one cylinder used (still need compressor, reservoir, pressure sensors, regulator) </a:t>
            </a:r>
          </a:p>
          <a:p>
            <a:pPr marL="285750" indent="-285750" eaLnBrk="1" hangingPunct="1">
              <a:lnSpc>
                <a:spcPct val="80000"/>
              </a:lnSpc>
              <a:buFont typeface="Arial" panose="020B0604020202020204" pitchFamily="34" charset="0"/>
              <a:buChar char="•"/>
            </a:pPr>
            <a:endParaRPr lang="en-US" altLang="en-US" dirty="0"/>
          </a:p>
          <a:p>
            <a:pPr marL="285750" indent="-285750" eaLnBrk="1" hangingPunct="1">
              <a:lnSpc>
                <a:spcPct val="80000"/>
              </a:lnSpc>
              <a:buFont typeface="Arial" panose="020B0604020202020204" pitchFamily="34" charset="0"/>
              <a:buChar char="•"/>
            </a:pPr>
            <a:r>
              <a:rPr lang="en-US" altLang="en-US" dirty="0"/>
              <a:t>Noise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6671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Typical Pneumatic Setup</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altLang="en-US" sz="2000" b="1" dirty="0"/>
              <a:t>A Pneumatic System is normally designed with the following components</a:t>
            </a:r>
            <a:endParaRPr sz="2000" b="1" dirty="0">
              <a:latin typeface="+mn-lt"/>
              <a:cs typeface="SimSun"/>
            </a:endParaRPr>
          </a:p>
        </p:txBody>
      </p:sp>
      <p:pic>
        <p:nvPicPr>
          <p:cNvPr id="5" name="Picture 4" descr="Pneumatic%20Schematic">
            <a:extLst>
              <a:ext uri="{FF2B5EF4-FFF2-40B4-BE49-F238E27FC236}">
                <a16:creationId xmlns:a16="http://schemas.microsoft.com/office/drawing/2014/main" id="{3463E218-6C18-4709-8C37-AA4FA38CE38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1058355" y="1453896"/>
            <a:ext cx="6610413" cy="49582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1377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Single Action Cylinder</a:t>
            </a:r>
            <a:endParaRPr sz="2000" b="1" dirty="0">
              <a:latin typeface="+mn-lt"/>
              <a:cs typeface="SimSun"/>
            </a:endParaRPr>
          </a:p>
        </p:txBody>
      </p:sp>
      <p:pic>
        <p:nvPicPr>
          <p:cNvPr id="2" name="Picture 1">
            <a:extLst>
              <a:ext uri="{FF2B5EF4-FFF2-40B4-BE49-F238E27FC236}">
                <a16:creationId xmlns:a16="http://schemas.microsoft.com/office/drawing/2014/main" id="{92332ED8-B089-423E-A5A5-3EAB78550D99}"/>
              </a:ext>
            </a:extLst>
          </p:cNvPr>
          <p:cNvPicPr>
            <a:picLocks noChangeAspect="1"/>
          </p:cNvPicPr>
          <p:nvPr/>
        </p:nvPicPr>
        <p:blipFill>
          <a:blip r:embed="rId3"/>
          <a:stretch>
            <a:fillRect/>
          </a:stretch>
        </p:blipFill>
        <p:spPr>
          <a:xfrm>
            <a:off x="796861" y="1293241"/>
            <a:ext cx="4429125" cy="2190750"/>
          </a:xfrm>
          <a:prstGeom prst="rect">
            <a:avLst/>
          </a:prstGeom>
        </p:spPr>
      </p:pic>
      <p:pic>
        <p:nvPicPr>
          <p:cNvPr id="3" name="Picture 2">
            <a:extLst>
              <a:ext uri="{FF2B5EF4-FFF2-40B4-BE49-F238E27FC236}">
                <a16:creationId xmlns:a16="http://schemas.microsoft.com/office/drawing/2014/main" id="{102C1194-3892-4CA5-B4F4-D6A9B7612782}"/>
              </a:ext>
            </a:extLst>
          </p:cNvPr>
          <p:cNvPicPr>
            <a:picLocks noChangeAspect="1"/>
          </p:cNvPicPr>
          <p:nvPr/>
        </p:nvPicPr>
        <p:blipFill>
          <a:blip r:embed="rId4"/>
          <a:stretch>
            <a:fillRect/>
          </a:stretch>
        </p:blipFill>
        <p:spPr>
          <a:xfrm>
            <a:off x="1742948" y="4643564"/>
            <a:ext cx="5715000" cy="1266825"/>
          </a:xfrm>
          <a:prstGeom prst="rect">
            <a:avLst/>
          </a:prstGeom>
        </p:spPr>
      </p:pic>
      <p:grpSp>
        <p:nvGrpSpPr>
          <p:cNvPr id="7" name="Group 6">
            <a:extLst>
              <a:ext uri="{FF2B5EF4-FFF2-40B4-BE49-F238E27FC236}">
                <a16:creationId xmlns:a16="http://schemas.microsoft.com/office/drawing/2014/main" id="{947BD728-2381-493D-BEBB-87B8BFF493DD}"/>
              </a:ext>
            </a:extLst>
          </p:cNvPr>
          <p:cNvGrpSpPr/>
          <p:nvPr/>
        </p:nvGrpSpPr>
        <p:grpSpPr>
          <a:xfrm>
            <a:off x="5076190" y="1242235"/>
            <a:ext cx="3949954" cy="2631074"/>
            <a:chOff x="5076190" y="1242235"/>
            <a:chExt cx="3949954" cy="2631074"/>
          </a:xfrm>
        </p:grpSpPr>
        <p:pic>
          <p:nvPicPr>
            <p:cNvPr id="1026" name="Picture 2" descr="Image result for single action cylinder">
              <a:extLst>
                <a:ext uri="{FF2B5EF4-FFF2-40B4-BE49-F238E27FC236}">
                  <a16:creationId xmlns:a16="http://schemas.microsoft.com/office/drawing/2014/main" id="{5A38E3EA-8B94-4B4A-A536-9B1B662EA8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190" y="1242235"/>
              <a:ext cx="3799586" cy="224175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a:extLst>
                <a:ext uri="{FF2B5EF4-FFF2-40B4-BE49-F238E27FC236}">
                  <a16:creationId xmlns:a16="http://schemas.microsoft.com/office/drawing/2014/main" id="{6C99E800-6F80-409C-B2FC-7C5EAEBFF8A5}"/>
                </a:ext>
              </a:extLst>
            </p:cNvPr>
            <p:cNvSpPr txBox="1">
              <a:spLocks noChangeArrowheads="1"/>
            </p:cNvSpPr>
            <p:nvPr/>
          </p:nvSpPr>
          <p:spPr>
            <a:xfrm>
              <a:off x="5543042" y="3363976"/>
              <a:ext cx="3483102" cy="509333"/>
            </a:xfrm>
            <a:prstGeom prst="rect">
              <a:avLst/>
            </a:prstGeom>
            <a:noFill/>
          </p:spPr>
          <p:txBody>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1800" dirty="0"/>
                <a:t>Force =PA</a:t>
              </a:r>
            </a:p>
            <a:p>
              <a:pPr>
                <a:buFont typeface="Arial" panose="020B0604020202020204" pitchFamily="34" charset="0"/>
                <a:buChar char="•"/>
              </a:pPr>
              <a:r>
                <a:rPr lang="en-US" altLang="en-US" sz="1800" dirty="0"/>
                <a:t>A=effective area of cylinder</a:t>
              </a:r>
            </a:p>
            <a:p>
              <a:pPr>
                <a:buFont typeface="Arial" panose="020B0604020202020204" pitchFamily="34" charset="0"/>
                <a:buChar char="•"/>
              </a:pPr>
              <a:r>
                <a:rPr lang="en-US" altLang="en-US" sz="1800" dirty="0"/>
                <a:t>P=pressure</a:t>
              </a:r>
            </a:p>
          </p:txBody>
        </p:sp>
      </p:grpSp>
    </p:spTree>
    <p:extLst>
      <p:ext uri="{BB962C8B-B14F-4D97-AF65-F5344CB8AC3E}">
        <p14:creationId xmlns:p14="http://schemas.microsoft.com/office/powerpoint/2010/main" val="180213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Double Action Cylinder</a:t>
            </a:r>
            <a:endParaRPr sz="2000" b="1" dirty="0">
              <a:latin typeface="+mn-lt"/>
              <a:cs typeface="SimSun"/>
            </a:endParaRPr>
          </a:p>
        </p:txBody>
      </p:sp>
      <p:pic>
        <p:nvPicPr>
          <p:cNvPr id="11" name="Picture 1">
            <a:extLst>
              <a:ext uri="{FF2B5EF4-FFF2-40B4-BE49-F238E27FC236}">
                <a16:creationId xmlns:a16="http://schemas.microsoft.com/office/drawing/2014/main" id="{E11A3BB0-DBFA-4723-BB44-6163A95236FB}"/>
              </a:ext>
            </a:extLst>
          </p:cNvPr>
          <p:cNvPicPr>
            <a:picLocks noChangeAspect="1"/>
          </p:cNvPicPr>
          <p:nvPr/>
        </p:nvPicPr>
        <p:blipFill rotWithShape="1">
          <a:blip r:embed="rId3">
            <a:extLst>
              <a:ext uri="{28A0092B-C50C-407E-A947-70E740481C1C}">
                <a14:useLocalDpi xmlns:a14="http://schemas.microsoft.com/office/drawing/2010/main" val="0"/>
              </a:ext>
            </a:extLst>
          </a:blip>
          <a:srcRect l="23269" t="22885" r="63216" b="50365"/>
          <a:stretch/>
        </p:blipFill>
        <p:spPr bwMode="auto">
          <a:xfrm>
            <a:off x="272288" y="1140968"/>
            <a:ext cx="4299712" cy="2393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a:extLst>
              <a:ext uri="{FF2B5EF4-FFF2-40B4-BE49-F238E27FC236}">
                <a16:creationId xmlns:a16="http://schemas.microsoft.com/office/drawing/2014/main" id="{625B534C-359F-4C11-BD15-C5BEA1998466}"/>
              </a:ext>
            </a:extLst>
          </p:cNvPr>
          <p:cNvPicPr>
            <a:picLocks noChangeAspect="1"/>
          </p:cNvPicPr>
          <p:nvPr/>
        </p:nvPicPr>
        <p:blipFill rotWithShape="1">
          <a:blip r:embed="rId4">
            <a:extLst>
              <a:ext uri="{28A0092B-C50C-407E-A947-70E740481C1C}">
                <a14:useLocalDpi xmlns:a14="http://schemas.microsoft.com/office/drawing/2010/main" val="0"/>
              </a:ext>
            </a:extLst>
          </a:blip>
          <a:srcRect l="58269" t="18423" r="13185" b="36242"/>
          <a:stretch/>
        </p:blipFill>
        <p:spPr bwMode="auto">
          <a:xfrm>
            <a:off x="1251712" y="3332184"/>
            <a:ext cx="5921248" cy="264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descr="Image result for single action cylinder">
            <a:extLst>
              <a:ext uri="{FF2B5EF4-FFF2-40B4-BE49-F238E27FC236}">
                <a16:creationId xmlns:a16="http://schemas.microsoft.com/office/drawing/2014/main" id="{A06BA7AC-A762-4C0F-AA8F-0A52E129D577}"/>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893247" y="1724997"/>
            <a:ext cx="3807777" cy="998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12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fade">
                                      <p:cBhvr>
                                        <p:cTn id="17" dur="500"/>
                                        <p:tgtEl>
                                          <p:spTgt spid="30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Rotary actuators can come in continuous or limited action types</a:t>
            </a:r>
            <a:endParaRPr sz="2000" b="1" dirty="0">
              <a:latin typeface="+mn-lt"/>
              <a:cs typeface="SimSun"/>
            </a:endParaRPr>
          </a:p>
        </p:txBody>
      </p:sp>
      <p:pic>
        <p:nvPicPr>
          <p:cNvPr id="2" name="Picture 1">
            <a:extLst>
              <a:ext uri="{FF2B5EF4-FFF2-40B4-BE49-F238E27FC236}">
                <a16:creationId xmlns:a16="http://schemas.microsoft.com/office/drawing/2014/main" id="{DD377841-7235-4970-8F1A-33BE81143F1C}"/>
              </a:ext>
            </a:extLst>
          </p:cNvPr>
          <p:cNvPicPr>
            <a:picLocks noChangeAspect="1"/>
          </p:cNvPicPr>
          <p:nvPr/>
        </p:nvPicPr>
        <p:blipFill>
          <a:blip r:embed="rId3"/>
          <a:stretch>
            <a:fillRect/>
          </a:stretch>
        </p:blipFill>
        <p:spPr>
          <a:xfrm>
            <a:off x="5219700" y="1493468"/>
            <a:ext cx="3924300" cy="2305050"/>
          </a:xfrm>
          <a:prstGeom prst="rect">
            <a:avLst/>
          </a:prstGeom>
        </p:spPr>
      </p:pic>
      <p:pic>
        <p:nvPicPr>
          <p:cNvPr id="3" name="Picture 2">
            <a:extLst>
              <a:ext uri="{FF2B5EF4-FFF2-40B4-BE49-F238E27FC236}">
                <a16:creationId xmlns:a16="http://schemas.microsoft.com/office/drawing/2014/main" id="{3DD4DF3D-9AF3-4B0D-A41E-1B3CDE71EA18}"/>
              </a:ext>
            </a:extLst>
          </p:cNvPr>
          <p:cNvPicPr>
            <a:picLocks noChangeAspect="1"/>
          </p:cNvPicPr>
          <p:nvPr/>
        </p:nvPicPr>
        <p:blipFill rotWithShape="1">
          <a:blip r:embed="rId4"/>
          <a:srcRect l="1980" t="2892" r="4463" b="4501"/>
          <a:stretch/>
        </p:blipFill>
        <p:spPr>
          <a:xfrm>
            <a:off x="715263" y="1332992"/>
            <a:ext cx="4901185" cy="2690368"/>
          </a:xfrm>
          <a:prstGeom prst="rect">
            <a:avLst/>
          </a:prstGeom>
        </p:spPr>
      </p:pic>
      <p:pic>
        <p:nvPicPr>
          <p:cNvPr id="4" name="Picture 3">
            <a:extLst>
              <a:ext uri="{FF2B5EF4-FFF2-40B4-BE49-F238E27FC236}">
                <a16:creationId xmlns:a16="http://schemas.microsoft.com/office/drawing/2014/main" id="{A634C19A-EE80-4DA6-85CA-6CA6E47CE3AC}"/>
              </a:ext>
            </a:extLst>
          </p:cNvPr>
          <p:cNvPicPr>
            <a:picLocks noChangeAspect="1"/>
          </p:cNvPicPr>
          <p:nvPr/>
        </p:nvPicPr>
        <p:blipFill>
          <a:blip r:embed="rId5"/>
          <a:stretch>
            <a:fillRect/>
          </a:stretch>
        </p:blipFill>
        <p:spPr>
          <a:xfrm>
            <a:off x="2836894" y="4365828"/>
            <a:ext cx="3870008" cy="2178912"/>
          </a:xfrm>
          <a:prstGeom prst="rect">
            <a:avLst/>
          </a:prstGeom>
        </p:spPr>
      </p:pic>
    </p:spTree>
    <p:extLst>
      <p:ext uri="{BB962C8B-B14F-4D97-AF65-F5344CB8AC3E}">
        <p14:creationId xmlns:p14="http://schemas.microsoft.com/office/powerpoint/2010/main" val="251549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Pneumatics can also be used to simulate muscle actions</a:t>
            </a:r>
            <a:endParaRPr sz="2000" b="1" dirty="0">
              <a:latin typeface="+mn-lt"/>
              <a:cs typeface="SimSun"/>
            </a:endParaRPr>
          </a:p>
        </p:txBody>
      </p:sp>
      <p:sp>
        <p:nvSpPr>
          <p:cNvPr id="7" name="object 6">
            <a:extLst>
              <a:ext uri="{FF2B5EF4-FFF2-40B4-BE49-F238E27FC236}">
                <a16:creationId xmlns:a16="http://schemas.microsoft.com/office/drawing/2014/main" id="{CD8E4618-77D9-46AE-8A3C-2C0EBB8EA5B2}"/>
              </a:ext>
            </a:extLst>
          </p:cNvPr>
          <p:cNvSpPr/>
          <p:nvPr/>
        </p:nvSpPr>
        <p:spPr>
          <a:xfrm>
            <a:off x="6087872" y="1180847"/>
            <a:ext cx="2535604" cy="3102609"/>
          </a:xfrm>
          <a:prstGeom prst="rect">
            <a:avLst/>
          </a:prstGeom>
          <a:blipFill>
            <a:blip r:embed="rId3" cstate="print"/>
            <a:stretch>
              <a:fillRect/>
            </a:stretch>
          </a:blipFill>
        </p:spPr>
        <p:txBody>
          <a:bodyPr wrap="square" lIns="0" tIns="0" rIns="0" bIns="0" rtlCol="0"/>
          <a:lstStyle/>
          <a:p>
            <a:endParaRPr dirty="0"/>
          </a:p>
        </p:txBody>
      </p:sp>
      <p:grpSp>
        <p:nvGrpSpPr>
          <p:cNvPr id="6" name="Group 5">
            <a:extLst>
              <a:ext uri="{FF2B5EF4-FFF2-40B4-BE49-F238E27FC236}">
                <a16:creationId xmlns:a16="http://schemas.microsoft.com/office/drawing/2014/main" id="{C271EF24-46A7-4699-80E2-EBEAE12D04D0}"/>
              </a:ext>
            </a:extLst>
          </p:cNvPr>
          <p:cNvGrpSpPr/>
          <p:nvPr/>
        </p:nvGrpSpPr>
        <p:grpSpPr>
          <a:xfrm>
            <a:off x="587248" y="1222249"/>
            <a:ext cx="5411216" cy="2906775"/>
            <a:chOff x="587248" y="1222249"/>
            <a:chExt cx="5411216" cy="2906775"/>
          </a:xfrm>
        </p:grpSpPr>
        <p:pic>
          <p:nvPicPr>
            <p:cNvPr id="8" name="Picture 3">
              <a:extLst>
                <a:ext uri="{FF2B5EF4-FFF2-40B4-BE49-F238E27FC236}">
                  <a16:creationId xmlns:a16="http://schemas.microsoft.com/office/drawing/2014/main" id="{14D524F5-7F90-4BE0-8C0A-6057064021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054"/>
            <a:stretch/>
          </p:blipFill>
          <p:spPr>
            <a:xfrm>
              <a:off x="587248" y="1222249"/>
              <a:ext cx="5411216" cy="2795795"/>
            </a:xfrm>
            <a:prstGeom prst="rect">
              <a:avLst/>
            </a:prstGeom>
          </p:spPr>
        </p:pic>
        <p:sp>
          <p:nvSpPr>
            <p:cNvPr id="5" name="Rectangle 4">
              <a:extLst>
                <a:ext uri="{FF2B5EF4-FFF2-40B4-BE49-F238E27FC236}">
                  <a16:creationId xmlns:a16="http://schemas.microsoft.com/office/drawing/2014/main" id="{F21C1647-2536-4EFC-9DED-8A465AC7865A}"/>
                </a:ext>
              </a:extLst>
            </p:cNvPr>
            <p:cNvSpPr/>
            <p:nvPr/>
          </p:nvSpPr>
          <p:spPr>
            <a:xfrm>
              <a:off x="3966464" y="3763264"/>
              <a:ext cx="1686560" cy="3657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pic>
        <p:nvPicPr>
          <p:cNvPr id="11" name="Picture 3">
            <a:extLst>
              <a:ext uri="{FF2B5EF4-FFF2-40B4-BE49-F238E27FC236}">
                <a16:creationId xmlns:a16="http://schemas.microsoft.com/office/drawing/2014/main" id="{77CD14B2-4CC3-452D-B831-5D5AB53E37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773907" y="4129024"/>
            <a:ext cx="4564443" cy="2510268"/>
          </a:xfrm>
          <a:prstGeom prst="rect">
            <a:avLst/>
          </a:prstGeom>
        </p:spPr>
      </p:pic>
      <p:pic>
        <p:nvPicPr>
          <p:cNvPr id="12" name="Picture 3">
            <a:extLst>
              <a:ext uri="{FF2B5EF4-FFF2-40B4-BE49-F238E27FC236}">
                <a16:creationId xmlns:a16="http://schemas.microsoft.com/office/drawing/2014/main" id="{1AF23DF6-61E6-4EF4-ADFE-0474C39AEC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5998464" y="4561331"/>
            <a:ext cx="2817368" cy="2148840"/>
          </a:xfrm>
          <a:prstGeom prst="rect">
            <a:avLst/>
          </a:prstGeom>
        </p:spPr>
      </p:pic>
    </p:spTree>
    <p:extLst>
      <p:ext uri="{BB962C8B-B14F-4D97-AF65-F5344CB8AC3E}">
        <p14:creationId xmlns:p14="http://schemas.microsoft.com/office/powerpoint/2010/main" val="25782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Multi position and telescoping are also options</a:t>
            </a:r>
            <a:endParaRPr sz="2000" b="1" dirty="0">
              <a:latin typeface="+mn-lt"/>
              <a:cs typeface="SimSun"/>
            </a:endParaRPr>
          </a:p>
        </p:txBody>
      </p:sp>
      <p:pic>
        <p:nvPicPr>
          <p:cNvPr id="2" name="Picture 1">
            <a:extLst>
              <a:ext uri="{FF2B5EF4-FFF2-40B4-BE49-F238E27FC236}">
                <a16:creationId xmlns:a16="http://schemas.microsoft.com/office/drawing/2014/main" id="{A9217988-F9BC-4E89-A6A2-A7D9FEB8F466}"/>
              </a:ext>
            </a:extLst>
          </p:cNvPr>
          <p:cNvPicPr>
            <a:picLocks noChangeAspect="1"/>
          </p:cNvPicPr>
          <p:nvPr/>
        </p:nvPicPr>
        <p:blipFill rotWithShape="1">
          <a:blip r:embed="rId3"/>
          <a:srcRect l="8003" t="-6770" r="3520" b="6770"/>
          <a:stretch/>
        </p:blipFill>
        <p:spPr>
          <a:xfrm>
            <a:off x="2016589" y="605557"/>
            <a:ext cx="4592320" cy="3896899"/>
          </a:xfrm>
          <a:prstGeom prst="rect">
            <a:avLst/>
          </a:prstGeom>
        </p:spPr>
      </p:pic>
      <p:pic>
        <p:nvPicPr>
          <p:cNvPr id="3" name="Picture 2">
            <a:extLst>
              <a:ext uri="{FF2B5EF4-FFF2-40B4-BE49-F238E27FC236}">
                <a16:creationId xmlns:a16="http://schemas.microsoft.com/office/drawing/2014/main" id="{06F46ED4-9AC5-49A9-881F-712BC7CE81F6}"/>
              </a:ext>
            </a:extLst>
          </p:cNvPr>
          <p:cNvPicPr>
            <a:picLocks noChangeAspect="1"/>
          </p:cNvPicPr>
          <p:nvPr/>
        </p:nvPicPr>
        <p:blipFill>
          <a:blip r:embed="rId4"/>
          <a:stretch>
            <a:fillRect/>
          </a:stretch>
        </p:blipFill>
        <p:spPr>
          <a:xfrm>
            <a:off x="1601153" y="4674490"/>
            <a:ext cx="5352352" cy="1577953"/>
          </a:xfrm>
          <a:prstGeom prst="rect">
            <a:avLst/>
          </a:prstGeom>
        </p:spPr>
      </p:pic>
    </p:spTree>
    <p:extLst>
      <p:ext uri="{BB962C8B-B14F-4D97-AF65-F5344CB8AC3E}">
        <p14:creationId xmlns:p14="http://schemas.microsoft.com/office/powerpoint/2010/main" val="404780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Pneumatic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Pneumatic control is normally achieved with electric solenoid valves</a:t>
            </a:r>
            <a:endParaRPr sz="2000" b="1" dirty="0">
              <a:latin typeface="+mn-lt"/>
              <a:cs typeface="SimSun"/>
            </a:endParaRPr>
          </a:p>
        </p:txBody>
      </p:sp>
      <p:pic>
        <p:nvPicPr>
          <p:cNvPr id="5" name="Picture 4">
            <a:extLst>
              <a:ext uri="{FF2B5EF4-FFF2-40B4-BE49-F238E27FC236}">
                <a16:creationId xmlns:a16="http://schemas.microsoft.com/office/drawing/2014/main" id="{863EAF03-6769-415A-BDF8-ED3BC31F10CB}"/>
              </a:ext>
            </a:extLst>
          </p:cNvPr>
          <p:cNvPicPr>
            <a:picLocks noChangeAspect="1"/>
          </p:cNvPicPr>
          <p:nvPr/>
        </p:nvPicPr>
        <p:blipFill>
          <a:blip r:embed="rId3"/>
          <a:stretch>
            <a:fillRect/>
          </a:stretch>
        </p:blipFill>
        <p:spPr>
          <a:xfrm>
            <a:off x="1617472" y="1040638"/>
            <a:ext cx="5138838" cy="2625090"/>
          </a:xfrm>
          <a:prstGeom prst="rect">
            <a:avLst/>
          </a:prstGeom>
        </p:spPr>
      </p:pic>
      <p:pic>
        <p:nvPicPr>
          <p:cNvPr id="6" name="Picture 5">
            <a:extLst>
              <a:ext uri="{FF2B5EF4-FFF2-40B4-BE49-F238E27FC236}">
                <a16:creationId xmlns:a16="http://schemas.microsoft.com/office/drawing/2014/main" id="{0C37B37D-8BB5-4839-8513-A3968C95A1E2}"/>
              </a:ext>
            </a:extLst>
          </p:cNvPr>
          <p:cNvPicPr>
            <a:picLocks noChangeAspect="1"/>
          </p:cNvPicPr>
          <p:nvPr/>
        </p:nvPicPr>
        <p:blipFill rotWithShape="1">
          <a:blip r:embed="rId4"/>
          <a:srcRect t="9727" b="6636"/>
          <a:stretch/>
        </p:blipFill>
        <p:spPr>
          <a:xfrm>
            <a:off x="3268556" y="3925824"/>
            <a:ext cx="5162550" cy="2804160"/>
          </a:xfrm>
          <a:prstGeom prst="rect">
            <a:avLst/>
          </a:prstGeom>
        </p:spPr>
      </p:pic>
      <p:sp>
        <p:nvSpPr>
          <p:cNvPr id="10" name="object 4">
            <a:extLst>
              <a:ext uri="{FF2B5EF4-FFF2-40B4-BE49-F238E27FC236}">
                <a16:creationId xmlns:a16="http://schemas.microsoft.com/office/drawing/2014/main" id="{AB0A02F0-7B6B-47EA-B9E9-3DBC5C43D107}"/>
              </a:ext>
            </a:extLst>
          </p:cNvPr>
          <p:cNvSpPr txBox="1"/>
          <p:nvPr/>
        </p:nvSpPr>
        <p:spPr>
          <a:xfrm>
            <a:off x="292100" y="3910904"/>
            <a:ext cx="2739644" cy="936154"/>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It is also important to treat your incoming air supply</a:t>
            </a:r>
            <a:endParaRPr sz="2000" b="1" dirty="0">
              <a:latin typeface="+mn-lt"/>
              <a:cs typeface="SimSun"/>
            </a:endParaRPr>
          </a:p>
        </p:txBody>
      </p:sp>
    </p:spTree>
    <p:extLst>
      <p:ext uri="{BB962C8B-B14F-4D97-AF65-F5344CB8AC3E}">
        <p14:creationId xmlns:p14="http://schemas.microsoft.com/office/powerpoint/2010/main" val="205458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Hydraulic Advantages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Reasons for choosing hydraulic actuation</a:t>
            </a:r>
            <a:endParaRPr sz="2000" b="1" dirty="0">
              <a:latin typeface="+mn-lt"/>
              <a:cs typeface="SimSun"/>
            </a:endParaRPr>
          </a:p>
        </p:txBody>
      </p:sp>
      <p:sp>
        <p:nvSpPr>
          <p:cNvPr id="2" name="Rectangle 1"/>
          <p:cNvSpPr/>
          <p:nvPr/>
        </p:nvSpPr>
        <p:spPr>
          <a:xfrm>
            <a:off x="674913" y="1353729"/>
            <a:ext cx="6291943" cy="4524315"/>
          </a:xfrm>
          <a:prstGeom prst="rect">
            <a:avLst/>
          </a:prstGeom>
        </p:spPr>
        <p:txBody>
          <a:bodyPr wrap="square">
            <a:spAutoFit/>
          </a:bodyPr>
          <a:lstStyle/>
          <a:p>
            <a:pPr marL="285750" indent="-285750" algn="just">
              <a:buFont typeface="Arial" panose="020B0604020202020204" pitchFamily="34" charset="0"/>
              <a:buChar char="•"/>
            </a:pPr>
            <a:r>
              <a:rPr lang="en-US" dirty="0"/>
              <a:t>High efficiency and high power to size ratio</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Complete and accurate control over speed position and direction of actuators are possible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No mechanical linkage is required i.e., a direct drive is obtained with mechanical simplicity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They generally have a greater load carrying capacity than electric and pneumatic actuators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Self lubricating and non corrosive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Hydraulic robots are more capable of with standing shock loads than electric robots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686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Hydraulic Disadvantages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Reasons for not choosing Hydraulic actuation</a:t>
            </a:r>
            <a:endParaRPr sz="2000" b="1" dirty="0">
              <a:latin typeface="+mn-lt"/>
              <a:cs typeface="SimSun"/>
            </a:endParaRPr>
          </a:p>
        </p:txBody>
      </p:sp>
      <p:sp>
        <p:nvSpPr>
          <p:cNvPr id="2" name="Rectangle 1"/>
          <p:cNvSpPr/>
          <p:nvPr/>
        </p:nvSpPr>
        <p:spPr>
          <a:xfrm>
            <a:off x="674913" y="1613825"/>
            <a:ext cx="6291943" cy="3942618"/>
          </a:xfrm>
          <a:prstGeom prst="rect">
            <a:avLst/>
          </a:prstGeom>
        </p:spPr>
        <p:txBody>
          <a:bodyPr wrap="square">
            <a:spAutoFit/>
          </a:bodyPr>
          <a:lstStyle/>
          <a:p>
            <a:pPr marL="285750" indent="-285750" algn="just">
              <a:buFont typeface="Arial" panose="020B0604020202020204" pitchFamily="34" charset="0"/>
              <a:buChar char="•"/>
            </a:pPr>
            <a:r>
              <a:rPr lang="en-US" dirty="0"/>
              <a:t>Leakages can occur causing a loss in performance and general contamination of the work area. There is also a higher fire risk</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power pack can be noisy typically about 70 decibel or louder if not protected by an acoustic muffler</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Changes in temp alter the viscosity of hydraulic fluid. Thus at low temperatures fluid viscosity will increase possibly causing sluggish movement of the robot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altLang="en-US" dirty="0"/>
              <a:t>Bad efficiency</a:t>
            </a:r>
          </a:p>
          <a:p>
            <a:pPr algn="just"/>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5120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Typical Hydraulic Setup</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Hydraulic setups are similar to pneumatic ones but need to include a fluid reservoir, pump and a return system</a:t>
            </a:r>
            <a:endParaRPr sz="2000" b="1" dirty="0">
              <a:latin typeface="+mn-lt"/>
              <a:cs typeface="SimSun"/>
            </a:endParaRPr>
          </a:p>
        </p:txBody>
      </p:sp>
      <p:grpSp>
        <p:nvGrpSpPr>
          <p:cNvPr id="3" name="Group 2">
            <a:extLst>
              <a:ext uri="{FF2B5EF4-FFF2-40B4-BE49-F238E27FC236}">
                <a16:creationId xmlns:a16="http://schemas.microsoft.com/office/drawing/2014/main" id="{178E9B43-DB5C-42BE-A949-677E90F11526}"/>
              </a:ext>
            </a:extLst>
          </p:cNvPr>
          <p:cNvGrpSpPr/>
          <p:nvPr/>
        </p:nvGrpSpPr>
        <p:grpSpPr>
          <a:xfrm>
            <a:off x="333248" y="2031112"/>
            <a:ext cx="8729472" cy="2853750"/>
            <a:chOff x="369824" y="1588136"/>
            <a:chExt cx="8729472" cy="2853750"/>
          </a:xfrm>
        </p:grpSpPr>
        <p:pic>
          <p:nvPicPr>
            <p:cNvPr id="5122" name="Picture 2" descr="Image result for Hydraulic system design diagram">
              <a:extLst>
                <a:ext uri="{FF2B5EF4-FFF2-40B4-BE49-F238E27FC236}">
                  <a16:creationId xmlns:a16="http://schemas.microsoft.com/office/drawing/2014/main" id="{05423714-004D-4110-8E6F-125BA83264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824" y="1588136"/>
              <a:ext cx="8729472" cy="28537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8038977-A855-49E8-A4B3-DD09C021B50D}"/>
                </a:ext>
              </a:extLst>
            </p:cNvPr>
            <p:cNvSpPr/>
            <p:nvPr/>
          </p:nvSpPr>
          <p:spPr>
            <a:xfrm>
              <a:off x="8123936" y="2552192"/>
              <a:ext cx="857504" cy="21945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268991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Hydraulic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Piston based actuator come in the same single and double action types as pneumatic actuators</a:t>
            </a:r>
            <a:endParaRPr sz="2000" b="1" dirty="0">
              <a:latin typeface="+mn-lt"/>
              <a:cs typeface="SimSun"/>
            </a:endParaRPr>
          </a:p>
        </p:txBody>
      </p:sp>
      <p:grpSp>
        <p:nvGrpSpPr>
          <p:cNvPr id="2" name="Group 1">
            <a:extLst>
              <a:ext uri="{FF2B5EF4-FFF2-40B4-BE49-F238E27FC236}">
                <a16:creationId xmlns:a16="http://schemas.microsoft.com/office/drawing/2014/main" id="{3046330E-6948-4A3E-8BC5-477E87B81500}"/>
              </a:ext>
            </a:extLst>
          </p:cNvPr>
          <p:cNvGrpSpPr/>
          <p:nvPr/>
        </p:nvGrpSpPr>
        <p:grpSpPr>
          <a:xfrm>
            <a:off x="152399" y="884238"/>
            <a:ext cx="8991601" cy="5821362"/>
            <a:chOff x="152399" y="884238"/>
            <a:chExt cx="8991601" cy="5821362"/>
          </a:xfrm>
        </p:grpSpPr>
        <p:sp>
          <p:nvSpPr>
            <p:cNvPr id="11" name="Slide Number Placeholder 5">
              <a:extLst>
                <a:ext uri="{FF2B5EF4-FFF2-40B4-BE49-F238E27FC236}">
                  <a16:creationId xmlns:a16="http://schemas.microsoft.com/office/drawing/2014/main" id="{DDE4D9B7-0898-431B-BEBE-CFC728D56D6E}"/>
                </a:ext>
              </a:extLst>
            </p:cNvPr>
            <p:cNvSpPr txBox="1">
              <a:spLocks/>
            </p:cNvSpPr>
            <p:nvPr/>
          </p:nvSpPr>
          <p:spPr>
            <a:xfrm>
              <a:off x="6553200" y="6248400"/>
              <a:ext cx="1905000" cy="457200"/>
            </a:xfrm>
            <a:prstGeom prst="rect">
              <a:avLst/>
            </a:prstGeom>
            <a:noFill/>
          </p:spPr>
          <p:txBody>
            <a:bodyPr/>
            <a:lstStyle>
              <a:defPPr>
                <a:defRPr lang="en-US"/>
              </a:defPPr>
              <a:lvl1pPr algn="l" defTabSz="457200" rtl="0" eaLnBrk="0" fontAlgn="base" hangingPunct="0">
                <a:spcBef>
                  <a:spcPct val="20000"/>
                </a:spcBef>
                <a:spcAft>
                  <a:spcPct val="0"/>
                </a:spcAft>
                <a:buClr>
                  <a:schemeClr val="bg2"/>
                </a:buClr>
                <a:buFont typeface="Monotype Sorts" pitchFamily="2" charset="2"/>
                <a:buChar char="l"/>
                <a:defRPr sz="3200" kern="1200">
                  <a:solidFill>
                    <a:schemeClr val="bg2"/>
                  </a:solidFill>
                  <a:latin typeface="Times New Roman" panose="02020603050405020304" pitchFamily="18"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lr>
                  <a:schemeClr val="bg2"/>
                </a:buClr>
                <a:buChar char="–"/>
                <a:defRPr sz="2800" kern="1200">
                  <a:solidFill>
                    <a:schemeClr val="bg2"/>
                  </a:solidFill>
                  <a:latin typeface="Times New Roman" panose="02020603050405020304" pitchFamily="18"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lr>
                  <a:schemeClr val="bg2"/>
                </a:buClr>
                <a:buFont typeface="Monotype Sorts" pitchFamily="2" charset="2"/>
                <a:buChar char="l"/>
                <a:defRPr sz="2400" kern="1200">
                  <a:solidFill>
                    <a:schemeClr val="bg2"/>
                  </a:solidFill>
                  <a:latin typeface="Times New Roman" panose="02020603050405020304" pitchFamily="18"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lr>
                  <a:schemeClr val="bg2"/>
                </a:buClr>
                <a:buChar char="•"/>
                <a:defRPr sz="2000" kern="1200">
                  <a:solidFill>
                    <a:schemeClr val="bg2"/>
                  </a:solidFill>
                  <a:latin typeface="Times New Roman" panose="02020603050405020304" pitchFamily="18" charset="0"/>
                  <a:ea typeface="ＭＳ Ｐゴシック" panose="020B0600070205080204" pitchFamily="34" charset="-128"/>
                  <a:cs typeface="+mn-cs"/>
                </a:defRPr>
              </a:lvl9pPr>
            </a:lstStyle>
            <a:p>
              <a:pPr>
                <a:spcBef>
                  <a:spcPct val="0"/>
                </a:spcBef>
                <a:buClrTx/>
                <a:buFontTx/>
                <a:buNone/>
              </a:pPr>
              <a:fld id="{8050E9DA-156E-40E4-8FEA-67E228AFFF1B}" type="slidenum">
                <a:rPr lang="en-GB" altLang="en-US" sz="1400" smtClean="0">
                  <a:solidFill>
                    <a:schemeClr val="tx1"/>
                  </a:solidFill>
                  <a:latin typeface="+mn-lt"/>
                </a:rPr>
                <a:pPr>
                  <a:spcBef>
                    <a:spcPct val="0"/>
                  </a:spcBef>
                  <a:buClrTx/>
                  <a:buFontTx/>
                  <a:buNone/>
                </a:pPr>
                <a:t>18</a:t>
              </a:fld>
              <a:endParaRPr lang="en-GB" altLang="en-US" sz="1400" dirty="0">
                <a:solidFill>
                  <a:schemeClr val="tx1"/>
                </a:solidFill>
                <a:latin typeface="+mn-lt"/>
              </a:endParaRPr>
            </a:p>
          </p:txBody>
        </p:sp>
        <p:sp>
          <p:nvSpPr>
            <p:cNvPr id="13" name="Text Box 6">
              <a:extLst>
                <a:ext uri="{FF2B5EF4-FFF2-40B4-BE49-F238E27FC236}">
                  <a16:creationId xmlns:a16="http://schemas.microsoft.com/office/drawing/2014/main" id="{38A84387-BBF8-432E-A936-D47857423324}"/>
                </a:ext>
              </a:extLst>
            </p:cNvPr>
            <p:cNvSpPr txBox="1">
              <a:spLocks noChangeArrowheads="1"/>
            </p:cNvSpPr>
            <p:nvPr/>
          </p:nvSpPr>
          <p:spPr bwMode="auto">
            <a:xfrm>
              <a:off x="231775" y="2708275"/>
              <a:ext cx="1247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Piston</a:t>
              </a:r>
            </a:p>
          </p:txBody>
        </p:sp>
        <p:sp>
          <p:nvSpPr>
            <p:cNvPr id="14" name="Text Box 11">
              <a:extLst>
                <a:ext uri="{FF2B5EF4-FFF2-40B4-BE49-F238E27FC236}">
                  <a16:creationId xmlns:a16="http://schemas.microsoft.com/office/drawing/2014/main" id="{2A724A0F-6778-4C3A-A456-7319C8341589}"/>
                </a:ext>
              </a:extLst>
            </p:cNvPr>
            <p:cNvSpPr txBox="1">
              <a:spLocks noChangeArrowheads="1"/>
            </p:cNvSpPr>
            <p:nvPr/>
          </p:nvSpPr>
          <p:spPr bwMode="auto">
            <a:xfrm>
              <a:off x="4572000" y="2276475"/>
              <a:ext cx="35763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Piston rod on both side</a:t>
              </a:r>
              <a:r>
                <a:rPr lang="hu-HU" altLang="en-US" sz="2400" dirty="0">
                  <a:solidFill>
                    <a:schemeClr val="tx1"/>
                  </a:solidFill>
                  <a:latin typeface="+mn-lt"/>
                </a:rPr>
                <a:t>s</a:t>
              </a:r>
              <a:endParaRPr lang="en-GB" altLang="en-US" sz="2400" dirty="0">
                <a:solidFill>
                  <a:schemeClr val="tx1"/>
                </a:solidFill>
                <a:latin typeface="+mn-lt"/>
              </a:endParaRPr>
            </a:p>
          </p:txBody>
        </p:sp>
        <p:pic>
          <p:nvPicPr>
            <p:cNvPr id="15" name="Picture 12" descr="1a">
              <a:hlinkClick r:id="" action="ppaction://noaction"/>
              <a:extLst>
                <a:ext uri="{FF2B5EF4-FFF2-40B4-BE49-F238E27FC236}">
                  <a16:creationId xmlns:a16="http://schemas.microsoft.com/office/drawing/2014/main" id="{B219DCA4-D84D-4BE8-B144-368CEB7CB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1819275"/>
              <a:ext cx="314642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descr="2a">
              <a:hlinkClick r:id="" action="ppaction://noaction"/>
              <a:extLst>
                <a:ext uri="{FF2B5EF4-FFF2-40B4-BE49-F238E27FC236}">
                  <a16:creationId xmlns:a16="http://schemas.microsoft.com/office/drawing/2014/main" id="{EBE10AC3-122D-4C49-85B5-59A55BBF7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1588" y="2913063"/>
              <a:ext cx="2833687"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4" descr="3a">
              <a:hlinkClick r:id="" action="ppaction://noaction"/>
              <a:extLst>
                <a:ext uri="{FF2B5EF4-FFF2-40B4-BE49-F238E27FC236}">
                  <a16:creationId xmlns:a16="http://schemas.microsoft.com/office/drawing/2014/main" id="{74E5A588-3FF7-401E-AF3C-6018FC42F2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697288"/>
              <a:ext cx="284638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5" descr="4a">
              <a:hlinkClick r:id="" action="ppaction://noaction"/>
              <a:extLst>
                <a:ext uri="{FF2B5EF4-FFF2-40B4-BE49-F238E27FC236}">
                  <a16:creationId xmlns:a16="http://schemas.microsoft.com/office/drawing/2014/main" id="{F079B17B-0886-4387-BEAC-D67B32CAC9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7200" y="1257300"/>
              <a:ext cx="211931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6" descr="5a">
              <a:hlinkClick r:id="" action="ppaction://noaction"/>
              <a:extLst>
                <a:ext uri="{FF2B5EF4-FFF2-40B4-BE49-F238E27FC236}">
                  <a16:creationId xmlns:a16="http://schemas.microsoft.com/office/drawing/2014/main" id="{FA6608A6-9232-4234-8DEC-B655B907715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8675" y="2719388"/>
              <a:ext cx="22701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7" descr="6a">
              <a:hlinkClick r:id="" action="ppaction://noaction"/>
              <a:extLst>
                <a:ext uri="{FF2B5EF4-FFF2-40B4-BE49-F238E27FC236}">
                  <a16:creationId xmlns:a16="http://schemas.microsoft.com/office/drawing/2014/main" id="{FDCC7358-22A5-4581-9B09-CF83884A6E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9438" y="2698750"/>
              <a:ext cx="22145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21">
              <a:extLst>
                <a:ext uri="{FF2B5EF4-FFF2-40B4-BE49-F238E27FC236}">
                  <a16:creationId xmlns:a16="http://schemas.microsoft.com/office/drawing/2014/main" id="{87234894-6FBB-428B-9553-22922C200901}"/>
                </a:ext>
              </a:extLst>
            </p:cNvPr>
            <p:cNvSpPr txBox="1">
              <a:spLocks noChangeArrowheads="1"/>
            </p:cNvSpPr>
            <p:nvPr/>
          </p:nvSpPr>
          <p:spPr bwMode="auto">
            <a:xfrm>
              <a:off x="152399" y="4764088"/>
              <a:ext cx="17454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Telescopic</a:t>
              </a:r>
            </a:p>
          </p:txBody>
        </p:sp>
        <p:sp>
          <p:nvSpPr>
            <p:cNvPr id="24" name="Text Box 22">
              <a:extLst>
                <a:ext uri="{FF2B5EF4-FFF2-40B4-BE49-F238E27FC236}">
                  <a16:creationId xmlns:a16="http://schemas.microsoft.com/office/drawing/2014/main" id="{1B51E828-F292-47C5-ABB0-C7A78F843E58}"/>
                </a:ext>
              </a:extLst>
            </p:cNvPr>
            <p:cNvSpPr txBox="1">
              <a:spLocks noChangeArrowheads="1"/>
            </p:cNvSpPr>
            <p:nvPr/>
          </p:nvSpPr>
          <p:spPr bwMode="auto">
            <a:xfrm>
              <a:off x="4707606" y="4721099"/>
              <a:ext cx="17297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Telescopic</a:t>
              </a:r>
            </a:p>
          </p:txBody>
        </p:sp>
        <p:pic>
          <p:nvPicPr>
            <p:cNvPr id="25" name="Picture 23" descr="10a">
              <a:hlinkClick r:id="" action="ppaction://noaction"/>
              <a:extLst>
                <a:ext uri="{FF2B5EF4-FFF2-40B4-BE49-F238E27FC236}">
                  <a16:creationId xmlns:a16="http://schemas.microsoft.com/office/drawing/2014/main" id="{426D0E01-1C92-4E09-82BA-FB10A63431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313" y="5175250"/>
              <a:ext cx="911225"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4" descr="11a">
              <a:hlinkClick r:id="" action="ppaction://noaction"/>
              <a:extLst>
                <a:ext uri="{FF2B5EF4-FFF2-40B4-BE49-F238E27FC236}">
                  <a16:creationId xmlns:a16="http://schemas.microsoft.com/office/drawing/2014/main" id="{08268386-56B4-4863-BEAA-D8592FDB82C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43475" y="5126038"/>
              <a:ext cx="9366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Line 25">
              <a:extLst>
                <a:ext uri="{FF2B5EF4-FFF2-40B4-BE49-F238E27FC236}">
                  <a16:creationId xmlns:a16="http://schemas.microsoft.com/office/drawing/2014/main" id="{41D623DD-003B-4557-94BB-D5059CA474E6}"/>
                </a:ext>
              </a:extLst>
            </p:cNvPr>
            <p:cNvSpPr>
              <a:spLocks noChangeShapeType="1"/>
            </p:cNvSpPr>
            <p:nvPr/>
          </p:nvSpPr>
          <p:spPr bwMode="auto">
            <a:xfrm>
              <a:off x="4572000" y="884238"/>
              <a:ext cx="0" cy="5616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pic>
          <p:nvPicPr>
            <p:cNvPr id="28" name="Picture 26" descr="7a">
              <a:hlinkClick r:id="" action="ppaction://noaction"/>
              <a:extLst>
                <a:ext uri="{FF2B5EF4-FFF2-40B4-BE49-F238E27FC236}">
                  <a16:creationId xmlns:a16="http://schemas.microsoft.com/office/drawing/2014/main" id="{3C3EB6AD-8392-4DC1-9316-A8146785AEB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84863" y="3784600"/>
              <a:ext cx="2332037"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7">
              <a:extLst>
                <a:ext uri="{FF2B5EF4-FFF2-40B4-BE49-F238E27FC236}">
                  <a16:creationId xmlns:a16="http://schemas.microsoft.com/office/drawing/2014/main" id="{793FEDC1-28D0-4248-B712-80098D0049C8}"/>
                </a:ext>
              </a:extLst>
            </p:cNvPr>
            <p:cNvSpPr txBox="1">
              <a:spLocks noChangeArrowheads="1"/>
            </p:cNvSpPr>
            <p:nvPr/>
          </p:nvSpPr>
          <p:spPr bwMode="auto">
            <a:xfrm>
              <a:off x="6867525" y="4938541"/>
              <a:ext cx="19512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Fast moving</a:t>
              </a:r>
            </a:p>
          </p:txBody>
        </p:sp>
        <p:sp>
          <p:nvSpPr>
            <p:cNvPr id="30" name="Text Box 28">
              <a:extLst>
                <a:ext uri="{FF2B5EF4-FFF2-40B4-BE49-F238E27FC236}">
                  <a16:creationId xmlns:a16="http://schemas.microsoft.com/office/drawing/2014/main" id="{FA2970C7-2B48-4D38-871C-3FB38CCE7BE5}"/>
                </a:ext>
              </a:extLst>
            </p:cNvPr>
            <p:cNvSpPr txBox="1">
              <a:spLocks noChangeArrowheads="1"/>
            </p:cNvSpPr>
            <p:nvPr/>
          </p:nvSpPr>
          <p:spPr bwMode="auto">
            <a:xfrm>
              <a:off x="4638675" y="3885502"/>
              <a:ext cx="13144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spcBef>
                  <a:spcPct val="50000"/>
                </a:spcBef>
                <a:buClrTx/>
                <a:buFontTx/>
                <a:buNone/>
              </a:pPr>
              <a:r>
                <a:rPr lang="en-GB" altLang="en-US" sz="2400" dirty="0">
                  <a:solidFill>
                    <a:schemeClr val="tx1"/>
                  </a:solidFill>
                  <a:latin typeface="+mn-lt"/>
                </a:rPr>
                <a:t>Tandem</a:t>
              </a:r>
            </a:p>
          </p:txBody>
        </p:sp>
        <p:pic>
          <p:nvPicPr>
            <p:cNvPr id="31" name="Picture 29" descr="9a">
              <a:hlinkClick r:id="" action="ppaction://noaction"/>
              <a:extLst>
                <a:ext uri="{FF2B5EF4-FFF2-40B4-BE49-F238E27FC236}">
                  <a16:creationId xmlns:a16="http://schemas.microsoft.com/office/drawing/2014/main" id="{0493FA54-E53A-49A0-B0ED-566E98971C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67525" y="5360988"/>
              <a:ext cx="17986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30">
              <a:extLst>
                <a:ext uri="{FF2B5EF4-FFF2-40B4-BE49-F238E27FC236}">
                  <a16:creationId xmlns:a16="http://schemas.microsoft.com/office/drawing/2014/main" id="{196D91B5-C53C-4F2E-A182-6FD099A1F221}"/>
                </a:ext>
              </a:extLst>
            </p:cNvPr>
            <p:cNvSpPr txBox="1">
              <a:spLocks noChangeArrowheads="1"/>
            </p:cNvSpPr>
            <p:nvPr/>
          </p:nvSpPr>
          <p:spPr bwMode="auto">
            <a:xfrm>
              <a:off x="2236925" y="4938541"/>
              <a:ext cx="19229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l"/>
                <a:defRPr sz="3200">
                  <a:solidFill>
                    <a:schemeClr val="bg2"/>
                  </a:solidFill>
                  <a:latin typeface="Times New Roman" panose="02020603050405020304" pitchFamily="18" charset="0"/>
                </a:defRPr>
              </a:lvl1pPr>
              <a:lvl2pPr marL="742950" indent="-285750">
                <a:spcBef>
                  <a:spcPct val="20000"/>
                </a:spcBef>
                <a:buClr>
                  <a:schemeClr val="bg2"/>
                </a:buClr>
                <a:buChar char="–"/>
                <a:defRPr sz="2800">
                  <a:solidFill>
                    <a:schemeClr val="bg2"/>
                  </a:solidFill>
                  <a:latin typeface="Times New Roman" panose="02020603050405020304" pitchFamily="18" charset="0"/>
                </a:defRPr>
              </a:lvl2pPr>
              <a:lvl3pPr marL="1143000" indent="-228600">
                <a:spcBef>
                  <a:spcPct val="20000"/>
                </a:spcBef>
                <a:buClr>
                  <a:schemeClr val="bg2"/>
                </a:buClr>
                <a:buFont typeface="Monotype Sorts" pitchFamily="2" charset="2"/>
                <a:buChar char="l"/>
                <a:defRPr sz="2400">
                  <a:solidFill>
                    <a:schemeClr val="bg2"/>
                  </a:solidFill>
                  <a:latin typeface="Times New Roman" panose="02020603050405020304" pitchFamily="18" charset="0"/>
                </a:defRPr>
              </a:lvl3pPr>
              <a:lvl4pPr marL="1600200" indent="-228600">
                <a:spcBef>
                  <a:spcPct val="20000"/>
                </a:spcBef>
                <a:buClr>
                  <a:schemeClr val="bg2"/>
                </a:buClr>
                <a:buChar char="–"/>
                <a:defRPr sz="2000">
                  <a:solidFill>
                    <a:schemeClr val="bg2"/>
                  </a:solidFill>
                  <a:latin typeface="Times New Roman" panose="02020603050405020304" pitchFamily="18" charset="0"/>
                </a:defRPr>
              </a:lvl4pPr>
              <a:lvl5pPr marL="2057400" indent="-228600">
                <a:spcBef>
                  <a:spcPct val="20000"/>
                </a:spcBef>
                <a:buClr>
                  <a:schemeClr val="bg2"/>
                </a:buClr>
                <a:buChar char="•"/>
                <a:defRPr sz="2000">
                  <a:solidFill>
                    <a:schemeClr val="bg2"/>
                  </a:solidFill>
                  <a:latin typeface="Times New Roman" panose="02020603050405020304" pitchFamily="18" charset="0"/>
                </a:defRPr>
              </a:lvl5pPr>
              <a:lvl6pPr marL="25146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6pPr>
              <a:lvl7pPr marL="29718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7pPr>
              <a:lvl8pPr marL="34290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8pPr>
              <a:lvl9pPr marL="3886200" indent="-228600" eaLnBrk="0" fontAlgn="base" hangingPunct="0">
                <a:spcBef>
                  <a:spcPct val="20000"/>
                </a:spcBef>
                <a:spcAft>
                  <a:spcPct val="0"/>
                </a:spcAft>
                <a:buClr>
                  <a:schemeClr val="bg2"/>
                </a:buClr>
                <a:buChar char="•"/>
                <a:defRPr sz="2000">
                  <a:solidFill>
                    <a:schemeClr val="bg2"/>
                  </a:solidFill>
                  <a:latin typeface="Times New Roman" panose="02020603050405020304" pitchFamily="18" charset="0"/>
                </a:defRPr>
              </a:lvl9pPr>
            </a:lstStyle>
            <a:p>
              <a:pPr>
                <a:lnSpc>
                  <a:spcPct val="50000"/>
                </a:lnSpc>
                <a:spcBef>
                  <a:spcPct val="50000"/>
                </a:spcBef>
                <a:buClrTx/>
                <a:buFontTx/>
                <a:buNone/>
              </a:pPr>
              <a:r>
                <a:rPr lang="en-GB" altLang="en-US" sz="2400" dirty="0">
                  <a:solidFill>
                    <a:schemeClr val="tx1"/>
                  </a:solidFill>
                  <a:latin typeface="+mn-lt"/>
                </a:rPr>
                <a:t>Fast movi</a:t>
              </a:r>
              <a:r>
                <a:rPr lang="hu-HU" altLang="en-US" sz="2400" dirty="0">
                  <a:solidFill>
                    <a:schemeClr val="tx1"/>
                  </a:solidFill>
                  <a:latin typeface="+mn-lt"/>
                </a:rPr>
                <a:t>n</a:t>
              </a:r>
              <a:r>
                <a:rPr lang="en-GB" altLang="en-US" sz="2400" dirty="0">
                  <a:solidFill>
                    <a:schemeClr val="tx1"/>
                  </a:solidFill>
                  <a:latin typeface="+mn-lt"/>
                </a:rPr>
                <a:t>g</a:t>
              </a:r>
              <a:endParaRPr lang="hu-HU" altLang="en-US" sz="2400" dirty="0">
                <a:solidFill>
                  <a:schemeClr val="tx1"/>
                </a:solidFill>
                <a:latin typeface="+mn-lt"/>
              </a:endParaRPr>
            </a:p>
          </p:txBody>
        </p:sp>
        <p:pic>
          <p:nvPicPr>
            <p:cNvPr id="33" name="Picture 31" descr="8a">
              <a:hlinkClick r:id="" action="ppaction://noaction"/>
              <a:extLst>
                <a:ext uri="{FF2B5EF4-FFF2-40B4-BE49-F238E27FC236}">
                  <a16:creationId xmlns:a16="http://schemas.microsoft.com/office/drawing/2014/main" id="{F5D1B580-DB98-4C0E-88A9-759296D9B2C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73288" y="5262563"/>
              <a:ext cx="1903412"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27972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Hydraulic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The extra viscosity of hydraulic fluid make vane type motors practical</a:t>
            </a:r>
            <a:endParaRPr sz="2000" b="1" dirty="0">
              <a:latin typeface="+mn-lt"/>
              <a:cs typeface="SimSun"/>
            </a:endParaRPr>
          </a:p>
        </p:txBody>
      </p:sp>
      <p:pic>
        <p:nvPicPr>
          <p:cNvPr id="3" name="Picture 2">
            <a:extLst>
              <a:ext uri="{FF2B5EF4-FFF2-40B4-BE49-F238E27FC236}">
                <a16:creationId xmlns:a16="http://schemas.microsoft.com/office/drawing/2014/main" id="{325A9B1E-AE4E-47BC-A782-913FF3D03BE8}"/>
              </a:ext>
            </a:extLst>
          </p:cNvPr>
          <p:cNvPicPr>
            <a:picLocks noChangeAspect="1"/>
          </p:cNvPicPr>
          <p:nvPr/>
        </p:nvPicPr>
        <p:blipFill>
          <a:blip r:embed="rId3"/>
          <a:stretch>
            <a:fillRect/>
          </a:stretch>
        </p:blipFill>
        <p:spPr>
          <a:xfrm>
            <a:off x="3202432" y="995971"/>
            <a:ext cx="4857143" cy="3409405"/>
          </a:xfrm>
          <a:prstGeom prst="rect">
            <a:avLst/>
          </a:prstGeom>
        </p:spPr>
      </p:pic>
      <p:pic>
        <p:nvPicPr>
          <p:cNvPr id="7" name="Picture 6">
            <a:extLst>
              <a:ext uri="{FF2B5EF4-FFF2-40B4-BE49-F238E27FC236}">
                <a16:creationId xmlns:a16="http://schemas.microsoft.com/office/drawing/2014/main" id="{91DAB757-F343-4823-A5AA-FF08D1F1E569}"/>
              </a:ext>
            </a:extLst>
          </p:cNvPr>
          <p:cNvPicPr>
            <a:picLocks noChangeAspect="1"/>
          </p:cNvPicPr>
          <p:nvPr/>
        </p:nvPicPr>
        <p:blipFill>
          <a:blip r:embed="rId4"/>
          <a:stretch>
            <a:fillRect/>
          </a:stretch>
        </p:blipFill>
        <p:spPr>
          <a:xfrm>
            <a:off x="3801554" y="4494784"/>
            <a:ext cx="3466966" cy="1871472"/>
          </a:xfrm>
          <a:prstGeom prst="rect">
            <a:avLst/>
          </a:prstGeom>
        </p:spPr>
      </p:pic>
      <p:sp>
        <p:nvSpPr>
          <p:cNvPr id="34" name="object 4">
            <a:extLst>
              <a:ext uri="{FF2B5EF4-FFF2-40B4-BE49-F238E27FC236}">
                <a16:creationId xmlns:a16="http://schemas.microsoft.com/office/drawing/2014/main" id="{7FC3F492-4F75-448E-AF5A-4FF358DC0FEA}"/>
              </a:ext>
            </a:extLst>
          </p:cNvPr>
          <p:cNvSpPr txBox="1"/>
          <p:nvPr/>
        </p:nvSpPr>
        <p:spPr>
          <a:xfrm>
            <a:off x="194393" y="4743198"/>
            <a:ext cx="3404173" cy="936154"/>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For high starting torques piston style motors also exist</a:t>
            </a:r>
            <a:endParaRPr sz="2000" b="1" dirty="0">
              <a:latin typeface="+mn-lt"/>
              <a:cs typeface="SimSun"/>
            </a:endParaRPr>
          </a:p>
        </p:txBody>
      </p:sp>
    </p:spTree>
    <p:extLst>
      <p:ext uri="{BB962C8B-B14F-4D97-AF65-F5344CB8AC3E}">
        <p14:creationId xmlns:p14="http://schemas.microsoft.com/office/powerpoint/2010/main" val="11267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Hydraulic Actuators</a:t>
            </a:r>
            <a:endParaRPr lang="en-GB" sz="2400" dirty="0">
              <a:cs typeface="Arial"/>
            </a:endParaRPr>
          </a:p>
        </p:txBody>
      </p:sp>
      <p:sp>
        <p:nvSpPr>
          <p:cNvPr id="9" name="object 4"/>
          <p:cNvSpPr txBox="1"/>
          <p:nvPr/>
        </p:nvSpPr>
        <p:spPr>
          <a:xfrm>
            <a:off x="194393" y="605557"/>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Different pump options are available depending on the pressure required</a:t>
            </a:r>
            <a:endParaRPr sz="2000" b="1" dirty="0">
              <a:latin typeface="+mn-lt"/>
              <a:cs typeface="SimSun"/>
            </a:endParaRPr>
          </a:p>
        </p:txBody>
      </p:sp>
      <p:sp>
        <p:nvSpPr>
          <p:cNvPr id="7" name="object 6">
            <a:extLst>
              <a:ext uri="{FF2B5EF4-FFF2-40B4-BE49-F238E27FC236}">
                <a16:creationId xmlns:a16="http://schemas.microsoft.com/office/drawing/2014/main" id="{45137C39-07F5-4C04-84E7-ACAF4E48A6A2}"/>
              </a:ext>
            </a:extLst>
          </p:cNvPr>
          <p:cNvSpPr/>
          <p:nvPr/>
        </p:nvSpPr>
        <p:spPr>
          <a:xfrm>
            <a:off x="694815" y="1529664"/>
            <a:ext cx="3436151" cy="1152118"/>
          </a:xfrm>
          <a:prstGeom prst="rect">
            <a:avLst/>
          </a:prstGeom>
          <a:blipFill>
            <a:blip r:embed="rId3" cstate="print"/>
            <a:stretch>
              <a:fillRect/>
            </a:stretch>
          </a:blipFill>
        </p:spPr>
        <p:txBody>
          <a:bodyPr wrap="square" lIns="0" tIns="0" rIns="0" bIns="0" rtlCol="0"/>
          <a:lstStyle/>
          <a:p>
            <a:endParaRPr dirty="0"/>
          </a:p>
        </p:txBody>
      </p:sp>
      <p:sp>
        <p:nvSpPr>
          <p:cNvPr id="2" name="Rectangle 1">
            <a:extLst>
              <a:ext uri="{FF2B5EF4-FFF2-40B4-BE49-F238E27FC236}">
                <a16:creationId xmlns:a16="http://schemas.microsoft.com/office/drawing/2014/main" id="{968C5793-D246-4C1A-BE1F-C464C9048BF1}"/>
              </a:ext>
            </a:extLst>
          </p:cNvPr>
          <p:cNvSpPr/>
          <p:nvPr/>
        </p:nvSpPr>
        <p:spPr>
          <a:xfrm>
            <a:off x="4519168" y="1862574"/>
            <a:ext cx="2912336" cy="369332"/>
          </a:xfrm>
          <a:prstGeom prst="rect">
            <a:avLst/>
          </a:prstGeom>
        </p:spPr>
        <p:txBody>
          <a:bodyPr wrap="none">
            <a:spAutoFit/>
          </a:bodyPr>
          <a:lstStyle/>
          <a:p>
            <a:r>
              <a:rPr lang="en-GB" spc="-5" dirty="0">
                <a:latin typeface="Arial"/>
                <a:cs typeface="Arial"/>
              </a:rPr>
              <a:t>Axial piston pumps (80bar)</a:t>
            </a:r>
            <a:endParaRPr lang="en-GB" dirty="0"/>
          </a:p>
        </p:txBody>
      </p:sp>
      <p:sp>
        <p:nvSpPr>
          <p:cNvPr id="10" name="object 10">
            <a:extLst>
              <a:ext uri="{FF2B5EF4-FFF2-40B4-BE49-F238E27FC236}">
                <a16:creationId xmlns:a16="http://schemas.microsoft.com/office/drawing/2014/main" id="{C036F7EC-3EAC-4604-9217-0E7B555AFA01}"/>
              </a:ext>
            </a:extLst>
          </p:cNvPr>
          <p:cNvSpPr/>
          <p:nvPr/>
        </p:nvSpPr>
        <p:spPr>
          <a:xfrm>
            <a:off x="1117471" y="2681782"/>
            <a:ext cx="2194689" cy="2153385"/>
          </a:xfrm>
          <a:prstGeom prst="rect">
            <a:avLst/>
          </a:prstGeom>
          <a:blipFill>
            <a:blip r:embed="rId4" cstate="print"/>
            <a:stretch>
              <a:fillRect/>
            </a:stretch>
          </a:blipFill>
        </p:spPr>
        <p:txBody>
          <a:bodyPr wrap="square" lIns="0" tIns="0" rIns="0" bIns="0" rtlCol="0"/>
          <a:lstStyle/>
          <a:p>
            <a:endParaRPr dirty="0"/>
          </a:p>
        </p:txBody>
      </p:sp>
      <p:sp>
        <p:nvSpPr>
          <p:cNvPr id="11" name="Rectangle 10">
            <a:extLst>
              <a:ext uri="{FF2B5EF4-FFF2-40B4-BE49-F238E27FC236}">
                <a16:creationId xmlns:a16="http://schemas.microsoft.com/office/drawing/2014/main" id="{6A335169-3EE3-4EAA-8823-C5DC46DB5896}"/>
              </a:ext>
            </a:extLst>
          </p:cNvPr>
          <p:cNvSpPr/>
          <p:nvPr/>
        </p:nvSpPr>
        <p:spPr>
          <a:xfrm>
            <a:off x="4519168" y="3494270"/>
            <a:ext cx="3104696" cy="369332"/>
          </a:xfrm>
          <a:prstGeom prst="rect">
            <a:avLst/>
          </a:prstGeom>
        </p:spPr>
        <p:txBody>
          <a:bodyPr wrap="none">
            <a:spAutoFit/>
          </a:bodyPr>
          <a:lstStyle/>
          <a:p>
            <a:r>
              <a:rPr lang="en-GB" spc="-5" dirty="0">
                <a:latin typeface="Arial"/>
                <a:cs typeface="Arial"/>
              </a:rPr>
              <a:t>Rotary vane pumps (180bar)</a:t>
            </a:r>
            <a:endParaRPr lang="en-GB" dirty="0"/>
          </a:p>
        </p:txBody>
      </p:sp>
      <p:sp>
        <p:nvSpPr>
          <p:cNvPr id="12" name="object 7">
            <a:extLst>
              <a:ext uri="{FF2B5EF4-FFF2-40B4-BE49-F238E27FC236}">
                <a16:creationId xmlns:a16="http://schemas.microsoft.com/office/drawing/2014/main" id="{25BDB099-D64F-4B72-8007-40B7ED420FB5}"/>
              </a:ext>
            </a:extLst>
          </p:cNvPr>
          <p:cNvSpPr/>
          <p:nvPr/>
        </p:nvSpPr>
        <p:spPr>
          <a:xfrm>
            <a:off x="1408523" y="4799153"/>
            <a:ext cx="1598837" cy="1597584"/>
          </a:xfrm>
          <a:prstGeom prst="rect">
            <a:avLst/>
          </a:prstGeom>
          <a:blipFill>
            <a:blip r:embed="rId5" cstate="print"/>
            <a:stretch>
              <a:fillRect/>
            </a:stretch>
          </a:blipFill>
        </p:spPr>
        <p:txBody>
          <a:bodyPr wrap="square" lIns="0" tIns="0" rIns="0" bIns="0" rtlCol="0"/>
          <a:lstStyle/>
          <a:p>
            <a:endParaRPr dirty="0"/>
          </a:p>
        </p:txBody>
      </p:sp>
      <p:sp>
        <p:nvSpPr>
          <p:cNvPr id="13" name="Rectangle 12">
            <a:extLst>
              <a:ext uri="{FF2B5EF4-FFF2-40B4-BE49-F238E27FC236}">
                <a16:creationId xmlns:a16="http://schemas.microsoft.com/office/drawing/2014/main" id="{0AE0E63B-EB82-40D2-986B-2304B53CB3CA}"/>
              </a:ext>
            </a:extLst>
          </p:cNvPr>
          <p:cNvSpPr/>
          <p:nvPr/>
        </p:nvSpPr>
        <p:spPr>
          <a:xfrm>
            <a:off x="4519168" y="5304782"/>
            <a:ext cx="3193182" cy="369332"/>
          </a:xfrm>
          <a:prstGeom prst="rect">
            <a:avLst/>
          </a:prstGeom>
        </p:spPr>
        <p:txBody>
          <a:bodyPr wrap="none">
            <a:spAutoFit/>
          </a:bodyPr>
          <a:lstStyle/>
          <a:p>
            <a:r>
              <a:rPr lang="en-GB" spc="-5" dirty="0">
                <a:latin typeface="Arial"/>
                <a:cs typeface="Arial"/>
              </a:rPr>
              <a:t>Radial piston pumps (650bar)</a:t>
            </a:r>
            <a:endParaRPr lang="en-GB" dirty="0"/>
          </a:p>
        </p:txBody>
      </p:sp>
    </p:spTree>
    <p:extLst>
      <p:ext uri="{BB962C8B-B14F-4D97-AF65-F5344CB8AC3E}">
        <p14:creationId xmlns:p14="http://schemas.microsoft.com/office/powerpoint/2010/main" val="44786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P spid="2" grpId="0"/>
      <p:bldP spid="10" grpId="0" animBg="1"/>
      <p:bldP spid="11" grpId="0"/>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Electric actuators are common and have a number of advantages</a:t>
            </a:r>
            <a:endParaRPr sz="2000" b="1" dirty="0">
              <a:latin typeface="+mn-lt"/>
              <a:cs typeface="SimSun"/>
            </a:endParaRPr>
          </a:p>
        </p:txBody>
      </p:sp>
      <p:sp>
        <p:nvSpPr>
          <p:cNvPr id="2" name="Rectangle 1"/>
          <p:cNvSpPr/>
          <p:nvPr/>
        </p:nvSpPr>
        <p:spPr>
          <a:xfrm>
            <a:off x="674913" y="1353729"/>
            <a:ext cx="6291943" cy="3693319"/>
          </a:xfrm>
          <a:prstGeom prst="rect">
            <a:avLst/>
          </a:prstGeom>
        </p:spPr>
        <p:txBody>
          <a:bodyPr wrap="square">
            <a:spAutoFit/>
          </a:bodyPr>
          <a:lstStyle/>
          <a:p>
            <a:pPr marL="285750" indent="-285750">
              <a:buFont typeface="Arial" panose="020B0604020202020204" pitchFamily="34" charset="0"/>
              <a:buChar char="•"/>
            </a:pPr>
            <a:r>
              <a:rPr lang="en-US" altLang="en-US" dirty="0"/>
              <a:t>easy to control</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from mW to MW</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normally high velocities </a:t>
            </a:r>
            <a:r>
              <a:rPr lang="fi-FI" altLang="en-US" dirty="0"/>
              <a:t>1000 -</a:t>
            </a:r>
            <a:r>
              <a:rPr lang="en-US" altLang="en-US" dirty="0"/>
              <a:t> </a:t>
            </a:r>
            <a:r>
              <a:rPr lang="fi-FI" altLang="en-US" dirty="0"/>
              <a:t>10</a:t>
            </a:r>
            <a:r>
              <a:rPr lang="en-US" altLang="en-US" dirty="0"/>
              <a:t>000 rpm</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several types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accurate servo control</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ideal torque for driving</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excellent efficiency</a:t>
            </a:r>
          </a:p>
        </p:txBody>
      </p:sp>
    </p:spTree>
    <p:extLst>
      <p:ext uri="{BB962C8B-B14F-4D97-AF65-F5344CB8AC3E}">
        <p14:creationId xmlns:p14="http://schemas.microsoft.com/office/powerpoint/2010/main" val="107450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altLang="en-US" sz="2000" b="1" dirty="0"/>
              <a:t>Motors come in a variety of types</a:t>
            </a:r>
            <a:endParaRPr sz="2000" b="1" dirty="0">
              <a:latin typeface="+mn-lt"/>
              <a:cs typeface="SimSun"/>
            </a:endParaRPr>
          </a:p>
        </p:txBody>
      </p:sp>
      <p:sp>
        <p:nvSpPr>
          <p:cNvPr id="2" name="Rectangle 1"/>
          <p:cNvSpPr/>
          <p:nvPr/>
        </p:nvSpPr>
        <p:spPr>
          <a:xfrm>
            <a:off x="674913" y="1353729"/>
            <a:ext cx="6291943" cy="2585323"/>
          </a:xfrm>
          <a:prstGeom prst="rect">
            <a:avLst/>
          </a:prstGeom>
        </p:spPr>
        <p:txBody>
          <a:bodyPr wrap="square">
            <a:spAutoFit/>
          </a:bodyPr>
          <a:lstStyle/>
          <a:p>
            <a:pPr marL="285750" indent="-285750">
              <a:buFont typeface="Arial" panose="020B0604020202020204" pitchFamily="34" charset="0"/>
              <a:buChar char="•"/>
            </a:pPr>
            <a:r>
              <a:rPr lang="en-US" altLang="en-US" dirty="0"/>
              <a:t>DC-motors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brushless DC-motors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asynchronous motors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synchronous motors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stepper motors</a:t>
            </a:r>
          </a:p>
        </p:txBody>
      </p:sp>
      <p:sp>
        <p:nvSpPr>
          <p:cNvPr id="5" name="object 4">
            <a:extLst>
              <a:ext uri="{FF2B5EF4-FFF2-40B4-BE49-F238E27FC236}">
                <a16:creationId xmlns:a16="http://schemas.microsoft.com/office/drawing/2014/main" id="{7F16AE3F-280D-435F-8278-38FA783AEEE5}"/>
              </a:ext>
            </a:extLst>
          </p:cNvPr>
          <p:cNvSpPr txBox="1"/>
          <p:nvPr/>
        </p:nvSpPr>
        <p:spPr>
          <a:xfrm>
            <a:off x="194392" y="4322085"/>
            <a:ext cx="8236713" cy="628377"/>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Brushless dc motors and stepper motors are most commonly used in robotics</a:t>
            </a:r>
            <a:endParaRPr sz="2000" b="1" dirty="0">
              <a:latin typeface="+mn-lt"/>
              <a:cs typeface="SimSun"/>
            </a:endParaRPr>
          </a:p>
        </p:txBody>
      </p:sp>
    </p:spTree>
    <p:extLst>
      <p:ext uri="{BB962C8B-B14F-4D97-AF65-F5344CB8AC3E}">
        <p14:creationId xmlns:p14="http://schemas.microsoft.com/office/powerpoint/2010/main" val="113412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DC motor terminology</a:t>
            </a:r>
            <a:endParaRPr sz="2000" b="1" dirty="0">
              <a:latin typeface="+mn-lt"/>
              <a:cs typeface="SimSun"/>
            </a:endParaRPr>
          </a:p>
        </p:txBody>
      </p:sp>
      <p:grpSp>
        <p:nvGrpSpPr>
          <p:cNvPr id="12" name="Group 11">
            <a:extLst>
              <a:ext uri="{FF2B5EF4-FFF2-40B4-BE49-F238E27FC236}">
                <a16:creationId xmlns:a16="http://schemas.microsoft.com/office/drawing/2014/main" id="{721F74CD-512B-449E-A6E9-011996639CAC}"/>
              </a:ext>
            </a:extLst>
          </p:cNvPr>
          <p:cNvGrpSpPr/>
          <p:nvPr/>
        </p:nvGrpSpPr>
        <p:grpSpPr>
          <a:xfrm>
            <a:off x="466627" y="1105962"/>
            <a:ext cx="5852893" cy="3877347"/>
            <a:chOff x="466627" y="1105962"/>
            <a:chExt cx="5852893" cy="3877347"/>
          </a:xfrm>
        </p:grpSpPr>
        <p:sp>
          <p:nvSpPr>
            <p:cNvPr id="6" name="object 4">
              <a:extLst>
                <a:ext uri="{FF2B5EF4-FFF2-40B4-BE49-F238E27FC236}">
                  <a16:creationId xmlns:a16="http://schemas.microsoft.com/office/drawing/2014/main" id="{7A02C21B-8F79-494B-8443-028AA543933E}"/>
                </a:ext>
              </a:extLst>
            </p:cNvPr>
            <p:cNvSpPr txBox="1">
              <a:spLocks/>
            </p:cNvSpPr>
            <p:nvPr/>
          </p:nvSpPr>
          <p:spPr>
            <a:xfrm>
              <a:off x="466627" y="1105962"/>
              <a:ext cx="5067300" cy="2333330"/>
            </a:xfrm>
            <a:prstGeom prst="rect">
              <a:avLst/>
            </a:prstGeom>
          </p:spPr>
          <p:txBody>
            <a:bodyPr vert="horz" wrap="square" lIns="0" tIns="113664" rIns="0" bIns="0" rtlCol="0">
              <a:spAutoFit/>
            </a:bodyPr>
            <a:lstStyle>
              <a:lvl1pPr marL="342900" indent="-342900" algn="l" defTabSz="457200" rtl="0" eaLnBrk="0" fontAlgn="base" hangingPunct="0">
                <a:spcBef>
                  <a:spcPct val="20000"/>
                </a:spcBef>
                <a:spcAft>
                  <a:spcPct val="0"/>
                </a:spcAft>
                <a:defRPr sz="3200" kern="1200">
                  <a:solidFill>
                    <a:schemeClr val="tx1"/>
                  </a:solidFill>
                  <a:latin typeface="Arial"/>
                  <a:ea typeface="ＭＳ Ｐゴシック"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ＭＳ Ｐゴシック"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55600">
                <a:spcBef>
                  <a:spcPts val="894"/>
                </a:spcBef>
                <a:buClr>
                  <a:schemeClr val="tx1"/>
                </a:buClr>
                <a:buFont typeface="Arial" panose="020B0604020202020204" pitchFamily="34" charset="0"/>
                <a:buChar char="•"/>
                <a:tabLst>
                  <a:tab pos="354965" algn="l"/>
                  <a:tab pos="355600" algn="l"/>
                </a:tabLst>
              </a:pPr>
              <a:r>
                <a:rPr lang="en-GB" sz="2000" spc="-5" dirty="0"/>
                <a:t>Field</a:t>
              </a:r>
              <a:r>
                <a:rPr lang="en-GB" sz="2000" spc="-15" dirty="0"/>
                <a:t> </a:t>
              </a:r>
              <a:r>
                <a:rPr lang="en-GB" sz="2000" spc="-5" dirty="0"/>
                <a:t>pole</a:t>
              </a:r>
            </a:p>
            <a:p>
              <a:pPr marL="812800" lvl="1" indent="-342900">
                <a:spcBef>
                  <a:spcPts val="690"/>
                </a:spcBef>
                <a:buClr>
                  <a:schemeClr val="tx1"/>
                </a:buClr>
                <a:buFont typeface="Arial" panose="020B0604020202020204" pitchFamily="34" charset="0"/>
                <a:buChar char="•"/>
                <a:tabLst>
                  <a:tab pos="756285" algn="l"/>
                  <a:tab pos="756920" algn="l"/>
                </a:tabLst>
              </a:pPr>
              <a:r>
                <a:rPr lang="en-GB" sz="2000" spc="-5" dirty="0"/>
                <a:t>North pole and south</a:t>
              </a:r>
              <a:r>
                <a:rPr lang="en-GB" sz="2000" spc="30" dirty="0"/>
                <a:t> </a:t>
              </a:r>
              <a:r>
                <a:rPr lang="en-GB" sz="2000" spc="-5" dirty="0"/>
                <a:t>pole</a:t>
              </a:r>
              <a:endParaRPr lang="en-GB" sz="2000" dirty="0"/>
            </a:p>
            <a:p>
              <a:pPr marL="812800" marR="226060" lvl="1" indent="-342900">
                <a:spcBef>
                  <a:spcPts val="670"/>
                </a:spcBef>
                <a:buClr>
                  <a:schemeClr val="tx1"/>
                </a:buClr>
                <a:buFont typeface="Arial" panose="020B0604020202020204" pitchFamily="34" charset="0"/>
                <a:buChar char="•"/>
                <a:tabLst>
                  <a:tab pos="756285" algn="l"/>
                  <a:tab pos="756920" algn="l"/>
                </a:tabLst>
              </a:pPr>
              <a:r>
                <a:rPr lang="en-GB" sz="2000" spc="-5" dirty="0"/>
                <a:t>Receive electricity to form  magnetic</a:t>
              </a:r>
              <a:r>
                <a:rPr lang="en-GB" sz="2000" spc="5" dirty="0"/>
                <a:t> </a:t>
              </a:r>
              <a:r>
                <a:rPr lang="en-GB" sz="2000" spc="-5" dirty="0"/>
                <a:t>field</a:t>
              </a:r>
              <a:endParaRPr lang="en-GB" sz="2000" dirty="0"/>
            </a:p>
            <a:p>
              <a:pPr marL="355600">
                <a:spcBef>
                  <a:spcPts val="750"/>
                </a:spcBef>
                <a:buClr>
                  <a:schemeClr val="tx1"/>
                </a:buClr>
                <a:buFont typeface="Arial" panose="020B0604020202020204" pitchFamily="34" charset="0"/>
                <a:buChar char="•"/>
                <a:tabLst>
                  <a:tab pos="354965" algn="l"/>
                  <a:tab pos="355600" algn="l"/>
                </a:tabLst>
              </a:pPr>
              <a:r>
                <a:rPr lang="en-GB" sz="2000" spc="-5" dirty="0"/>
                <a:t>Armature</a:t>
              </a:r>
            </a:p>
            <a:p>
              <a:pPr marL="812800" lvl="1" indent="-342900">
                <a:spcBef>
                  <a:spcPts val="690"/>
                </a:spcBef>
                <a:buClr>
                  <a:schemeClr val="tx1"/>
                </a:buClr>
                <a:buFont typeface="Arial" panose="020B0604020202020204" pitchFamily="34" charset="0"/>
                <a:buChar char="•"/>
                <a:tabLst>
                  <a:tab pos="756285" algn="l"/>
                  <a:tab pos="756920" algn="l"/>
                </a:tabLst>
              </a:pPr>
              <a:r>
                <a:rPr lang="en-GB" sz="2000" spc="-5" dirty="0"/>
                <a:t>Cylinder between the</a:t>
              </a:r>
              <a:r>
                <a:rPr lang="en-GB" sz="2000" spc="50" dirty="0"/>
                <a:t> </a:t>
              </a:r>
              <a:r>
                <a:rPr lang="en-GB" sz="2000" spc="-5" dirty="0"/>
                <a:t>poles</a:t>
              </a:r>
              <a:endParaRPr lang="en-GB" sz="2000" dirty="0"/>
            </a:p>
          </p:txBody>
        </p:sp>
        <p:sp>
          <p:nvSpPr>
            <p:cNvPr id="7" name="object 5">
              <a:extLst>
                <a:ext uri="{FF2B5EF4-FFF2-40B4-BE49-F238E27FC236}">
                  <a16:creationId xmlns:a16="http://schemas.microsoft.com/office/drawing/2014/main" id="{2D75CC8A-5BAF-42A0-92EB-CBD89A176B5F}"/>
                </a:ext>
              </a:extLst>
            </p:cNvPr>
            <p:cNvSpPr txBox="1"/>
            <p:nvPr/>
          </p:nvSpPr>
          <p:spPr>
            <a:xfrm>
              <a:off x="466627" y="3461097"/>
              <a:ext cx="5852893" cy="1522212"/>
            </a:xfrm>
            <a:prstGeom prst="rect">
              <a:avLst/>
            </a:prstGeom>
          </p:spPr>
          <p:txBody>
            <a:bodyPr vert="horz" wrap="square" lIns="0" tIns="97790" rIns="0" bIns="0" rtlCol="0">
              <a:spAutoFit/>
            </a:bodyPr>
            <a:lstStyle/>
            <a:p>
              <a:pPr marL="812800" indent="-342900">
                <a:lnSpc>
                  <a:spcPct val="100000"/>
                </a:lnSpc>
                <a:spcBef>
                  <a:spcPts val="770"/>
                </a:spcBef>
                <a:buClr>
                  <a:schemeClr val="tx1"/>
                </a:buClr>
                <a:buFont typeface="Arial" panose="020B0604020202020204" pitchFamily="34" charset="0"/>
                <a:buChar char="•"/>
                <a:tabLst>
                  <a:tab pos="756285" algn="l"/>
                  <a:tab pos="756920" algn="l"/>
                </a:tabLst>
              </a:pPr>
              <a:r>
                <a:rPr sz="2000" spc="-5" dirty="0">
                  <a:latin typeface="Arial"/>
                  <a:cs typeface="Arial"/>
                </a:rPr>
                <a:t>Electromagnet when current goes</a:t>
              </a:r>
              <a:r>
                <a:rPr sz="2000" spc="135" dirty="0">
                  <a:latin typeface="Arial"/>
                  <a:cs typeface="Arial"/>
                </a:rPr>
                <a:t> </a:t>
              </a:r>
              <a:r>
                <a:rPr sz="2000" spc="-5" dirty="0">
                  <a:latin typeface="Arial"/>
                  <a:cs typeface="Arial"/>
                </a:rPr>
                <a:t>through</a:t>
              </a:r>
              <a:endParaRPr sz="2000" dirty="0">
                <a:latin typeface="Arial"/>
                <a:cs typeface="Arial"/>
              </a:endParaRPr>
            </a:p>
            <a:p>
              <a:pPr marL="812800" indent="-342900">
                <a:lnSpc>
                  <a:spcPct val="100000"/>
                </a:lnSpc>
                <a:spcBef>
                  <a:spcPts val="675"/>
                </a:spcBef>
                <a:buClr>
                  <a:schemeClr val="tx1"/>
                </a:buClr>
                <a:buFont typeface="Arial" panose="020B0604020202020204" pitchFamily="34" charset="0"/>
                <a:buChar char="•"/>
                <a:tabLst>
                  <a:tab pos="756285" algn="l"/>
                  <a:tab pos="756920" algn="l"/>
                </a:tabLst>
              </a:pPr>
              <a:r>
                <a:rPr sz="2000" spc="-5" dirty="0">
                  <a:latin typeface="Arial"/>
                  <a:cs typeface="Arial"/>
                </a:rPr>
                <a:t>Linked to drive shaft to drive the</a:t>
              </a:r>
              <a:r>
                <a:rPr sz="2000" spc="60" dirty="0">
                  <a:latin typeface="Arial"/>
                  <a:cs typeface="Arial"/>
                </a:rPr>
                <a:t> </a:t>
              </a:r>
              <a:r>
                <a:rPr sz="2000" spc="-5" dirty="0">
                  <a:latin typeface="Arial"/>
                  <a:cs typeface="Arial"/>
                </a:rPr>
                <a:t>load</a:t>
              </a:r>
              <a:endParaRPr sz="2000" dirty="0">
                <a:latin typeface="Arial"/>
                <a:cs typeface="Arial"/>
              </a:endParaRPr>
            </a:p>
            <a:p>
              <a:pPr marL="355600" indent="-342900">
                <a:lnSpc>
                  <a:spcPct val="100000"/>
                </a:lnSpc>
                <a:spcBef>
                  <a:spcPts val="750"/>
                </a:spcBef>
                <a:buClr>
                  <a:schemeClr val="tx1"/>
                </a:buClr>
                <a:buFont typeface="Arial" panose="020B0604020202020204" pitchFamily="34" charset="0"/>
                <a:buChar char="•"/>
                <a:tabLst>
                  <a:tab pos="354965" algn="l"/>
                  <a:tab pos="355600" algn="l"/>
                </a:tabLst>
              </a:pPr>
              <a:r>
                <a:rPr sz="2000" spc="-10" dirty="0">
                  <a:latin typeface="Arial"/>
                  <a:cs typeface="Arial"/>
                </a:rPr>
                <a:t>Commutator</a:t>
              </a:r>
              <a:r>
                <a:rPr lang="en-GB" sz="2000" spc="-5" dirty="0">
                  <a:latin typeface="Arial"/>
                  <a:cs typeface="Arial"/>
                </a:rPr>
                <a:t> o</a:t>
              </a:r>
              <a:r>
                <a:rPr sz="2000" spc="-5" dirty="0">
                  <a:latin typeface="Arial"/>
                  <a:cs typeface="Arial"/>
                </a:rPr>
                <a:t>verturns current direction in</a:t>
              </a:r>
              <a:r>
                <a:rPr sz="2000" spc="-95" dirty="0">
                  <a:latin typeface="Arial"/>
                  <a:cs typeface="Arial"/>
                </a:rPr>
                <a:t> </a:t>
              </a:r>
              <a:r>
                <a:rPr sz="2000" spc="-5" dirty="0">
                  <a:latin typeface="Arial"/>
                  <a:cs typeface="Arial"/>
                </a:rPr>
                <a:t>armature</a:t>
              </a:r>
              <a:endParaRPr sz="2000" dirty="0">
                <a:latin typeface="Arial"/>
                <a:cs typeface="Arial"/>
              </a:endParaRPr>
            </a:p>
          </p:txBody>
        </p:sp>
      </p:grpSp>
      <p:pic>
        <p:nvPicPr>
          <p:cNvPr id="3" name="Picture 2">
            <a:extLst>
              <a:ext uri="{FF2B5EF4-FFF2-40B4-BE49-F238E27FC236}">
                <a16:creationId xmlns:a16="http://schemas.microsoft.com/office/drawing/2014/main" id="{5759608C-B4D2-4427-BACD-0354DC0A2E05}"/>
              </a:ext>
            </a:extLst>
          </p:cNvPr>
          <p:cNvPicPr>
            <a:picLocks noChangeAspect="1"/>
          </p:cNvPicPr>
          <p:nvPr/>
        </p:nvPicPr>
        <p:blipFill>
          <a:blip r:embed="rId3"/>
          <a:stretch>
            <a:fillRect/>
          </a:stretch>
        </p:blipFill>
        <p:spPr>
          <a:xfrm>
            <a:off x="6120638" y="3651683"/>
            <a:ext cx="2669794" cy="1196068"/>
          </a:xfrm>
          <a:prstGeom prst="rect">
            <a:avLst/>
          </a:prstGeom>
        </p:spPr>
      </p:pic>
      <p:pic>
        <p:nvPicPr>
          <p:cNvPr id="4" name="Picture 3">
            <a:extLst>
              <a:ext uri="{FF2B5EF4-FFF2-40B4-BE49-F238E27FC236}">
                <a16:creationId xmlns:a16="http://schemas.microsoft.com/office/drawing/2014/main" id="{1AC81812-6269-490E-9255-104177F1BA81}"/>
              </a:ext>
            </a:extLst>
          </p:cNvPr>
          <p:cNvPicPr>
            <a:picLocks noChangeAspect="1"/>
          </p:cNvPicPr>
          <p:nvPr/>
        </p:nvPicPr>
        <p:blipFill rotWithShape="1">
          <a:blip r:embed="rId4"/>
          <a:srcRect b="9432"/>
          <a:stretch/>
        </p:blipFill>
        <p:spPr>
          <a:xfrm>
            <a:off x="5780405" y="1123331"/>
            <a:ext cx="2867787" cy="1950008"/>
          </a:xfrm>
          <a:prstGeom prst="rect">
            <a:avLst/>
          </a:prstGeom>
        </p:spPr>
      </p:pic>
    </p:spTree>
    <p:extLst>
      <p:ext uri="{BB962C8B-B14F-4D97-AF65-F5344CB8AC3E}">
        <p14:creationId xmlns:p14="http://schemas.microsoft.com/office/powerpoint/2010/main" val="169623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DC motor operation</a:t>
            </a:r>
            <a:endParaRPr sz="2000" b="1" dirty="0">
              <a:latin typeface="+mn-lt"/>
              <a:cs typeface="SimSun"/>
            </a:endParaRPr>
          </a:p>
        </p:txBody>
      </p:sp>
      <p:sp>
        <p:nvSpPr>
          <p:cNvPr id="10" name="object 4">
            <a:extLst>
              <a:ext uri="{FF2B5EF4-FFF2-40B4-BE49-F238E27FC236}">
                <a16:creationId xmlns:a16="http://schemas.microsoft.com/office/drawing/2014/main" id="{47B3279D-204B-4D35-B5C5-B80911C4D02B}"/>
              </a:ext>
            </a:extLst>
          </p:cNvPr>
          <p:cNvSpPr/>
          <p:nvPr/>
        </p:nvSpPr>
        <p:spPr>
          <a:xfrm>
            <a:off x="2438400" y="1676400"/>
            <a:ext cx="4077519" cy="4662593"/>
          </a:xfrm>
          <a:prstGeom prst="rect">
            <a:avLst/>
          </a:prstGeom>
          <a:blipFill>
            <a:blip r:embed="rId3"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72837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DC motor operation</a:t>
            </a:r>
            <a:endParaRPr sz="2000" b="1" dirty="0">
              <a:latin typeface="+mn-lt"/>
              <a:cs typeface="SimSun"/>
            </a:endParaRPr>
          </a:p>
        </p:txBody>
      </p:sp>
      <p:sp>
        <p:nvSpPr>
          <p:cNvPr id="5" name="Rectangle 4">
            <a:extLst>
              <a:ext uri="{FF2B5EF4-FFF2-40B4-BE49-F238E27FC236}">
                <a16:creationId xmlns:a16="http://schemas.microsoft.com/office/drawing/2014/main" id="{D5AEBD54-A7A1-43E7-B44D-3A684A8F4323}"/>
              </a:ext>
            </a:extLst>
          </p:cNvPr>
          <p:cNvSpPr>
            <a:spLocks noGrp="1" noChangeArrowheads="1"/>
          </p:cNvSpPr>
          <p:nvPr/>
        </p:nvSpPr>
        <p:spPr bwMode="auto">
          <a:xfrm>
            <a:off x="497840" y="1153647"/>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Wingdings" panose="05000000000000000000" pitchFamily="2" charset="2"/>
              <a:buChar char="§"/>
              <a:defRPr sz="2400" kern="1200">
                <a:solidFill>
                  <a:schemeClr val="tx1"/>
                </a:solidFill>
                <a:latin typeface="+mn-lt"/>
                <a:ea typeface="+mn-ea"/>
                <a:cs typeface="+mn-cs"/>
              </a:defRPr>
            </a:lvl2pPr>
            <a:lvl3pPr marL="1143000" indent="-228600" algn="l" rtl="0" fontAlgn="base">
              <a:spcBef>
                <a:spcPct val="20000"/>
              </a:spcBef>
              <a:spcAft>
                <a:spcPct val="0"/>
              </a:spcAft>
              <a:buChar char="•"/>
              <a:defRPr sz="22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sym typeface="Symbol" panose="05050102010706020507" pitchFamily="18" charset="2"/>
              </a:rPr>
              <a:t>At fixed load, </a:t>
            </a:r>
            <a:r>
              <a:rPr lang="en-US" altLang="en-US" sz="1800" b="1" dirty="0">
                <a:sym typeface="Symbol" panose="05050102010706020507" pitchFamily="18" charset="2"/>
              </a:rPr>
              <a:t>speed </a:t>
            </a:r>
            <a:r>
              <a:rPr lang="en-US" altLang="en-US" sz="1800" dirty="0">
                <a:sym typeface="Symbol" panose="05050102010706020507" pitchFamily="18" charset="2"/>
              </a:rPr>
              <a:t>of rotation is proportional to </a:t>
            </a:r>
            <a:r>
              <a:rPr lang="en-US" altLang="en-US" sz="1800" b="1" dirty="0">
                <a:sym typeface="Symbol" panose="05050102010706020507" pitchFamily="18" charset="2"/>
              </a:rPr>
              <a:t>applied voltage</a:t>
            </a:r>
            <a:r>
              <a:rPr lang="en-US" altLang="en-US" sz="1800" dirty="0">
                <a:sym typeface="Symbol" panose="05050102010706020507" pitchFamily="18" charset="2"/>
              </a:rPr>
              <a:t> </a:t>
            </a:r>
          </a:p>
          <a:p>
            <a:pPr lvl="1"/>
            <a:r>
              <a:rPr lang="en-US" altLang="en-US" sz="1800" dirty="0">
                <a:sym typeface="Symbol" panose="05050102010706020507" pitchFamily="18" charset="2"/>
              </a:rPr>
              <a:t>Changing polarity reverses rotation </a:t>
            </a:r>
          </a:p>
          <a:p>
            <a:pPr lvl="1"/>
            <a:endParaRPr lang="en-US" altLang="en-US" sz="1800" dirty="0">
              <a:sym typeface="Symbol" panose="05050102010706020507" pitchFamily="18" charset="2"/>
            </a:endParaRPr>
          </a:p>
          <a:p>
            <a:r>
              <a:rPr lang="en-US" altLang="en-US" sz="1800" dirty="0">
                <a:sym typeface="Symbol" panose="05050102010706020507" pitchFamily="18" charset="2"/>
              </a:rPr>
              <a:t>To first order, </a:t>
            </a:r>
            <a:r>
              <a:rPr lang="en-US" altLang="en-US" sz="1800" b="1" dirty="0">
                <a:sym typeface="Symbol" panose="05050102010706020507" pitchFamily="18" charset="2"/>
              </a:rPr>
              <a:t>torque</a:t>
            </a:r>
            <a:r>
              <a:rPr lang="en-US" altLang="en-US" sz="1800" dirty="0">
                <a:sym typeface="Symbol" panose="05050102010706020507" pitchFamily="18" charset="2"/>
              </a:rPr>
              <a:t> is proportional to </a:t>
            </a:r>
            <a:r>
              <a:rPr lang="en-US" altLang="en-US" sz="1800" b="1" dirty="0">
                <a:sym typeface="Symbol" panose="05050102010706020507" pitchFamily="18" charset="2"/>
              </a:rPr>
              <a:t>current</a:t>
            </a:r>
          </a:p>
          <a:p>
            <a:endParaRPr lang="en-US" altLang="en-US" sz="1800" b="1" dirty="0">
              <a:sym typeface="Symbol" panose="05050102010706020507" pitchFamily="18" charset="2"/>
            </a:endParaRPr>
          </a:p>
          <a:p>
            <a:endParaRPr lang="en-US" altLang="en-US" sz="1800" b="1" dirty="0">
              <a:sym typeface="Symbol" panose="05050102010706020507" pitchFamily="18" charset="2"/>
            </a:endParaRPr>
          </a:p>
          <a:p>
            <a:endParaRPr lang="en-US" altLang="en-US" sz="1800" dirty="0">
              <a:sym typeface="Symbol" panose="05050102010706020507" pitchFamily="18" charset="2"/>
            </a:endParaRPr>
          </a:p>
          <a:p>
            <a:r>
              <a:rPr lang="en-US" altLang="en-US" sz="1800" dirty="0">
                <a:sym typeface="Symbol" panose="05050102010706020507" pitchFamily="18" charset="2"/>
              </a:rPr>
              <a:t>Motors which </a:t>
            </a:r>
            <a:br>
              <a:rPr lang="en-US" altLang="en-US" sz="1800" dirty="0">
                <a:sym typeface="Symbol" panose="05050102010706020507" pitchFamily="18" charset="2"/>
              </a:rPr>
            </a:br>
            <a:r>
              <a:rPr lang="en-US" altLang="en-US" sz="1800" dirty="0">
                <a:sym typeface="Symbol" panose="05050102010706020507" pitchFamily="18" charset="2"/>
              </a:rPr>
              <a:t>approximate this</a:t>
            </a:r>
            <a:br>
              <a:rPr lang="en-US" altLang="en-US" sz="1800" dirty="0">
                <a:sym typeface="Symbol" panose="05050102010706020507" pitchFamily="18" charset="2"/>
              </a:rPr>
            </a:br>
            <a:r>
              <a:rPr lang="en-US" altLang="en-US" sz="1800" dirty="0">
                <a:sym typeface="Symbol" panose="05050102010706020507" pitchFamily="18" charset="2"/>
              </a:rPr>
              <a:t>ideal well are</a:t>
            </a:r>
            <a:br>
              <a:rPr lang="en-US" altLang="en-US" sz="1800" dirty="0">
                <a:sym typeface="Symbol" panose="05050102010706020507" pitchFamily="18" charset="2"/>
              </a:rPr>
            </a:br>
            <a:r>
              <a:rPr lang="en-US" altLang="en-US" sz="1800" dirty="0">
                <a:sym typeface="Symbol" panose="05050102010706020507" pitchFamily="18" charset="2"/>
              </a:rPr>
              <a:t>called DC </a:t>
            </a:r>
            <a:r>
              <a:rPr lang="en-US" altLang="en-US" sz="1800" b="1" dirty="0">
                <a:sym typeface="Symbol" panose="05050102010706020507" pitchFamily="18" charset="2"/>
              </a:rPr>
              <a:t>servo</a:t>
            </a:r>
            <a:br>
              <a:rPr lang="en-US" altLang="en-US" sz="1800" b="1" dirty="0">
                <a:sym typeface="Symbol" panose="05050102010706020507" pitchFamily="18" charset="2"/>
              </a:rPr>
            </a:br>
            <a:r>
              <a:rPr lang="en-US" altLang="en-US" sz="1800" b="1" dirty="0">
                <a:sym typeface="Symbol" panose="05050102010706020507" pitchFamily="18" charset="2"/>
              </a:rPr>
              <a:t>motors</a:t>
            </a:r>
            <a:r>
              <a:rPr lang="en-US" altLang="en-US" sz="1800" dirty="0">
                <a:sym typeface="Symbol" panose="05050102010706020507" pitchFamily="18" charset="2"/>
              </a:rPr>
              <a:t>.</a:t>
            </a:r>
          </a:p>
        </p:txBody>
      </p:sp>
      <p:pic>
        <p:nvPicPr>
          <p:cNvPr id="2" name="Picture 1">
            <a:extLst>
              <a:ext uri="{FF2B5EF4-FFF2-40B4-BE49-F238E27FC236}">
                <a16:creationId xmlns:a16="http://schemas.microsoft.com/office/drawing/2014/main" id="{B99961C0-5C5C-4788-88F9-ABA886515075}"/>
              </a:ext>
            </a:extLst>
          </p:cNvPr>
          <p:cNvPicPr>
            <a:picLocks noChangeAspect="1"/>
          </p:cNvPicPr>
          <p:nvPr/>
        </p:nvPicPr>
        <p:blipFill>
          <a:blip r:embed="rId3"/>
          <a:stretch>
            <a:fillRect/>
          </a:stretch>
        </p:blipFill>
        <p:spPr>
          <a:xfrm>
            <a:off x="3641598" y="2932112"/>
            <a:ext cx="4336034" cy="3205401"/>
          </a:xfrm>
          <a:prstGeom prst="rect">
            <a:avLst/>
          </a:prstGeom>
        </p:spPr>
      </p:pic>
    </p:spTree>
    <p:extLst>
      <p:ext uri="{BB962C8B-B14F-4D97-AF65-F5344CB8AC3E}">
        <p14:creationId xmlns:p14="http://schemas.microsoft.com/office/powerpoint/2010/main" val="350528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Brushless DC motor</a:t>
            </a:r>
            <a:endParaRPr sz="2000" b="1" dirty="0">
              <a:latin typeface="+mn-lt"/>
              <a:cs typeface="SimSun"/>
            </a:endParaRPr>
          </a:p>
        </p:txBody>
      </p:sp>
      <p:pic>
        <p:nvPicPr>
          <p:cNvPr id="5" name="Picture 5" descr="scan0001">
            <a:extLst>
              <a:ext uri="{FF2B5EF4-FFF2-40B4-BE49-F238E27FC236}">
                <a16:creationId xmlns:a16="http://schemas.microsoft.com/office/drawing/2014/main" id="{1A50E78B-1E7E-4278-B331-F820DE2FC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99"/>
          <a:stretch>
            <a:fillRect/>
          </a:stretch>
        </p:blipFill>
        <p:spPr bwMode="auto">
          <a:xfrm>
            <a:off x="2235708" y="999902"/>
            <a:ext cx="4672583" cy="3012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scan0016">
            <a:extLst>
              <a:ext uri="{FF2B5EF4-FFF2-40B4-BE49-F238E27FC236}">
                <a16:creationId xmlns:a16="http://schemas.microsoft.com/office/drawing/2014/main" id="{26A0C995-C2FF-420D-A676-3D77AE55F1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369720" y="4134104"/>
            <a:ext cx="6485109" cy="2498344"/>
          </a:xfrm>
          <a:prstGeom prst="rect">
            <a:avLst/>
          </a:prstGeom>
          <a:noFill/>
        </p:spPr>
      </p:pic>
    </p:spTree>
    <p:extLst>
      <p:ext uri="{BB962C8B-B14F-4D97-AF65-F5344CB8AC3E}">
        <p14:creationId xmlns:p14="http://schemas.microsoft.com/office/powerpoint/2010/main" val="425203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Brushless DC motor transverse view of rotor</a:t>
            </a:r>
            <a:endParaRPr sz="2000" b="1" dirty="0">
              <a:latin typeface="+mn-lt"/>
              <a:cs typeface="SimSun"/>
            </a:endParaRPr>
          </a:p>
        </p:txBody>
      </p:sp>
      <p:pic>
        <p:nvPicPr>
          <p:cNvPr id="7" name="Picture 5" descr="scan0017">
            <a:extLst>
              <a:ext uri="{FF2B5EF4-FFF2-40B4-BE49-F238E27FC236}">
                <a16:creationId xmlns:a16="http://schemas.microsoft.com/office/drawing/2014/main" id="{4D2A0F3C-1B41-41E5-9F67-D21893F5F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5500" y="879923"/>
            <a:ext cx="7379208" cy="2580049"/>
          </a:xfrm>
          <a:prstGeom prst="rect">
            <a:avLst/>
          </a:prstGeom>
          <a:noFill/>
        </p:spPr>
      </p:pic>
      <p:sp>
        <p:nvSpPr>
          <p:cNvPr id="2" name="Rectangle 1">
            <a:extLst>
              <a:ext uri="{FF2B5EF4-FFF2-40B4-BE49-F238E27FC236}">
                <a16:creationId xmlns:a16="http://schemas.microsoft.com/office/drawing/2014/main" id="{1E96609E-917A-4757-8F19-A60379621B3D}"/>
              </a:ext>
            </a:extLst>
          </p:cNvPr>
          <p:cNvSpPr/>
          <p:nvPr/>
        </p:nvSpPr>
        <p:spPr>
          <a:xfrm>
            <a:off x="570992" y="3861052"/>
            <a:ext cx="7337552" cy="1754326"/>
          </a:xfrm>
          <a:prstGeom prst="rect">
            <a:avLst/>
          </a:prstGeom>
        </p:spPr>
        <p:txBody>
          <a:bodyPr wrap="square">
            <a:spAutoFit/>
          </a:bodyPr>
          <a:lstStyle/>
          <a:p>
            <a:pPr marL="285750" indent="-285750" eaLnBrk="1" hangingPunct="1">
              <a:buFont typeface="Arial" panose="020B0604020202020204" pitchFamily="34" charset="0"/>
              <a:buChar char="•"/>
            </a:pPr>
            <a:r>
              <a:rPr lang="en-US" altLang="en-US" dirty="0"/>
              <a:t>Hall effect sensors are the key to operation</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Need 3 or more sensors to determine the position of the rotor</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When a rotor pole passes a Hall-Effect sensor, get a high or low signal, indicating that a North or South pole</a:t>
            </a:r>
          </a:p>
        </p:txBody>
      </p:sp>
    </p:spTree>
    <p:extLst>
      <p:ext uri="{BB962C8B-B14F-4D97-AF65-F5344CB8AC3E}">
        <p14:creationId xmlns:p14="http://schemas.microsoft.com/office/powerpoint/2010/main" val="261398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Brushless DC motor commutation sequence</a:t>
            </a:r>
            <a:endParaRPr sz="2000" b="1" dirty="0">
              <a:latin typeface="+mn-lt"/>
              <a:cs typeface="SimSun"/>
            </a:endParaRPr>
          </a:p>
        </p:txBody>
      </p:sp>
      <p:sp>
        <p:nvSpPr>
          <p:cNvPr id="3" name="Rectangle 2">
            <a:extLst>
              <a:ext uri="{FF2B5EF4-FFF2-40B4-BE49-F238E27FC236}">
                <a16:creationId xmlns:a16="http://schemas.microsoft.com/office/drawing/2014/main" id="{5F83FC83-FEA2-4941-95DD-892F212FF726}"/>
              </a:ext>
            </a:extLst>
          </p:cNvPr>
          <p:cNvSpPr/>
          <p:nvPr/>
        </p:nvSpPr>
        <p:spPr>
          <a:xfrm>
            <a:off x="526288" y="1117245"/>
            <a:ext cx="6979920" cy="1200329"/>
          </a:xfrm>
          <a:prstGeom prst="rect">
            <a:avLst/>
          </a:prstGeom>
        </p:spPr>
        <p:txBody>
          <a:bodyPr wrap="square">
            <a:spAutoFit/>
          </a:bodyPr>
          <a:lstStyle/>
          <a:p>
            <a:pPr eaLnBrk="1" hangingPunct="1"/>
            <a:r>
              <a:rPr lang="en-US" altLang="en-US" dirty="0"/>
              <a:t>Each sequence has</a:t>
            </a:r>
          </a:p>
          <a:p>
            <a:pPr marL="742950" lvl="1" indent="-285750" eaLnBrk="1" hangingPunct="1">
              <a:buFont typeface="Arial" panose="020B0604020202020204" pitchFamily="34" charset="0"/>
              <a:buChar char="•"/>
            </a:pPr>
            <a:r>
              <a:rPr lang="en-US" altLang="en-US" dirty="0"/>
              <a:t>one winding energized positive (current into the winding)</a:t>
            </a:r>
          </a:p>
          <a:p>
            <a:pPr marL="742950" lvl="1" indent="-285750" eaLnBrk="1" hangingPunct="1">
              <a:buFont typeface="Arial" panose="020B0604020202020204" pitchFamily="34" charset="0"/>
              <a:buChar char="•"/>
            </a:pPr>
            <a:r>
              <a:rPr lang="en-US" altLang="en-US" dirty="0"/>
              <a:t>one winding energized negative (current out of the winding)</a:t>
            </a:r>
          </a:p>
          <a:p>
            <a:pPr marL="742950" lvl="1" indent="-285750" eaLnBrk="1" hangingPunct="1">
              <a:buFont typeface="Arial" panose="020B0604020202020204" pitchFamily="34" charset="0"/>
              <a:buChar char="•"/>
            </a:pPr>
            <a:r>
              <a:rPr lang="en-US" altLang="en-US" dirty="0"/>
              <a:t>one winding non-energized</a:t>
            </a:r>
          </a:p>
        </p:txBody>
      </p:sp>
      <p:pic>
        <p:nvPicPr>
          <p:cNvPr id="8" name="Picture 5" descr="scan0019">
            <a:extLst>
              <a:ext uri="{FF2B5EF4-FFF2-40B4-BE49-F238E27FC236}">
                <a16:creationId xmlns:a16="http://schemas.microsoft.com/office/drawing/2014/main" id="{ED9D49A6-C607-45DD-949A-3E011F26C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515" y="2393696"/>
            <a:ext cx="3308953" cy="4238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scan0018">
            <a:extLst>
              <a:ext uri="{FF2B5EF4-FFF2-40B4-BE49-F238E27FC236}">
                <a16:creationId xmlns:a16="http://schemas.microsoft.com/office/drawing/2014/main" id="{B142A700-AB5A-4621-A9DE-4E0EF6B16E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220038"/>
            <a:ext cx="3344672" cy="450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728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Brushless DC motor control circuit</a:t>
            </a:r>
            <a:endParaRPr sz="2000" b="1" dirty="0">
              <a:latin typeface="+mn-lt"/>
              <a:cs typeface="SimSun"/>
            </a:endParaRPr>
          </a:p>
        </p:txBody>
      </p:sp>
      <p:grpSp>
        <p:nvGrpSpPr>
          <p:cNvPr id="5" name="Group 4">
            <a:extLst>
              <a:ext uri="{FF2B5EF4-FFF2-40B4-BE49-F238E27FC236}">
                <a16:creationId xmlns:a16="http://schemas.microsoft.com/office/drawing/2014/main" id="{17C1E548-F438-4FBE-B215-BD9B96E2D30C}"/>
              </a:ext>
            </a:extLst>
          </p:cNvPr>
          <p:cNvGrpSpPr/>
          <p:nvPr/>
        </p:nvGrpSpPr>
        <p:grpSpPr>
          <a:xfrm>
            <a:off x="521500" y="917547"/>
            <a:ext cx="7994231" cy="3946598"/>
            <a:chOff x="540512" y="997758"/>
            <a:chExt cx="7994231" cy="3946598"/>
          </a:xfrm>
        </p:grpSpPr>
        <p:pic>
          <p:nvPicPr>
            <p:cNvPr id="2" name="Picture 1">
              <a:extLst>
                <a:ext uri="{FF2B5EF4-FFF2-40B4-BE49-F238E27FC236}">
                  <a16:creationId xmlns:a16="http://schemas.microsoft.com/office/drawing/2014/main" id="{03DFF6CB-0115-4F1C-820F-8434B091EC5D}"/>
                </a:ext>
              </a:extLst>
            </p:cNvPr>
            <p:cNvPicPr>
              <a:picLocks noChangeAspect="1"/>
            </p:cNvPicPr>
            <p:nvPr/>
          </p:nvPicPr>
          <p:blipFill>
            <a:blip r:embed="rId3"/>
            <a:stretch>
              <a:fillRect/>
            </a:stretch>
          </p:blipFill>
          <p:spPr>
            <a:xfrm>
              <a:off x="609256" y="999902"/>
              <a:ext cx="7925487" cy="3944454"/>
            </a:xfrm>
            <a:prstGeom prst="rect">
              <a:avLst/>
            </a:prstGeom>
          </p:spPr>
        </p:pic>
        <p:sp>
          <p:nvSpPr>
            <p:cNvPr id="4" name="Rectangle 3">
              <a:extLst>
                <a:ext uri="{FF2B5EF4-FFF2-40B4-BE49-F238E27FC236}">
                  <a16:creationId xmlns:a16="http://schemas.microsoft.com/office/drawing/2014/main" id="{E5B1C87E-F2A6-4FED-BA09-E2389C3473A0}"/>
                </a:ext>
              </a:extLst>
            </p:cNvPr>
            <p:cNvSpPr/>
            <p:nvPr/>
          </p:nvSpPr>
          <p:spPr>
            <a:xfrm>
              <a:off x="540512" y="997758"/>
              <a:ext cx="751840" cy="20645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0A2E9345-7B5C-472B-81CC-EEDEBEB70950}"/>
                </a:ext>
              </a:extLst>
            </p:cNvPr>
            <p:cNvSpPr/>
            <p:nvPr/>
          </p:nvSpPr>
          <p:spPr>
            <a:xfrm>
              <a:off x="1432560" y="2282278"/>
              <a:ext cx="839216" cy="40809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pic>
        <p:nvPicPr>
          <p:cNvPr id="12" name="Picture 8" descr="scan0021">
            <a:extLst>
              <a:ext uri="{FF2B5EF4-FFF2-40B4-BE49-F238E27FC236}">
                <a16:creationId xmlns:a16="http://schemas.microsoft.com/office/drawing/2014/main" id="{8F39851A-7EB7-47E3-966C-807F27CC8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122"/>
          <a:stretch>
            <a:fillRect/>
          </a:stretch>
        </p:blipFill>
        <p:spPr bwMode="auto">
          <a:xfrm>
            <a:off x="628269" y="4807249"/>
            <a:ext cx="7839456" cy="1924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4616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Avoiding gears</a:t>
            </a:r>
            <a:endParaRPr sz="2000" b="1" dirty="0">
              <a:latin typeface="+mn-lt"/>
              <a:cs typeface="SimSun"/>
            </a:endParaRPr>
          </a:p>
        </p:txBody>
      </p:sp>
      <p:sp>
        <p:nvSpPr>
          <p:cNvPr id="10" name="Rectangle 9">
            <a:extLst>
              <a:ext uri="{FF2B5EF4-FFF2-40B4-BE49-F238E27FC236}">
                <a16:creationId xmlns:a16="http://schemas.microsoft.com/office/drawing/2014/main" id="{3FE77127-A36E-46DA-92B5-85DBE5203023}"/>
              </a:ext>
            </a:extLst>
          </p:cNvPr>
          <p:cNvSpPr/>
          <p:nvPr/>
        </p:nvSpPr>
        <p:spPr>
          <a:xfrm>
            <a:off x="526287" y="1117245"/>
            <a:ext cx="7941437" cy="923330"/>
          </a:xfrm>
          <a:prstGeom prst="rect">
            <a:avLst/>
          </a:prstGeom>
        </p:spPr>
        <p:txBody>
          <a:bodyPr wrap="square">
            <a:spAutoFit/>
          </a:bodyPr>
          <a:lstStyle/>
          <a:p>
            <a:pPr eaLnBrk="1" hangingPunct="1"/>
            <a:r>
              <a:rPr lang="en-US" altLang="en-US" dirty="0"/>
              <a:t>Gears are useful for reducing speed and increasing torque but the are inefficient and take up space. In robotic systems motors that can generate torques at low speed without gears are preferred</a:t>
            </a:r>
          </a:p>
        </p:txBody>
      </p:sp>
      <p:pic>
        <p:nvPicPr>
          <p:cNvPr id="17411" name="Picture 3">
            <a:extLst>
              <a:ext uri="{FF2B5EF4-FFF2-40B4-BE49-F238E27FC236}">
                <a16:creationId xmlns:a16="http://schemas.microsoft.com/office/drawing/2014/main" id="{F5E72EE0-6BA2-46E3-A8AC-28C5B86A4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640" t="38130" r="27719" b="20905"/>
          <a:stretch>
            <a:fillRect/>
          </a:stretch>
        </p:blipFill>
        <p:spPr bwMode="auto">
          <a:xfrm>
            <a:off x="2252764" y="2553261"/>
            <a:ext cx="4394200"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191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11"/>
                                        </p:tgtEl>
                                        <p:attrNameLst>
                                          <p:attrName>style.visibility</p:attrName>
                                        </p:attrNameLst>
                                      </p:cBhvr>
                                      <p:to>
                                        <p:strVal val="visible"/>
                                      </p:to>
                                    </p:set>
                                    <p:animEffect transition="in" filter="fade">
                                      <p:cBhvr>
                                        <p:cTn id="17"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Stepping motors</a:t>
            </a:r>
            <a:endParaRPr sz="2000" b="1" dirty="0">
              <a:latin typeface="+mn-lt"/>
              <a:cs typeface="SimSun"/>
            </a:endParaRPr>
          </a:p>
        </p:txBody>
      </p:sp>
      <p:sp>
        <p:nvSpPr>
          <p:cNvPr id="10" name="Rectangle 9">
            <a:extLst>
              <a:ext uri="{FF2B5EF4-FFF2-40B4-BE49-F238E27FC236}">
                <a16:creationId xmlns:a16="http://schemas.microsoft.com/office/drawing/2014/main" id="{3FE77127-A36E-46DA-92B5-85DBE5203023}"/>
              </a:ext>
            </a:extLst>
          </p:cNvPr>
          <p:cNvSpPr/>
          <p:nvPr/>
        </p:nvSpPr>
        <p:spPr>
          <a:xfrm>
            <a:off x="526287" y="1117245"/>
            <a:ext cx="7941437" cy="3416320"/>
          </a:xfrm>
          <a:prstGeom prst="rect">
            <a:avLst/>
          </a:prstGeom>
        </p:spPr>
        <p:txBody>
          <a:bodyPr wrap="square">
            <a:spAutoFit/>
          </a:bodyPr>
          <a:lstStyle/>
          <a:p>
            <a:pPr marL="0" indent="0" eaLnBrk="1" hangingPunct="1">
              <a:buFontTx/>
              <a:buNone/>
            </a:pPr>
            <a:r>
              <a:rPr lang="en-US" altLang="en-US" dirty="0"/>
              <a:t>When incremental rotary motion is required in a robot, it is possible to use </a:t>
            </a:r>
            <a:r>
              <a:rPr lang="en-US" altLang="en-US" b="1" dirty="0"/>
              <a:t>stepper motors</a:t>
            </a:r>
          </a:p>
          <a:p>
            <a:pPr marL="0" indent="0" eaLnBrk="1" hangingPunct="1">
              <a:buFontTx/>
              <a:buNone/>
            </a:pPr>
            <a:endParaRPr lang="en-US" altLang="en-US" dirty="0"/>
          </a:p>
          <a:p>
            <a:pPr marL="285750" indent="-285750" eaLnBrk="1" hangingPunct="1">
              <a:buFont typeface="Arial" panose="020B0604020202020204" pitchFamily="34" charset="0"/>
              <a:buChar char="•"/>
            </a:pPr>
            <a:r>
              <a:rPr lang="en-US" altLang="en-US" dirty="0"/>
              <a:t>A stepper motor possesses the ability to move a specified number of revolutions or fraction of a revolution in order to achieve a fixed and consistent angular movement</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This is achieved by increasing the numbers of poles on both rotor and stator</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Additionally, soft magnetic material with many teeth on the rotor and stator effectively multiplies the number of poles (reluctance motor)</a:t>
            </a:r>
          </a:p>
        </p:txBody>
      </p:sp>
    </p:spTree>
    <p:extLst>
      <p:ext uri="{BB962C8B-B14F-4D97-AF65-F5344CB8AC3E}">
        <p14:creationId xmlns:p14="http://schemas.microsoft.com/office/powerpoint/2010/main" val="192905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194393" y="605557"/>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Stepping motors</a:t>
            </a:r>
            <a:endParaRPr sz="2000" b="1" dirty="0">
              <a:latin typeface="+mn-lt"/>
              <a:cs typeface="SimSun"/>
            </a:endParaRPr>
          </a:p>
        </p:txBody>
      </p:sp>
      <p:sp>
        <p:nvSpPr>
          <p:cNvPr id="10" name="Rectangle 9">
            <a:extLst>
              <a:ext uri="{FF2B5EF4-FFF2-40B4-BE49-F238E27FC236}">
                <a16:creationId xmlns:a16="http://schemas.microsoft.com/office/drawing/2014/main" id="{3FE77127-A36E-46DA-92B5-85DBE5203023}"/>
              </a:ext>
            </a:extLst>
          </p:cNvPr>
          <p:cNvSpPr/>
          <p:nvPr/>
        </p:nvSpPr>
        <p:spPr>
          <a:xfrm>
            <a:off x="526287" y="1117245"/>
            <a:ext cx="7941437" cy="1754326"/>
          </a:xfrm>
          <a:prstGeom prst="rect">
            <a:avLst/>
          </a:prstGeom>
        </p:spPr>
        <p:txBody>
          <a:bodyPr wrap="square">
            <a:spAutoFit/>
          </a:bodyPr>
          <a:lstStyle/>
          <a:p>
            <a:pPr marL="0" indent="0" eaLnBrk="1" hangingPunct="1">
              <a:buFontTx/>
              <a:buNone/>
            </a:pPr>
            <a:r>
              <a:rPr lang="en-US" altLang="en-US" dirty="0"/>
              <a:t>This design of a stepper motor, arranged with four magnetic poles arranged around a central rotor is a typical arrangement</a:t>
            </a:r>
          </a:p>
          <a:p>
            <a:pPr marL="0" indent="0" algn="ctr" eaLnBrk="1" hangingPunct="1">
              <a:buFontTx/>
              <a:buNone/>
            </a:pPr>
            <a:endParaRPr lang="en-US" altLang="en-US" dirty="0"/>
          </a:p>
          <a:p>
            <a:pPr marL="0" indent="0" eaLnBrk="1" hangingPunct="1">
              <a:buFontTx/>
              <a:buNone/>
            </a:pPr>
            <a:r>
              <a:rPr lang="en-US" altLang="en-US" dirty="0"/>
              <a:t>Note that the teeth on the rotor have a slightly tighter spacing to those on the stator, this ensures that the two sets of teeth are close to each other but not quite aligned throughout</a:t>
            </a:r>
          </a:p>
        </p:txBody>
      </p:sp>
      <p:pic>
        <p:nvPicPr>
          <p:cNvPr id="8" name="Picture 4" descr="Stepper_motor_1">
            <a:extLst>
              <a:ext uri="{FF2B5EF4-FFF2-40B4-BE49-F238E27FC236}">
                <a16:creationId xmlns:a16="http://schemas.microsoft.com/office/drawing/2014/main" id="{FD900C22-FD97-4346-8777-538818F24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707" y="3147759"/>
            <a:ext cx="30607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A1A6775-1C97-4D72-9769-794A9A2798AD}"/>
              </a:ext>
            </a:extLst>
          </p:cNvPr>
          <p:cNvSpPr/>
          <p:nvPr/>
        </p:nvSpPr>
        <p:spPr>
          <a:xfrm>
            <a:off x="579120" y="3167725"/>
            <a:ext cx="4273296" cy="2308324"/>
          </a:xfrm>
          <a:prstGeom prst="rect">
            <a:avLst/>
          </a:prstGeom>
        </p:spPr>
        <p:txBody>
          <a:bodyPr wrap="square">
            <a:spAutoFit/>
          </a:bodyPr>
          <a:lstStyle/>
          <a:p>
            <a:pPr marL="0" indent="0" eaLnBrk="1" hangingPunct="1">
              <a:buFontTx/>
              <a:buNone/>
            </a:pPr>
            <a:r>
              <a:rPr lang="en-US" altLang="en-US" dirty="0"/>
              <a:t>Movement is achieved when </a:t>
            </a:r>
            <a:br>
              <a:rPr lang="en-US" altLang="en-US" dirty="0"/>
            </a:br>
            <a:r>
              <a:rPr lang="en-US" altLang="en-US" dirty="0"/>
              <a:t>power is applied for short </a:t>
            </a:r>
            <a:br>
              <a:rPr lang="en-US" altLang="en-US" dirty="0"/>
            </a:br>
            <a:r>
              <a:rPr lang="en-US" altLang="en-US" dirty="0"/>
              <a:t>periods to successive magnets</a:t>
            </a:r>
          </a:p>
          <a:p>
            <a:pPr marL="0" indent="0" eaLnBrk="1" hangingPunct="1">
              <a:buFontTx/>
              <a:buNone/>
            </a:pPr>
            <a:endParaRPr lang="en-US" altLang="en-US" dirty="0"/>
          </a:p>
          <a:p>
            <a:pPr marL="0" indent="0" eaLnBrk="1" hangingPunct="1">
              <a:buFontTx/>
              <a:buNone/>
            </a:pPr>
            <a:r>
              <a:rPr lang="en-US" altLang="en-US" dirty="0"/>
              <a:t>Where pairs of teeth are least </a:t>
            </a:r>
            <a:br>
              <a:rPr lang="en-US" altLang="en-US" dirty="0"/>
            </a:br>
            <a:r>
              <a:rPr lang="en-US" altLang="en-US" dirty="0"/>
              <a:t>offset, the electromagnetic </a:t>
            </a:r>
            <a:br>
              <a:rPr lang="en-US" altLang="en-US" dirty="0"/>
            </a:br>
            <a:r>
              <a:rPr lang="en-US" altLang="en-US" dirty="0"/>
              <a:t>pulse causes alignment and a </a:t>
            </a:r>
            <a:br>
              <a:rPr lang="en-US" altLang="en-US" dirty="0"/>
            </a:br>
            <a:r>
              <a:rPr lang="en-US" altLang="en-US" dirty="0"/>
              <a:t>small rotation is achieved, typically 1-2</a:t>
            </a:r>
            <a:r>
              <a:rPr lang="en-US" altLang="en-US" baseline="30000" dirty="0"/>
              <a:t>o</a:t>
            </a:r>
          </a:p>
        </p:txBody>
      </p:sp>
    </p:spTree>
    <p:extLst>
      <p:ext uri="{BB962C8B-B14F-4D97-AF65-F5344CB8AC3E}">
        <p14:creationId xmlns:p14="http://schemas.microsoft.com/office/powerpoint/2010/main" val="196288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231012" y="483295"/>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Stepping motors</a:t>
            </a:r>
            <a:endParaRPr sz="2000" b="1" dirty="0">
              <a:latin typeface="+mn-lt"/>
              <a:cs typeface="SimSun"/>
            </a:endParaRPr>
          </a:p>
        </p:txBody>
      </p:sp>
      <p:grpSp>
        <p:nvGrpSpPr>
          <p:cNvPr id="7" name="Group 6">
            <a:extLst>
              <a:ext uri="{FF2B5EF4-FFF2-40B4-BE49-F238E27FC236}">
                <a16:creationId xmlns:a16="http://schemas.microsoft.com/office/drawing/2014/main" id="{B851073A-ED04-4587-A703-29940A4B14C5}"/>
              </a:ext>
            </a:extLst>
          </p:cNvPr>
          <p:cNvGrpSpPr/>
          <p:nvPr/>
        </p:nvGrpSpPr>
        <p:grpSpPr>
          <a:xfrm>
            <a:off x="562101" y="940035"/>
            <a:ext cx="3366707" cy="2833918"/>
            <a:chOff x="700277" y="1037571"/>
            <a:chExt cx="3366707" cy="2833918"/>
          </a:xfrm>
        </p:grpSpPr>
        <p:pic>
          <p:nvPicPr>
            <p:cNvPr id="8" name="Picture 4" descr="Stepper_motor_1">
              <a:extLst>
                <a:ext uri="{FF2B5EF4-FFF2-40B4-BE49-F238E27FC236}">
                  <a16:creationId xmlns:a16="http://schemas.microsoft.com/office/drawing/2014/main" id="{FD900C22-FD97-4346-8777-538818F24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531" y="1037571"/>
              <a:ext cx="2120157" cy="2120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AB52BC9-B3EC-4705-A047-3D1C3A23A2A7}"/>
                </a:ext>
              </a:extLst>
            </p:cNvPr>
            <p:cNvSpPr/>
            <p:nvPr/>
          </p:nvSpPr>
          <p:spPr>
            <a:xfrm>
              <a:off x="700277" y="2948159"/>
              <a:ext cx="3366707" cy="923330"/>
            </a:xfrm>
            <a:prstGeom prst="rect">
              <a:avLst/>
            </a:prstGeom>
          </p:spPr>
          <p:txBody>
            <a:bodyPr wrap="square">
              <a:spAutoFit/>
            </a:bodyPr>
            <a:lstStyle/>
            <a:p>
              <a:pPr>
                <a:spcBef>
                  <a:spcPct val="50000"/>
                </a:spcBef>
                <a:buFontTx/>
                <a:buNone/>
              </a:pPr>
              <a:r>
                <a:rPr lang="en-US" altLang="en-US" dirty="0">
                  <a:latin typeface="+mn-lt"/>
                  <a:ea typeface="Segoe UI Black" panose="020B0A02040204020203" pitchFamily="34" charset="0"/>
                  <a:cs typeface="Segoe UI Black" panose="020B0A02040204020203" pitchFamily="34" charset="0"/>
                </a:rPr>
                <a:t>The top electromagnet (1) is charged, attracting the topmost four teeth of a sprocket. </a:t>
              </a:r>
            </a:p>
          </p:txBody>
        </p:sp>
      </p:grpSp>
      <p:grpSp>
        <p:nvGrpSpPr>
          <p:cNvPr id="13" name="Group 12">
            <a:extLst>
              <a:ext uri="{FF2B5EF4-FFF2-40B4-BE49-F238E27FC236}">
                <a16:creationId xmlns:a16="http://schemas.microsoft.com/office/drawing/2014/main" id="{A81C4FD1-CCC7-4149-AB23-A51A3BCAA274}"/>
              </a:ext>
            </a:extLst>
          </p:cNvPr>
          <p:cNvGrpSpPr/>
          <p:nvPr/>
        </p:nvGrpSpPr>
        <p:grpSpPr>
          <a:xfrm>
            <a:off x="4074160" y="733441"/>
            <a:ext cx="4578096" cy="3257991"/>
            <a:chOff x="4212336" y="830977"/>
            <a:chExt cx="4578096" cy="3257991"/>
          </a:xfrm>
        </p:grpSpPr>
        <p:pic>
          <p:nvPicPr>
            <p:cNvPr id="12" name="Picture 5" descr="Stepper_motor_2">
              <a:extLst>
                <a:ext uri="{FF2B5EF4-FFF2-40B4-BE49-F238E27FC236}">
                  <a16:creationId xmlns:a16="http://schemas.microsoft.com/office/drawing/2014/main" id="{F5A14217-7634-4536-B948-6EF22AD515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7018" y="830977"/>
              <a:ext cx="2259139" cy="2259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AF759B3-C07E-451D-A303-9F761FAB112C}"/>
                </a:ext>
              </a:extLst>
            </p:cNvPr>
            <p:cNvSpPr/>
            <p:nvPr/>
          </p:nvSpPr>
          <p:spPr>
            <a:xfrm>
              <a:off x="4212336" y="2888639"/>
              <a:ext cx="4578096" cy="1200329"/>
            </a:xfrm>
            <a:prstGeom prst="rect">
              <a:avLst/>
            </a:prstGeom>
          </p:spPr>
          <p:txBody>
            <a:bodyPr wrap="square">
              <a:spAutoFit/>
            </a:bodyPr>
            <a:lstStyle/>
            <a:p>
              <a:pPr>
                <a:spcBef>
                  <a:spcPct val="50000"/>
                </a:spcBef>
                <a:buFontTx/>
                <a:buNone/>
              </a:pPr>
              <a:r>
                <a:rPr lang="en-US" altLang="en-US" dirty="0">
                  <a:latin typeface="+mn-lt"/>
                </a:rPr>
                <a:t>Electromagnet (1) is turned off, electromagnet (2) is charged, pulling the nearest four teeth to the right. This results in a rotation.</a:t>
              </a:r>
              <a:endParaRPr lang="en-US" altLang="en-US" dirty="0">
                <a:latin typeface="Times" panose="02020603050405020304" pitchFamily="18" charset="0"/>
              </a:endParaRPr>
            </a:p>
          </p:txBody>
        </p:sp>
      </p:grpSp>
      <p:grpSp>
        <p:nvGrpSpPr>
          <p:cNvPr id="14" name="Group 13">
            <a:extLst>
              <a:ext uri="{FF2B5EF4-FFF2-40B4-BE49-F238E27FC236}">
                <a16:creationId xmlns:a16="http://schemas.microsoft.com/office/drawing/2014/main" id="{776F14EA-A0EB-4C76-9CEC-90857E317B9B}"/>
              </a:ext>
            </a:extLst>
          </p:cNvPr>
          <p:cNvGrpSpPr/>
          <p:nvPr/>
        </p:nvGrpSpPr>
        <p:grpSpPr>
          <a:xfrm>
            <a:off x="431234" y="3722760"/>
            <a:ext cx="3366707" cy="2885111"/>
            <a:chOff x="569410" y="3820296"/>
            <a:chExt cx="3366707" cy="2885111"/>
          </a:xfrm>
        </p:grpSpPr>
        <p:pic>
          <p:nvPicPr>
            <p:cNvPr id="16" name="Picture 4" descr="Stepper_motor_3">
              <a:extLst>
                <a:ext uri="{FF2B5EF4-FFF2-40B4-BE49-F238E27FC236}">
                  <a16:creationId xmlns:a16="http://schemas.microsoft.com/office/drawing/2014/main" id="{789097CB-E7B2-4D9A-832A-09F8505602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425" y="3820296"/>
              <a:ext cx="2120157" cy="2120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a:extLst>
                <a:ext uri="{FF2B5EF4-FFF2-40B4-BE49-F238E27FC236}">
                  <a16:creationId xmlns:a16="http://schemas.microsoft.com/office/drawing/2014/main" id="{AA2010C8-953C-4FC5-B2C8-9CE8A2283F5D}"/>
                </a:ext>
              </a:extLst>
            </p:cNvPr>
            <p:cNvSpPr/>
            <p:nvPr/>
          </p:nvSpPr>
          <p:spPr>
            <a:xfrm>
              <a:off x="569410" y="5782077"/>
              <a:ext cx="3366707" cy="923330"/>
            </a:xfrm>
            <a:prstGeom prst="rect">
              <a:avLst/>
            </a:prstGeom>
          </p:spPr>
          <p:txBody>
            <a:bodyPr wrap="square">
              <a:spAutoFit/>
            </a:bodyPr>
            <a:lstStyle/>
            <a:p>
              <a:pPr>
                <a:spcBef>
                  <a:spcPct val="50000"/>
                </a:spcBef>
                <a:buFontTx/>
                <a:buNone/>
              </a:pPr>
              <a:r>
                <a:rPr lang="en-US" altLang="en-US" dirty="0">
                  <a:latin typeface="+mn-lt"/>
                </a:rPr>
                <a:t>The bottom electromagnet (3) is charged; another  rotation occurs</a:t>
              </a:r>
              <a:r>
                <a:rPr lang="en-US" altLang="en-US" dirty="0">
                  <a:latin typeface="+mn-lt"/>
                  <a:ea typeface="Segoe UI Black" panose="020B0A02040204020203" pitchFamily="34" charset="0"/>
                  <a:cs typeface="Segoe UI Black" panose="020B0A02040204020203" pitchFamily="34" charset="0"/>
                </a:rPr>
                <a:t>. </a:t>
              </a:r>
            </a:p>
          </p:txBody>
        </p:sp>
      </p:grpSp>
      <p:grpSp>
        <p:nvGrpSpPr>
          <p:cNvPr id="19" name="Group 18">
            <a:extLst>
              <a:ext uri="{FF2B5EF4-FFF2-40B4-BE49-F238E27FC236}">
                <a16:creationId xmlns:a16="http://schemas.microsoft.com/office/drawing/2014/main" id="{87A6232C-1C07-44F4-A05C-8EEACA4AEC89}"/>
              </a:ext>
            </a:extLst>
          </p:cNvPr>
          <p:cNvGrpSpPr/>
          <p:nvPr/>
        </p:nvGrpSpPr>
        <p:grpSpPr>
          <a:xfrm>
            <a:off x="3709416" y="3722759"/>
            <a:ext cx="5434584" cy="3019166"/>
            <a:chOff x="3709416" y="3722759"/>
            <a:chExt cx="5434584" cy="3019166"/>
          </a:xfrm>
        </p:grpSpPr>
        <p:pic>
          <p:nvPicPr>
            <p:cNvPr id="18" name="Picture 4" descr="Stepper_motor_4">
              <a:extLst>
                <a:ext uri="{FF2B5EF4-FFF2-40B4-BE49-F238E27FC236}">
                  <a16:creationId xmlns:a16="http://schemas.microsoft.com/office/drawing/2014/main" id="{3FA4704F-4C6F-4549-9466-4E980716A9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6589" y="3722759"/>
              <a:ext cx="2120158" cy="212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a:extLst>
                <a:ext uri="{FF2B5EF4-FFF2-40B4-BE49-F238E27FC236}">
                  <a16:creationId xmlns:a16="http://schemas.microsoft.com/office/drawing/2014/main" id="{CC288C76-B31A-4192-B507-877611CE10C4}"/>
                </a:ext>
              </a:extLst>
            </p:cNvPr>
            <p:cNvSpPr/>
            <p:nvPr/>
          </p:nvSpPr>
          <p:spPr>
            <a:xfrm>
              <a:off x="3709416" y="5541596"/>
              <a:ext cx="5434584" cy="1200329"/>
            </a:xfrm>
            <a:prstGeom prst="rect">
              <a:avLst/>
            </a:prstGeom>
          </p:spPr>
          <p:txBody>
            <a:bodyPr wrap="square">
              <a:spAutoFit/>
            </a:bodyPr>
            <a:lstStyle/>
            <a:p>
              <a:pPr>
                <a:spcBef>
                  <a:spcPct val="50000"/>
                </a:spcBef>
                <a:buFontTx/>
                <a:buNone/>
              </a:pPr>
              <a:r>
                <a:rPr lang="en-US" altLang="en-US" dirty="0">
                  <a:latin typeface="+mn-lt"/>
                </a:rPr>
                <a:t>Electromagnet (4) is enabled, rotating again When the top electromagnet (1) is again charged, the teeth in the sprocket will have rotated by one tooth position</a:t>
              </a:r>
            </a:p>
          </p:txBody>
        </p:sp>
      </p:grpSp>
    </p:spTree>
    <p:extLst>
      <p:ext uri="{BB962C8B-B14F-4D97-AF65-F5344CB8AC3E}">
        <p14:creationId xmlns:p14="http://schemas.microsoft.com/office/powerpoint/2010/main" val="215385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Stepping motors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461264" y="1116275"/>
            <a:ext cx="7638288" cy="3693319"/>
          </a:xfrm>
          <a:prstGeom prst="rect">
            <a:avLst/>
          </a:prstGeom>
        </p:spPr>
        <p:txBody>
          <a:bodyPr wrap="square">
            <a:spAutoFit/>
          </a:bodyPr>
          <a:lstStyle/>
          <a:p>
            <a:pPr marL="0" indent="0" eaLnBrk="1" hangingPunct="1">
              <a:buFontTx/>
              <a:buNone/>
            </a:pPr>
            <a:r>
              <a:rPr lang="en-US" altLang="en-US" dirty="0"/>
              <a:t>Stepper motors have several advantages:</a:t>
            </a:r>
          </a:p>
          <a:p>
            <a:pPr marL="0" indent="0" eaLnBrk="1" hangingPunct="1">
              <a:buFontTx/>
              <a:buNone/>
            </a:pPr>
            <a:endParaRPr lang="en-US" altLang="en-US" dirty="0"/>
          </a:p>
          <a:p>
            <a:pPr marL="742950" lvl="1" indent="-285750" eaLnBrk="1" hangingPunct="1">
              <a:buFont typeface="Arial" panose="020B0604020202020204" pitchFamily="34" charset="0"/>
              <a:buChar char="•"/>
            </a:pPr>
            <a:r>
              <a:rPr lang="en-US" altLang="en-US" dirty="0"/>
              <a:t>Their control is directly compatible with digital technology</a:t>
            </a:r>
          </a:p>
          <a:p>
            <a:pPr marL="742950" lvl="1" indent="-285750" eaLnBrk="1" hangingPunct="1">
              <a:buFont typeface="Arial" panose="020B0604020202020204" pitchFamily="34" charset="0"/>
              <a:buChar char="•"/>
            </a:pPr>
            <a:endParaRPr lang="en-US" altLang="en-US" dirty="0"/>
          </a:p>
          <a:p>
            <a:pPr marL="742950" lvl="1" indent="-285750" eaLnBrk="1" hangingPunct="1">
              <a:buFont typeface="Arial" panose="020B0604020202020204" pitchFamily="34" charset="0"/>
              <a:buChar char="•"/>
            </a:pPr>
            <a:r>
              <a:rPr lang="en-US" altLang="en-US" dirty="0"/>
              <a:t>They can be operated open loop by counting steps, with an accuracy of </a:t>
            </a:r>
            <a:r>
              <a:rPr lang="en-US" altLang="en-US" dirty="0">
                <a:sym typeface="Symbol" panose="05050102010706020507" pitchFamily="18" charset="2"/>
              </a:rPr>
              <a:t></a:t>
            </a:r>
            <a:r>
              <a:rPr lang="en-US" altLang="en-US" dirty="0"/>
              <a:t>1 step</a:t>
            </a:r>
          </a:p>
          <a:p>
            <a:pPr marL="742950" lvl="1" indent="-285750" eaLnBrk="1" hangingPunct="1">
              <a:buFont typeface="Arial" panose="020B0604020202020204" pitchFamily="34" charset="0"/>
              <a:buChar char="•"/>
            </a:pPr>
            <a:endParaRPr lang="en-US" altLang="en-US" dirty="0"/>
          </a:p>
          <a:p>
            <a:pPr marL="742950" lvl="1" indent="-285750" eaLnBrk="1" hangingPunct="1">
              <a:buFont typeface="Arial" panose="020B0604020202020204" pitchFamily="34" charset="0"/>
              <a:buChar char="•"/>
            </a:pPr>
            <a:r>
              <a:rPr lang="en-US" altLang="en-US" dirty="0"/>
              <a:t>They can be operated in a half step mode for improved resolution</a:t>
            </a:r>
          </a:p>
          <a:p>
            <a:pPr lvl="1" eaLnBrk="1" hangingPunct="1"/>
            <a:endParaRPr lang="en-US" altLang="en-US" dirty="0"/>
          </a:p>
          <a:p>
            <a:pPr marL="742950" lvl="1" indent="-285750" eaLnBrk="1" hangingPunct="1">
              <a:buFont typeface="Arial" panose="020B0604020202020204" pitchFamily="34" charset="0"/>
              <a:buChar char="•"/>
            </a:pPr>
            <a:r>
              <a:rPr lang="en-US" altLang="en-US" dirty="0"/>
              <a:t>They can be used as holding devices, since they exhibit a high holding torque when the rotor is stationary</a:t>
            </a:r>
          </a:p>
          <a:p>
            <a:pPr marL="742950" lvl="1" indent="-285750" eaLnBrk="1" hangingPunct="1">
              <a:buFont typeface="Arial" panose="020B0604020202020204" pitchFamily="34" charset="0"/>
              <a:buChar char="•"/>
            </a:pPr>
            <a:endParaRPr lang="en-US" altLang="en-US" dirty="0"/>
          </a:p>
          <a:p>
            <a:pPr marL="742950" lvl="1" indent="-285750" eaLnBrk="1" hangingPunct="1">
              <a:buFont typeface="Arial" panose="020B0604020202020204" pitchFamily="34" charset="0"/>
              <a:buChar char="•"/>
            </a:pPr>
            <a:r>
              <a:rPr lang="en-US" altLang="en-US" dirty="0"/>
              <a:t>Can get a linear version</a:t>
            </a:r>
          </a:p>
        </p:txBody>
      </p:sp>
      <p:pic>
        <p:nvPicPr>
          <p:cNvPr id="3" name="Picture 2">
            <a:extLst>
              <a:ext uri="{FF2B5EF4-FFF2-40B4-BE49-F238E27FC236}">
                <a16:creationId xmlns:a16="http://schemas.microsoft.com/office/drawing/2014/main" id="{B493A9A9-9376-42DF-AF9C-C983C905C641}"/>
              </a:ext>
            </a:extLst>
          </p:cNvPr>
          <p:cNvPicPr>
            <a:picLocks noChangeAspect="1"/>
          </p:cNvPicPr>
          <p:nvPr/>
        </p:nvPicPr>
        <p:blipFill rotWithShape="1">
          <a:blip r:embed="rId3"/>
          <a:srcRect t="29647"/>
          <a:stretch/>
        </p:blipFill>
        <p:spPr>
          <a:xfrm>
            <a:off x="1186295" y="4916436"/>
            <a:ext cx="7048500" cy="2680473"/>
          </a:xfrm>
          <a:prstGeom prst="rect">
            <a:avLst/>
          </a:prstGeom>
        </p:spPr>
      </p:pic>
    </p:spTree>
    <p:extLst>
      <p:ext uri="{BB962C8B-B14F-4D97-AF65-F5344CB8AC3E}">
        <p14:creationId xmlns:p14="http://schemas.microsoft.com/office/powerpoint/2010/main" val="72052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Mega Torque motors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530224" y="896819"/>
            <a:ext cx="7638288" cy="646331"/>
          </a:xfrm>
          <a:prstGeom prst="rect">
            <a:avLst/>
          </a:prstGeom>
        </p:spPr>
        <p:txBody>
          <a:bodyPr wrap="square">
            <a:spAutoFit/>
          </a:bodyPr>
          <a:lstStyle/>
          <a:p>
            <a:pPr marL="0" indent="0" eaLnBrk="1" hangingPunct="1">
              <a:buFontTx/>
              <a:buNone/>
            </a:pPr>
            <a:r>
              <a:rPr lang="en-US" altLang="en-US" dirty="0"/>
              <a:t>The stepping motor principle can be extended to give extremely high torques by increasing the number of teeth used:</a:t>
            </a:r>
          </a:p>
        </p:txBody>
      </p:sp>
      <p:sp>
        <p:nvSpPr>
          <p:cNvPr id="6" name="object 3">
            <a:extLst>
              <a:ext uri="{FF2B5EF4-FFF2-40B4-BE49-F238E27FC236}">
                <a16:creationId xmlns:a16="http://schemas.microsoft.com/office/drawing/2014/main" id="{4A9C57CC-8446-482F-B1DB-807D61D02255}"/>
              </a:ext>
            </a:extLst>
          </p:cNvPr>
          <p:cNvSpPr/>
          <p:nvPr/>
        </p:nvSpPr>
        <p:spPr>
          <a:xfrm>
            <a:off x="751243" y="1587555"/>
            <a:ext cx="4093045" cy="4921504"/>
          </a:xfrm>
          <a:prstGeom prst="rect">
            <a:avLst/>
          </a:prstGeom>
          <a:blipFill>
            <a:blip r:embed="rId3" cstate="print"/>
            <a:stretch>
              <a:fillRect t="-2667" b="-4909"/>
            </a:stretch>
          </a:blipFill>
        </p:spPr>
        <p:txBody>
          <a:bodyPr wrap="square" lIns="0" tIns="0" rIns="0" bIns="0" rtlCol="0"/>
          <a:lstStyle/>
          <a:p>
            <a:pPr defTabSz="914400" eaLnBrk="1" fontAlgn="auto" hangingPunct="1">
              <a:spcBef>
                <a:spcPts val="0"/>
              </a:spcBef>
              <a:spcAft>
                <a:spcPts val="0"/>
              </a:spcAft>
            </a:pPr>
            <a:endParaRPr>
              <a:solidFill>
                <a:prstClr val="black"/>
              </a:solidFill>
              <a:latin typeface="Calibri"/>
              <a:ea typeface="+mn-ea"/>
            </a:endParaRPr>
          </a:p>
        </p:txBody>
      </p:sp>
      <p:sp>
        <p:nvSpPr>
          <p:cNvPr id="7" name="object 4">
            <a:extLst>
              <a:ext uri="{FF2B5EF4-FFF2-40B4-BE49-F238E27FC236}">
                <a16:creationId xmlns:a16="http://schemas.microsoft.com/office/drawing/2014/main" id="{8A21174B-8B60-4E9B-9FB0-277B7BE0477A}"/>
              </a:ext>
            </a:extLst>
          </p:cNvPr>
          <p:cNvSpPr/>
          <p:nvPr/>
        </p:nvSpPr>
        <p:spPr>
          <a:xfrm>
            <a:off x="4984034" y="1989264"/>
            <a:ext cx="3619453" cy="3971917"/>
          </a:xfrm>
          <a:prstGeom prst="rect">
            <a:avLst/>
          </a:prstGeom>
          <a:blipFill>
            <a:blip r:embed="rId4" cstate="print"/>
            <a:stretch>
              <a:fillRect/>
            </a:stretch>
          </a:blipFill>
        </p:spPr>
        <p:txBody>
          <a:bodyPr wrap="square" lIns="0" tIns="0" rIns="0" bIns="0" rtlCol="0"/>
          <a:lstStyle/>
          <a:p>
            <a:pPr defTabSz="914400" eaLnBrk="1" fontAlgn="auto" hangingPunct="1">
              <a:spcBef>
                <a:spcPts val="0"/>
              </a:spcBef>
              <a:spcAft>
                <a:spcPts val="0"/>
              </a:spcAft>
            </a:pPr>
            <a:endParaRPr>
              <a:solidFill>
                <a:prstClr val="black"/>
              </a:solidFill>
              <a:latin typeface="Calibri"/>
              <a:ea typeface="+mn-ea"/>
            </a:endParaRPr>
          </a:p>
        </p:txBody>
      </p:sp>
    </p:spTree>
    <p:extLst>
      <p:ext uri="{BB962C8B-B14F-4D97-AF65-F5344CB8AC3E}">
        <p14:creationId xmlns:p14="http://schemas.microsoft.com/office/powerpoint/2010/main" val="4175380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Electric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Direct drives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461264" y="1116275"/>
            <a:ext cx="7638288" cy="646331"/>
          </a:xfrm>
          <a:prstGeom prst="rect">
            <a:avLst/>
          </a:prstGeom>
        </p:spPr>
        <p:txBody>
          <a:bodyPr wrap="square">
            <a:spAutoFit/>
          </a:bodyPr>
          <a:lstStyle/>
          <a:p>
            <a:pPr marL="0" indent="0" eaLnBrk="1" hangingPunct="1">
              <a:buFontTx/>
              <a:buNone/>
            </a:pPr>
            <a:r>
              <a:rPr lang="en-US" altLang="en-US" dirty="0"/>
              <a:t>Another way of producing drives with good torque at low speed is to adopt the brushless motor concept with a large number of poles </a:t>
            </a:r>
          </a:p>
        </p:txBody>
      </p:sp>
      <p:pic>
        <p:nvPicPr>
          <p:cNvPr id="3" name="Picture 2">
            <a:extLst>
              <a:ext uri="{FF2B5EF4-FFF2-40B4-BE49-F238E27FC236}">
                <a16:creationId xmlns:a16="http://schemas.microsoft.com/office/drawing/2014/main" id="{A8AE7B6B-969C-4736-AD35-4EAA50236233}"/>
              </a:ext>
            </a:extLst>
          </p:cNvPr>
          <p:cNvPicPr>
            <a:picLocks noChangeAspect="1"/>
          </p:cNvPicPr>
          <p:nvPr/>
        </p:nvPicPr>
        <p:blipFill>
          <a:blip r:embed="rId3"/>
          <a:stretch>
            <a:fillRect/>
          </a:stretch>
        </p:blipFill>
        <p:spPr>
          <a:xfrm>
            <a:off x="3869182" y="2196782"/>
            <a:ext cx="4762500" cy="3114675"/>
          </a:xfrm>
          <a:prstGeom prst="rect">
            <a:avLst/>
          </a:prstGeom>
        </p:spPr>
      </p:pic>
      <p:sp>
        <p:nvSpPr>
          <p:cNvPr id="6" name="Rectangle 5">
            <a:extLst>
              <a:ext uri="{FF2B5EF4-FFF2-40B4-BE49-F238E27FC236}">
                <a16:creationId xmlns:a16="http://schemas.microsoft.com/office/drawing/2014/main" id="{0E812145-B690-4A07-94C8-C54BF408184E}"/>
              </a:ext>
            </a:extLst>
          </p:cNvPr>
          <p:cNvSpPr/>
          <p:nvPr/>
        </p:nvSpPr>
        <p:spPr>
          <a:xfrm>
            <a:off x="461264" y="1983939"/>
            <a:ext cx="3948176" cy="2031325"/>
          </a:xfrm>
          <a:prstGeom prst="rect">
            <a:avLst/>
          </a:prstGeom>
        </p:spPr>
        <p:txBody>
          <a:bodyPr wrap="square">
            <a:spAutoFit/>
          </a:bodyPr>
          <a:lstStyle/>
          <a:p>
            <a:pPr marL="285750" indent="-285750" eaLnBrk="1" hangingPunct="1">
              <a:buFont typeface="Arial" panose="020B0604020202020204" pitchFamily="34" charset="0"/>
              <a:buChar char="•"/>
            </a:pPr>
            <a:r>
              <a:rPr lang="en-US" altLang="en-US" dirty="0"/>
              <a:t>High torque at low rpm</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Faster positioning</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Longer lifetime</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Reduced noise</a:t>
            </a:r>
          </a:p>
        </p:txBody>
      </p:sp>
      <p:sp>
        <p:nvSpPr>
          <p:cNvPr id="7" name="Rectangle 6">
            <a:extLst>
              <a:ext uri="{FF2B5EF4-FFF2-40B4-BE49-F238E27FC236}">
                <a16:creationId xmlns:a16="http://schemas.microsoft.com/office/drawing/2014/main" id="{45964D71-1577-4CA5-A7EF-A00B9F5BFAA4}"/>
              </a:ext>
            </a:extLst>
          </p:cNvPr>
          <p:cNvSpPr/>
          <p:nvPr/>
        </p:nvSpPr>
        <p:spPr>
          <a:xfrm>
            <a:off x="461264" y="4109363"/>
            <a:ext cx="3948176" cy="1477328"/>
          </a:xfrm>
          <a:prstGeom prst="rect">
            <a:avLst/>
          </a:prstGeom>
        </p:spPr>
        <p:txBody>
          <a:bodyPr wrap="square">
            <a:spAutoFit/>
          </a:bodyPr>
          <a:lstStyle/>
          <a:p>
            <a:pPr marL="0" indent="0" eaLnBrk="1" hangingPunct="1">
              <a:buFontTx/>
              <a:buNone/>
            </a:pPr>
            <a:r>
              <a:rPr lang="en-US" altLang="en-US" dirty="0"/>
              <a:t>But..</a:t>
            </a:r>
          </a:p>
          <a:p>
            <a:pPr marL="0" indent="0" eaLnBrk="1" hangingPunct="1">
              <a:buFontTx/>
              <a:buNone/>
            </a:pPr>
            <a:endParaRPr lang="en-US" altLang="en-US" dirty="0"/>
          </a:p>
          <a:p>
            <a:pPr marL="285750" indent="-285750" eaLnBrk="1" hangingPunct="1">
              <a:buFont typeface="Arial" panose="020B0604020202020204" pitchFamily="34" charset="0"/>
              <a:buChar char="•"/>
            </a:pPr>
            <a:r>
              <a:rPr lang="en-US" altLang="en-US" dirty="0"/>
              <a:t>Large diameter</a:t>
            </a:r>
          </a:p>
          <a:p>
            <a:pPr marL="285750" indent="-285750" eaLnBrk="1" hangingPunct="1">
              <a:buFont typeface="Arial" panose="020B0604020202020204" pitchFamily="34" charset="0"/>
              <a:buChar char="•"/>
            </a:pPr>
            <a:endParaRPr lang="en-US" altLang="en-US" dirty="0"/>
          </a:p>
          <a:p>
            <a:pPr marL="285750" indent="-285750" eaLnBrk="1" hangingPunct="1">
              <a:buFont typeface="Arial" panose="020B0604020202020204" pitchFamily="34" charset="0"/>
              <a:buChar char="•"/>
            </a:pPr>
            <a:r>
              <a:rPr lang="en-US" altLang="en-US" dirty="0"/>
              <a:t>Precise control</a:t>
            </a:r>
          </a:p>
        </p:txBody>
      </p:sp>
    </p:spTree>
    <p:extLst>
      <p:ext uri="{BB962C8B-B14F-4D97-AF65-F5344CB8AC3E}">
        <p14:creationId xmlns:p14="http://schemas.microsoft.com/office/powerpoint/2010/main" val="48817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Other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Piezoelectric actuators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461264" y="1038836"/>
            <a:ext cx="7638288" cy="646331"/>
          </a:xfrm>
          <a:prstGeom prst="rect">
            <a:avLst/>
          </a:prstGeom>
        </p:spPr>
        <p:txBody>
          <a:bodyPr wrap="square">
            <a:spAutoFit/>
          </a:bodyPr>
          <a:lstStyle/>
          <a:p>
            <a:pPr marL="0" indent="0" eaLnBrk="1" hangingPunct="1">
              <a:buFontTx/>
              <a:buNone/>
            </a:pPr>
            <a:r>
              <a:rPr lang="en-US" altLang="en-US" dirty="0"/>
              <a:t>These give very small displacements but are very accurate. Normally used for micropositioning</a:t>
            </a:r>
          </a:p>
        </p:txBody>
      </p:sp>
      <p:pic>
        <p:nvPicPr>
          <p:cNvPr id="4" name="Picture 3">
            <a:extLst>
              <a:ext uri="{FF2B5EF4-FFF2-40B4-BE49-F238E27FC236}">
                <a16:creationId xmlns:a16="http://schemas.microsoft.com/office/drawing/2014/main" id="{6770ABAE-2C09-480B-855A-FD7B4FA43B3A}"/>
              </a:ext>
            </a:extLst>
          </p:cNvPr>
          <p:cNvPicPr>
            <a:picLocks noChangeAspect="1"/>
          </p:cNvPicPr>
          <p:nvPr/>
        </p:nvPicPr>
        <p:blipFill rotWithShape="1">
          <a:blip r:embed="rId3"/>
          <a:srcRect b="7752"/>
          <a:stretch/>
        </p:blipFill>
        <p:spPr>
          <a:xfrm>
            <a:off x="699706" y="2012315"/>
            <a:ext cx="2428875" cy="1564005"/>
          </a:xfrm>
          <a:prstGeom prst="rect">
            <a:avLst/>
          </a:prstGeom>
        </p:spPr>
      </p:pic>
      <p:pic>
        <p:nvPicPr>
          <p:cNvPr id="5" name="Picture 4">
            <a:extLst>
              <a:ext uri="{FF2B5EF4-FFF2-40B4-BE49-F238E27FC236}">
                <a16:creationId xmlns:a16="http://schemas.microsoft.com/office/drawing/2014/main" id="{FC378969-E838-4877-92A7-F7C05383B259}"/>
              </a:ext>
            </a:extLst>
          </p:cNvPr>
          <p:cNvPicPr>
            <a:picLocks noChangeAspect="1"/>
          </p:cNvPicPr>
          <p:nvPr/>
        </p:nvPicPr>
        <p:blipFill>
          <a:blip r:embed="rId4"/>
          <a:stretch>
            <a:fillRect/>
          </a:stretch>
        </p:blipFill>
        <p:spPr>
          <a:xfrm>
            <a:off x="4511167" y="1760854"/>
            <a:ext cx="2381250" cy="2066925"/>
          </a:xfrm>
          <a:prstGeom prst="rect">
            <a:avLst/>
          </a:prstGeom>
        </p:spPr>
      </p:pic>
      <p:pic>
        <p:nvPicPr>
          <p:cNvPr id="8" name="Picture 7">
            <a:extLst>
              <a:ext uri="{FF2B5EF4-FFF2-40B4-BE49-F238E27FC236}">
                <a16:creationId xmlns:a16="http://schemas.microsoft.com/office/drawing/2014/main" id="{E06514EB-5843-4562-8510-A851AF581FC4}"/>
              </a:ext>
            </a:extLst>
          </p:cNvPr>
          <p:cNvPicPr>
            <a:picLocks noChangeAspect="1"/>
          </p:cNvPicPr>
          <p:nvPr/>
        </p:nvPicPr>
        <p:blipFill>
          <a:blip r:embed="rId5"/>
          <a:stretch>
            <a:fillRect/>
          </a:stretch>
        </p:blipFill>
        <p:spPr>
          <a:xfrm>
            <a:off x="629285" y="4154043"/>
            <a:ext cx="3333750" cy="2305050"/>
          </a:xfrm>
          <a:prstGeom prst="rect">
            <a:avLst/>
          </a:prstGeom>
        </p:spPr>
      </p:pic>
      <p:pic>
        <p:nvPicPr>
          <p:cNvPr id="10" name="Picture 9">
            <a:extLst>
              <a:ext uri="{FF2B5EF4-FFF2-40B4-BE49-F238E27FC236}">
                <a16:creationId xmlns:a16="http://schemas.microsoft.com/office/drawing/2014/main" id="{37CF5248-F2DC-46AD-ABE6-6092BEAC5EFA}"/>
              </a:ext>
            </a:extLst>
          </p:cNvPr>
          <p:cNvPicPr>
            <a:picLocks noChangeAspect="1"/>
          </p:cNvPicPr>
          <p:nvPr/>
        </p:nvPicPr>
        <p:blipFill>
          <a:blip r:embed="rId6"/>
          <a:stretch>
            <a:fillRect/>
          </a:stretch>
        </p:blipFill>
        <p:spPr>
          <a:xfrm>
            <a:off x="4678703" y="4187571"/>
            <a:ext cx="2434683" cy="2038477"/>
          </a:xfrm>
          <a:prstGeom prst="rect">
            <a:avLst/>
          </a:prstGeom>
        </p:spPr>
      </p:pic>
    </p:spTree>
    <p:extLst>
      <p:ext uri="{BB962C8B-B14F-4D97-AF65-F5344CB8AC3E}">
        <p14:creationId xmlns:p14="http://schemas.microsoft.com/office/powerpoint/2010/main" val="284281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Other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Ultrasonic motors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461264" y="1038836"/>
            <a:ext cx="7638288" cy="369332"/>
          </a:xfrm>
          <a:prstGeom prst="rect">
            <a:avLst/>
          </a:prstGeom>
        </p:spPr>
        <p:txBody>
          <a:bodyPr wrap="square">
            <a:spAutoFit/>
          </a:bodyPr>
          <a:lstStyle/>
          <a:p>
            <a:pPr marL="0" indent="0" eaLnBrk="1" hangingPunct="1">
              <a:buFontTx/>
              <a:buNone/>
            </a:pPr>
            <a:r>
              <a:rPr lang="en-US" altLang="en-US" dirty="0"/>
              <a:t>These use a vibrating </a:t>
            </a:r>
            <a:r>
              <a:rPr lang="en-US" altLang="en-US" dirty="0" err="1"/>
              <a:t>sator</a:t>
            </a:r>
            <a:r>
              <a:rPr lang="en-US" altLang="en-US" dirty="0"/>
              <a:t> and simple friction to drive the rotor</a:t>
            </a:r>
          </a:p>
        </p:txBody>
      </p:sp>
      <p:sp>
        <p:nvSpPr>
          <p:cNvPr id="11" name="object 3">
            <a:extLst>
              <a:ext uri="{FF2B5EF4-FFF2-40B4-BE49-F238E27FC236}">
                <a16:creationId xmlns:a16="http://schemas.microsoft.com/office/drawing/2014/main" id="{352004FF-4EF0-45B9-9740-EFC723D8EBF0}"/>
              </a:ext>
            </a:extLst>
          </p:cNvPr>
          <p:cNvSpPr/>
          <p:nvPr/>
        </p:nvSpPr>
        <p:spPr>
          <a:xfrm>
            <a:off x="739635" y="1528064"/>
            <a:ext cx="4592333" cy="2509303"/>
          </a:xfrm>
          <a:prstGeom prst="rect">
            <a:avLst/>
          </a:prstGeom>
          <a:blipFill>
            <a:blip r:embed="rId3" cstate="print"/>
            <a:stretch>
              <a:fillRect/>
            </a:stretch>
          </a:blipFill>
        </p:spPr>
        <p:txBody>
          <a:bodyPr wrap="square" lIns="0" tIns="0" rIns="0" bIns="0" rtlCol="0"/>
          <a:lstStyle/>
          <a:p>
            <a:pPr defTabSz="914400" eaLnBrk="1" fontAlgn="auto" hangingPunct="1">
              <a:spcBef>
                <a:spcPts val="0"/>
              </a:spcBef>
              <a:spcAft>
                <a:spcPts val="0"/>
              </a:spcAft>
            </a:pPr>
            <a:endParaRPr>
              <a:solidFill>
                <a:prstClr val="black"/>
              </a:solidFill>
              <a:latin typeface="Calibri"/>
              <a:ea typeface="+mn-ea"/>
            </a:endParaRPr>
          </a:p>
        </p:txBody>
      </p:sp>
      <p:sp>
        <p:nvSpPr>
          <p:cNvPr id="12" name="Rectangle 11">
            <a:extLst>
              <a:ext uri="{FF2B5EF4-FFF2-40B4-BE49-F238E27FC236}">
                <a16:creationId xmlns:a16="http://schemas.microsoft.com/office/drawing/2014/main" id="{D1D04A9F-F5F8-47CB-BD3B-F9E0B2411EBD}"/>
              </a:ext>
            </a:extLst>
          </p:cNvPr>
          <p:cNvSpPr/>
          <p:nvPr/>
        </p:nvSpPr>
        <p:spPr>
          <a:xfrm>
            <a:off x="426720" y="4076676"/>
            <a:ext cx="7638288" cy="369332"/>
          </a:xfrm>
          <a:prstGeom prst="rect">
            <a:avLst/>
          </a:prstGeom>
        </p:spPr>
        <p:txBody>
          <a:bodyPr wrap="square">
            <a:spAutoFit/>
          </a:bodyPr>
          <a:lstStyle/>
          <a:p>
            <a:pPr marL="0" indent="0" eaLnBrk="1" hangingPunct="1">
              <a:buFontTx/>
              <a:buNone/>
            </a:pPr>
            <a:r>
              <a:rPr lang="en-US" altLang="en-US" dirty="0"/>
              <a:t>Commonly found as camara lens ring motors</a:t>
            </a:r>
          </a:p>
        </p:txBody>
      </p:sp>
      <p:sp>
        <p:nvSpPr>
          <p:cNvPr id="3" name="object 4">
            <a:extLst>
              <a:ext uri="{FF2B5EF4-FFF2-40B4-BE49-F238E27FC236}">
                <a16:creationId xmlns:a16="http://schemas.microsoft.com/office/drawing/2014/main" id="{637F6922-6285-4872-BA22-72A3E2FCB49D}"/>
              </a:ext>
            </a:extLst>
          </p:cNvPr>
          <p:cNvSpPr/>
          <p:nvPr/>
        </p:nvSpPr>
        <p:spPr>
          <a:xfrm>
            <a:off x="5181257" y="3898049"/>
            <a:ext cx="2678519" cy="2392362"/>
          </a:xfrm>
          <a:prstGeom prst="rect">
            <a:avLst/>
          </a:prstGeom>
          <a:blipFill>
            <a:blip r:embed="rId4" cstate="print"/>
            <a:stretch>
              <a:fillRect r="-33380"/>
            </a:stretch>
          </a:blipFill>
        </p:spPr>
        <p:txBody>
          <a:bodyPr wrap="square" lIns="0" tIns="0" rIns="0" bIns="0" rtlCol="0"/>
          <a:lstStyle/>
          <a:p>
            <a:endParaRPr/>
          </a:p>
        </p:txBody>
      </p:sp>
    </p:spTree>
    <p:extLst>
      <p:ext uri="{BB962C8B-B14F-4D97-AF65-F5344CB8AC3E}">
        <p14:creationId xmlns:p14="http://schemas.microsoft.com/office/powerpoint/2010/main" val="33654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1" grpId="0" animBg="1"/>
      <p:bldP spid="12" grpId="0"/>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xfrm>
            <a:off x="292100" y="22225"/>
            <a:ext cx="8175625" cy="509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06070">
              <a:lnSpc>
                <a:spcPct val="100000"/>
              </a:lnSpc>
              <a:spcBef>
                <a:spcPts val="100"/>
              </a:spcBef>
            </a:pPr>
            <a:r>
              <a:rPr lang="en-GB" sz="2400" b="1" dirty="0">
                <a:solidFill>
                  <a:srgbClr val="C60B2F"/>
                </a:solidFill>
                <a:cs typeface="Arial"/>
              </a:rPr>
              <a:t>Other actuators</a:t>
            </a:r>
            <a:endParaRPr lang="en-GB" sz="2400" dirty="0">
              <a:cs typeface="Arial"/>
            </a:endParaRPr>
          </a:p>
        </p:txBody>
      </p:sp>
      <p:sp>
        <p:nvSpPr>
          <p:cNvPr id="9" name="object 4"/>
          <p:cNvSpPr txBox="1"/>
          <p:nvPr/>
        </p:nvSpPr>
        <p:spPr>
          <a:xfrm>
            <a:off x="231012" y="531813"/>
            <a:ext cx="8236713" cy="320601"/>
          </a:xfrm>
          <a:prstGeom prst="rect">
            <a:avLst/>
          </a:prstGeom>
        </p:spPr>
        <p:txBody>
          <a:bodyPr vert="horz" wrap="square" lIns="0" tIns="12700" rIns="0" bIns="0" rtlCol="0">
            <a:spAutoFit/>
          </a:bodyPr>
          <a:lstStyle/>
          <a:p>
            <a:pPr marL="306070">
              <a:lnSpc>
                <a:spcPct val="100000"/>
              </a:lnSpc>
            </a:pPr>
            <a:r>
              <a:rPr lang="en-US" sz="2000" b="1" dirty="0">
                <a:latin typeface="+mn-lt"/>
                <a:cs typeface="SimSun"/>
              </a:rPr>
              <a:t>Shape memory alloys</a:t>
            </a:r>
            <a:endParaRPr sz="2000" b="1" dirty="0">
              <a:latin typeface="+mn-lt"/>
              <a:cs typeface="SimSun"/>
            </a:endParaRPr>
          </a:p>
        </p:txBody>
      </p:sp>
      <p:sp>
        <p:nvSpPr>
          <p:cNvPr id="2" name="Rectangle 1">
            <a:extLst>
              <a:ext uri="{FF2B5EF4-FFF2-40B4-BE49-F238E27FC236}">
                <a16:creationId xmlns:a16="http://schemas.microsoft.com/office/drawing/2014/main" id="{B088D299-2717-49F1-AF5C-244777F48FE1}"/>
              </a:ext>
            </a:extLst>
          </p:cNvPr>
          <p:cNvSpPr/>
          <p:nvPr/>
        </p:nvSpPr>
        <p:spPr>
          <a:xfrm>
            <a:off x="461264" y="1038836"/>
            <a:ext cx="7638288" cy="646331"/>
          </a:xfrm>
          <a:prstGeom prst="rect">
            <a:avLst/>
          </a:prstGeom>
        </p:spPr>
        <p:txBody>
          <a:bodyPr wrap="square">
            <a:spAutoFit/>
          </a:bodyPr>
          <a:lstStyle/>
          <a:p>
            <a:pPr marL="0" indent="0" eaLnBrk="1" hangingPunct="1">
              <a:buFontTx/>
              <a:buNone/>
            </a:pPr>
            <a:r>
              <a:rPr lang="en-US" altLang="en-US" dirty="0"/>
              <a:t>These give a change of shape (normally a change of angle) with a change of temperature. Small torque but very lightweight.</a:t>
            </a:r>
          </a:p>
        </p:txBody>
      </p:sp>
      <p:pic>
        <p:nvPicPr>
          <p:cNvPr id="3" name="Picture 2">
            <a:extLst>
              <a:ext uri="{FF2B5EF4-FFF2-40B4-BE49-F238E27FC236}">
                <a16:creationId xmlns:a16="http://schemas.microsoft.com/office/drawing/2014/main" id="{1614D319-5208-4092-AE8C-D92DC0472FFA}"/>
              </a:ext>
            </a:extLst>
          </p:cNvPr>
          <p:cNvPicPr>
            <a:picLocks noChangeAspect="1"/>
          </p:cNvPicPr>
          <p:nvPr/>
        </p:nvPicPr>
        <p:blipFill>
          <a:blip r:embed="rId3"/>
          <a:stretch>
            <a:fillRect/>
          </a:stretch>
        </p:blipFill>
        <p:spPr>
          <a:xfrm>
            <a:off x="5308787" y="2048256"/>
            <a:ext cx="2681037" cy="2366973"/>
          </a:xfrm>
          <a:prstGeom prst="rect">
            <a:avLst/>
          </a:prstGeom>
        </p:spPr>
      </p:pic>
      <p:pic>
        <p:nvPicPr>
          <p:cNvPr id="6" name="Picture 5">
            <a:extLst>
              <a:ext uri="{FF2B5EF4-FFF2-40B4-BE49-F238E27FC236}">
                <a16:creationId xmlns:a16="http://schemas.microsoft.com/office/drawing/2014/main" id="{AED8EBE8-E9D9-489F-880F-58DAB044F29D}"/>
              </a:ext>
            </a:extLst>
          </p:cNvPr>
          <p:cNvPicPr>
            <a:picLocks noChangeAspect="1"/>
          </p:cNvPicPr>
          <p:nvPr/>
        </p:nvPicPr>
        <p:blipFill>
          <a:blip r:embed="rId4"/>
          <a:stretch>
            <a:fillRect/>
          </a:stretch>
        </p:blipFill>
        <p:spPr>
          <a:xfrm>
            <a:off x="355981" y="2336069"/>
            <a:ext cx="4561264" cy="3625819"/>
          </a:xfrm>
          <a:prstGeom prst="rect">
            <a:avLst/>
          </a:prstGeom>
        </p:spPr>
      </p:pic>
      <p:sp>
        <p:nvSpPr>
          <p:cNvPr id="12" name="object 18">
            <a:extLst>
              <a:ext uri="{FF2B5EF4-FFF2-40B4-BE49-F238E27FC236}">
                <a16:creationId xmlns:a16="http://schemas.microsoft.com/office/drawing/2014/main" id="{1D939AAD-92F9-4A10-8E6B-7A54AEA25544}"/>
              </a:ext>
            </a:extLst>
          </p:cNvPr>
          <p:cNvSpPr/>
          <p:nvPr/>
        </p:nvSpPr>
        <p:spPr>
          <a:xfrm>
            <a:off x="5308787" y="4492939"/>
            <a:ext cx="2681037" cy="1798133"/>
          </a:xfrm>
          <a:prstGeom prst="rect">
            <a:avLst/>
          </a:prstGeom>
          <a:blipFill>
            <a:blip r:embed="rId5"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53426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animBg="1"/>
    </p:bldLst>
  </p:timing>
</p:sld>
</file>

<file path=ppt/theme/theme1.xml><?xml version="1.0" encoding="utf-8"?>
<a:theme xmlns:a="http://schemas.openxmlformats.org/drawingml/2006/main" name="UoS template_no_logo_white">
  <a:themeElements>
    <a:clrScheme name="UoS01">
      <a:dk1>
        <a:sysClr val="windowText" lastClr="000000"/>
      </a:dk1>
      <a:lt1>
        <a:sysClr val="window" lastClr="FFFFFF"/>
      </a:lt1>
      <a:dk2>
        <a:srgbClr val="C60C30"/>
      </a:dk2>
      <a:lt2>
        <a:srgbClr val="FFFFFF"/>
      </a:lt2>
      <a:accent1>
        <a:srgbClr val="C60C30"/>
      </a:accent1>
      <a:accent2>
        <a:srgbClr val="009AA6"/>
      </a:accent2>
      <a:accent3>
        <a:srgbClr val="920075"/>
      </a:accent3>
      <a:accent4>
        <a:srgbClr val="BED600"/>
      </a:accent4>
      <a:accent5>
        <a:srgbClr val="E37222"/>
      </a:accent5>
      <a:accent6>
        <a:srgbClr val="782327"/>
      </a:accent6>
      <a:hlink>
        <a:srgbClr val="002060"/>
      </a:hlink>
      <a:folHlink>
        <a:srgbClr val="C2BDB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UoS template_no_logo_white</Template>
  <TotalTime>4976</TotalTime>
  <Words>1551</Words>
  <Application>Microsoft Office PowerPoint</Application>
  <PresentationFormat>On-screen Show (4:3)</PresentationFormat>
  <Paragraphs>301</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Arial Bold</vt:lpstr>
      <vt:lpstr>Calibri</vt:lpstr>
      <vt:lpstr>Times</vt:lpstr>
      <vt:lpstr>Wingdings</vt:lpstr>
      <vt:lpstr>UoS template_no_logo_white</vt:lpstr>
      <vt:lpstr>BEng (Hons) Control and Automation</vt:lpstr>
      <vt:lpstr>Lecture Content:      Actuators</vt:lpstr>
      <vt:lpstr>Actuators</vt:lpstr>
      <vt:lpstr>Considerations with Actuators</vt:lpstr>
      <vt:lpstr>Considerations with Actuators</vt:lpstr>
      <vt:lpstr>Pneumatic Advantages</vt:lpstr>
      <vt:lpstr>Pneumatic Disadvantages</vt:lpstr>
      <vt:lpstr>Typical Pneumatic Setup</vt:lpstr>
      <vt:lpstr>Pneumatic Actuators</vt:lpstr>
      <vt:lpstr>Pneumatic Actuators</vt:lpstr>
      <vt:lpstr>Pneumatic Actuators</vt:lpstr>
      <vt:lpstr>Pneumatic Actuators</vt:lpstr>
      <vt:lpstr>Pneumatic Actuators</vt:lpstr>
      <vt:lpstr>Pneumatic Actuators</vt:lpstr>
      <vt:lpstr>Hydraulic Advantages</vt:lpstr>
      <vt:lpstr>Hydraulic Disadvantages</vt:lpstr>
      <vt:lpstr>Typical Hydraulic Setup</vt:lpstr>
      <vt:lpstr>Hydraulic Actuators</vt:lpstr>
      <vt:lpstr>Hydraulic Actuators</vt:lpstr>
      <vt:lpstr>Hydraulic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Electric actuators</vt:lpstr>
      <vt:lpstr>Other actuators</vt:lpstr>
      <vt:lpstr>Other actuators</vt:lpstr>
      <vt:lpstr>Other actuators</vt:lpstr>
    </vt:vector>
  </TitlesOfParts>
  <Company>University of Salford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to go here heading to go here</dc:title>
  <dc:creator>Chambers Denis</dc:creator>
  <cp:lastModifiedBy>Saber Mahboubi Heydarabad</cp:lastModifiedBy>
  <cp:revision>422</cp:revision>
  <cp:lastPrinted>2019-11-13T07:44:56Z</cp:lastPrinted>
  <dcterms:created xsi:type="dcterms:W3CDTF">2011-12-09T09:26:53Z</dcterms:created>
  <dcterms:modified xsi:type="dcterms:W3CDTF">2023-08-27T14:34:11Z</dcterms:modified>
</cp:coreProperties>
</file>