
<file path=[Content_Types].xml><?xml version="1.0" encoding="utf-8"?>
<Types xmlns="http://schemas.openxmlformats.org/package/2006/content-types">
  <Default Extension="avi" ContentType="video/x-msvideo"/>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89" r:id="rId2"/>
    <p:sldId id="290" r:id="rId3"/>
    <p:sldId id="291" r:id="rId4"/>
    <p:sldId id="292" r:id="rId5"/>
    <p:sldId id="296" r:id="rId6"/>
    <p:sldId id="293" r:id="rId7"/>
    <p:sldId id="294" r:id="rId8"/>
    <p:sldId id="295" r:id="rId9"/>
    <p:sldId id="268" r:id="rId10"/>
    <p:sldId id="257" r:id="rId11"/>
    <p:sldId id="281" r:id="rId12"/>
    <p:sldId id="286" r:id="rId13"/>
    <p:sldId id="278" r:id="rId14"/>
    <p:sldId id="273" r:id="rId15"/>
    <p:sldId id="261" r:id="rId16"/>
    <p:sldId id="275" r:id="rId17"/>
    <p:sldId id="276" r:id="rId18"/>
    <p:sldId id="279" r:id="rId19"/>
    <p:sldId id="283" r:id="rId20"/>
    <p:sldId id="284" r:id="rId21"/>
    <p:sldId id="262" r:id="rId22"/>
    <p:sldId id="26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741031-3B8B-4234-9553-F9A30F6F29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9DA4F80-E51D-4E5B-8A1F-57F5814163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666650-03BA-48C0-9FDE-492ADD276B38}" type="datetimeFigureOut">
              <a:rPr lang="en-GB" smtClean="0"/>
              <a:t>09/11/2025</a:t>
            </a:fld>
            <a:endParaRPr lang="en-GB"/>
          </a:p>
        </p:txBody>
      </p:sp>
      <p:sp>
        <p:nvSpPr>
          <p:cNvPr id="4" name="Footer Placeholder 3">
            <a:extLst>
              <a:ext uri="{FF2B5EF4-FFF2-40B4-BE49-F238E27FC236}">
                <a16:creationId xmlns:a16="http://schemas.microsoft.com/office/drawing/2014/main" id="{400F2768-A05D-4687-BD73-9BC091F476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2E94EBE-2522-498D-8D3A-5B4D3CB22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48E5D0-5C28-4885-ACE3-A272126413BF}" type="slidenum">
              <a:rPr lang="en-GB" smtClean="0"/>
              <a:t>‹#›</a:t>
            </a:fld>
            <a:endParaRPr lang="en-GB"/>
          </a:p>
        </p:txBody>
      </p:sp>
    </p:spTree>
    <p:extLst>
      <p:ext uri="{BB962C8B-B14F-4D97-AF65-F5344CB8AC3E}">
        <p14:creationId xmlns:p14="http://schemas.microsoft.com/office/powerpoint/2010/main" val="34911890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B601C0-2574-4994-9C5B-3A17D63B1B28}" type="datetimeFigureOut">
              <a:rPr lang="en-GB" smtClean="0"/>
              <a:t>09/11/2025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511C8-4C5E-4193-BDCF-27A4053F761E}" type="slidenum">
              <a:rPr lang="en-GB" smtClean="0"/>
              <a:t>‹#›</a:t>
            </a:fld>
            <a:endParaRPr lang="en-GB"/>
          </a:p>
        </p:txBody>
      </p:sp>
    </p:spTree>
    <p:extLst>
      <p:ext uri="{BB962C8B-B14F-4D97-AF65-F5344CB8AC3E}">
        <p14:creationId xmlns:p14="http://schemas.microsoft.com/office/powerpoint/2010/main" val="1304164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3443A-AE1B-4CBF-86EE-3963654211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7582336-247C-4171-AC80-8FCEAD9EE6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C1C999B-101B-4C8C-BE7C-5EE0BDE8167E}"/>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5" name="Footer Placeholder 4">
            <a:extLst>
              <a:ext uri="{FF2B5EF4-FFF2-40B4-BE49-F238E27FC236}">
                <a16:creationId xmlns:a16="http://schemas.microsoft.com/office/drawing/2014/main" id="{61149053-7B71-4E7E-9635-9004D5AD02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99F4C3-CDE2-4EC8-BFE1-D2A553B2638A}"/>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2309541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4B37-C8EC-4932-B6DE-E7BA666884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9B9084-00B8-4793-BF35-F5A3AE5FC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C821442-8EEE-485D-8C08-36072C5A4203}"/>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5" name="Footer Placeholder 4">
            <a:extLst>
              <a:ext uri="{FF2B5EF4-FFF2-40B4-BE49-F238E27FC236}">
                <a16:creationId xmlns:a16="http://schemas.microsoft.com/office/drawing/2014/main" id="{334F08B7-6035-4D55-B2F3-DF29FEB460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5ABE40-E358-44D4-B120-E00F8D58833D}"/>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3779533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3AEF3-CB66-422D-8DA9-2324598EFA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96F1D7-9B36-44B5-8D7B-6DA3827FF9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916076-08FD-4649-B8E0-3DCEF47BED15}"/>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5" name="Footer Placeholder 4">
            <a:extLst>
              <a:ext uri="{FF2B5EF4-FFF2-40B4-BE49-F238E27FC236}">
                <a16:creationId xmlns:a16="http://schemas.microsoft.com/office/drawing/2014/main" id="{E8072627-9001-4057-973A-C12D014C9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E4306A-313D-4458-9D1A-9ED4A98DA840}"/>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68561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5BC2-3025-4DE3-8639-ED3201C0AB6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C37D32-A0BF-48C7-BDC9-B0C2873B11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0844F31-51C7-4812-B587-24F9A14DD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5B605E4-3C76-4778-990B-D02683CF12A9}"/>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6" name="Footer Placeholder 5">
            <a:extLst>
              <a:ext uri="{FF2B5EF4-FFF2-40B4-BE49-F238E27FC236}">
                <a16:creationId xmlns:a16="http://schemas.microsoft.com/office/drawing/2014/main" id="{7BF57DA7-9C34-4671-83BE-E1890AC83B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5835222-09ED-48DD-817C-FB9B8943CBEA}"/>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3017120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86980-EBEE-4074-9453-E92ED115EA3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5115810-D952-4CFC-BC20-B66E33EBED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C37C85-CBA7-4618-BEE2-0BD64AFEE3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9699B2B-C262-48D2-AA9D-61EA78202A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955FDB-BAB9-4F75-AE25-F08230176C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B3E101D-FD64-4DCD-B7F8-81DA16F6F4FB}"/>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8" name="Footer Placeholder 7">
            <a:extLst>
              <a:ext uri="{FF2B5EF4-FFF2-40B4-BE49-F238E27FC236}">
                <a16:creationId xmlns:a16="http://schemas.microsoft.com/office/drawing/2014/main" id="{9EC4899F-C392-45F6-9718-EBE74DD57C0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47FDC1A-FDBA-435F-ADCB-EB3725ADBD53}"/>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1520481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34517-F858-4283-873E-85BCC9D4D66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F5924D4-0C44-4A17-AD53-A408702A56EB}"/>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4" name="Footer Placeholder 3">
            <a:extLst>
              <a:ext uri="{FF2B5EF4-FFF2-40B4-BE49-F238E27FC236}">
                <a16:creationId xmlns:a16="http://schemas.microsoft.com/office/drawing/2014/main" id="{BFD51D09-D97A-4F66-AC64-99348310160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95677BE-DD7F-47DE-A42E-CED69D2DE80C}"/>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65100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4A50E-8F7A-465A-9E42-813CBFF0EAEF}"/>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3" name="Footer Placeholder 2">
            <a:extLst>
              <a:ext uri="{FF2B5EF4-FFF2-40B4-BE49-F238E27FC236}">
                <a16:creationId xmlns:a16="http://schemas.microsoft.com/office/drawing/2014/main" id="{ED975257-0DBF-4AA8-9313-BE180ECDAAA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9A29D55-99F9-42FC-B4F4-A6B2364021DE}"/>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351815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43D1-5018-40F0-A76C-767B60DAC0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B261D6B-2D31-473E-832C-91F9627375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2D99A2A-BAAE-4C66-9B00-469669351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3C0455-B0D5-4F9A-B38B-7DF92440F1F9}"/>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6" name="Footer Placeholder 5">
            <a:extLst>
              <a:ext uri="{FF2B5EF4-FFF2-40B4-BE49-F238E27FC236}">
                <a16:creationId xmlns:a16="http://schemas.microsoft.com/office/drawing/2014/main" id="{46909DC3-B0BD-41B2-9C4B-A0FFCB5B1F8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EDF0D6-FEEB-48AA-9A14-9E2130503785}"/>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274547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4B43-64E2-4889-B21B-C2BAA40C9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2E5AD7D-A867-4808-B0EA-92CF98D1C8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D7EFB45-37E3-4D06-BC63-B9FFA90EB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CBD836-6C4F-48B3-B20B-82E60744B644}"/>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6" name="Footer Placeholder 5">
            <a:extLst>
              <a:ext uri="{FF2B5EF4-FFF2-40B4-BE49-F238E27FC236}">
                <a16:creationId xmlns:a16="http://schemas.microsoft.com/office/drawing/2014/main" id="{FB02C247-09DA-474C-A4FA-A994D070E16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307692-51FB-43DC-A7E9-0FF7A1551ECE}"/>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1914034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B8DBA-6049-4906-95F8-54046C7201C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95686E3-F202-4D15-977E-32EC57962D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3EA9FB-55D5-4ACD-8EBE-793A93CFDC98}"/>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5" name="Footer Placeholder 4">
            <a:extLst>
              <a:ext uri="{FF2B5EF4-FFF2-40B4-BE49-F238E27FC236}">
                <a16:creationId xmlns:a16="http://schemas.microsoft.com/office/drawing/2014/main" id="{F79A0C56-904B-4B20-AFDB-877187550F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51BF3C-2B93-413F-8822-8392E58A0F1D}"/>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1048495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5E7DCE-9AF2-4B14-BF28-3C8D0F4215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E9A2A53-7AB2-4A3A-93A9-FB4CB1EF36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CB9E0-8B64-4C5C-9C2C-69C30658C491}"/>
              </a:ext>
            </a:extLst>
          </p:cNvPr>
          <p:cNvSpPr>
            <a:spLocks noGrp="1"/>
          </p:cNvSpPr>
          <p:nvPr>
            <p:ph type="dt" sz="half" idx="10"/>
          </p:nvPr>
        </p:nvSpPr>
        <p:spPr/>
        <p:txBody>
          <a:bodyPr/>
          <a:lstStyle/>
          <a:p>
            <a:fld id="{F9C672B1-7FD3-45AA-9EDB-7376FB062237}" type="datetimeFigureOut">
              <a:rPr lang="en-GB" smtClean="0"/>
              <a:t>09/11/2025</a:t>
            </a:fld>
            <a:endParaRPr lang="en-GB"/>
          </a:p>
        </p:txBody>
      </p:sp>
      <p:sp>
        <p:nvSpPr>
          <p:cNvPr id="5" name="Footer Placeholder 4">
            <a:extLst>
              <a:ext uri="{FF2B5EF4-FFF2-40B4-BE49-F238E27FC236}">
                <a16:creationId xmlns:a16="http://schemas.microsoft.com/office/drawing/2014/main" id="{385C6D0A-FC94-4C1E-B506-FC877B5FE2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4F73F8-B233-43B2-B624-D5A55CFF15E7}"/>
              </a:ext>
            </a:extLst>
          </p:cNvPr>
          <p:cNvSpPr>
            <a:spLocks noGrp="1"/>
          </p:cNvSpPr>
          <p:nvPr>
            <p:ph type="sldNum" sz="quarter" idx="12"/>
          </p:nvPr>
        </p:nvSpPr>
        <p:spPr/>
        <p:txBody>
          <a:bodyPr/>
          <a:lstStyle/>
          <a:p>
            <a:fld id="{5B3B5768-FA64-4D04-B09C-0ED79976CC52}" type="slidenum">
              <a:rPr lang="en-GB" smtClean="0"/>
              <a:t>‹#›</a:t>
            </a:fld>
            <a:endParaRPr lang="en-GB"/>
          </a:p>
        </p:txBody>
      </p:sp>
    </p:spTree>
    <p:extLst>
      <p:ext uri="{BB962C8B-B14F-4D97-AF65-F5344CB8AC3E}">
        <p14:creationId xmlns:p14="http://schemas.microsoft.com/office/powerpoint/2010/main" val="129901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1B06A3-05DB-4C93-B82B-69827AC371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A22177-BF8F-46D8-9109-C1E62E20A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7999BF-AD21-437F-AE9E-E6DE170C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C672B1-7FD3-45AA-9EDB-7376FB062237}" type="datetimeFigureOut">
              <a:rPr lang="en-GB" smtClean="0"/>
              <a:t>09/11/2025</a:t>
            </a:fld>
            <a:endParaRPr lang="en-GB"/>
          </a:p>
        </p:txBody>
      </p:sp>
      <p:sp>
        <p:nvSpPr>
          <p:cNvPr id="5" name="Footer Placeholder 4">
            <a:extLst>
              <a:ext uri="{FF2B5EF4-FFF2-40B4-BE49-F238E27FC236}">
                <a16:creationId xmlns:a16="http://schemas.microsoft.com/office/drawing/2014/main" id="{3479B038-EE2D-4717-BE51-1E556921D6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D702A4-FAC4-4B63-8D7E-EE6280F84E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3B5768-FA64-4D04-B09C-0ED79976CC52}" type="slidenum">
              <a:rPr lang="en-GB" smtClean="0"/>
              <a:t>‹#›</a:t>
            </a:fld>
            <a:endParaRPr lang="en-GB"/>
          </a:p>
        </p:txBody>
      </p:sp>
    </p:spTree>
    <p:extLst>
      <p:ext uri="{BB962C8B-B14F-4D97-AF65-F5344CB8AC3E}">
        <p14:creationId xmlns:p14="http://schemas.microsoft.com/office/powerpoint/2010/main" val="2944578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s.mahboubiheydarabad@salford.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jp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1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8.pn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12.xml.rels><?xml version="1.0" encoding="UTF-8" standalone="yes"?>
<Relationships xmlns="http://schemas.openxmlformats.org/package/2006/relationships"><Relationship Id="rId3" Type="http://schemas.microsoft.com/office/2007/relationships/media" Target="../media/media4.avi"/><Relationship Id="rId7" Type="http://schemas.openxmlformats.org/officeDocument/2006/relationships/image" Target="../media/image21.png"/><Relationship Id="rId2" Type="http://schemas.openxmlformats.org/officeDocument/2006/relationships/video" Target="../media/media3.avi"/><Relationship Id="rId1" Type="http://schemas.microsoft.com/office/2007/relationships/media" Target="../media/media3.avi"/><Relationship Id="rId6" Type="http://schemas.openxmlformats.org/officeDocument/2006/relationships/image" Target="../media/image20.png"/><Relationship Id="rId5" Type="http://schemas.openxmlformats.org/officeDocument/2006/relationships/slideLayout" Target="../slideLayouts/slideLayout2.xml"/><Relationship Id="rId4" Type="http://schemas.openxmlformats.org/officeDocument/2006/relationships/video" Target="../media/media4.avi"/></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image" Target="NUL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4.tif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21.xml.rels><?xml version="1.0" encoding="UTF-8" standalone="yes"?>
<Relationships xmlns="http://schemas.openxmlformats.org/package/2006/relationships"><Relationship Id="rId3" Type="http://schemas.microsoft.com/office/2007/relationships/media" Target="../media/media5.mp4"/><Relationship Id="rId7" Type="http://schemas.openxmlformats.org/officeDocument/2006/relationships/image" Target="../media/image27.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9.png"/><Relationship Id="rId5" Type="http://schemas.openxmlformats.org/officeDocument/2006/relationships/slideLayout" Target="../slideLayouts/slideLayout2.xml"/><Relationship Id="rId4" Type="http://schemas.openxmlformats.org/officeDocument/2006/relationships/video" Target="../media/media5.mp4"/></Relationships>
</file>

<file path=ppt/slides/_rels/slide22.xml.rels><?xml version="1.0" encoding="UTF-8" standalone="yes"?>
<Relationships xmlns="http://schemas.openxmlformats.org/package/2006/relationships"><Relationship Id="rId3" Type="http://schemas.microsoft.com/office/2007/relationships/media" Target="../media/media4.avi"/><Relationship Id="rId7" Type="http://schemas.openxmlformats.org/officeDocument/2006/relationships/image" Target="../media/image21.png"/><Relationship Id="rId2" Type="http://schemas.openxmlformats.org/officeDocument/2006/relationships/video" Target="../media/media3.avi"/><Relationship Id="rId1" Type="http://schemas.microsoft.com/office/2007/relationships/media" Target="../media/media3.avi"/><Relationship Id="rId6" Type="http://schemas.openxmlformats.org/officeDocument/2006/relationships/image" Target="../media/image20.png"/><Relationship Id="rId5" Type="http://schemas.openxmlformats.org/officeDocument/2006/relationships/slideLayout" Target="../slideLayouts/slideLayout2.xml"/><Relationship Id="rId4" Type="http://schemas.openxmlformats.org/officeDocument/2006/relationships/video" Target="../media/media4.avi"/></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5E45-E36D-48D3-BEE2-EFDC53C4EE8F}"/>
              </a:ext>
            </a:extLst>
          </p:cNvPr>
          <p:cNvSpPr>
            <a:spLocks noGrp="1"/>
          </p:cNvSpPr>
          <p:nvPr>
            <p:ph type="ctrTitle"/>
          </p:nvPr>
        </p:nvSpPr>
        <p:spPr>
          <a:xfrm>
            <a:off x="1313927" y="1766655"/>
            <a:ext cx="10031734" cy="2414727"/>
          </a:xfrm>
        </p:spPr>
        <p:txBody>
          <a:bodyPr>
            <a:normAutofit/>
          </a:bodyPr>
          <a:lstStyle/>
          <a:p>
            <a:r>
              <a:rPr lang="en-GB" sz="4000" b="1" dirty="0">
                <a:solidFill>
                  <a:srgbClr val="FF0000"/>
                </a:solidFill>
              </a:rPr>
              <a:t>Automation </a:t>
            </a:r>
            <a:r>
              <a:rPr lang="en-GB" sz="4000" b="1">
                <a:solidFill>
                  <a:srgbClr val="FF0000"/>
                </a:solidFill>
              </a:rPr>
              <a:t>&amp; Robotics</a:t>
            </a:r>
            <a:br>
              <a:rPr lang="en-GB" sz="4000" b="1" dirty="0">
                <a:solidFill>
                  <a:srgbClr val="FF0000"/>
                </a:solidFill>
              </a:rPr>
            </a:br>
            <a:r>
              <a:rPr lang="en-GB" sz="4000" b="1" dirty="0">
                <a:solidFill>
                  <a:schemeClr val="tx1">
                    <a:lumMod val="95000"/>
                    <a:lumOff val="5000"/>
                  </a:schemeClr>
                </a:solidFill>
              </a:rPr>
              <a:t>PID CONTROL</a:t>
            </a:r>
            <a:br>
              <a:rPr lang="en-GB" sz="4000" b="1" dirty="0">
                <a:solidFill>
                  <a:schemeClr val="tx1">
                    <a:lumMod val="95000"/>
                    <a:lumOff val="5000"/>
                  </a:schemeClr>
                </a:solidFill>
              </a:rPr>
            </a:br>
            <a:r>
              <a:rPr lang="en-GB" sz="4000" b="1" dirty="0">
                <a:solidFill>
                  <a:schemeClr val="tx1">
                    <a:lumMod val="95000"/>
                    <a:lumOff val="5000"/>
                  </a:schemeClr>
                </a:solidFill>
              </a:rPr>
              <a:t>Routh-Hurwitz Stability Criterion</a:t>
            </a:r>
            <a:br>
              <a:rPr lang="en-GB" sz="1100" b="0" i="0" dirty="0">
                <a:effectLst/>
                <a:latin typeface="Roboto" panose="02000000000000000000" pitchFamily="2" charset="0"/>
              </a:rPr>
            </a:br>
            <a:endParaRPr lang="en-GB" sz="4000" b="1" dirty="0">
              <a:solidFill>
                <a:srgbClr val="FF0000"/>
              </a:solidFill>
            </a:endParaRPr>
          </a:p>
        </p:txBody>
      </p:sp>
      <p:sp>
        <p:nvSpPr>
          <p:cNvPr id="3" name="Subtitle 2">
            <a:extLst>
              <a:ext uri="{FF2B5EF4-FFF2-40B4-BE49-F238E27FC236}">
                <a16:creationId xmlns:a16="http://schemas.microsoft.com/office/drawing/2014/main" id="{25125772-1CF8-4A9C-A6A5-CBD5B4A6D4F6}"/>
              </a:ext>
            </a:extLst>
          </p:cNvPr>
          <p:cNvSpPr>
            <a:spLocks noGrp="1"/>
          </p:cNvSpPr>
          <p:nvPr>
            <p:ph type="subTitle" idx="1"/>
          </p:nvPr>
        </p:nvSpPr>
        <p:spPr>
          <a:xfrm>
            <a:off x="1523999" y="4412202"/>
            <a:ext cx="9144000" cy="1429305"/>
          </a:xfrm>
        </p:spPr>
        <p:txBody>
          <a:bodyPr>
            <a:normAutofit/>
          </a:bodyPr>
          <a:lstStyle/>
          <a:p>
            <a:r>
              <a:rPr lang="en-GB" dirty="0"/>
              <a:t>Dr Saber Mahboubi</a:t>
            </a:r>
          </a:p>
          <a:p>
            <a:r>
              <a:rPr lang="en-GB" dirty="0">
                <a:hlinkClick r:id="rId2"/>
              </a:rPr>
              <a:t>s.mahboubiheydarabad@salford.ac.uk</a:t>
            </a:r>
            <a:endParaRPr lang="en-GB" dirty="0"/>
          </a:p>
          <a:p>
            <a:endParaRPr lang="en-GB" dirty="0"/>
          </a:p>
          <a:p>
            <a:endParaRPr lang="en-GB" dirty="0"/>
          </a:p>
        </p:txBody>
      </p:sp>
      <p:pic>
        <p:nvPicPr>
          <p:cNvPr id="7" name="Picture 6" descr="A picture containing text&#10;&#10;Description automatically generated">
            <a:extLst>
              <a:ext uri="{FF2B5EF4-FFF2-40B4-BE49-F238E27FC236}">
                <a16:creationId xmlns:a16="http://schemas.microsoft.com/office/drawing/2014/main" id="{23CD6FAD-D603-41A5-AE3E-891753A2A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173" y="264163"/>
            <a:ext cx="2039162" cy="972000"/>
          </a:xfrm>
          <a:prstGeom prst="rect">
            <a:avLst/>
          </a:prstGeom>
        </p:spPr>
      </p:pic>
      <p:cxnSp>
        <p:nvCxnSpPr>
          <p:cNvPr id="27" name="Straight Connector 26">
            <a:extLst>
              <a:ext uri="{FF2B5EF4-FFF2-40B4-BE49-F238E27FC236}">
                <a16:creationId xmlns:a16="http://schemas.microsoft.com/office/drawing/2014/main" id="{CFF750A2-6B14-4B1E-8AD9-4740707C7BD4}"/>
              </a:ext>
            </a:extLst>
          </p:cNvPr>
          <p:cNvCxnSpPr>
            <a:cxnSpLocks/>
          </p:cNvCxnSpPr>
          <p:nvPr/>
        </p:nvCxnSpPr>
        <p:spPr>
          <a:xfrm>
            <a:off x="168028" y="0"/>
            <a:ext cx="0" cy="6858000"/>
          </a:xfrm>
          <a:prstGeom prst="line">
            <a:avLst/>
          </a:prstGeom>
          <a:ln w="3429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E731615-C3CD-41D5-8419-6E08B0CA52E7}"/>
              </a:ext>
            </a:extLst>
          </p:cNvPr>
          <p:cNvSpPr>
            <a:spLocks noGrp="1"/>
          </p:cNvSpPr>
          <p:nvPr>
            <p:ph type="sldNum" sz="quarter" idx="12"/>
          </p:nvPr>
        </p:nvSpPr>
        <p:spPr/>
        <p:txBody>
          <a:bodyPr/>
          <a:lstStyle/>
          <a:p>
            <a:fld id="{04A7C61C-3499-4121-8FBD-125FF0E5278A}" type="slidenum">
              <a:rPr lang="en-GB" smtClean="0"/>
              <a:t>1</a:t>
            </a:fld>
            <a:endParaRPr lang="en-GB"/>
          </a:p>
        </p:txBody>
      </p:sp>
    </p:spTree>
    <p:extLst>
      <p:ext uri="{BB962C8B-B14F-4D97-AF65-F5344CB8AC3E}">
        <p14:creationId xmlns:p14="http://schemas.microsoft.com/office/powerpoint/2010/main" val="351747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11727402"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B8639159-00AB-4D44-99D7-555AA74FA80D}"/>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Criterion</a:t>
            </a:r>
          </a:p>
        </p:txBody>
      </p:sp>
      <p:pic>
        <p:nvPicPr>
          <p:cNvPr id="3" name="Picture 2">
            <a:extLst>
              <a:ext uri="{FF2B5EF4-FFF2-40B4-BE49-F238E27FC236}">
                <a16:creationId xmlns:a16="http://schemas.microsoft.com/office/drawing/2014/main" id="{DF69B342-845E-4000-BFD6-E0EEF5862D3A}"/>
              </a:ext>
            </a:extLst>
          </p:cNvPr>
          <p:cNvPicPr>
            <a:picLocks noChangeAspect="1"/>
          </p:cNvPicPr>
          <p:nvPr/>
        </p:nvPicPr>
        <p:blipFill>
          <a:blip r:embed="rId2"/>
          <a:stretch>
            <a:fillRect/>
          </a:stretch>
        </p:blipFill>
        <p:spPr>
          <a:xfrm>
            <a:off x="2290440" y="783506"/>
            <a:ext cx="6913815" cy="2772000"/>
          </a:xfrm>
          <a:prstGeom prst="rect">
            <a:avLst/>
          </a:prstGeom>
        </p:spPr>
      </p:pic>
      <p:pic>
        <p:nvPicPr>
          <p:cNvPr id="6" name="Picture 5">
            <a:extLst>
              <a:ext uri="{FF2B5EF4-FFF2-40B4-BE49-F238E27FC236}">
                <a16:creationId xmlns:a16="http://schemas.microsoft.com/office/drawing/2014/main" id="{9B462A0C-DEB7-483B-95D3-EADAB7B6B906}"/>
              </a:ext>
            </a:extLst>
          </p:cNvPr>
          <p:cNvPicPr>
            <a:picLocks noChangeAspect="1"/>
          </p:cNvPicPr>
          <p:nvPr/>
        </p:nvPicPr>
        <p:blipFill rotWithShape="1">
          <a:blip r:embed="rId3"/>
          <a:srcRect l="3132" r="1772" b="4089"/>
          <a:stretch/>
        </p:blipFill>
        <p:spPr>
          <a:xfrm>
            <a:off x="1758214" y="3726452"/>
            <a:ext cx="8520239" cy="2736000"/>
          </a:xfrm>
          <a:prstGeom prst="rect">
            <a:avLst/>
          </a:prstGeom>
        </p:spPr>
      </p:pic>
    </p:spTree>
    <p:extLst>
      <p:ext uri="{BB962C8B-B14F-4D97-AF65-F5344CB8AC3E}">
        <p14:creationId xmlns:p14="http://schemas.microsoft.com/office/powerpoint/2010/main" val="105844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11727402"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B8639159-00AB-4D44-99D7-555AA74FA80D}"/>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Stability Criterion</a:t>
            </a:r>
          </a:p>
        </p:txBody>
      </p:sp>
      <p:pic>
        <p:nvPicPr>
          <p:cNvPr id="3" name="Picture 2" descr="Diagram, schematic&#10;&#10;Description automatically generated">
            <a:extLst>
              <a:ext uri="{FF2B5EF4-FFF2-40B4-BE49-F238E27FC236}">
                <a16:creationId xmlns:a16="http://schemas.microsoft.com/office/drawing/2014/main" id="{97A8D070-AC5E-447A-8738-5C7BE00C7C6C}"/>
              </a:ext>
            </a:extLst>
          </p:cNvPr>
          <p:cNvPicPr>
            <a:picLocks noChangeAspect="1"/>
          </p:cNvPicPr>
          <p:nvPr/>
        </p:nvPicPr>
        <p:blipFill rotWithShape="1">
          <a:blip r:embed="rId2">
            <a:extLst>
              <a:ext uri="{28A0092B-C50C-407E-A947-70E740481C1C}">
                <a14:useLocalDpi xmlns:a14="http://schemas.microsoft.com/office/drawing/2010/main" val="0"/>
              </a:ext>
            </a:extLst>
          </a:blip>
          <a:srcRect l="4286" t="4167" b="3194"/>
          <a:stretch/>
        </p:blipFill>
        <p:spPr>
          <a:xfrm>
            <a:off x="2396971" y="800100"/>
            <a:ext cx="7192649" cy="5940000"/>
          </a:xfrm>
          <a:prstGeom prst="rect">
            <a:avLst/>
          </a:prstGeom>
        </p:spPr>
      </p:pic>
    </p:spTree>
    <p:extLst>
      <p:ext uri="{BB962C8B-B14F-4D97-AF65-F5344CB8AC3E}">
        <p14:creationId xmlns:p14="http://schemas.microsoft.com/office/powerpoint/2010/main" val="1221957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11727402"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B8639159-00AB-4D44-99D7-555AA74FA80D}"/>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Stability Criterion</a:t>
            </a:r>
          </a:p>
        </p:txBody>
      </p:sp>
      <p:pic>
        <p:nvPicPr>
          <p:cNvPr id="3" name="Picture 2">
            <a:extLst>
              <a:ext uri="{FF2B5EF4-FFF2-40B4-BE49-F238E27FC236}">
                <a16:creationId xmlns:a16="http://schemas.microsoft.com/office/drawing/2014/main" id="{7F598F74-8412-488A-B55F-CBB25BA911DD}"/>
              </a:ext>
            </a:extLst>
          </p:cNvPr>
          <p:cNvPicPr>
            <a:picLocks noChangeAspect="1"/>
          </p:cNvPicPr>
          <p:nvPr/>
        </p:nvPicPr>
        <p:blipFill rotWithShape="1">
          <a:blip r:embed="rId2"/>
          <a:srcRect t="2945"/>
          <a:stretch/>
        </p:blipFill>
        <p:spPr>
          <a:xfrm>
            <a:off x="12192" y="935856"/>
            <a:ext cx="9081756" cy="1980000"/>
          </a:xfrm>
          <a:prstGeom prst="rect">
            <a:avLst/>
          </a:prstGeom>
        </p:spPr>
      </p:pic>
      <p:pic>
        <p:nvPicPr>
          <p:cNvPr id="6" name="Picture 5">
            <a:extLst>
              <a:ext uri="{FF2B5EF4-FFF2-40B4-BE49-F238E27FC236}">
                <a16:creationId xmlns:a16="http://schemas.microsoft.com/office/drawing/2014/main" id="{3C58E0CD-AE12-4011-8663-F8F0BE5D667A}"/>
              </a:ext>
            </a:extLst>
          </p:cNvPr>
          <p:cNvPicPr>
            <a:picLocks noChangeAspect="1"/>
          </p:cNvPicPr>
          <p:nvPr/>
        </p:nvPicPr>
        <p:blipFill>
          <a:blip r:embed="rId3"/>
          <a:stretch>
            <a:fillRect/>
          </a:stretch>
        </p:blipFill>
        <p:spPr>
          <a:xfrm>
            <a:off x="82860" y="3590927"/>
            <a:ext cx="6188867" cy="2592000"/>
          </a:xfrm>
          <a:prstGeom prst="rect">
            <a:avLst/>
          </a:prstGeom>
        </p:spPr>
      </p:pic>
      <p:pic>
        <p:nvPicPr>
          <p:cNvPr id="8" name="Picture 7">
            <a:extLst>
              <a:ext uri="{FF2B5EF4-FFF2-40B4-BE49-F238E27FC236}">
                <a16:creationId xmlns:a16="http://schemas.microsoft.com/office/drawing/2014/main" id="{AD7C1156-5122-4214-836C-F9DCC4D9B992}"/>
              </a:ext>
            </a:extLst>
          </p:cNvPr>
          <p:cNvPicPr>
            <a:picLocks noChangeAspect="1"/>
          </p:cNvPicPr>
          <p:nvPr/>
        </p:nvPicPr>
        <p:blipFill>
          <a:blip r:embed="rId4"/>
          <a:stretch>
            <a:fillRect/>
          </a:stretch>
        </p:blipFill>
        <p:spPr>
          <a:xfrm>
            <a:off x="6230099" y="3518927"/>
            <a:ext cx="5879041" cy="2664000"/>
          </a:xfrm>
          <a:prstGeom prst="rect">
            <a:avLst/>
          </a:prstGeom>
        </p:spPr>
      </p:pic>
    </p:spTree>
    <p:extLst>
      <p:ext uri="{BB962C8B-B14F-4D97-AF65-F5344CB8AC3E}">
        <p14:creationId xmlns:p14="http://schemas.microsoft.com/office/powerpoint/2010/main" val="901983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40DD-9952-3AF0-5A71-16A132D4104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FF86F56-D2F3-468A-366C-20ED979EDE0A}"/>
              </a:ext>
            </a:extLst>
          </p:cNvPr>
          <p:cNvSpPr>
            <a:spLocks noGrp="1"/>
          </p:cNvSpPr>
          <p:nvPr>
            <p:ph idx="1"/>
          </p:nvPr>
        </p:nvSpPr>
        <p:spPr>
          <a:xfrm>
            <a:off x="0" y="1136343"/>
            <a:ext cx="11727402" cy="2607522"/>
          </a:xfrm>
        </p:spPr>
        <p:txBody>
          <a:bodyPr>
            <a:normAutofit/>
          </a:bodyPr>
          <a:lstStyle/>
          <a:p>
            <a:pPr marL="0" indent="0" algn="just">
              <a:lnSpc>
                <a:spcPct val="5000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38759834-6CF6-948C-18B5-2BBD2915FD69}"/>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Stability Criterion</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E2DC5AE2-3918-6810-1E49-22F065710398}"/>
                  </a:ext>
                </a:extLst>
              </p:cNvPr>
              <p:cNvGraphicFramePr>
                <a:graphicFrameLocks noGrp="1"/>
              </p:cNvGraphicFramePr>
              <p:nvPr>
                <p:extLst>
                  <p:ext uri="{D42A27DB-BD31-4B8C-83A1-F6EECF244321}">
                    <p14:modId xmlns:p14="http://schemas.microsoft.com/office/powerpoint/2010/main" val="4092528213"/>
                  </p:ext>
                </p:extLst>
              </p:nvPr>
            </p:nvGraphicFramePr>
            <p:xfrm>
              <a:off x="2043602" y="1787173"/>
              <a:ext cx="7640197" cy="2200151"/>
            </p:xfrm>
            <a:graphic>
              <a:graphicData uri="http://schemas.openxmlformats.org/drawingml/2006/table">
                <a:tbl>
                  <a:tblPr firstRow="1" firstCol="1" bandRow="1">
                    <a:tableStyleId>{2D5ABB26-0587-4C30-8999-92F81FD0307C}</a:tableStyleId>
                  </a:tblPr>
                  <a:tblGrid>
                    <a:gridCol w="819094">
                      <a:extLst>
                        <a:ext uri="{9D8B030D-6E8A-4147-A177-3AD203B41FA5}">
                          <a16:colId xmlns:a16="http://schemas.microsoft.com/office/drawing/2014/main" val="4083491225"/>
                        </a:ext>
                      </a:extLst>
                    </a:gridCol>
                    <a:gridCol w="2834607">
                      <a:extLst>
                        <a:ext uri="{9D8B030D-6E8A-4147-A177-3AD203B41FA5}">
                          <a16:colId xmlns:a16="http://schemas.microsoft.com/office/drawing/2014/main" val="2761119189"/>
                        </a:ext>
                      </a:extLst>
                    </a:gridCol>
                    <a:gridCol w="2657664">
                      <a:extLst>
                        <a:ext uri="{9D8B030D-6E8A-4147-A177-3AD203B41FA5}">
                          <a16:colId xmlns:a16="http://schemas.microsoft.com/office/drawing/2014/main" val="4224022121"/>
                        </a:ext>
                      </a:extLst>
                    </a:gridCol>
                    <a:gridCol w="1328832">
                      <a:extLst>
                        <a:ext uri="{9D8B030D-6E8A-4147-A177-3AD203B41FA5}">
                          <a16:colId xmlns:a16="http://schemas.microsoft.com/office/drawing/2014/main" val="1748203098"/>
                        </a:ext>
                      </a:extLst>
                    </a:gridCol>
                  </a:tblGrid>
                  <a:tr h="281904">
                    <a:tc>
                      <a:txBody>
                        <a:bodyPr/>
                        <a:lstStyle/>
                        <a:p>
                          <a:pPr marL="0" marR="0" algn="r">
                            <a:lnSpc>
                              <a:spcPct val="107000"/>
                            </a:lnSpc>
                            <a:spcAft>
                              <a:spcPts val="800"/>
                            </a:spcAft>
                            <a:buNone/>
                            <a:tabLst>
                              <a:tab pos="685800" algn="l"/>
                              <a:tab pos="734695" algn="l"/>
                            </a:tabLst>
                          </a:pPr>
                          <a:r>
                            <a:rPr lang="en-GB" sz="2400" kern="100" dirty="0">
                              <a:effectLst/>
                            </a:rPr>
                            <a:t>S</a:t>
                          </a:r>
                          <a:r>
                            <a:rPr lang="en-GB" sz="2400" kern="100" baseline="30000" dirty="0">
                              <a:effectLst/>
                            </a:rPr>
                            <a:t>3</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a</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a:effectLst/>
                            </a:rPr>
                            <a:t>c</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a:effectLst/>
                            </a:rPr>
                            <a:t>0</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35237650"/>
                      </a:ext>
                    </a:extLst>
                  </a:tr>
                  <a:tr h="281904">
                    <a:tc>
                      <a:txBody>
                        <a:bodyPr/>
                        <a:lstStyle/>
                        <a:p>
                          <a:pPr marL="0" marR="0" algn="r">
                            <a:lnSpc>
                              <a:spcPct val="107000"/>
                            </a:lnSpc>
                            <a:spcAft>
                              <a:spcPts val="800"/>
                            </a:spcAft>
                            <a:buNone/>
                            <a:tabLst>
                              <a:tab pos="685800" algn="l"/>
                              <a:tab pos="734695" algn="l"/>
                            </a:tabLst>
                          </a:pPr>
                          <a:r>
                            <a:rPr lang="en-GB" sz="2400" kern="100">
                              <a:effectLst/>
                            </a:rPr>
                            <a:t>S</a:t>
                          </a:r>
                          <a:r>
                            <a:rPr lang="en-GB" sz="2400" kern="100" baseline="30000">
                              <a:effectLst/>
                            </a:rPr>
                            <a:t>2</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b</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d</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a:effectLst/>
                            </a:rPr>
                            <a:t>0</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43204554"/>
                      </a:ext>
                    </a:extLst>
                  </a:tr>
                  <a:tr h="727000">
                    <a:tc>
                      <a:txBody>
                        <a:bodyPr/>
                        <a:lstStyle/>
                        <a:p>
                          <a:pPr marL="0" marR="0" algn="r">
                            <a:lnSpc>
                              <a:spcPct val="107000"/>
                            </a:lnSpc>
                            <a:spcAft>
                              <a:spcPts val="800"/>
                            </a:spcAft>
                            <a:buNone/>
                            <a:tabLst>
                              <a:tab pos="685800" algn="l"/>
                              <a:tab pos="734695" algn="l"/>
                            </a:tabLst>
                          </a:pPr>
                          <a:r>
                            <a:rPr lang="en-GB" sz="2400" kern="100">
                              <a:effectLst/>
                            </a:rPr>
                            <a:t>S</a:t>
                          </a:r>
                          <a:r>
                            <a:rPr lang="en-GB" sz="2400" kern="100" baseline="30000">
                              <a:effectLst/>
                            </a:rPr>
                            <a:t>1</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 </a:t>
                          </a:r>
                          <a14:m>
                            <m:oMath xmlns:m="http://schemas.openxmlformats.org/officeDocument/2006/math">
                              <m:r>
                                <a:rPr lang="en-GB" sz="2400" kern="100">
                                  <a:effectLst/>
                                </a:rPr>
                                <m:t>𝑇</m:t>
                              </m:r>
                              <m:r>
                                <a:rPr lang="en-GB" sz="2400" kern="100">
                                  <a:effectLst/>
                                </a:rPr>
                                <m:t>=</m:t>
                              </m:r>
                              <m:f>
                                <m:fPr>
                                  <m:ctrlPr>
                                    <a:rPr lang="en-GB" sz="2400" kern="100">
                                      <a:effectLst/>
                                    </a:rPr>
                                  </m:ctrlPr>
                                </m:fPr>
                                <m:num>
                                  <m:r>
                                    <a:rPr lang="en-GB" sz="2400" kern="100">
                                      <a:effectLst/>
                                    </a:rPr>
                                    <m:t>𝑏</m:t>
                                  </m:r>
                                  <m:r>
                                    <a:rPr lang="en-GB" sz="2400" kern="100">
                                      <a:effectLst/>
                                    </a:rPr>
                                    <m:t>×</m:t>
                                  </m:r>
                                  <m:r>
                                    <a:rPr lang="en-GB" sz="2400" kern="100">
                                      <a:effectLst/>
                                    </a:rPr>
                                    <m:t>𝑐</m:t>
                                  </m:r>
                                  <m:r>
                                    <a:rPr lang="en-GB" sz="2400" kern="100">
                                      <a:effectLst/>
                                    </a:rPr>
                                    <m:t>−</m:t>
                                  </m:r>
                                  <m:r>
                                    <a:rPr lang="en-GB" sz="2400" kern="100">
                                      <a:effectLst/>
                                    </a:rPr>
                                    <m:t>𝑑</m:t>
                                  </m:r>
                                  <m:r>
                                    <a:rPr lang="en-GB" sz="2400" kern="100">
                                      <a:effectLst/>
                                    </a:rPr>
                                    <m:t>×</m:t>
                                  </m:r>
                                  <m:r>
                                    <a:rPr lang="en-GB" sz="2400" kern="100">
                                      <a:effectLst/>
                                    </a:rPr>
                                    <m:t>𝑎</m:t>
                                  </m:r>
                                </m:num>
                                <m:den>
                                  <m:r>
                                    <a:rPr lang="en-GB" sz="2400" kern="100">
                                      <a:effectLst/>
                                    </a:rPr>
                                    <m:t>𝑏</m:t>
                                  </m:r>
                                </m:den>
                              </m:f>
                            </m:oMath>
                          </a14:m>
                          <a:r>
                            <a:rPr lang="en-GB" sz="2400" kern="100" dirty="0">
                              <a:effectLst/>
                            </a:rPr>
                            <a:t> </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 </a:t>
                          </a:r>
                          <a14:m>
                            <m:oMath xmlns:m="http://schemas.openxmlformats.org/officeDocument/2006/math">
                              <m:f>
                                <m:fPr>
                                  <m:ctrlPr>
                                    <a:rPr lang="en-GB" sz="2400" kern="100">
                                      <a:effectLst/>
                                    </a:rPr>
                                  </m:ctrlPr>
                                </m:fPr>
                                <m:num>
                                  <m:r>
                                    <a:rPr lang="en-GB" sz="2400" kern="100">
                                      <a:effectLst/>
                                    </a:rPr>
                                    <m:t>𝑏</m:t>
                                  </m:r>
                                  <m:r>
                                    <a:rPr lang="en-GB" sz="2400" kern="100">
                                      <a:effectLst/>
                                    </a:rPr>
                                    <m:t>×0−0×</m:t>
                                  </m:r>
                                  <m:r>
                                    <a:rPr lang="en-GB" sz="2400" kern="100">
                                      <a:effectLst/>
                                    </a:rPr>
                                    <m:t>𝑎</m:t>
                                  </m:r>
                                </m:num>
                                <m:den>
                                  <m:r>
                                    <a:rPr lang="en-GB" sz="2400" kern="100">
                                      <a:effectLst/>
                                    </a:rPr>
                                    <m:t>𝑏</m:t>
                                  </m:r>
                                </m:den>
                              </m:f>
                              <m:r>
                                <a:rPr lang="en-GB" sz="2400" kern="100">
                                  <a:effectLst/>
                                </a:rPr>
                                <m:t>=0</m:t>
                              </m:r>
                            </m:oMath>
                          </a14:m>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0</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21380358"/>
                      </a:ext>
                    </a:extLst>
                  </a:tr>
                  <a:tr h="725121">
                    <a:tc>
                      <a:txBody>
                        <a:bodyPr/>
                        <a:lstStyle/>
                        <a:p>
                          <a:pPr marL="0" marR="0" algn="r">
                            <a:lnSpc>
                              <a:spcPct val="107000"/>
                            </a:lnSpc>
                            <a:spcAft>
                              <a:spcPts val="800"/>
                            </a:spcAft>
                            <a:buNone/>
                            <a:tabLst>
                              <a:tab pos="685800" algn="l"/>
                              <a:tab pos="734695" algn="l"/>
                            </a:tabLst>
                          </a:pPr>
                          <a:r>
                            <a:rPr lang="en-GB" sz="2400" kern="100">
                              <a:effectLst/>
                            </a:rPr>
                            <a:t>S</a:t>
                          </a:r>
                          <a:r>
                            <a:rPr lang="en-GB" sz="2400" kern="100" baseline="30000">
                              <a:effectLst/>
                            </a:rPr>
                            <a:t>0</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 </a:t>
                          </a:r>
                          <a14:m>
                            <m:oMath xmlns:m="http://schemas.openxmlformats.org/officeDocument/2006/math">
                              <m:f>
                                <m:fPr>
                                  <m:ctrlPr>
                                    <a:rPr lang="en-GB" sz="2400" kern="100">
                                      <a:effectLst/>
                                    </a:rPr>
                                  </m:ctrlPr>
                                </m:fPr>
                                <m:num>
                                  <m:r>
                                    <a:rPr lang="en-GB" sz="2400" kern="100">
                                      <a:effectLst/>
                                    </a:rPr>
                                    <m:t>𝑇</m:t>
                                  </m:r>
                                  <m:r>
                                    <a:rPr lang="en-GB" sz="2400" kern="100">
                                      <a:effectLst/>
                                    </a:rPr>
                                    <m:t>×</m:t>
                                  </m:r>
                                  <m:r>
                                    <a:rPr lang="en-GB" sz="2400" kern="100">
                                      <a:effectLst/>
                                    </a:rPr>
                                    <m:t>𝑑</m:t>
                                  </m:r>
                                  <m:r>
                                    <a:rPr lang="en-GB" sz="2400" kern="100">
                                      <a:effectLst/>
                                    </a:rPr>
                                    <m:t>−0×</m:t>
                                  </m:r>
                                  <m:r>
                                    <a:rPr lang="en-GB" sz="2400" kern="100">
                                      <a:effectLst/>
                                    </a:rPr>
                                    <m:t>𝑏</m:t>
                                  </m:r>
                                </m:num>
                                <m:den>
                                  <m:r>
                                    <a:rPr lang="en-GB" sz="2400" kern="100">
                                      <a:effectLst/>
                                    </a:rPr>
                                    <m:t>𝑇</m:t>
                                  </m:r>
                                </m:den>
                              </m:f>
                              <m:r>
                                <a:rPr lang="en-GB" sz="2400" kern="100">
                                  <a:effectLst/>
                                </a:rPr>
                                <m:t>=</m:t>
                              </m:r>
                              <m:r>
                                <a:rPr lang="en-GB" sz="2400" kern="100">
                                  <a:effectLst/>
                                </a:rPr>
                                <m:t>𝑑</m:t>
                              </m:r>
                            </m:oMath>
                          </a14:m>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0</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0 </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84474706"/>
                      </a:ext>
                    </a:extLst>
                  </a:tr>
                </a:tbl>
              </a:graphicData>
            </a:graphic>
          </p:graphicFrame>
        </mc:Choice>
        <mc:Fallback>
          <p:graphicFrame>
            <p:nvGraphicFramePr>
              <p:cNvPr id="2" name="Table 1">
                <a:extLst>
                  <a:ext uri="{FF2B5EF4-FFF2-40B4-BE49-F238E27FC236}">
                    <a16:creationId xmlns:a16="http://schemas.microsoft.com/office/drawing/2014/main" id="{E2DC5AE2-3918-6810-1E49-22F065710398}"/>
                  </a:ext>
                </a:extLst>
              </p:cNvPr>
              <p:cNvGraphicFramePr>
                <a:graphicFrameLocks noGrp="1"/>
              </p:cNvGraphicFramePr>
              <p:nvPr>
                <p:extLst>
                  <p:ext uri="{D42A27DB-BD31-4B8C-83A1-F6EECF244321}">
                    <p14:modId xmlns:p14="http://schemas.microsoft.com/office/powerpoint/2010/main" val="4092528213"/>
                  </p:ext>
                </p:extLst>
              </p:nvPr>
            </p:nvGraphicFramePr>
            <p:xfrm>
              <a:off x="2043602" y="1787173"/>
              <a:ext cx="7640197" cy="2200151"/>
            </p:xfrm>
            <a:graphic>
              <a:graphicData uri="http://schemas.openxmlformats.org/drawingml/2006/table">
                <a:tbl>
                  <a:tblPr firstRow="1" firstCol="1" bandRow="1">
                    <a:tableStyleId>{2D5ABB26-0587-4C30-8999-92F81FD0307C}</a:tableStyleId>
                  </a:tblPr>
                  <a:tblGrid>
                    <a:gridCol w="819094">
                      <a:extLst>
                        <a:ext uri="{9D8B030D-6E8A-4147-A177-3AD203B41FA5}">
                          <a16:colId xmlns:a16="http://schemas.microsoft.com/office/drawing/2014/main" val="4083491225"/>
                        </a:ext>
                      </a:extLst>
                    </a:gridCol>
                    <a:gridCol w="2834607">
                      <a:extLst>
                        <a:ext uri="{9D8B030D-6E8A-4147-A177-3AD203B41FA5}">
                          <a16:colId xmlns:a16="http://schemas.microsoft.com/office/drawing/2014/main" val="2761119189"/>
                        </a:ext>
                      </a:extLst>
                    </a:gridCol>
                    <a:gridCol w="2657664">
                      <a:extLst>
                        <a:ext uri="{9D8B030D-6E8A-4147-A177-3AD203B41FA5}">
                          <a16:colId xmlns:a16="http://schemas.microsoft.com/office/drawing/2014/main" val="4224022121"/>
                        </a:ext>
                      </a:extLst>
                    </a:gridCol>
                    <a:gridCol w="1328832">
                      <a:extLst>
                        <a:ext uri="{9D8B030D-6E8A-4147-A177-3AD203B41FA5}">
                          <a16:colId xmlns:a16="http://schemas.microsoft.com/office/drawing/2014/main" val="1748203098"/>
                        </a:ext>
                      </a:extLst>
                    </a:gridCol>
                  </a:tblGrid>
                  <a:tr h="374015">
                    <a:tc>
                      <a:txBody>
                        <a:bodyPr/>
                        <a:lstStyle/>
                        <a:p>
                          <a:pPr marL="0" marR="0" algn="r">
                            <a:lnSpc>
                              <a:spcPct val="107000"/>
                            </a:lnSpc>
                            <a:spcAft>
                              <a:spcPts val="800"/>
                            </a:spcAft>
                            <a:buNone/>
                            <a:tabLst>
                              <a:tab pos="685800" algn="l"/>
                              <a:tab pos="734695" algn="l"/>
                            </a:tabLst>
                          </a:pPr>
                          <a:r>
                            <a:rPr lang="en-GB" sz="2400" kern="100" dirty="0">
                              <a:effectLst/>
                            </a:rPr>
                            <a:t>S</a:t>
                          </a:r>
                          <a:r>
                            <a:rPr lang="en-GB" sz="2400" kern="100" baseline="30000" dirty="0">
                              <a:effectLst/>
                            </a:rPr>
                            <a:t>3</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a</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a:effectLst/>
                            </a:rPr>
                            <a:t>c</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a:effectLst/>
                            </a:rPr>
                            <a:t>0</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35237650"/>
                      </a:ext>
                    </a:extLst>
                  </a:tr>
                  <a:tr h="374015">
                    <a:tc>
                      <a:txBody>
                        <a:bodyPr/>
                        <a:lstStyle/>
                        <a:p>
                          <a:pPr marL="0" marR="0" algn="r">
                            <a:lnSpc>
                              <a:spcPct val="107000"/>
                            </a:lnSpc>
                            <a:spcAft>
                              <a:spcPts val="800"/>
                            </a:spcAft>
                            <a:buNone/>
                            <a:tabLst>
                              <a:tab pos="685800" algn="l"/>
                              <a:tab pos="734695" algn="l"/>
                            </a:tabLst>
                          </a:pPr>
                          <a:r>
                            <a:rPr lang="en-GB" sz="2400" kern="100">
                              <a:effectLst/>
                            </a:rPr>
                            <a:t>S</a:t>
                          </a:r>
                          <a:r>
                            <a:rPr lang="en-GB" sz="2400" kern="100" baseline="30000">
                              <a:effectLst/>
                            </a:rPr>
                            <a:t>2</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b</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d</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a:effectLst/>
                            </a:rPr>
                            <a:t>0</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43204554"/>
                      </a:ext>
                    </a:extLst>
                  </a:tr>
                  <a:tr h="727000">
                    <a:tc>
                      <a:txBody>
                        <a:bodyPr/>
                        <a:lstStyle/>
                        <a:p>
                          <a:pPr marL="0" marR="0" algn="r">
                            <a:lnSpc>
                              <a:spcPct val="107000"/>
                            </a:lnSpc>
                            <a:spcAft>
                              <a:spcPts val="800"/>
                            </a:spcAft>
                            <a:buNone/>
                            <a:tabLst>
                              <a:tab pos="685800" algn="l"/>
                              <a:tab pos="734695" algn="l"/>
                            </a:tabLst>
                          </a:pPr>
                          <a:r>
                            <a:rPr lang="en-GB" sz="2400" kern="100">
                              <a:effectLst/>
                            </a:rPr>
                            <a:t>S</a:t>
                          </a:r>
                          <a:r>
                            <a:rPr lang="en-GB" sz="2400" kern="100" baseline="30000">
                              <a:effectLst/>
                            </a:rPr>
                            <a:t>1</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2"/>
                          <a:stretch>
                            <a:fillRect l="-28755" t="-114167" r="-140343" b="-99167"/>
                          </a:stretch>
                        </a:blipFill>
                      </a:tcPr>
                    </a:tc>
                    <a:tc>
                      <a:txBody>
                        <a:bodyPr/>
                        <a:lstStyle/>
                        <a:p>
                          <a:endParaRPr lang="en-US"/>
                        </a:p>
                      </a:txBody>
                      <a:tcPr marL="68580" marR="68580" marT="0" marB="0">
                        <a:blipFill>
                          <a:blip r:embed="rId2"/>
                          <a:stretch>
                            <a:fillRect l="-137615" t="-114167" r="-50000" b="-99167"/>
                          </a:stretch>
                        </a:blipFill>
                      </a:tcPr>
                    </a:tc>
                    <a:tc>
                      <a:txBody>
                        <a:bodyPr/>
                        <a:lstStyle/>
                        <a:p>
                          <a:pPr marL="0" marR="0" algn="ctr">
                            <a:lnSpc>
                              <a:spcPct val="107000"/>
                            </a:lnSpc>
                            <a:spcAft>
                              <a:spcPts val="800"/>
                            </a:spcAft>
                            <a:buNone/>
                            <a:tabLst>
                              <a:tab pos="685800" algn="l"/>
                              <a:tab pos="734695" algn="l"/>
                            </a:tabLst>
                          </a:pPr>
                          <a:r>
                            <a:rPr lang="en-GB" sz="2400" kern="100" dirty="0">
                              <a:effectLst/>
                            </a:rPr>
                            <a:t>0</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21380358"/>
                      </a:ext>
                    </a:extLst>
                  </a:tr>
                  <a:tr h="725121">
                    <a:tc>
                      <a:txBody>
                        <a:bodyPr/>
                        <a:lstStyle/>
                        <a:p>
                          <a:pPr marL="0" marR="0" algn="r">
                            <a:lnSpc>
                              <a:spcPct val="107000"/>
                            </a:lnSpc>
                            <a:spcAft>
                              <a:spcPts val="800"/>
                            </a:spcAft>
                            <a:buNone/>
                            <a:tabLst>
                              <a:tab pos="685800" algn="l"/>
                              <a:tab pos="734695" algn="l"/>
                            </a:tabLst>
                          </a:pPr>
                          <a:r>
                            <a:rPr lang="en-GB" sz="2400" kern="100">
                              <a:effectLst/>
                            </a:rPr>
                            <a:t>S</a:t>
                          </a:r>
                          <a:r>
                            <a:rPr lang="en-GB" sz="2400" kern="100" baseline="30000">
                              <a:effectLst/>
                            </a:rPr>
                            <a:t>0</a:t>
                          </a:r>
                          <a:endParaRPr lang="en-GB" sz="2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2"/>
                          <a:stretch>
                            <a:fillRect l="-28755" t="-215966" r="-140343"/>
                          </a:stretch>
                        </a:blipFill>
                      </a:tcPr>
                    </a:tc>
                    <a:tc>
                      <a:txBody>
                        <a:bodyPr/>
                        <a:lstStyle/>
                        <a:p>
                          <a:pPr marL="0" marR="0" algn="ctr">
                            <a:lnSpc>
                              <a:spcPct val="107000"/>
                            </a:lnSpc>
                            <a:spcAft>
                              <a:spcPts val="800"/>
                            </a:spcAft>
                            <a:buNone/>
                            <a:tabLst>
                              <a:tab pos="685800" algn="l"/>
                              <a:tab pos="734695" algn="l"/>
                            </a:tabLst>
                          </a:pPr>
                          <a:r>
                            <a:rPr lang="en-GB" sz="2400" kern="100" dirty="0">
                              <a:effectLst/>
                            </a:rPr>
                            <a:t>0</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tabLst>
                              <a:tab pos="685800" algn="l"/>
                              <a:tab pos="734695" algn="l"/>
                            </a:tabLst>
                          </a:pPr>
                          <a:r>
                            <a:rPr lang="en-GB" sz="2400" kern="100" dirty="0">
                              <a:effectLst/>
                            </a:rPr>
                            <a:t>0 </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84474706"/>
                      </a:ext>
                    </a:extLst>
                  </a:tr>
                </a:tbl>
              </a:graphicData>
            </a:graphic>
          </p:graphicFrame>
        </mc:Fallback>
      </mc:AlternateContent>
      <p:sp>
        <p:nvSpPr>
          <p:cNvPr id="10" name="TextBox 9">
            <a:extLst>
              <a:ext uri="{FF2B5EF4-FFF2-40B4-BE49-F238E27FC236}">
                <a16:creationId xmlns:a16="http://schemas.microsoft.com/office/drawing/2014/main" id="{4EAD7B27-E697-1EA8-CDA6-3EF5A538EB02}"/>
              </a:ext>
            </a:extLst>
          </p:cNvPr>
          <p:cNvSpPr txBox="1"/>
          <p:nvPr/>
        </p:nvSpPr>
        <p:spPr>
          <a:xfrm>
            <a:off x="2702636" y="4611237"/>
            <a:ext cx="6142008" cy="52322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685800" algn="l"/>
                <a:tab pos="735013" algn="l"/>
              </a:tabLst>
            </a:pPr>
            <a:r>
              <a:rPr kumimoji="0" lang="en-GB" altLang="en-US" sz="2800"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aS</a:t>
            </a:r>
            <a:r>
              <a:rPr kumimoji="0" lang="en-GB" altLang="en-US" sz="2800" b="0" i="0" u="none" strike="noStrike" cap="none" normalizeH="0" baseline="30000" dirty="0">
                <a:ln>
                  <a:noFill/>
                </a:ln>
                <a:solidFill>
                  <a:schemeClr val="tx1"/>
                </a:solidFill>
                <a:effectLst/>
                <a:latin typeface="+mj-lt"/>
                <a:ea typeface="Calibri" panose="020F0502020204030204" pitchFamily="34" charset="0"/>
                <a:cs typeface="Arial" panose="020B0604020202020204" pitchFamily="34" charset="0"/>
              </a:rPr>
              <a:t>3 </a:t>
            </a:r>
            <a:r>
              <a:rPr kumimoji="0" lang="en-GB" altLang="en-US" sz="2800"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 bS</a:t>
            </a:r>
            <a:r>
              <a:rPr kumimoji="0" lang="en-GB" altLang="en-US" sz="2800" b="0" i="0" u="none" strike="noStrike" cap="none" normalizeH="0" baseline="30000" dirty="0">
                <a:ln>
                  <a:noFill/>
                </a:ln>
                <a:solidFill>
                  <a:schemeClr val="tx1"/>
                </a:solidFill>
                <a:effectLst/>
                <a:latin typeface="+mj-lt"/>
                <a:ea typeface="Calibri" panose="020F0502020204030204" pitchFamily="34" charset="0"/>
                <a:cs typeface="Arial" panose="020B0604020202020204" pitchFamily="34" charset="0"/>
              </a:rPr>
              <a:t>2 </a:t>
            </a:r>
            <a:r>
              <a:rPr kumimoji="0" lang="en-GB" altLang="en-US" sz="2800"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 </a:t>
            </a:r>
            <a:r>
              <a:rPr kumimoji="0" lang="en-GB" altLang="en-US" sz="2800" b="0" i="0" u="none" strike="noStrike" cap="none" normalizeH="0" baseline="0" dirty="0" err="1">
                <a:ln>
                  <a:noFill/>
                </a:ln>
                <a:solidFill>
                  <a:schemeClr val="tx1"/>
                </a:solidFill>
                <a:effectLst/>
                <a:latin typeface="+mj-lt"/>
                <a:ea typeface="Calibri" panose="020F0502020204030204" pitchFamily="34" charset="0"/>
                <a:cs typeface="Arial" panose="020B0604020202020204" pitchFamily="34" charset="0"/>
              </a:rPr>
              <a:t>cS</a:t>
            </a:r>
            <a:r>
              <a:rPr kumimoji="0" lang="en-GB" altLang="en-US" sz="2800"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 + d = 0</a:t>
            </a:r>
            <a:endParaRPr kumimoji="0" lang="en-GB"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250814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11727402"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B8639159-00AB-4D44-99D7-555AA74FA80D}"/>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Stability Criterion</a:t>
            </a:r>
          </a:p>
        </p:txBody>
      </p:sp>
      <p:sp>
        <p:nvSpPr>
          <p:cNvPr id="7" name="TextBox 6">
            <a:extLst>
              <a:ext uri="{FF2B5EF4-FFF2-40B4-BE49-F238E27FC236}">
                <a16:creationId xmlns:a16="http://schemas.microsoft.com/office/drawing/2014/main" id="{34B846BE-8E9A-4E28-AC8E-30F9A31A0021}"/>
              </a:ext>
            </a:extLst>
          </p:cNvPr>
          <p:cNvSpPr txBox="1"/>
          <p:nvPr/>
        </p:nvSpPr>
        <p:spPr>
          <a:xfrm>
            <a:off x="580007" y="2343678"/>
            <a:ext cx="11031985" cy="1384995"/>
          </a:xfrm>
          <a:prstGeom prst="rect">
            <a:avLst/>
          </a:prstGeom>
          <a:noFill/>
        </p:spPr>
        <p:txBody>
          <a:bodyPr wrap="square">
            <a:spAutoFit/>
          </a:bodyPr>
          <a:lstStyle/>
          <a:p>
            <a:pPr algn="ctr"/>
            <a:r>
              <a:rPr lang="en-GB" sz="2800" dirty="0"/>
              <a:t>The Routh-Hurwitz criterion states that the number of roots of q(s) with positive real parts is equal to the number of changes in sign of the first column of the Routh array.</a:t>
            </a:r>
          </a:p>
        </p:txBody>
      </p:sp>
    </p:spTree>
    <p:extLst>
      <p:ext uri="{BB962C8B-B14F-4D97-AF65-F5344CB8AC3E}">
        <p14:creationId xmlns:p14="http://schemas.microsoft.com/office/powerpoint/2010/main" val="2620636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11727402"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B8639159-00AB-4D44-99D7-555AA74FA80D}"/>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Stability Criterion</a:t>
            </a:r>
          </a:p>
        </p:txBody>
      </p:sp>
      <p:pic>
        <p:nvPicPr>
          <p:cNvPr id="3" name="Picture 2">
            <a:extLst>
              <a:ext uri="{FF2B5EF4-FFF2-40B4-BE49-F238E27FC236}">
                <a16:creationId xmlns:a16="http://schemas.microsoft.com/office/drawing/2014/main" id="{E5CBF17D-C71A-4274-A3D4-761D2E4C0ACE}"/>
              </a:ext>
            </a:extLst>
          </p:cNvPr>
          <p:cNvPicPr>
            <a:picLocks noChangeAspect="1"/>
          </p:cNvPicPr>
          <p:nvPr/>
        </p:nvPicPr>
        <p:blipFill>
          <a:blip r:embed="rId2"/>
          <a:stretch>
            <a:fillRect/>
          </a:stretch>
        </p:blipFill>
        <p:spPr>
          <a:xfrm>
            <a:off x="1436338" y="1392036"/>
            <a:ext cx="7379168" cy="3456000"/>
          </a:xfrm>
          <a:prstGeom prst="rect">
            <a:avLst/>
          </a:prstGeom>
        </p:spPr>
      </p:pic>
      <p:sp>
        <p:nvSpPr>
          <p:cNvPr id="7" name="TextBox 6">
            <a:extLst>
              <a:ext uri="{FF2B5EF4-FFF2-40B4-BE49-F238E27FC236}">
                <a16:creationId xmlns:a16="http://schemas.microsoft.com/office/drawing/2014/main" id="{81AA1786-FC05-477B-B08A-17CE9FEFB730}"/>
              </a:ext>
            </a:extLst>
          </p:cNvPr>
          <p:cNvSpPr txBox="1"/>
          <p:nvPr/>
        </p:nvSpPr>
        <p:spPr>
          <a:xfrm>
            <a:off x="10622132" y="6349298"/>
            <a:ext cx="1460377" cy="369332"/>
          </a:xfrm>
          <a:prstGeom prst="rect">
            <a:avLst/>
          </a:prstGeom>
          <a:noFill/>
        </p:spPr>
        <p:txBody>
          <a:bodyPr wrap="square">
            <a:spAutoFit/>
          </a:bodyPr>
          <a:lstStyle/>
          <a:p>
            <a:r>
              <a:rPr lang="en-GB" dirty="0"/>
              <a:t>Simulink</a:t>
            </a:r>
          </a:p>
        </p:txBody>
      </p:sp>
    </p:spTree>
    <p:extLst>
      <p:ext uri="{BB962C8B-B14F-4D97-AF65-F5344CB8AC3E}">
        <p14:creationId xmlns:p14="http://schemas.microsoft.com/office/powerpoint/2010/main" val="3747371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11727402"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p:txBody>
      </p:sp>
      <p:sp>
        <p:nvSpPr>
          <p:cNvPr id="9" name="Title 1">
            <a:extLst>
              <a:ext uri="{FF2B5EF4-FFF2-40B4-BE49-F238E27FC236}">
                <a16:creationId xmlns:a16="http://schemas.microsoft.com/office/drawing/2014/main" id="{B8639159-00AB-4D44-99D7-555AA74FA80D}"/>
              </a:ext>
            </a:extLst>
          </p:cNvPr>
          <p:cNvSpPr txBox="1">
            <a:spLocks/>
          </p:cNvSpPr>
          <p:nvPr/>
        </p:nvSpPr>
        <p:spPr>
          <a:xfrm>
            <a:off x="12192" y="0"/>
            <a:ext cx="7906690" cy="61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Routh-Hurwitz Stability Criterion</a:t>
            </a:r>
          </a:p>
        </p:txBody>
      </p:sp>
      <p:sp>
        <p:nvSpPr>
          <p:cNvPr id="7" name="TextBox 6">
            <a:extLst>
              <a:ext uri="{FF2B5EF4-FFF2-40B4-BE49-F238E27FC236}">
                <a16:creationId xmlns:a16="http://schemas.microsoft.com/office/drawing/2014/main" id="{81AA1786-FC05-477B-B08A-17CE9FEFB730}"/>
              </a:ext>
            </a:extLst>
          </p:cNvPr>
          <p:cNvSpPr txBox="1"/>
          <p:nvPr/>
        </p:nvSpPr>
        <p:spPr>
          <a:xfrm>
            <a:off x="10622132" y="6349298"/>
            <a:ext cx="1460377" cy="369332"/>
          </a:xfrm>
          <a:prstGeom prst="rect">
            <a:avLst/>
          </a:prstGeom>
          <a:noFill/>
        </p:spPr>
        <p:txBody>
          <a:bodyPr wrap="square">
            <a:spAutoFit/>
          </a:bodyPr>
          <a:lstStyle/>
          <a:p>
            <a:r>
              <a:rPr lang="en-GB" dirty="0"/>
              <a:t>Simulink</a:t>
            </a:r>
          </a:p>
        </p:txBody>
      </p:sp>
      <p:pic>
        <p:nvPicPr>
          <p:cNvPr id="5" name="Picture 4">
            <a:extLst>
              <a:ext uri="{FF2B5EF4-FFF2-40B4-BE49-F238E27FC236}">
                <a16:creationId xmlns:a16="http://schemas.microsoft.com/office/drawing/2014/main" id="{35CF9242-ACF1-4925-9E79-4ED2865F8370}"/>
              </a:ext>
            </a:extLst>
          </p:cNvPr>
          <p:cNvPicPr>
            <a:picLocks noChangeAspect="1"/>
          </p:cNvPicPr>
          <p:nvPr/>
        </p:nvPicPr>
        <p:blipFill>
          <a:blip r:embed="rId2"/>
          <a:stretch>
            <a:fillRect/>
          </a:stretch>
        </p:blipFill>
        <p:spPr>
          <a:xfrm>
            <a:off x="1491449" y="1136342"/>
            <a:ext cx="7934391" cy="4284000"/>
          </a:xfrm>
          <a:prstGeom prst="rect">
            <a:avLst/>
          </a:prstGeom>
        </p:spPr>
      </p:pic>
    </p:spTree>
    <p:extLst>
      <p:ext uri="{BB962C8B-B14F-4D97-AF65-F5344CB8AC3E}">
        <p14:creationId xmlns:p14="http://schemas.microsoft.com/office/powerpoint/2010/main" val="187027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1"/>
            <a:ext cx="5527474" cy="663547"/>
          </a:xfrm>
        </p:spPr>
        <p:txBody>
          <a:bodyPr>
            <a:normAutofit/>
          </a:bodyPr>
          <a:lstStyle/>
          <a:p>
            <a:r>
              <a:rPr lang="en-GB" sz="3000" b="1" dirty="0">
                <a:solidFill>
                  <a:schemeClr val="accent5">
                    <a:lumMod val="75000"/>
                  </a:schemeClr>
                </a:solidFill>
                <a:latin typeface="+mn-lt"/>
              </a:rPr>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Recap on the previous lecture</a:t>
            </a:r>
          </a:p>
        </p:txBody>
      </p:sp>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12192000" cy="5801557"/>
          </a:xfrm>
        </p:spPr>
        <p:txBody>
          <a:bodyPr>
            <a:normAutofit/>
          </a:bodyPr>
          <a:lstStyle/>
          <a:p>
            <a:endPar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endParaRPr>
          </a:p>
          <a:p>
            <a:pPr lvl="1" algn="just">
              <a:buFont typeface="Courier New" panose="02070309020205020404" pitchFamily="49" charset="0"/>
              <a:buChar char="o"/>
            </a:pPr>
            <a:r>
              <a:rPr lang="en-GB" dirty="0">
                <a:latin typeface="+mj-lt"/>
                <a:ea typeface="+mj-ea"/>
                <a:cs typeface="+mj-cs"/>
              </a:rPr>
              <a:t>Mechanical interaction with objects/environment.</a:t>
            </a:r>
          </a:p>
          <a:p>
            <a:pPr marL="457200" lvl="1" indent="0" algn="just">
              <a:lnSpc>
                <a:spcPct val="50000"/>
              </a:lnSpc>
              <a:buNone/>
            </a:pPr>
            <a:endParaRPr lang="en-GB" dirty="0">
              <a:latin typeface="+mj-lt"/>
              <a:ea typeface="+mj-ea"/>
              <a:cs typeface="+mj-cs"/>
            </a:endParaRPr>
          </a:p>
          <a:p>
            <a:pPr lvl="1" algn="just">
              <a:buFont typeface="Courier New" panose="02070309020205020404" pitchFamily="49" charset="0"/>
              <a:buChar char="o"/>
            </a:pPr>
            <a:r>
              <a:rPr lang="en-GB" dirty="0">
                <a:latin typeface="+mj-lt"/>
                <a:ea typeface="+mj-ea"/>
                <a:cs typeface="+mj-cs"/>
              </a:rPr>
              <a:t>Mechanical interaction dynamics can be characterised by mechanical impedance.</a:t>
            </a:r>
          </a:p>
          <a:p>
            <a:endParaRPr lang="en-GB" dirty="0"/>
          </a:p>
          <a:p>
            <a:endParaRPr lang="en-GB" dirty="0"/>
          </a:p>
        </p:txBody>
      </p:sp>
      <p:sp>
        <p:nvSpPr>
          <p:cNvPr id="10" name="Rectangle 9">
            <a:extLst>
              <a:ext uri="{FF2B5EF4-FFF2-40B4-BE49-F238E27FC236}">
                <a16:creationId xmlns:a16="http://schemas.microsoft.com/office/drawing/2014/main" id="{077E5F58-3BC6-4BAB-B634-90D2D402E748}"/>
              </a:ext>
            </a:extLst>
          </p:cNvPr>
          <p:cNvSpPr/>
          <p:nvPr/>
        </p:nvSpPr>
        <p:spPr>
          <a:xfrm>
            <a:off x="2905125" y="6146604"/>
            <a:ext cx="6096000" cy="646331"/>
          </a:xfrm>
          <a:prstGeom prst="rect">
            <a:avLst/>
          </a:prstGeom>
        </p:spPr>
        <p:txBody>
          <a:bodyPr>
            <a:spAutoFit/>
          </a:bodyPr>
          <a:lstStyle/>
          <a:p>
            <a:pPr algn="ctr"/>
            <a:r>
              <a:rPr lang="en-GB" dirty="0">
                <a:latin typeface="+mj-lt"/>
                <a:ea typeface="+mj-ea"/>
                <a:cs typeface="+mj-cs"/>
              </a:rPr>
              <a:t>Laplace-Transformed Impedance and Admittance Functions for Common Mechanical Elements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4465" y="3014604"/>
            <a:ext cx="3862409" cy="3132000"/>
          </a:xfrm>
          <a:prstGeom prst="rect">
            <a:avLst/>
          </a:prstGeom>
        </p:spPr>
      </p:pic>
    </p:spTree>
    <p:extLst>
      <p:ext uri="{BB962C8B-B14F-4D97-AF65-F5344CB8AC3E}">
        <p14:creationId xmlns:p14="http://schemas.microsoft.com/office/powerpoint/2010/main" val="7055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1" y="0"/>
            <a:ext cx="8199653" cy="631179"/>
          </a:xfrm>
        </p:spPr>
        <p:txBody>
          <a:bodyPr>
            <a:normAutofit/>
          </a:bodyPr>
          <a:lstStyle/>
          <a:p>
            <a:r>
              <a:rPr lang="en-GB" sz="3000" b="1" dirty="0"/>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Examples of mechanical interactions</a:t>
            </a:r>
          </a:p>
        </p:txBody>
      </p:sp>
      <p:pic>
        <p:nvPicPr>
          <p:cNvPr id="5" name="Content Placeholder 4">
            <a:extLst>
              <a:ext uri="{FF2B5EF4-FFF2-40B4-BE49-F238E27FC236}">
                <a16:creationId xmlns:a16="http://schemas.microsoft.com/office/drawing/2014/main" id="{EE128D20-46FB-44DA-BD99-A38B2F023C0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8169" y="915571"/>
            <a:ext cx="3661233" cy="2697986"/>
          </a:xfrm>
        </p:spPr>
      </p:pic>
      <p:pic>
        <p:nvPicPr>
          <p:cNvPr id="7" name="Picture 6" descr="A picture containing wall, indoor, dirty&#10;&#10;Description automatically generated">
            <a:extLst>
              <a:ext uri="{FF2B5EF4-FFF2-40B4-BE49-F238E27FC236}">
                <a16:creationId xmlns:a16="http://schemas.microsoft.com/office/drawing/2014/main" id="{ACE71023-41B8-42D2-9F7E-340131BB6E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483" y="3944937"/>
            <a:ext cx="3870771" cy="2704338"/>
          </a:xfrm>
          <a:prstGeom prst="rect">
            <a:avLst/>
          </a:prstGeom>
        </p:spPr>
      </p:pic>
      <p:pic>
        <p:nvPicPr>
          <p:cNvPr id="13" name="Picture 12" descr="A picture containing indoor, engine, automaton, miller&#10;&#10;Description automatically generated">
            <a:extLst>
              <a:ext uri="{FF2B5EF4-FFF2-40B4-BE49-F238E27FC236}">
                <a16:creationId xmlns:a16="http://schemas.microsoft.com/office/drawing/2014/main" id="{45A44BB6-4607-4C8E-9385-7FEA441AA4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8168" y="3944937"/>
            <a:ext cx="3661233" cy="2697985"/>
          </a:xfrm>
          <a:prstGeom prst="rect">
            <a:avLst/>
          </a:prstGeom>
        </p:spPr>
      </p:pic>
      <p:pic>
        <p:nvPicPr>
          <p:cNvPr id="16" name="Picture 15" descr="A picture containing orange, construction, engine&#10;&#10;Description automatically generated">
            <a:extLst>
              <a:ext uri="{FF2B5EF4-FFF2-40B4-BE49-F238E27FC236}">
                <a16:creationId xmlns:a16="http://schemas.microsoft.com/office/drawing/2014/main" id="{2FB49ACD-868A-4F57-BC3C-26173850F4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5641" y="3944937"/>
            <a:ext cx="3598328" cy="2704338"/>
          </a:xfrm>
          <a:prstGeom prst="rect">
            <a:avLst/>
          </a:prstGeom>
        </p:spPr>
      </p:pic>
      <p:pic>
        <p:nvPicPr>
          <p:cNvPr id="19" name="Picture 18" descr="A picture containing person, outdoor, sport&#10;&#10;Description automatically generated">
            <a:extLst>
              <a:ext uri="{FF2B5EF4-FFF2-40B4-BE49-F238E27FC236}">
                <a16:creationId xmlns:a16="http://schemas.microsoft.com/office/drawing/2014/main" id="{29BC0F65-ADE9-42F0-8209-042AD1DAD19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55484" y="915571"/>
            <a:ext cx="3870771" cy="2697986"/>
          </a:xfrm>
          <a:prstGeom prst="rect">
            <a:avLst/>
          </a:prstGeom>
        </p:spPr>
      </p:pic>
      <p:pic>
        <p:nvPicPr>
          <p:cNvPr id="32" name="Picture 31" descr="A picture containing power shovel, yellow&#10;&#10;Description automatically generated">
            <a:extLst>
              <a:ext uri="{FF2B5EF4-FFF2-40B4-BE49-F238E27FC236}">
                <a16:creationId xmlns:a16="http://schemas.microsoft.com/office/drawing/2014/main" id="{3F01C9BB-0ED7-46D3-86E1-6EDC5131CD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25641" y="915571"/>
            <a:ext cx="3598328" cy="2703575"/>
          </a:xfrm>
          <a:prstGeom prst="rect">
            <a:avLst/>
          </a:prstGeom>
        </p:spPr>
      </p:pic>
    </p:spTree>
    <p:extLst>
      <p:ext uri="{BB962C8B-B14F-4D97-AF65-F5344CB8AC3E}">
        <p14:creationId xmlns:p14="http://schemas.microsoft.com/office/powerpoint/2010/main" val="302622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par>
                                <p:cTn id="11" presetID="3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1000" fill="hold"/>
                                        <p:tgtEl>
                                          <p:spTgt spid="32"/>
                                        </p:tgtEl>
                                        <p:attrNameLst>
                                          <p:attrName>ppt_w</p:attrName>
                                        </p:attrNameLst>
                                      </p:cBhvr>
                                      <p:tavLst>
                                        <p:tav tm="0">
                                          <p:val>
                                            <p:fltVal val="0"/>
                                          </p:val>
                                        </p:tav>
                                        <p:tav tm="100000">
                                          <p:val>
                                            <p:strVal val="#ppt_w"/>
                                          </p:val>
                                        </p:tav>
                                      </p:tavLst>
                                    </p:anim>
                                    <p:anim calcmode="lin" valueType="num">
                                      <p:cBhvr>
                                        <p:cTn id="14" dur="1000" fill="hold"/>
                                        <p:tgtEl>
                                          <p:spTgt spid="32"/>
                                        </p:tgtEl>
                                        <p:attrNameLst>
                                          <p:attrName>ppt_h</p:attrName>
                                        </p:attrNameLst>
                                      </p:cBhvr>
                                      <p:tavLst>
                                        <p:tav tm="0">
                                          <p:val>
                                            <p:fltVal val="0"/>
                                          </p:val>
                                        </p:tav>
                                        <p:tav tm="100000">
                                          <p:val>
                                            <p:strVal val="#ppt_h"/>
                                          </p:val>
                                        </p:tav>
                                      </p:tavLst>
                                    </p:anim>
                                    <p:anim calcmode="lin" valueType="num">
                                      <p:cBhvr>
                                        <p:cTn id="15" dur="1000" fill="hold"/>
                                        <p:tgtEl>
                                          <p:spTgt spid="32"/>
                                        </p:tgtEl>
                                        <p:attrNameLst>
                                          <p:attrName>style.rotation</p:attrName>
                                        </p:attrNameLst>
                                      </p:cBhvr>
                                      <p:tavLst>
                                        <p:tav tm="0">
                                          <p:val>
                                            <p:fltVal val="90"/>
                                          </p:val>
                                        </p:tav>
                                        <p:tav tm="100000">
                                          <p:val>
                                            <p:fltVal val="0"/>
                                          </p:val>
                                        </p:tav>
                                      </p:tavLst>
                                    </p:anim>
                                    <p:animEffect transition="in" filter="fade">
                                      <p:cBhvr>
                                        <p:cTn id="16" dur="1000"/>
                                        <p:tgtEl>
                                          <p:spTgt spid="32"/>
                                        </p:tgtEl>
                                      </p:cBhvr>
                                    </p:animEffect>
                                  </p:childTnLst>
                                </p:cTn>
                              </p:par>
                              <p:par>
                                <p:cTn id="17" presetID="3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1000" fill="hold"/>
                                        <p:tgtEl>
                                          <p:spTgt spid="19"/>
                                        </p:tgtEl>
                                        <p:attrNameLst>
                                          <p:attrName>ppt_w</p:attrName>
                                        </p:attrNameLst>
                                      </p:cBhvr>
                                      <p:tavLst>
                                        <p:tav tm="0">
                                          <p:val>
                                            <p:fltVal val="0"/>
                                          </p:val>
                                        </p:tav>
                                        <p:tav tm="100000">
                                          <p:val>
                                            <p:strVal val="#ppt_w"/>
                                          </p:val>
                                        </p:tav>
                                      </p:tavLst>
                                    </p:anim>
                                    <p:anim calcmode="lin" valueType="num">
                                      <p:cBhvr>
                                        <p:cTn id="20" dur="1000" fill="hold"/>
                                        <p:tgtEl>
                                          <p:spTgt spid="19"/>
                                        </p:tgtEl>
                                        <p:attrNameLst>
                                          <p:attrName>ppt_h</p:attrName>
                                        </p:attrNameLst>
                                      </p:cBhvr>
                                      <p:tavLst>
                                        <p:tav tm="0">
                                          <p:val>
                                            <p:fltVal val="0"/>
                                          </p:val>
                                        </p:tav>
                                        <p:tav tm="100000">
                                          <p:val>
                                            <p:strVal val="#ppt_h"/>
                                          </p:val>
                                        </p:tav>
                                      </p:tavLst>
                                    </p:anim>
                                    <p:anim calcmode="lin" valueType="num">
                                      <p:cBhvr>
                                        <p:cTn id="21" dur="1000" fill="hold"/>
                                        <p:tgtEl>
                                          <p:spTgt spid="19"/>
                                        </p:tgtEl>
                                        <p:attrNameLst>
                                          <p:attrName>style.rotation</p:attrName>
                                        </p:attrNameLst>
                                      </p:cBhvr>
                                      <p:tavLst>
                                        <p:tav tm="0">
                                          <p:val>
                                            <p:fltVal val="90"/>
                                          </p:val>
                                        </p:tav>
                                        <p:tav tm="100000">
                                          <p:val>
                                            <p:fltVal val="0"/>
                                          </p:val>
                                        </p:tav>
                                      </p:tavLst>
                                    </p:anim>
                                    <p:animEffect transition="in" filter="fade">
                                      <p:cBhvr>
                                        <p:cTn id="22" dur="1000"/>
                                        <p:tgtEl>
                                          <p:spTgt spid="19"/>
                                        </p:tgtEl>
                                      </p:cBhvr>
                                    </p:animEffect>
                                  </p:childTnLst>
                                </p:cTn>
                              </p:par>
                              <p:par>
                                <p:cTn id="23" presetID="3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par>
                                <p:cTn id="29" presetID="3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1000" fill="hold"/>
                                        <p:tgtEl>
                                          <p:spTgt spid="16"/>
                                        </p:tgtEl>
                                        <p:attrNameLst>
                                          <p:attrName>ppt_w</p:attrName>
                                        </p:attrNameLst>
                                      </p:cBhvr>
                                      <p:tavLst>
                                        <p:tav tm="0">
                                          <p:val>
                                            <p:fltVal val="0"/>
                                          </p:val>
                                        </p:tav>
                                        <p:tav tm="100000">
                                          <p:val>
                                            <p:strVal val="#ppt_w"/>
                                          </p:val>
                                        </p:tav>
                                      </p:tavLst>
                                    </p:anim>
                                    <p:anim calcmode="lin" valueType="num">
                                      <p:cBhvr>
                                        <p:cTn id="32" dur="1000" fill="hold"/>
                                        <p:tgtEl>
                                          <p:spTgt spid="16"/>
                                        </p:tgtEl>
                                        <p:attrNameLst>
                                          <p:attrName>ppt_h</p:attrName>
                                        </p:attrNameLst>
                                      </p:cBhvr>
                                      <p:tavLst>
                                        <p:tav tm="0">
                                          <p:val>
                                            <p:fltVal val="0"/>
                                          </p:val>
                                        </p:tav>
                                        <p:tav tm="100000">
                                          <p:val>
                                            <p:strVal val="#ppt_h"/>
                                          </p:val>
                                        </p:tav>
                                      </p:tavLst>
                                    </p:anim>
                                    <p:anim calcmode="lin" valueType="num">
                                      <p:cBhvr>
                                        <p:cTn id="33" dur="1000" fill="hold"/>
                                        <p:tgtEl>
                                          <p:spTgt spid="16"/>
                                        </p:tgtEl>
                                        <p:attrNameLst>
                                          <p:attrName>style.rotation</p:attrName>
                                        </p:attrNameLst>
                                      </p:cBhvr>
                                      <p:tavLst>
                                        <p:tav tm="0">
                                          <p:val>
                                            <p:fltVal val="90"/>
                                          </p:val>
                                        </p:tav>
                                        <p:tav tm="100000">
                                          <p:val>
                                            <p:fltVal val="0"/>
                                          </p:val>
                                        </p:tav>
                                      </p:tavLst>
                                    </p:anim>
                                    <p:animEffect transition="in" filter="fade">
                                      <p:cBhvr>
                                        <p:cTn id="34" dur="1000"/>
                                        <p:tgtEl>
                                          <p:spTgt spid="16"/>
                                        </p:tgtEl>
                                      </p:cBhvr>
                                    </p:animEffect>
                                  </p:childTnLst>
                                </p:cTn>
                              </p:par>
                              <p:par>
                                <p:cTn id="35" presetID="3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1000" fill="hold"/>
                                        <p:tgtEl>
                                          <p:spTgt spid="13"/>
                                        </p:tgtEl>
                                        <p:attrNameLst>
                                          <p:attrName>ppt_w</p:attrName>
                                        </p:attrNameLst>
                                      </p:cBhvr>
                                      <p:tavLst>
                                        <p:tav tm="0">
                                          <p:val>
                                            <p:fltVal val="0"/>
                                          </p:val>
                                        </p:tav>
                                        <p:tav tm="100000">
                                          <p:val>
                                            <p:strVal val="#ppt_w"/>
                                          </p:val>
                                        </p:tav>
                                      </p:tavLst>
                                    </p:anim>
                                    <p:anim calcmode="lin" valueType="num">
                                      <p:cBhvr>
                                        <p:cTn id="38" dur="1000" fill="hold"/>
                                        <p:tgtEl>
                                          <p:spTgt spid="13"/>
                                        </p:tgtEl>
                                        <p:attrNameLst>
                                          <p:attrName>ppt_h</p:attrName>
                                        </p:attrNameLst>
                                      </p:cBhvr>
                                      <p:tavLst>
                                        <p:tav tm="0">
                                          <p:val>
                                            <p:fltVal val="0"/>
                                          </p:val>
                                        </p:tav>
                                        <p:tav tm="100000">
                                          <p:val>
                                            <p:strVal val="#ppt_h"/>
                                          </p:val>
                                        </p:tav>
                                      </p:tavLst>
                                    </p:anim>
                                    <p:anim calcmode="lin" valueType="num">
                                      <p:cBhvr>
                                        <p:cTn id="39" dur="1000" fill="hold"/>
                                        <p:tgtEl>
                                          <p:spTgt spid="13"/>
                                        </p:tgtEl>
                                        <p:attrNameLst>
                                          <p:attrName>style.rotation</p:attrName>
                                        </p:attrNameLst>
                                      </p:cBhvr>
                                      <p:tavLst>
                                        <p:tav tm="0">
                                          <p:val>
                                            <p:fltVal val="90"/>
                                          </p:val>
                                        </p:tav>
                                        <p:tav tm="100000">
                                          <p:val>
                                            <p:fltVal val="0"/>
                                          </p:val>
                                        </p:tav>
                                      </p:tavLst>
                                    </p:anim>
                                    <p:animEffect transition="in" filter="fade">
                                      <p:cBhvr>
                                        <p:cTn id="4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60A5417-11FE-4E02-8A81-4B1B15006F3A}"/>
              </a:ext>
            </a:extLst>
          </p:cNvPr>
          <p:cNvSpPr txBox="1"/>
          <p:nvPr/>
        </p:nvSpPr>
        <p:spPr>
          <a:xfrm>
            <a:off x="524746" y="5572467"/>
            <a:ext cx="5074651" cy="923330"/>
          </a:xfrm>
          <a:prstGeom prst="rect">
            <a:avLst/>
          </a:prstGeom>
          <a:noFill/>
        </p:spPr>
        <p:txBody>
          <a:bodyPr wrap="square" rtlCol="0">
            <a:spAutoFit/>
          </a:bodyPr>
          <a:lstStyle/>
          <a:p>
            <a:r>
              <a:rPr lang="en-GB" b="1" dirty="0"/>
              <a:t>Robot body:                 </a:t>
            </a:r>
            <a:r>
              <a:rPr lang="en-GB" dirty="0"/>
              <a:t>Aluminium (2740 kg/m^3) </a:t>
            </a:r>
          </a:p>
          <a:p>
            <a:r>
              <a:rPr lang="en-GB" b="1" dirty="0"/>
              <a:t>Robot total mass:       </a:t>
            </a:r>
            <a:r>
              <a:rPr lang="en-GB" dirty="0"/>
              <a:t>636 Kg</a:t>
            </a:r>
          </a:p>
          <a:p>
            <a:r>
              <a:rPr lang="en-GB" b="1" dirty="0" err="1"/>
              <a:t>Kp</a:t>
            </a:r>
            <a:r>
              <a:rPr lang="en-GB" b="1" dirty="0"/>
              <a:t>, KI:</a:t>
            </a:r>
            <a:r>
              <a:rPr lang="en-GB" dirty="0"/>
              <a:t>                            4.9, 1.2</a:t>
            </a:r>
          </a:p>
        </p:txBody>
      </p:sp>
      <p:sp>
        <p:nvSpPr>
          <p:cNvPr id="9" name="TextBox 8">
            <a:extLst>
              <a:ext uri="{FF2B5EF4-FFF2-40B4-BE49-F238E27FC236}">
                <a16:creationId xmlns:a16="http://schemas.microsoft.com/office/drawing/2014/main" id="{DFEE7A60-EE23-4D37-9786-BA99A081FAE8}"/>
              </a:ext>
            </a:extLst>
          </p:cNvPr>
          <p:cNvSpPr txBox="1"/>
          <p:nvPr/>
        </p:nvSpPr>
        <p:spPr>
          <a:xfrm>
            <a:off x="6734336" y="5572467"/>
            <a:ext cx="4651855" cy="1200329"/>
          </a:xfrm>
          <a:prstGeom prst="rect">
            <a:avLst/>
          </a:prstGeom>
          <a:noFill/>
        </p:spPr>
        <p:txBody>
          <a:bodyPr wrap="square" rtlCol="0">
            <a:spAutoFit/>
          </a:bodyPr>
          <a:lstStyle/>
          <a:p>
            <a:r>
              <a:rPr lang="en-GB" b="1" dirty="0"/>
              <a:t>Robot body:                </a:t>
            </a:r>
            <a:r>
              <a:rPr lang="en-GB" dirty="0"/>
              <a:t>Aluminium (2740 kg/m^3)</a:t>
            </a:r>
          </a:p>
          <a:p>
            <a:r>
              <a:rPr lang="en-GB" b="1" dirty="0"/>
              <a:t>Robot total mass:      </a:t>
            </a:r>
            <a:r>
              <a:rPr lang="en-GB" dirty="0"/>
              <a:t>636 Kg</a:t>
            </a:r>
          </a:p>
          <a:p>
            <a:r>
              <a:rPr lang="en-GB" b="1" dirty="0" err="1"/>
              <a:t>Kp</a:t>
            </a:r>
            <a:r>
              <a:rPr lang="en-GB" b="1" dirty="0"/>
              <a:t>, KI:</a:t>
            </a:r>
            <a:r>
              <a:rPr lang="en-GB" dirty="0"/>
              <a:t>                           4.9, 1.2</a:t>
            </a:r>
          </a:p>
          <a:p>
            <a:r>
              <a:rPr lang="en-GB" b="1" dirty="0"/>
              <a:t>Object weight:</a:t>
            </a:r>
            <a:r>
              <a:rPr lang="en-GB" dirty="0"/>
              <a:t>            26.5 Kg</a:t>
            </a:r>
          </a:p>
        </p:txBody>
      </p:sp>
      <p:pic>
        <p:nvPicPr>
          <p:cNvPr id="4" name="Z1">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rotWithShape="1">
          <a:blip r:embed="rId6"/>
          <a:srcRect l="14828" r="11112"/>
          <a:stretch/>
        </p:blipFill>
        <p:spPr>
          <a:xfrm>
            <a:off x="71595" y="1135101"/>
            <a:ext cx="5830097" cy="4428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pic>
        <p:nvPicPr>
          <p:cNvPr id="10" name="V2">
            <a:hlinkClick r:id="" action="ppaction://media"/>
            <a:extLst>
              <a:ext uri="{FF2B5EF4-FFF2-40B4-BE49-F238E27FC236}">
                <a16:creationId xmlns:a16="http://schemas.microsoft.com/office/drawing/2014/main" id="{DAD5A6A6-E0F0-4F19-BA6A-573854BBC0F3}"/>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7"/>
          <a:srcRect l="9309" r="14193"/>
          <a:stretch/>
        </p:blipFill>
        <p:spPr>
          <a:xfrm>
            <a:off x="6116641" y="1135101"/>
            <a:ext cx="6021960" cy="4428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sp>
        <p:nvSpPr>
          <p:cNvPr id="6" name="Rectangle 5"/>
          <p:cNvSpPr/>
          <p:nvPr/>
        </p:nvSpPr>
        <p:spPr>
          <a:xfrm>
            <a:off x="1421477" y="687650"/>
            <a:ext cx="10430228" cy="461665"/>
          </a:xfrm>
          <a:prstGeom prst="rect">
            <a:avLst/>
          </a:prstGeom>
        </p:spPr>
        <p:txBody>
          <a:bodyPr wrap="none">
            <a:spAutoFit/>
          </a:bodyPr>
          <a:lstStyle/>
          <a:p>
            <a:r>
              <a:rPr lang="en-GB" sz="2400" b="1" dirty="0">
                <a:latin typeface="+mj-lt"/>
                <a:ea typeface="+mj-ea"/>
                <a:cs typeface="+mj-cs"/>
              </a:rPr>
              <a:t>Robot in isolation                                                Robot interacts with environment        </a:t>
            </a:r>
          </a:p>
        </p:txBody>
      </p:sp>
      <p:sp>
        <p:nvSpPr>
          <p:cNvPr id="11" name="Title 1">
            <a:extLst>
              <a:ext uri="{FF2B5EF4-FFF2-40B4-BE49-F238E27FC236}">
                <a16:creationId xmlns:a16="http://schemas.microsoft.com/office/drawing/2014/main" id="{CB341DFB-A801-4387-A6B2-BEB46682BFC2}"/>
              </a:ext>
            </a:extLst>
          </p:cNvPr>
          <p:cNvSpPr txBox="1">
            <a:spLocks/>
          </p:cNvSpPr>
          <p:nvPr/>
        </p:nvSpPr>
        <p:spPr>
          <a:xfrm>
            <a:off x="12192" y="0"/>
            <a:ext cx="11849100" cy="663547"/>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3200" b="1" dirty="0">
              <a:solidFill>
                <a:schemeClr val="accent5">
                  <a:lumMod val="75000"/>
                </a:schemeClr>
              </a:solidFill>
              <a:latin typeface="+mn-lt"/>
            </a:endParaRPr>
          </a:p>
          <a:p>
            <a:r>
              <a:rPr lang="en-GB" sz="28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The Effect of Interaction on Performance and Stability</a:t>
            </a:r>
          </a:p>
          <a:p>
            <a:endParaRPr lang="en-GB" sz="3200" b="1" dirty="0">
              <a:solidFill>
                <a:schemeClr val="accent5">
                  <a:lumMod val="75000"/>
                </a:schemeClr>
              </a:solidFill>
              <a:latin typeface="+mn-lt"/>
            </a:endParaRPr>
          </a:p>
        </p:txBody>
      </p:sp>
    </p:spTree>
    <p:extLst>
      <p:ext uri="{BB962C8B-B14F-4D97-AF65-F5344CB8AC3E}">
        <p14:creationId xmlns:p14="http://schemas.microsoft.com/office/powerpoint/2010/main" val="209002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83" fill="hold"/>
                                        <p:tgtEl>
                                          <p:spTgt spid="4"/>
                                        </p:tgtEl>
                                      </p:cBhvr>
                                    </p:cmd>
                                  </p:childTnLst>
                                </p:cTn>
                              </p:par>
                            </p:childTnLst>
                          </p:cTn>
                        </p:par>
                        <p:par>
                          <p:cTn id="7" fill="hold">
                            <p:stCondLst>
                              <p:cond delay="1983"/>
                            </p:stCondLst>
                            <p:childTnLst>
                              <p:par>
                                <p:cTn id="8" presetID="1" presetClass="mediacall" presetSubtype="0" fill="hold" nodeType="afterEffect">
                                  <p:stCondLst>
                                    <p:cond delay="0"/>
                                  </p:stCondLst>
                                  <p:childTnLst>
                                    <p:cmd type="call" cmd="playFrom(0.0)">
                                      <p:cBhvr>
                                        <p:cTn id="9" dur="957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4"/>
                </p:tgtEl>
              </p:cMediaNode>
            </p:video>
            <p:seq concurrent="1" nextAc="seek">
              <p:cTn id="11" restart="whenNotActive" fill="hold" evtFilter="cancelBubble" nodeType="interactiveSeq">
                <p:stCondLst>
                  <p:cond evt="onClick" delay="0">
                    <p:tgtEl>
                      <p:spTgt spid="4"/>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4"/>
                                        </p:tgtEl>
                                      </p:cBhvr>
                                    </p:cmd>
                                  </p:childTnLst>
                                </p:cTn>
                              </p:par>
                            </p:childTnLst>
                          </p:cTn>
                        </p:par>
                      </p:childTnLst>
                    </p:cTn>
                  </p:par>
                </p:childTnLst>
              </p:cTn>
              <p:nextCondLst>
                <p:cond evt="onClick" delay="0">
                  <p:tgtEl>
                    <p:spTgt spid="4"/>
                  </p:tgtEl>
                </p:cond>
              </p:nextCondLst>
            </p:seq>
            <p:seq concurrent="1" nextAc="seek">
              <p:cTn id="16" restart="whenNotActive" fill="hold" evtFilter="cancelBubble" nodeType="interactiveSeq">
                <p:stCondLst>
                  <p:cond evt="onClick" delay="0">
                    <p:tgtEl>
                      <p:spTgt spid="10"/>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0"/>
                                        </p:tgtEl>
                                      </p:cBhvr>
                                    </p:cmd>
                                  </p:childTnLst>
                                </p:cTn>
                              </p:par>
                            </p:childTnLst>
                          </p:cTn>
                        </p:par>
                      </p:childTnLst>
                    </p:cTn>
                  </p:par>
                </p:childTnLst>
              </p:cTn>
              <p:nextCondLst>
                <p:cond evt="onClick" delay="0">
                  <p:tgtEl>
                    <p:spTgt spid="10"/>
                  </p:tgtEl>
                </p:cond>
              </p:nextCondLst>
            </p:seq>
            <p:video>
              <p:cMediaNode vol="80000">
                <p:cTn id="21" fill="hold" display="0">
                  <p:stCondLst>
                    <p:cond delay="indefinite"/>
                  </p:stCondLst>
                </p:cTn>
                <p:tgtEl>
                  <p:spTgt spid="10"/>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Va2">
            <a:hlinkClick r:id="" action="ppaction://media"/>
            <a:extLst>
              <a:ext uri="{FF2B5EF4-FFF2-40B4-BE49-F238E27FC236}">
                <a16:creationId xmlns:a16="http://schemas.microsoft.com/office/drawing/2014/main" id="{53E2F400-29C1-4C1A-A2D0-65DEDB011A2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6"/>
          <a:stretch>
            <a:fillRect/>
          </a:stretch>
        </p:blipFill>
        <p:spPr>
          <a:xfrm>
            <a:off x="498812" y="1257244"/>
            <a:ext cx="4875478" cy="4824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pic>
        <p:nvPicPr>
          <p:cNvPr id="5" name="Vb2">
            <a:hlinkClick r:id="" action="ppaction://media"/>
            <a:extLst>
              <a:ext uri="{FF2B5EF4-FFF2-40B4-BE49-F238E27FC236}">
                <a16:creationId xmlns:a16="http://schemas.microsoft.com/office/drawing/2014/main" id="{E312DDFD-7B4E-4C49-8BC2-C9E51E07CD79}"/>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137558" y="1257244"/>
            <a:ext cx="4844100" cy="4824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sp>
        <p:nvSpPr>
          <p:cNvPr id="4" name="Rectangle 3">
            <a:extLst>
              <a:ext uri="{FF2B5EF4-FFF2-40B4-BE49-F238E27FC236}">
                <a16:creationId xmlns:a16="http://schemas.microsoft.com/office/drawing/2014/main" id="{F2856D09-8C69-42A9-B4A6-1DC81130C8DB}"/>
              </a:ext>
            </a:extLst>
          </p:cNvPr>
          <p:cNvSpPr/>
          <p:nvPr/>
        </p:nvSpPr>
        <p:spPr>
          <a:xfrm>
            <a:off x="2344690" y="5487111"/>
            <a:ext cx="1107226" cy="400110"/>
          </a:xfrm>
          <a:prstGeom prst="rect">
            <a:avLst/>
          </a:prstGeom>
        </p:spPr>
        <p:txBody>
          <a:bodyPr wrap="none">
            <a:spAutoFit/>
          </a:bodyPr>
          <a:lstStyle/>
          <a:p>
            <a:r>
              <a:rPr lang="en-GB" sz="2000" b="1" dirty="0">
                <a:solidFill>
                  <a:schemeClr val="bg1">
                    <a:lumMod val="95000"/>
                  </a:schemeClr>
                </a:solidFill>
              </a:rPr>
              <a:t>Isolation</a:t>
            </a:r>
          </a:p>
        </p:txBody>
      </p:sp>
      <p:sp>
        <p:nvSpPr>
          <p:cNvPr id="6" name="Rectangle 5">
            <a:extLst>
              <a:ext uri="{FF2B5EF4-FFF2-40B4-BE49-F238E27FC236}">
                <a16:creationId xmlns:a16="http://schemas.microsoft.com/office/drawing/2014/main" id="{4CA30226-1633-4710-9BD4-39C05A8463AD}"/>
              </a:ext>
            </a:extLst>
          </p:cNvPr>
          <p:cNvSpPr/>
          <p:nvPr/>
        </p:nvSpPr>
        <p:spPr>
          <a:xfrm>
            <a:off x="7880576" y="5487111"/>
            <a:ext cx="1350113" cy="400110"/>
          </a:xfrm>
          <a:prstGeom prst="rect">
            <a:avLst/>
          </a:prstGeom>
        </p:spPr>
        <p:txBody>
          <a:bodyPr wrap="none">
            <a:spAutoFit/>
          </a:bodyPr>
          <a:lstStyle/>
          <a:p>
            <a:r>
              <a:rPr lang="en-GB" sz="2000" b="1" dirty="0">
                <a:solidFill>
                  <a:schemeClr val="bg1">
                    <a:lumMod val="95000"/>
                  </a:schemeClr>
                </a:solidFill>
              </a:rPr>
              <a:t>Interaction</a:t>
            </a:r>
          </a:p>
        </p:txBody>
      </p:sp>
      <p:sp>
        <p:nvSpPr>
          <p:cNvPr id="8" name="Title 7">
            <a:extLst>
              <a:ext uri="{FF2B5EF4-FFF2-40B4-BE49-F238E27FC236}">
                <a16:creationId xmlns:a16="http://schemas.microsoft.com/office/drawing/2014/main" id="{ECC97863-CD04-4F08-9488-C977EAEF0C22}"/>
              </a:ext>
            </a:extLst>
          </p:cNvPr>
          <p:cNvSpPr>
            <a:spLocks noGrp="1"/>
          </p:cNvSpPr>
          <p:nvPr>
            <p:ph type="title"/>
          </p:nvPr>
        </p:nvSpPr>
        <p:spPr/>
        <p:txBody>
          <a:bodyPr/>
          <a:lstStyle/>
          <a:p>
            <a:endParaRPr lang="en-GB"/>
          </a:p>
        </p:txBody>
      </p:sp>
      <p:sp>
        <p:nvSpPr>
          <p:cNvPr id="9" name="Title 1">
            <a:extLst>
              <a:ext uri="{FF2B5EF4-FFF2-40B4-BE49-F238E27FC236}">
                <a16:creationId xmlns:a16="http://schemas.microsoft.com/office/drawing/2014/main" id="{845DFCC8-6A2A-4658-8FBF-FB68CB85EFB5}"/>
              </a:ext>
            </a:extLst>
          </p:cNvPr>
          <p:cNvSpPr txBox="1">
            <a:spLocks/>
          </p:cNvSpPr>
          <p:nvPr/>
        </p:nvSpPr>
        <p:spPr>
          <a:xfrm>
            <a:off x="12192" y="0"/>
            <a:ext cx="11849100" cy="663547"/>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3200" b="1" dirty="0">
              <a:solidFill>
                <a:schemeClr val="accent5">
                  <a:lumMod val="75000"/>
                </a:schemeClr>
              </a:solidFill>
              <a:latin typeface="+mn-lt"/>
            </a:endParaRPr>
          </a:p>
          <a:p>
            <a:r>
              <a:rPr lang="en-GB" sz="28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The Effect of Interaction on Performance and Stability</a:t>
            </a:r>
          </a:p>
          <a:p>
            <a:endParaRPr lang="en-GB" sz="3200" b="1" dirty="0">
              <a:solidFill>
                <a:schemeClr val="accent5">
                  <a:lumMod val="75000"/>
                </a:schemeClr>
              </a:solidFill>
              <a:latin typeface="+mn-lt"/>
            </a:endParaRPr>
          </a:p>
        </p:txBody>
      </p:sp>
      <p:sp>
        <p:nvSpPr>
          <p:cNvPr id="2" name="TextBox 1">
            <a:extLst>
              <a:ext uri="{FF2B5EF4-FFF2-40B4-BE49-F238E27FC236}">
                <a16:creationId xmlns:a16="http://schemas.microsoft.com/office/drawing/2014/main" id="{EB7B8A04-A2BA-451D-8F78-0FB1E1D0DFF4}"/>
              </a:ext>
            </a:extLst>
          </p:cNvPr>
          <p:cNvSpPr txBox="1"/>
          <p:nvPr/>
        </p:nvSpPr>
        <p:spPr>
          <a:xfrm rot="16200000">
            <a:off x="-724779" y="3103244"/>
            <a:ext cx="1843262" cy="369332"/>
          </a:xfrm>
          <a:prstGeom prst="rect">
            <a:avLst/>
          </a:prstGeom>
          <a:noFill/>
        </p:spPr>
        <p:txBody>
          <a:bodyPr wrap="none" rtlCol="0">
            <a:spAutoFit/>
          </a:bodyPr>
          <a:lstStyle/>
          <a:p>
            <a:r>
              <a:rPr lang="en-GB" dirty="0"/>
              <a:t>Displacement [m]</a:t>
            </a:r>
          </a:p>
        </p:txBody>
      </p:sp>
      <p:sp>
        <p:nvSpPr>
          <p:cNvPr id="10" name="TextBox 9">
            <a:extLst>
              <a:ext uri="{FF2B5EF4-FFF2-40B4-BE49-F238E27FC236}">
                <a16:creationId xmlns:a16="http://schemas.microsoft.com/office/drawing/2014/main" id="{8B8C693A-129C-4E54-86B7-F713FE882977}"/>
              </a:ext>
            </a:extLst>
          </p:cNvPr>
          <p:cNvSpPr txBox="1"/>
          <p:nvPr/>
        </p:nvSpPr>
        <p:spPr>
          <a:xfrm>
            <a:off x="2371817" y="6236068"/>
            <a:ext cx="7292381" cy="369332"/>
          </a:xfrm>
          <a:prstGeom prst="rect">
            <a:avLst/>
          </a:prstGeom>
          <a:noFill/>
        </p:spPr>
        <p:txBody>
          <a:bodyPr wrap="none" rtlCol="0">
            <a:spAutoFit/>
          </a:bodyPr>
          <a:lstStyle/>
          <a:p>
            <a:r>
              <a:rPr lang="en-GB" dirty="0"/>
              <a:t>Time [sec]                                                                                                  Time [sec]</a:t>
            </a:r>
          </a:p>
        </p:txBody>
      </p:sp>
    </p:spTree>
    <p:extLst>
      <p:ext uri="{BB962C8B-B14F-4D97-AF65-F5344CB8AC3E}">
        <p14:creationId xmlns:p14="http://schemas.microsoft.com/office/powerpoint/2010/main" val="28552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00" fill="hold"/>
                                        <p:tgtEl>
                                          <p:spTgt spid="3"/>
                                        </p:tgtEl>
                                      </p:cBhvr>
                                    </p:cmd>
                                  </p:childTnLst>
                                </p:cTn>
                              </p:par>
                            </p:childTnLst>
                          </p:cTn>
                        </p:par>
                        <p:par>
                          <p:cTn id="7" fill="hold">
                            <p:stCondLst>
                              <p:cond delay="11300"/>
                            </p:stCondLst>
                            <p:childTnLst>
                              <p:par>
                                <p:cTn id="8" presetID="1" presetClass="mediacall" presetSubtype="0" fill="hold" nodeType="afterEffect">
                                  <p:stCondLst>
                                    <p:cond delay="0"/>
                                  </p:stCondLst>
                                  <p:childTnLst>
                                    <p:cmd type="call" cmd="playFrom(0.0)">
                                      <p:cBhvr>
                                        <p:cTn id="9" dur="137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3"/>
                </p:tgtEl>
              </p:cMediaNode>
            </p:video>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vol="80000">
                <p:cTn id="16" fill="hold" display="0">
                  <p:stCondLst>
                    <p:cond delay="indefinite"/>
                  </p:stCondLst>
                </p:cTn>
                <p:tgtEl>
                  <p:spTgt spid="5"/>
                </p:tgtEl>
              </p:cMediaNode>
            </p:video>
            <p:seq concurrent="1" nextAc="seek">
              <p:cTn id="17" restart="whenNotActive" fill="hold" evtFilter="cancelBubble" nodeType="interactiveSeq">
                <p:stCondLst>
                  <p:cond evt="onClick" delay="0">
                    <p:tgtEl>
                      <p:spTgt spid="5"/>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9344872" cy="844550"/>
          </a:xfrm>
        </p:spPr>
        <p:txBody>
          <a:bodyPr>
            <a:normAutofit/>
          </a:bodyPr>
          <a:lstStyle/>
          <a:p>
            <a:r>
              <a:rPr lang="en-GB" sz="3200" b="1" dirty="0">
                <a:latin typeface="+mn-lt"/>
              </a:rPr>
              <a:t> </a:t>
            </a:r>
            <a:endParaRPr lang="en-GB" sz="3600" b="1" dirty="0"/>
          </a:p>
        </p:txBody>
      </p:sp>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11849100" cy="5801557"/>
          </a:xfrm>
        </p:spPr>
        <p:txBody>
          <a:bodyPr>
            <a:normAutofit/>
          </a:bodyPr>
          <a:lstStyle/>
          <a:p>
            <a:pPr marL="0" lvl="1" indent="0" algn="just">
              <a:lnSpc>
                <a:spcPct val="50000"/>
              </a:lnSpc>
              <a:spcBef>
                <a:spcPts val="1000"/>
              </a:spcBef>
              <a:buNone/>
            </a:pPr>
            <a:endParaRPr lang="en-GB" b="1" dirty="0"/>
          </a:p>
          <a:p>
            <a:pPr marL="0" lvl="1" indent="0" algn="just">
              <a:lnSpc>
                <a:spcPct val="0"/>
              </a:lnSpc>
              <a:spcBef>
                <a:spcPts val="1000"/>
              </a:spcBef>
              <a:buNone/>
            </a:pPr>
            <a:endParaRPr lang="en-GB" b="1" dirty="0"/>
          </a:p>
          <a:p>
            <a:pPr marL="0" lvl="1" indent="0" algn="just">
              <a:lnSpc>
                <a:spcPct val="50000"/>
              </a:lnSpc>
              <a:spcBef>
                <a:spcPts val="1000"/>
              </a:spcBef>
              <a:buNone/>
            </a:pPr>
            <a:endParaRPr lang="en-GB" b="1" dirty="0"/>
          </a:p>
          <a:p>
            <a:pPr marL="0" lvl="1" indent="0" algn="just">
              <a:lnSpc>
                <a:spcPct val="50000"/>
              </a:lnSpc>
              <a:buFont typeface="Arial" panose="020B0604020202020204" pitchFamily="34" charset="0"/>
              <a:buNone/>
            </a:pPr>
            <a:r>
              <a:rPr lang="en-GB" b="1" dirty="0">
                <a:latin typeface="+mj-lt"/>
                <a:ea typeface="+mj-ea"/>
                <a:cs typeface="+mj-cs"/>
              </a:rPr>
              <a:t> When interaction occurs</a:t>
            </a:r>
          </a:p>
          <a:p>
            <a:pPr marL="457200" lvl="1" indent="-457200" algn="just">
              <a:lnSpc>
                <a:spcPct val="50000"/>
              </a:lnSpc>
              <a:buFont typeface="Arial" panose="020B0604020202020204" pitchFamily="34" charset="0"/>
              <a:buChar char="o"/>
            </a:pPr>
            <a:endParaRPr lang="en-GB" dirty="0">
              <a:latin typeface="+mj-lt"/>
              <a:ea typeface="+mj-ea"/>
              <a:cs typeface="+mj-cs"/>
            </a:endParaRPr>
          </a:p>
          <a:p>
            <a:pPr lvl="1" algn="just">
              <a:buFont typeface="Courier New" panose="02070309020205020404" pitchFamily="49" charset="0"/>
              <a:buChar char="o"/>
            </a:pPr>
            <a:r>
              <a:rPr lang="en-GB" dirty="0">
                <a:latin typeface="+mj-lt"/>
                <a:ea typeface="+mj-ea"/>
                <a:cs typeface="+mj-cs"/>
              </a:rPr>
              <a:t>The dynamic properties of the environment are important.</a:t>
            </a:r>
          </a:p>
          <a:p>
            <a:pPr marL="0" lvl="1" indent="0" algn="just">
              <a:lnSpc>
                <a:spcPct val="50000"/>
              </a:lnSpc>
              <a:buFont typeface="Arial" panose="020B0604020202020204" pitchFamily="34" charset="0"/>
              <a:buNone/>
            </a:pPr>
            <a:endParaRPr lang="en-GB" dirty="0">
              <a:latin typeface="+mj-lt"/>
              <a:ea typeface="+mj-ea"/>
              <a:cs typeface="+mj-cs"/>
            </a:endParaRPr>
          </a:p>
          <a:p>
            <a:pPr lvl="1" algn="just">
              <a:buFont typeface="Courier New" panose="02070309020205020404" pitchFamily="49" charset="0"/>
              <a:buChar char="o"/>
            </a:pPr>
            <a:r>
              <a:rPr lang="en-GB" dirty="0">
                <a:latin typeface="+mj-lt"/>
                <a:ea typeface="+mj-ea"/>
                <a:cs typeface="+mj-cs"/>
              </a:rPr>
              <a:t>It can cause error on force or motion control.</a:t>
            </a:r>
          </a:p>
          <a:p>
            <a:pPr marL="0" lvl="1" indent="0" algn="just">
              <a:lnSpc>
                <a:spcPct val="50000"/>
              </a:lnSpc>
              <a:buFont typeface="Arial" panose="020B0604020202020204" pitchFamily="34" charset="0"/>
              <a:buNone/>
            </a:pPr>
            <a:endParaRPr lang="en-GB" dirty="0">
              <a:latin typeface="+mj-lt"/>
              <a:ea typeface="+mj-ea"/>
              <a:cs typeface="+mj-cs"/>
            </a:endParaRPr>
          </a:p>
          <a:p>
            <a:pPr lvl="1" algn="just">
              <a:buFont typeface="Courier New" panose="02070309020205020404" pitchFamily="49" charset="0"/>
              <a:buChar char="o"/>
            </a:pPr>
            <a:r>
              <a:rPr lang="en-GB" dirty="0">
                <a:latin typeface="+mj-lt"/>
                <a:ea typeface="+mj-ea"/>
                <a:cs typeface="+mj-cs"/>
              </a:rPr>
              <a:t>Stability may also be compromised.</a:t>
            </a:r>
          </a:p>
          <a:p>
            <a:pPr marL="0" lvl="1" indent="0" algn="just">
              <a:lnSpc>
                <a:spcPct val="50000"/>
              </a:lnSpc>
              <a:buFont typeface="Arial" panose="020B0604020202020204" pitchFamily="34" charset="0"/>
              <a:buNone/>
            </a:pPr>
            <a:endParaRPr lang="en-GB" dirty="0">
              <a:latin typeface="+mj-lt"/>
              <a:ea typeface="+mj-ea"/>
              <a:cs typeface="+mj-cs"/>
            </a:endParaRPr>
          </a:p>
          <a:p>
            <a:pPr lvl="1" algn="just">
              <a:buFont typeface="Courier New" panose="02070309020205020404" pitchFamily="49" charset="0"/>
              <a:buChar char="o"/>
            </a:pPr>
            <a:r>
              <a:rPr lang="en-GB" dirty="0">
                <a:latin typeface="+mj-lt"/>
                <a:ea typeface="+mj-ea"/>
                <a:cs typeface="+mj-cs"/>
              </a:rPr>
              <a:t>A system that is stable in isolation can become unstable</a:t>
            </a:r>
          </a:p>
          <a:p>
            <a:pPr marL="457200" lvl="1" indent="0" algn="just">
              <a:buNone/>
            </a:pPr>
            <a:r>
              <a:rPr lang="en-GB" dirty="0">
                <a:latin typeface="+mj-lt"/>
                <a:ea typeface="+mj-ea"/>
                <a:cs typeface="+mj-cs"/>
              </a:rPr>
              <a:t>   (coupled or contact instabilities)</a:t>
            </a:r>
          </a:p>
          <a:p>
            <a:pPr marL="457200" lvl="1" indent="0" algn="just">
              <a:lnSpc>
                <a:spcPct val="50000"/>
              </a:lnSpc>
              <a:buNone/>
            </a:pPr>
            <a:endParaRPr lang="en-GB" b="1" dirty="0">
              <a:latin typeface="+mj-lt"/>
              <a:ea typeface="+mj-ea"/>
              <a:cs typeface="+mj-cs"/>
            </a:endParaRPr>
          </a:p>
        </p:txBody>
      </p:sp>
      <p:sp>
        <p:nvSpPr>
          <p:cNvPr id="5" name="Title 1">
            <a:extLst>
              <a:ext uri="{FF2B5EF4-FFF2-40B4-BE49-F238E27FC236}">
                <a16:creationId xmlns:a16="http://schemas.microsoft.com/office/drawing/2014/main" id="{58688A75-7521-4C7C-B8A6-81FD41281CA2}"/>
              </a:ext>
            </a:extLst>
          </p:cNvPr>
          <p:cNvSpPr txBox="1">
            <a:spLocks/>
          </p:cNvSpPr>
          <p:nvPr/>
        </p:nvSpPr>
        <p:spPr>
          <a:xfrm>
            <a:off x="12192" y="0"/>
            <a:ext cx="11849100" cy="663547"/>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3200" b="1" dirty="0">
              <a:solidFill>
                <a:schemeClr val="accent5">
                  <a:lumMod val="75000"/>
                </a:schemeClr>
              </a:solidFill>
              <a:latin typeface="+mn-lt"/>
            </a:endParaRPr>
          </a:p>
          <a:p>
            <a:r>
              <a:rPr lang="en-GB" sz="28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The Effect of Interaction on Performance and Stability</a:t>
            </a:r>
          </a:p>
          <a:p>
            <a:endParaRPr lang="en-GB" sz="3200" b="1" dirty="0">
              <a:solidFill>
                <a:schemeClr val="accent5">
                  <a:lumMod val="75000"/>
                </a:schemeClr>
              </a:solidFill>
              <a:latin typeface="+mn-lt"/>
            </a:endParaRPr>
          </a:p>
        </p:txBody>
      </p:sp>
    </p:spTree>
    <p:extLst>
      <p:ext uri="{BB962C8B-B14F-4D97-AF65-F5344CB8AC3E}">
        <p14:creationId xmlns:p14="http://schemas.microsoft.com/office/powerpoint/2010/main" val="136218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6083808" cy="623087"/>
          </a:xfrm>
        </p:spPr>
        <p:txBody>
          <a:bodyPr>
            <a:normAutofit/>
          </a:bodyPr>
          <a:lstStyle/>
          <a:p>
            <a:pPr>
              <a:lnSpc>
                <a:spcPct val="70000"/>
              </a:lnSpc>
            </a:pPr>
            <a:r>
              <a:rPr lang="en-GB" sz="2800" b="1" dirty="0">
                <a:latin typeface="+mn-lt"/>
              </a:rPr>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Example1: Robot motion controller</a:t>
            </a:r>
          </a:p>
        </p:txBody>
      </p:sp>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12192000" cy="5801557"/>
          </a:xfrm>
        </p:spPr>
        <p:txBody>
          <a:bodyPr/>
          <a:lstStyle/>
          <a:p>
            <a:pPr marL="0" indent="0">
              <a:buNone/>
            </a:pPr>
            <a:r>
              <a:rPr lang="en-GB" dirty="0"/>
              <a:t> </a:t>
            </a:r>
          </a:p>
          <a:p>
            <a:pPr marL="0" indent="0">
              <a:buNone/>
            </a:pPr>
            <a:endParaRPr lang="en-GB" dirty="0"/>
          </a:p>
          <a:p>
            <a:pPr marL="0" indent="0">
              <a:buNone/>
            </a:pPr>
            <a:r>
              <a:rPr lang="en-GB" dirty="0"/>
              <a:t> </a:t>
            </a:r>
            <a:r>
              <a:rPr lang="en-GB" sz="2400" b="1" dirty="0"/>
              <a:t>M</a:t>
            </a:r>
            <a:r>
              <a:rPr lang="en-GB" sz="2400" dirty="0"/>
              <a:t>: </a:t>
            </a:r>
            <a:r>
              <a:rPr lang="en-GB" sz="2400" dirty="0">
                <a:latin typeface="+mj-lt"/>
                <a:ea typeface="+mj-ea"/>
                <a:cs typeface="+mj-cs"/>
              </a:rPr>
              <a:t>represents the robot’s inertial properties</a:t>
            </a:r>
          </a:p>
          <a:p>
            <a:pPr marL="0" indent="0">
              <a:lnSpc>
                <a:spcPct val="0"/>
              </a:lnSpc>
              <a:buNone/>
            </a:pPr>
            <a:endParaRPr lang="en-GB" sz="2600" dirty="0"/>
          </a:p>
          <a:p>
            <a:pPr marL="0" indent="0">
              <a:buNone/>
            </a:pPr>
            <a:r>
              <a:rPr lang="en-GB" sz="2400" b="1" dirty="0"/>
              <a:t> Fa: </a:t>
            </a:r>
            <a:r>
              <a:rPr lang="en-GB" sz="2400" dirty="0">
                <a:latin typeface="+mj-lt"/>
                <a:ea typeface="+mj-ea"/>
                <a:cs typeface="+mj-cs"/>
              </a:rPr>
              <a:t>actuator forces</a:t>
            </a:r>
          </a:p>
          <a:p>
            <a:pPr marL="0" indent="0">
              <a:lnSpc>
                <a:spcPct val="0"/>
              </a:lnSpc>
              <a:buNone/>
            </a:pPr>
            <a:endParaRPr lang="en-GB" sz="2600" dirty="0"/>
          </a:p>
          <a:p>
            <a:pPr marL="0" indent="0">
              <a:buNone/>
            </a:pPr>
            <a:r>
              <a:rPr lang="en-GB" sz="2400" b="1" dirty="0"/>
              <a:t> Fe: </a:t>
            </a:r>
            <a:r>
              <a:rPr lang="en-GB" sz="2400" dirty="0">
                <a:latin typeface="+mj-lt"/>
                <a:ea typeface="+mj-ea"/>
                <a:cs typeface="+mj-cs"/>
              </a:rPr>
              <a:t>environmental forces</a:t>
            </a:r>
          </a:p>
          <a:p>
            <a:pPr marL="0" indent="0">
              <a:lnSpc>
                <a:spcPct val="0"/>
              </a:lnSpc>
              <a:buNone/>
            </a:pPr>
            <a:endParaRPr lang="en-GB" sz="2600" dirty="0"/>
          </a:p>
          <a:p>
            <a:pPr marL="0" indent="0">
              <a:buNone/>
            </a:pPr>
            <a:r>
              <a:rPr lang="en-GB" sz="2600" b="1" dirty="0"/>
              <a:t> </a:t>
            </a:r>
            <a:r>
              <a:rPr lang="en-GB" sz="2400" b="1" dirty="0"/>
              <a:t>b: </a:t>
            </a:r>
            <a:r>
              <a:rPr lang="en-GB" sz="2400" dirty="0">
                <a:latin typeface="+mj-lt"/>
                <a:ea typeface="+mj-ea"/>
                <a:cs typeface="+mj-cs"/>
              </a:rPr>
              <a:t>a damper represents frictional losses</a:t>
            </a:r>
          </a:p>
          <a:p>
            <a:pPr marL="0" indent="0">
              <a:buNone/>
            </a:pPr>
            <a:endParaRPr lang="en-GB" dirty="0"/>
          </a:p>
          <a:p>
            <a:pPr marL="0" indent="0">
              <a:buNone/>
            </a:pPr>
            <a:endParaRPr lang="en-GB" dirty="0"/>
          </a:p>
        </p:txBody>
      </p:sp>
      <p:pic>
        <p:nvPicPr>
          <p:cNvPr id="6" name="Picture 5" descr="Diagram&#10;&#10;Description automatically generated">
            <a:extLst>
              <a:ext uri="{FF2B5EF4-FFF2-40B4-BE49-F238E27FC236}">
                <a16:creationId xmlns:a16="http://schemas.microsoft.com/office/drawing/2014/main" id="{482956C9-7E73-4DD8-9550-11EDF9C7C3C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48899"/>
          <a:stretch/>
        </p:blipFill>
        <p:spPr>
          <a:xfrm>
            <a:off x="7885473" y="2380417"/>
            <a:ext cx="3919480" cy="2097166"/>
          </a:xfrm>
          <a:prstGeom prst="rect">
            <a:avLst/>
          </a:prstGeom>
        </p:spPr>
      </p:pic>
      <p:sp>
        <p:nvSpPr>
          <p:cNvPr id="9" name="Rectangle 8">
            <a:extLst>
              <a:ext uri="{FF2B5EF4-FFF2-40B4-BE49-F238E27FC236}">
                <a16:creationId xmlns:a16="http://schemas.microsoft.com/office/drawing/2014/main" id="{F9831E57-FA1F-4EB3-BBBA-DAA2BC97AB07}"/>
              </a:ext>
            </a:extLst>
          </p:cNvPr>
          <p:cNvSpPr/>
          <p:nvPr/>
        </p:nvSpPr>
        <p:spPr>
          <a:xfrm>
            <a:off x="8031332" y="4605425"/>
            <a:ext cx="4080769" cy="923330"/>
          </a:xfrm>
          <a:prstGeom prst="rect">
            <a:avLst/>
          </a:prstGeom>
        </p:spPr>
        <p:txBody>
          <a:bodyPr wrap="square">
            <a:spAutoFit/>
          </a:bodyPr>
          <a:lstStyle/>
          <a:p>
            <a:pPr algn="ctr"/>
            <a:r>
              <a:rPr lang="en-GB" b="1" dirty="0">
                <a:solidFill>
                  <a:schemeClr val="accent2">
                    <a:lumMod val="75000"/>
                  </a:schemeClr>
                </a:solidFill>
                <a:latin typeface="+mj-lt"/>
                <a:ea typeface="+mj-ea"/>
                <a:cs typeface="+mj-cs"/>
              </a:rPr>
              <a:t>Simplified model of a robot with inertial, frictional, actuator, and environmental forces.</a:t>
            </a:r>
          </a:p>
        </p:txBody>
      </p:sp>
    </p:spTree>
    <p:extLst>
      <p:ext uri="{BB962C8B-B14F-4D97-AF65-F5344CB8AC3E}">
        <p14:creationId xmlns:p14="http://schemas.microsoft.com/office/powerpoint/2010/main" val="134493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6083808" cy="623087"/>
          </a:xfrm>
        </p:spPr>
        <p:txBody>
          <a:bodyPr>
            <a:normAutofit/>
          </a:bodyPr>
          <a:lstStyle/>
          <a:p>
            <a:pPr>
              <a:lnSpc>
                <a:spcPct val="70000"/>
              </a:lnSpc>
            </a:pPr>
            <a:r>
              <a:rPr lang="en-GB" sz="2800" b="1" dirty="0">
                <a:solidFill>
                  <a:schemeClr val="accent5">
                    <a:lumMod val="75000"/>
                  </a:schemeClr>
                </a:solidFill>
                <a:latin typeface="+mn-lt"/>
              </a:rPr>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Example1: Robot motion controller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12192000" cy="5801557"/>
              </a:xfrm>
            </p:spPr>
            <p:txBody>
              <a:bodyPr>
                <a:normAutofit/>
              </a:bodyPr>
              <a:lstStyle/>
              <a:p>
                <a:pPr marL="0" indent="0">
                  <a:buNone/>
                </a:pPr>
                <a:r>
                  <a:rPr lang="en-GB" dirty="0"/>
                  <a:t> </a:t>
                </a:r>
              </a:p>
              <a:p>
                <a:pPr marL="0" indent="0">
                  <a:buNone/>
                </a:pPr>
                <a:r>
                  <a:rPr lang="en-GB" sz="2400" dirty="0">
                    <a:latin typeface="+mj-lt"/>
                    <a:ea typeface="+mj-ea"/>
                    <a:cs typeface="+mj-cs"/>
                  </a:rPr>
                  <a:t> Newton's laws of motion</a:t>
                </a:r>
              </a:p>
              <a:p>
                <a:pPr marL="0" indent="0">
                  <a:lnSpc>
                    <a:spcPct val="50000"/>
                  </a:lnSpc>
                  <a:buNone/>
                </a:pPr>
                <a:endParaRPr lang="en-GB" b="0" i="0" dirty="0">
                  <a:latin typeface="Cambria Math" panose="02040503050406030204" pitchFamily="18" charset="0"/>
                </a:endParaRPr>
              </a:p>
              <a:p>
                <a:pPr marL="0" indent="0">
                  <a:buNone/>
                </a:pPr>
                <a:r>
                  <a:rPr lang="en-GB" b="0" i="0" dirty="0">
                    <a:latin typeface="Cambria Math" panose="02040503050406030204" pitchFamily="18" charset="0"/>
                  </a:rPr>
                  <a:t>      </a:t>
                </a:r>
                <a14:m>
                  <m:oMath xmlns:m="http://schemas.openxmlformats.org/officeDocument/2006/math">
                    <m:r>
                      <a:rPr lang="en-GB" sz="2400">
                        <a:latin typeface="Cambria Math" panose="02040503050406030204" pitchFamily="18" charset="0"/>
                      </a:rPr>
                      <m:t>𝑀</m:t>
                    </m:r>
                    <m:acc>
                      <m:accPr>
                        <m:chr m:val="̈"/>
                        <m:ctrlPr>
                          <a:rPr lang="en-GB" sz="2400" i="1">
                            <a:latin typeface="Cambria Math" panose="02040503050406030204" pitchFamily="18" charset="0"/>
                          </a:rPr>
                        </m:ctrlPr>
                      </m:accPr>
                      <m:e>
                        <m:r>
                          <a:rPr lang="en-GB" sz="2400">
                            <a:latin typeface="Cambria Math" panose="02040503050406030204" pitchFamily="18" charset="0"/>
                          </a:rPr>
                          <m:t>𝑋</m:t>
                        </m:r>
                      </m:e>
                    </m:acc>
                    <m:r>
                      <a:rPr lang="en-GB" sz="2400">
                        <a:latin typeface="Cambria Math" panose="02040503050406030204" pitchFamily="18" charset="0"/>
                      </a:rPr>
                      <m:t>+</m:t>
                    </m:r>
                    <m:r>
                      <a:rPr lang="en-GB" sz="2400">
                        <a:latin typeface="Cambria Math" panose="02040503050406030204" pitchFamily="18" charset="0"/>
                      </a:rPr>
                      <m:t>𝑏</m:t>
                    </m:r>
                    <m:acc>
                      <m:accPr>
                        <m:chr m:val="̇"/>
                        <m:ctrlPr>
                          <a:rPr lang="en-GB" sz="2400" i="1">
                            <a:latin typeface="Cambria Math" panose="02040503050406030204" pitchFamily="18" charset="0"/>
                          </a:rPr>
                        </m:ctrlPr>
                      </m:accPr>
                      <m:e>
                        <m:r>
                          <a:rPr lang="en-GB" sz="2400">
                            <a:latin typeface="Cambria Math" panose="02040503050406030204" pitchFamily="18" charset="0"/>
                          </a:rPr>
                          <m:t>𝑋</m:t>
                        </m:r>
                      </m:e>
                    </m:acc>
                    <m:r>
                      <a:rPr lang="en-GB" sz="2400">
                        <a:latin typeface="Cambria Math" panose="02040503050406030204" pitchFamily="18" charset="0"/>
                      </a:rPr>
                      <m:t>=</m:t>
                    </m:r>
                    <m:sSub>
                      <m:sSubPr>
                        <m:ctrlPr>
                          <a:rPr lang="en-GB" sz="2400" i="1">
                            <a:latin typeface="Cambria Math" panose="02040503050406030204" pitchFamily="18" charset="0"/>
                          </a:rPr>
                        </m:ctrlPr>
                      </m:sSubPr>
                      <m:e>
                        <m:r>
                          <a:rPr lang="en-GB" sz="2400">
                            <a:latin typeface="Cambria Math" panose="02040503050406030204" pitchFamily="18" charset="0"/>
                          </a:rPr>
                          <m:t>𝐹</m:t>
                        </m:r>
                      </m:e>
                      <m:sub>
                        <m:r>
                          <a:rPr lang="en-GB" sz="2400">
                            <a:latin typeface="Cambria Math" panose="02040503050406030204" pitchFamily="18" charset="0"/>
                          </a:rPr>
                          <m:t>𝑎</m:t>
                        </m:r>
                      </m:sub>
                    </m:sSub>
                    <m:r>
                      <a:rPr lang="en-GB" sz="2400">
                        <a:latin typeface="Cambria Math" panose="02040503050406030204" pitchFamily="18" charset="0"/>
                      </a:rPr>
                      <m:t>+</m:t>
                    </m:r>
                    <m:sSub>
                      <m:sSubPr>
                        <m:ctrlPr>
                          <a:rPr lang="en-GB" sz="2400" i="1">
                            <a:latin typeface="Cambria Math" panose="02040503050406030204" pitchFamily="18" charset="0"/>
                          </a:rPr>
                        </m:ctrlPr>
                      </m:sSubPr>
                      <m:e>
                        <m:r>
                          <a:rPr lang="en-GB" sz="2400">
                            <a:latin typeface="Cambria Math" panose="02040503050406030204" pitchFamily="18" charset="0"/>
                          </a:rPr>
                          <m:t>𝐹</m:t>
                        </m:r>
                      </m:e>
                      <m:sub>
                        <m:r>
                          <a:rPr lang="en-GB" sz="2400">
                            <a:latin typeface="Cambria Math" panose="02040503050406030204" pitchFamily="18" charset="0"/>
                          </a:rPr>
                          <m:t>𝑒</m:t>
                        </m:r>
                      </m:sub>
                    </m:sSub>
                  </m:oMath>
                </a14:m>
                <a:r>
                  <a:rPr lang="en-GB" sz="2400" dirty="0"/>
                  <a:t>                           </a:t>
                </a:r>
                <a:r>
                  <a:rPr lang="en-GB" sz="2400" dirty="0">
                    <a:latin typeface="+mj-lt"/>
                    <a:ea typeface="+mj-ea"/>
                    <a:cs typeface="+mj-cs"/>
                  </a:rPr>
                  <a:t>(1)</a:t>
                </a:r>
              </a:p>
              <a:p>
                <a:pPr marL="0" indent="0">
                  <a:buNone/>
                </a:pPr>
                <a:endParaRPr lang="en-GB" b="0" i="0" dirty="0">
                  <a:latin typeface="Cambria Math" panose="02040503050406030204" pitchFamily="18" charset="0"/>
                </a:endParaRPr>
              </a:p>
              <a:p>
                <a:pPr marL="0" indent="0">
                  <a:buNone/>
                </a:pPr>
                <a:r>
                  <a:rPr lang="en-GB" sz="2400" dirty="0">
                    <a:latin typeface="+mj-lt"/>
                    <a:ea typeface="+mj-ea"/>
                    <a:cs typeface="+mj-cs"/>
                  </a:rPr>
                  <a:t> The Laplace-transformed equation of motion</a:t>
                </a:r>
              </a:p>
              <a:p>
                <a:pPr marL="0" indent="0">
                  <a:buNone/>
                </a:pPr>
                <a:endParaRPr lang="en-GB" sz="2400" dirty="0">
                  <a:latin typeface="+mj-lt"/>
                  <a:ea typeface="+mj-ea"/>
                  <a:cs typeface="+mj-cs"/>
                </a:endParaRPr>
              </a:p>
              <a:p>
                <a:pPr marL="0" indent="0">
                  <a:buNone/>
                </a:pPr>
                <a14:m>
                  <m:oMath xmlns:m="http://schemas.openxmlformats.org/officeDocument/2006/math">
                    <m:r>
                      <a:rPr lang="en-GB" sz="2400" i="1">
                        <a:latin typeface="Cambria Math" panose="02040503050406030204" pitchFamily="18" charset="0"/>
                      </a:rPr>
                      <m:t>     (</m:t>
                    </m:r>
                    <m:r>
                      <a:rPr lang="en-GB" sz="2400" i="1">
                        <a:latin typeface="Cambria Math" panose="02040503050406030204" pitchFamily="18" charset="0"/>
                      </a:rPr>
                      <m:t>𝑀</m:t>
                    </m:r>
                    <m:sSup>
                      <m:sSupPr>
                        <m:ctrlPr>
                          <a:rPr lang="en-GB" sz="2400" i="1">
                            <a:latin typeface="Cambria Math" panose="02040503050406030204" pitchFamily="18" charset="0"/>
                          </a:rPr>
                        </m:ctrlPr>
                      </m:sSupPr>
                      <m:e>
                        <m:r>
                          <a:rPr lang="en-GB" sz="2400" i="1">
                            <a:latin typeface="Cambria Math" panose="02040503050406030204" pitchFamily="18" charset="0"/>
                          </a:rPr>
                          <m:t>𝑆</m:t>
                        </m:r>
                      </m:e>
                      <m:sup>
                        <m:r>
                          <a:rPr lang="en-GB" sz="2400" i="1">
                            <a:latin typeface="Cambria Math" panose="02040503050406030204" pitchFamily="18" charset="0"/>
                          </a:rPr>
                          <m:t>2</m:t>
                        </m:r>
                      </m:sup>
                    </m:sSup>
                    <m:r>
                      <a:rPr lang="en-GB" sz="2400" i="1">
                        <a:latin typeface="Cambria Math" panose="02040503050406030204" pitchFamily="18" charset="0"/>
                      </a:rPr>
                      <m:t>+</m:t>
                    </m:r>
                    <m:r>
                      <a:rPr lang="en-GB" sz="2400" i="1">
                        <a:latin typeface="Cambria Math" panose="02040503050406030204" pitchFamily="18" charset="0"/>
                      </a:rPr>
                      <m:t>𝑏𝑆</m:t>
                    </m:r>
                  </m:oMath>
                </a14:m>
                <a:r>
                  <a:rPr lang="en-GB" sz="2400" i="1" dirty="0">
                    <a:latin typeface="Cambria Math" panose="02040503050406030204" pitchFamily="18" charset="0"/>
                  </a:rPr>
                  <a:t>)X =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𝐹</m:t>
                        </m:r>
                      </m:e>
                      <m:sub>
                        <m:r>
                          <a:rPr lang="en-GB" sz="2400" i="1">
                            <a:latin typeface="Cambria Math" panose="02040503050406030204" pitchFamily="18" charset="0"/>
                          </a:rPr>
                          <m:t>𝑎</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𝐹</m:t>
                        </m:r>
                      </m:e>
                      <m:sub>
                        <m:r>
                          <a:rPr lang="en-GB" sz="2400" i="1">
                            <a:latin typeface="Cambria Math" panose="02040503050406030204" pitchFamily="18" charset="0"/>
                          </a:rPr>
                          <m:t>𝑒</m:t>
                        </m:r>
                      </m:sub>
                    </m:sSub>
                  </m:oMath>
                </a14:m>
                <a:r>
                  <a:rPr lang="en-GB" i="1" dirty="0">
                    <a:latin typeface="Cambria Math" panose="02040503050406030204" pitchFamily="18" charset="0"/>
                  </a:rPr>
                  <a:t>                    </a:t>
                </a:r>
                <a:r>
                  <a:rPr lang="en-GB" sz="2400" dirty="0">
                    <a:latin typeface="+mj-lt"/>
                    <a:ea typeface="+mj-ea"/>
                    <a:cs typeface="+mj-cs"/>
                  </a:rPr>
                  <a:t>(2)</a:t>
                </a:r>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265FADF4-69FB-490C-A49E-C26592E91D0F}"/>
                  </a:ext>
                </a:extLst>
              </p:cNvPr>
              <p:cNvSpPr>
                <a:spLocks noGrp="1" noRot="1" noChangeAspect="1" noMove="1" noResize="1" noEditPoints="1" noAdjustHandles="1" noChangeArrowheads="1" noChangeShapeType="1" noTextEdit="1"/>
              </p:cNvSpPr>
              <p:nvPr>
                <p:ph idx="1"/>
              </p:nvPr>
            </p:nvSpPr>
            <p:spPr>
              <a:xfrm>
                <a:off x="0" y="1056442"/>
                <a:ext cx="12192000" cy="5801557"/>
              </a:xfrm>
              <a:blipFill>
                <a:blip r:embed="rId2"/>
                <a:stretch>
                  <a:fillRect l="-200"/>
                </a:stretch>
              </a:blipFill>
            </p:spPr>
            <p:txBody>
              <a:bodyPr/>
              <a:lstStyle/>
              <a:p>
                <a:r>
                  <a:rPr lang="en-GB">
                    <a:noFill/>
                  </a:rPr>
                  <a:t> </a:t>
                </a:r>
              </a:p>
            </p:txBody>
          </p:sp>
        </mc:Fallback>
      </mc:AlternateContent>
      <p:pic>
        <p:nvPicPr>
          <p:cNvPr id="6" name="Picture 5" descr="Diagram&#10;&#10;Description automatically generated">
            <a:extLst>
              <a:ext uri="{FF2B5EF4-FFF2-40B4-BE49-F238E27FC236}">
                <a16:creationId xmlns:a16="http://schemas.microsoft.com/office/drawing/2014/main" id="{482956C9-7E73-4DD8-9550-11EDF9C7C3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81287" y="1542679"/>
            <a:ext cx="3919480" cy="4104000"/>
          </a:xfrm>
          <a:prstGeom prst="rect">
            <a:avLst/>
          </a:prstGeom>
        </p:spPr>
      </p:pic>
    </p:spTree>
    <p:extLst>
      <p:ext uri="{BB962C8B-B14F-4D97-AF65-F5344CB8AC3E}">
        <p14:creationId xmlns:p14="http://schemas.microsoft.com/office/powerpoint/2010/main" val="60806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barn(inVertical)">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4">
                                            <p:txEl>
                                              <p:pRg st="7" end="7"/>
                                            </p:txEl>
                                          </p:spTgt>
                                        </p:tgtEl>
                                        <p:attrNameLst>
                                          <p:attrName>style.visibility</p:attrName>
                                        </p:attrNameLst>
                                      </p:cBhvr>
                                      <p:to>
                                        <p:strVal val="visible"/>
                                      </p:to>
                                    </p:set>
                                    <p:animEffect transition="in" filter="fade">
                                      <p:cBhvr>
                                        <p:cTn id="16" dur="1000"/>
                                        <p:tgtEl>
                                          <p:spTgt spid="4">
                                            <p:txEl>
                                              <p:pRg st="7" end="7"/>
                                            </p:txEl>
                                          </p:spTgt>
                                        </p:tgtEl>
                                      </p:cBhvr>
                                    </p:animEffect>
                                    <p:anim calcmode="lin" valueType="num">
                                      <p:cBhvr>
                                        <p:cTn id="1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6083808" cy="582627"/>
          </a:xfrm>
        </p:spPr>
        <p:txBody>
          <a:bodyPr>
            <a:normAutofit/>
          </a:bodyPr>
          <a:lstStyle/>
          <a:p>
            <a:r>
              <a:rPr lang="en-GB" sz="2800" b="1" dirty="0">
                <a:solidFill>
                  <a:schemeClr val="accent5">
                    <a:lumMod val="75000"/>
                  </a:schemeClr>
                </a:solidFill>
                <a:latin typeface="+mn-lt"/>
              </a:rPr>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Example1: Robot motion controller</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12192000" cy="5801557"/>
              </a:xfrm>
            </p:spPr>
            <p:txBody>
              <a:bodyPr>
                <a:normAutofit/>
              </a:bodyPr>
              <a:lstStyle/>
              <a:p>
                <a:pPr marL="0" indent="0">
                  <a:buNone/>
                </a:pPr>
                <a:r>
                  <a:rPr lang="en-GB" dirty="0"/>
                  <a:t> </a:t>
                </a:r>
                <a:endParaRPr lang="en-GB" i="1" dirty="0">
                  <a:latin typeface="Cambria Math" panose="02040503050406030204" pitchFamily="18" charset="0"/>
                </a:endParaRPr>
              </a:p>
              <a:p>
                <a:pPr marL="0" indent="0">
                  <a:buNone/>
                </a:pPr>
                <a:r>
                  <a:rPr lang="en-GB" sz="2400" dirty="0">
                    <a:latin typeface="+mj-lt"/>
                    <a:ea typeface="+mj-ea"/>
                    <a:cs typeface="+mj-cs"/>
                  </a:rPr>
                  <a:t> A proportional-integral motion controller is applied</a:t>
                </a:r>
              </a:p>
              <a:p>
                <a:pPr marL="0" indent="0">
                  <a:lnSpc>
                    <a:spcPct val="0"/>
                  </a:lnSpc>
                  <a:buNone/>
                </a:pPr>
                <a:endParaRPr lang="en-GB" dirty="0"/>
              </a:p>
              <a:p>
                <a:pPr marL="0" indent="0">
                  <a:lnSpc>
                    <a:spcPct val="0"/>
                  </a:lnSpc>
                  <a:buNone/>
                </a:pPr>
                <a:endParaRPr lang="en-GB" dirty="0"/>
              </a:p>
              <a:p>
                <a:pPr marL="0" indent="0">
                  <a:buNone/>
                </a:pPr>
                <a:r>
                  <a:rPr lang="en-GB" dirty="0"/>
                  <a:t> </a:t>
                </a:r>
                <a14:m>
                  <m:oMath xmlns:m="http://schemas.openxmlformats.org/officeDocument/2006/math">
                    <m:r>
                      <a:rPr lang="en-GB" sz="2400" b="0" i="0" smtClean="0">
                        <a:latin typeface="Cambria Math" panose="02040503050406030204" pitchFamily="18" charset="0"/>
                      </a:rPr>
                      <m:t>      </m:t>
                    </m:r>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𝐹</m:t>
                        </m:r>
                      </m:e>
                      <m:sub>
                        <m:r>
                          <a:rPr lang="en-GB" sz="2400" b="0" i="1" smtClean="0">
                            <a:latin typeface="Cambria Math" panose="02040503050406030204" pitchFamily="18" charset="0"/>
                          </a:rPr>
                          <m:t>𝑎</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𝐾</m:t>
                        </m:r>
                      </m:e>
                      <m:sub>
                        <m:r>
                          <a:rPr lang="en-GB" sz="2400" b="0" i="1" smtClean="0">
                            <a:latin typeface="Cambria Math" panose="02040503050406030204" pitchFamily="18" charset="0"/>
                          </a:rPr>
                          <m:t>𝑝</m:t>
                        </m:r>
                      </m:sub>
                    </m:sSub>
                    <m:d>
                      <m:dPr>
                        <m:ctrlPr>
                          <a:rPr lang="en-GB" sz="2400" b="0" i="1" smtClean="0">
                            <a:latin typeface="Cambria Math" panose="02040503050406030204" pitchFamily="18" charset="0"/>
                          </a:rPr>
                        </m:ctrlPr>
                      </m:dPr>
                      <m:e>
                        <m:r>
                          <a:rPr lang="en-US" sz="2400" b="0" i="1" smtClean="0">
                            <a:latin typeface="Cambria Math" panose="02040503050406030204" pitchFamily="18" charset="0"/>
                          </a:rPr>
                          <m:t>𝑋𝑑</m:t>
                        </m:r>
                        <m:r>
                          <a:rPr lang="en-GB" sz="2400" b="0" i="1" smtClean="0">
                            <a:latin typeface="Cambria Math" panose="02040503050406030204" pitchFamily="18" charset="0"/>
                          </a:rPr>
                          <m:t>−</m:t>
                        </m:r>
                        <m:r>
                          <a:rPr lang="en-GB" sz="2400" b="0" i="1" smtClean="0">
                            <a:latin typeface="Cambria Math" panose="02040503050406030204" pitchFamily="18" charset="0"/>
                          </a:rPr>
                          <m:t>𝑋</m:t>
                        </m:r>
                      </m:e>
                    </m:d>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𝐾</m:t>
                            </m:r>
                          </m:e>
                          <m:sub>
                            <m:r>
                              <a:rPr lang="en-GB" sz="2400" b="0" i="1" smtClean="0">
                                <a:latin typeface="Cambria Math" panose="02040503050406030204" pitchFamily="18" charset="0"/>
                              </a:rPr>
                              <m:t>𝐼</m:t>
                            </m:r>
                          </m:sub>
                        </m:sSub>
                      </m:num>
                      <m:den>
                        <m:r>
                          <a:rPr lang="en-GB" sz="2400" b="0" i="1" smtClean="0">
                            <a:latin typeface="Cambria Math" panose="02040503050406030204" pitchFamily="18" charset="0"/>
                          </a:rPr>
                          <m:t>𝑆</m:t>
                        </m:r>
                      </m:den>
                    </m:f>
                    <m:r>
                      <a:rPr lang="en-GB" sz="2400" b="0" i="1" smtClean="0">
                        <a:latin typeface="Cambria Math" panose="02040503050406030204" pitchFamily="18" charset="0"/>
                      </a:rPr>
                      <m:t>(</m:t>
                    </m:r>
                    <m:r>
                      <a:rPr lang="en-US" sz="2400" b="0" i="1" smtClean="0">
                        <a:latin typeface="Cambria Math" panose="02040503050406030204" pitchFamily="18" charset="0"/>
                      </a:rPr>
                      <m:t>𝑋𝑑</m:t>
                    </m:r>
                    <m:r>
                      <a:rPr lang="en-GB" sz="2400" b="0" i="1" smtClean="0">
                        <a:latin typeface="Cambria Math" panose="02040503050406030204" pitchFamily="18" charset="0"/>
                      </a:rPr>
                      <m:t>−</m:t>
                    </m:r>
                    <m:r>
                      <a:rPr lang="en-GB" sz="2400" b="0" i="1" smtClean="0">
                        <a:latin typeface="Cambria Math" panose="02040503050406030204" pitchFamily="18" charset="0"/>
                      </a:rPr>
                      <m:t>𝑋</m:t>
                    </m:r>
                    <m:r>
                      <a:rPr lang="en-GB" sz="2400" b="0" i="1" smtClean="0">
                        <a:latin typeface="Cambria Math" panose="02040503050406030204" pitchFamily="18" charset="0"/>
                      </a:rPr>
                      <m:t>)</m:t>
                    </m:r>
                  </m:oMath>
                </a14:m>
                <a:r>
                  <a:rPr lang="en-GB" sz="2400" dirty="0">
                    <a:latin typeface="Aharoni" panose="02010803020104030203" pitchFamily="2" charset="-79"/>
                    <a:cs typeface="Aharoni" panose="02010803020104030203" pitchFamily="2" charset="-79"/>
                  </a:rPr>
                  <a:t>          </a:t>
                </a:r>
                <a:r>
                  <a:rPr lang="en-GB" sz="2400" dirty="0">
                    <a:latin typeface="+mj-lt"/>
                    <a:ea typeface="+mj-ea"/>
                    <a:cs typeface="+mj-cs"/>
                  </a:rPr>
                  <a:t>(3)</a:t>
                </a:r>
              </a:p>
              <a:p>
                <a:pPr marL="0" indent="0">
                  <a:buNone/>
                </a:pPr>
                <a:endParaRPr lang="en-GB" dirty="0"/>
              </a:p>
              <a:p>
                <a:pPr marL="0" indent="0">
                  <a:buNone/>
                </a:pPr>
                <a:r>
                  <a:rPr lang="en-GB" sz="2400" b="1" dirty="0"/>
                  <a:t> R: </a:t>
                </a:r>
                <a:r>
                  <a:rPr lang="en-GB" sz="2400" dirty="0">
                    <a:latin typeface="+mj-lt"/>
                    <a:ea typeface="+mj-ea"/>
                    <a:cs typeface="+mj-cs"/>
                  </a:rPr>
                  <a:t>Laplace transform of the reference position</a:t>
                </a:r>
              </a:p>
              <a:p>
                <a:pPr marL="0" indent="0">
                  <a:buNone/>
                </a:pPr>
                <a:r>
                  <a:rPr lang="en-GB" sz="2400" b="1" dirty="0"/>
                  <a:t> </a:t>
                </a:r>
                <a:r>
                  <a:rPr lang="en-GB" sz="2400" b="1" dirty="0" err="1"/>
                  <a:t>Kp</a:t>
                </a:r>
                <a:r>
                  <a:rPr lang="en-GB" sz="2400" b="1" dirty="0"/>
                  <a:t>: </a:t>
                </a:r>
                <a:r>
                  <a:rPr lang="en-GB" sz="2400" dirty="0">
                    <a:latin typeface="+mj-lt"/>
                    <a:ea typeface="+mj-ea"/>
                    <a:cs typeface="+mj-cs"/>
                  </a:rPr>
                  <a:t>Proportional gain</a:t>
                </a:r>
              </a:p>
              <a:p>
                <a:pPr marL="0" indent="0">
                  <a:buNone/>
                </a:pPr>
                <a:r>
                  <a:rPr lang="en-GB" sz="2400" b="1" dirty="0"/>
                  <a:t> KI: </a:t>
                </a:r>
                <a:r>
                  <a:rPr lang="en-GB" sz="2400" dirty="0">
                    <a:latin typeface="+mj-lt"/>
                    <a:ea typeface="+mj-ea"/>
                    <a:cs typeface="+mj-cs"/>
                  </a:rPr>
                  <a:t>Integral gain</a:t>
                </a:r>
              </a:p>
              <a:p>
                <a:pPr marL="0" indent="0">
                  <a:buNone/>
                </a:pPr>
                <a:endParaRPr lang="en-GB" dirty="0"/>
              </a:p>
              <a:p>
                <a:pPr marL="0" indent="0">
                  <a:buNone/>
                </a:pPr>
                <a:endParaRPr lang="en-GB" dirty="0">
                  <a:latin typeface="Aharoni" panose="02010803020104030203" pitchFamily="2" charset="-79"/>
                  <a:cs typeface="Aharoni" panose="02010803020104030203" pitchFamily="2" charset="-79"/>
                </a:endParaRPr>
              </a:p>
              <a:p>
                <a:pPr marL="0" indent="0">
                  <a:buNone/>
                </a:pPr>
                <a:r>
                  <a:rPr lang="en-GB" dirty="0"/>
                  <a:t>       </a:t>
                </a:r>
              </a:p>
            </p:txBody>
          </p:sp>
        </mc:Choice>
        <mc:Fallback>
          <p:sp>
            <p:nvSpPr>
              <p:cNvPr id="4" name="Content Placeholder 3">
                <a:extLst>
                  <a:ext uri="{FF2B5EF4-FFF2-40B4-BE49-F238E27FC236}">
                    <a16:creationId xmlns:a16="http://schemas.microsoft.com/office/drawing/2014/main" id="{265FADF4-69FB-490C-A49E-C26592E91D0F}"/>
                  </a:ext>
                </a:extLst>
              </p:cNvPr>
              <p:cNvSpPr>
                <a:spLocks noGrp="1" noRot="1" noChangeAspect="1" noMove="1" noResize="1" noEditPoints="1" noAdjustHandles="1" noChangeArrowheads="1" noChangeShapeType="1" noTextEdit="1"/>
              </p:cNvSpPr>
              <p:nvPr>
                <p:ph idx="1"/>
              </p:nvPr>
            </p:nvSpPr>
            <p:spPr>
              <a:xfrm>
                <a:off x="0" y="1056442"/>
                <a:ext cx="12192000" cy="5801557"/>
              </a:xfrm>
              <a:blipFill>
                <a:blip r:embed="rId2"/>
                <a:stretch>
                  <a:fillRect l="-200"/>
                </a:stretch>
              </a:blipFill>
            </p:spPr>
            <p:txBody>
              <a:bodyPr/>
              <a:lstStyle/>
              <a:p>
                <a:r>
                  <a:rPr lang="en-GB">
                    <a:noFill/>
                  </a:rPr>
                  <a:t> </a:t>
                </a:r>
              </a:p>
            </p:txBody>
          </p:sp>
        </mc:Fallback>
      </mc:AlternateContent>
      <p:pic>
        <p:nvPicPr>
          <p:cNvPr id="6" name="Picture 5" descr="Diagram&#10;&#10;Description automatically generated">
            <a:extLst>
              <a:ext uri="{FF2B5EF4-FFF2-40B4-BE49-F238E27FC236}">
                <a16:creationId xmlns:a16="http://schemas.microsoft.com/office/drawing/2014/main" id="{482956C9-7E73-4DD8-9550-11EDF9C7C3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81287" y="1542679"/>
            <a:ext cx="3919480" cy="4104000"/>
          </a:xfrm>
          <a:prstGeom prst="rect">
            <a:avLst/>
          </a:prstGeom>
        </p:spPr>
      </p:pic>
    </p:spTree>
    <p:extLst>
      <p:ext uri="{BB962C8B-B14F-4D97-AF65-F5344CB8AC3E}">
        <p14:creationId xmlns:p14="http://schemas.microsoft.com/office/powerpoint/2010/main" val="2251437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6083808" cy="550258"/>
          </a:xfrm>
        </p:spPr>
        <p:txBody>
          <a:bodyPr>
            <a:normAutofit/>
          </a:body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Robot in isolation</a:t>
            </a:r>
          </a:p>
        </p:txBody>
      </p:sp>
      <p:pic>
        <p:nvPicPr>
          <p:cNvPr id="7" name="Picture 6" descr="Diagram&#10;&#10;Description automatically generated">
            <a:extLst>
              <a:ext uri="{FF2B5EF4-FFF2-40B4-BE49-F238E27FC236}">
                <a16:creationId xmlns:a16="http://schemas.microsoft.com/office/drawing/2014/main" id="{22F82D6D-B813-4ACB-906F-099837181F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31813" y="1977220"/>
            <a:ext cx="4103636" cy="1980000"/>
          </a:xfrm>
          <a:prstGeom prst="rect">
            <a:avLst/>
          </a:prstGeom>
        </p:spPr>
      </p:pic>
      <p:sp>
        <p:nvSpPr>
          <p:cNvPr id="3" name="Rectangle 2">
            <a:extLst>
              <a:ext uri="{FF2B5EF4-FFF2-40B4-BE49-F238E27FC236}">
                <a16:creationId xmlns:a16="http://schemas.microsoft.com/office/drawing/2014/main" id="{DD3AC72C-E546-4928-B162-CB8B7F7BC7C8}"/>
              </a:ext>
            </a:extLst>
          </p:cNvPr>
          <p:cNvSpPr/>
          <p:nvPr/>
        </p:nvSpPr>
        <p:spPr>
          <a:xfrm>
            <a:off x="8019715" y="4238444"/>
            <a:ext cx="4172285" cy="923330"/>
          </a:xfrm>
          <a:prstGeom prst="rect">
            <a:avLst/>
          </a:prstGeom>
        </p:spPr>
        <p:txBody>
          <a:bodyPr wrap="square">
            <a:spAutoFit/>
          </a:bodyPr>
          <a:lstStyle/>
          <a:p>
            <a:pPr algn="ctr"/>
            <a:r>
              <a:rPr lang="en-GB" b="1" dirty="0">
                <a:solidFill>
                  <a:schemeClr val="accent2">
                    <a:lumMod val="75000"/>
                  </a:schemeClr>
                </a:solidFill>
                <a:latin typeface="+mj-lt"/>
                <a:ea typeface="+mj-ea"/>
                <a:cs typeface="+mj-cs"/>
              </a:rPr>
              <a:t>Simplified model of a robot with inertial, frictional, actuator, and environmental forces in isolation</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D5DE471-6DE0-49AA-83EB-3D2AC221D76B}"/>
                  </a:ext>
                </a:extLst>
              </p:cNvPr>
              <p:cNvSpPr/>
              <p:nvPr/>
            </p:nvSpPr>
            <p:spPr>
              <a:xfrm>
                <a:off x="1574588" y="4922050"/>
                <a:ext cx="1479508" cy="7911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𝐾</m:t>
                          </m:r>
                        </m:e>
                        <m:sub>
                          <m:r>
                            <a:rPr lang="en-GB" sz="2400" i="1">
                              <a:latin typeface="Cambria Math" panose="02040503050406030204" pitchFamily="18" charset="0"/>
                            </a:rPr>
                            <m:t>𝐼</m:t>
                          </m:r>
                        </m:sub>
                      </m:sSub>
                      <m:r>
                        <a:rPr lang="en-GB" sz="2400" i="1">
                          <a:latin typeface="Cambria Math" panose="02040503050406030204" pitchFamily="18" charset="0"/>
                        </a:rPr>
                        <m:t>&lt;</m:t>
                      </m:r>
                      <m:f>
                        <m:fPr>
                          <m:ctrlPr>
                            <a:rPr lang="en-GB" sz="2400" i="1">
                              <a:latin typeface="Cambria Math" panose="02040503050406030204" pitchFamily="18" charset="0"/>
                            </a:rPr>
                          </m:ctrlPr>
                        </m:fPr>
                        <m:num>
                          <m:r>
                            <a:rPr lang="en-GB" sz="2400" i="1">
                              <a:latin typeface="Cambria Math" panose="02040503050406030204" pitchFamily="18" charset="0"/>
                            </a:rPr>
                            <m:t>𝑏</m:t>
                          </m:r>
                          <m:sSub>
                            <m:sSubPr>
                              <m:ctrlPr>
                                <a:rPr lang="en-GB" sz="2400" i="1">
                                  <a:latin typeface="Cambria Math" panose="02040503050406030204" pitchFamily="18" charset="0"/>
                                </a:rPr>
                              </m:ctrlPr>
                            </m:sSubPr>
                            <m:e>
                              <m:r>
                                <a:rPr lang="en-GB" sz="2400" i="1">
                                  <a:latin typeface="Cambria Math" panose="02040503050406030204" pitchFamily="18" charset="0"/>
                                </a:rPr>
                                <m:t>𝐾</m:t>
                              </m:r>
                            </m:e>
                            <m:sub>
                              <m:r>
                                <a:rPr lang="en-GB" sz="2400" i="1">
                                  <a:latin typeface="Cambria Math" panose="02040503050406030204" pitchFamily="18" charset="0"/>
                                </a:rPr>
                                <m:t>𝑃</m:t>
                              </m:r>
                            </m:sub>
                          </m:sSub>
                        </m:num>
                        <m:den>
                          <m:r>
                            <a:rPr lang="en-GB" sz="2400" i="1">
                              <a:latin typeface="Cambria Math" panose="02040503050406030204" pitchFamily="18" charset="0"/>
                            </a:rPr>
                            <m:t>𝑀</m:t>
                          </m:r>
                        </m:den>
                      </m:f>
                    </m:oMath>
                  </m:oMathPara>
                </a14:m>
                <a:endParaRPr lang="en-GB" sz="2400" i="1" dirty="0">
                  <a:latin typeface="Cambria Math" panose="02040503050406030204" pitchFamily="18" charset="0"/>
                </a:endParaRPr>
              </a:p>
            </p:txBody>
          </p:sp>
        </mc:Choice>
        <mc:Fallback xmlns="">
          <p:sp>
            <p:nvSpPr>
              <p:cNvPr id="9" name="Rectangle 8">
                <a:extLst>
                  <a:ext uri="{FF2B5EF4-FFF2-40B4-BE49-F238E27FC236}">
                    <a16:creationId xmlns:a16="http://schemas.microsoft.com/office/drawing/2014/main" id="{DD5DE471-6DE0-49AA-83EB-3D2AC221D76B}"/>
                  </a:ext>
                </a:extLst>
              </p:cNvPr>
              <p:cNvSpPr>
                <a:spLocks noRot="1" noChangeAspect="1" noMove="1" noResize="1" noEditPoints="1" noAdjustHandles="1" noChangeArrowheads="1" noChangeShapeType="1" noTextEdit="1"/>
              </p:cNvSpPr>
              <p:nvPr/>
            </p:nvSpPr>
            <p:spPr>
              <a:xfrm>
                <a:off x="1574588" y="4922050"/>
                <a:ext cx="1479508" cy="79117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12192000" cy="5801557"/>
              </a:xfrm>
            </p:spPr>
            <p:txBody>
              <a:bodyPr>
                <a:normAutofit/>
              </a:bodyPr>
              <a:lstStyle/>
              <a:p>
                <a:pPr marL="0" indent="0">
                  <a:buNone/>
                </a:pPr>
                <a:r>
                  <a:rPr lang="en-GB" sz="2400" dirty="0">
                    <a:latin typeface="+mj-lt"/>
                    <a:ea typeface="+mj-ea"/>
                    <a:cs typeface="+mj-cs"/>
                  </a:rPr>
                  <a:t>  In isolation </a:t>
                </a:r>
                <a:r>
                  <a:rPr lang="en-GB" sz="2400" b="1" dirty="0">
                    <a:latin typeface="+mj-lt"/>
                    <a:ea typeface="+mj-ea"/>
                    <a:cs typeface="+mj-cs"/>
                  </a:rPr>
                  <a:t>Fe = 0</a:t>
                </a:r>
              </a:p>
              <a:p>
                <a:pPr marL="0" indent="0">
                  <a:buNone/>
                </a:pPr>
                <a:endParaRPr lang="en-GB" sz="2400" b="1" dirty="0">
                  <a:latin typeface="+mj-lt"/>
                  <a:ea typeface="+mj-ea"/>
                  <a:cs typeface="+mj-cs"/>
                </a:endParaRPr>
              </a:p>
              <a:p>
                <a:pPr marL="0" indent="0">
                  <a:buNone/>
                </a:pPr>
                <a:r>
                  <a:rPr lang="en-GB" sz="2400" dirty="0">
                    <a:latin typeface="+mj-lt"/>
                    <a:ea typeface="+mj-ea"/>
                    <a:cs typeface="+mj-cs"/>
                  </a:rPr>
                  <a:t> The closed-loop transfer function is</a:t>
                </a:r>
              </a:p>
              <a:p>
                <a:pPr marL="0" indent="0">
                  <a:buNone/>
                </a:pPr>
                <a:endParaRPr lang="en-GB" dirty="0">
                  <a:latin typeface="Aharoni" panose="02010803020104030203" pitchFamily="2" charset="-79"/>
                  <a:cs typeface="Aharoni" panose="02010803020104030203" pitchFamily="2" charset="-79"/>
                </a:endParaRPr>
              </a:p>
              <a:p>
                <a:pPr marL="0" indent="0">
                  <a:buNone/>
                </a:pPr>
                <a:r>
                  <a:rPr lang="en-GB" dirty="0"/>
                  <a:t>       </a:t>
                </a:r>
                <a14:m>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𝑋</m:t>
                        </m:r>
                      </m:num>
                      <m:den>
                        <m:r>
                          <a:rPr lang="en-US" b="0" i="1" smtClean="0">
                            <a:latin typeface="Cambria Math" panose="02040503050406030204" pitchFamily="18" charset="0"/>
                          </a:rPr>
                          <m:t>𝑋𝑑</m:t>
                        </m:r>
                      </m:den>
                    </m:f>
                    <m:r>
                      <a:rPr lang="en-GB" b="0" i="1" smtClean="0">
                        <a:latin typeface="Cambria Math" panose="02040503050406030204" pitchFamily="18" charset="0"/>
                      </a:rPr>
                      <m:t>=</m:t>
                    </m:r>
                    <m:r>
                      <a:rPr lang="en-US" b="0" i="1" smtClean="0">
                        <a:latin typeface="Cambria Math" panose="02040503050406030204" pitchFamily="18" charset="0"/>
                      </a:rPr>
                      <m:t>𝐺</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𝐾</m:t>
                            </m:r>
                          </m:e>
                          <m:sub>
                            <m:r>
                              <a:rPr lang="en-GB" b="0" i="1" smtClean="0">
                                <a:latin typeface="Cambria Math" panose="02040503050406030204" pitchFamily="18" charset="0"/>
                              </a:rPr>
                              <m:t>𝑝</m:t>
                            </m:r>
                          </m:sub>
                        </m:sSub>
                        <m:r>
                          <a:rPr lang="en-GB" b="0" i="1" smtClean="0">
                            <a:latin typeface="Cambria Math" panose="02040503050406030204" pitchFamily="18" charset="0"/>
                          </a:rPr>
                          <m:t>𝑆</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𝐾</m:t>
                            </m:r>
                          </m:e>
                          <m:sub>
                            <m:r>
                              <a:rPr lang="en-GB" b="0" i="1" smtClean="0">
                                <a:latin typeface="Cambria Math" panose="02040503050406030204" pitchFamily="18" charset="0"/>
                              </a:rPr>
                              <m:t>𝐼</m:t>
                            </m:r>
                          </m:sub>
                        </m:sSub>
                      </m:num>
                      <m:den>
                        <m:r>
                          <a:rPr lang="en-GB" b="0" i="1" smtClean="0">
                            <a:latin typeface="Cambria Math" panose="02040503050406030204" pitchFamily="18" charset="0"/>
                          </a:rPr>
                          <m:t>𝑀</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𝑆</m:t>
                            </m:r>
                          </m:e>
                          <m:sup>
                            <m:r>
                              <a:rPr lang="en-GB" b="0" i="1" smtClean="0">
                                <a:latin typeface="Cambria Math" panose="02040503050406030204" pitchFamily="18" charset="0"/>
                              </a:rPr>
                              <m:t>3</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𝑆</m:t>
                            </m:r>
                          </m:e>
                          <m:sup>
                            <m:r>
                              <a:rPr lang="en-GB" b="0" i="1" smtClean="0">
                                <a:latin typeface="Cambria Math" panose="02040503050406030204" pitchFamily="18" charset="0"/>
                              </a:rPr>
                              <m:t>2</m:t>
                            </m:r>
                          </m:sup>
                        </m:sSup>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𝐾</m:t>
                            </m:r>
                          </m:e>
                          <m:sub>
                            <m:r>
                              <a:rPr lang="en-GB" b="0" i="1" smtClean="0">
                                <a:latin typeface="Cambria Math" panose="02040503050406030204" pitchFamily="18" charset="0"/>
                              </a:rPr>
                              <m:t>𝑝</m:t>
                            </m:r>
                          </m:sub>
                        </m:sSub>
                        <m:r>
                          <a:rPr lang="en-GB" b="0" i="1" smtClean="0">
                            <a:latin typeface="Cambria Math" panose="02040503050406030204" pitchFamily="18" charset="0"/>
                          </a:rPr>
                          <m:t>𝑆</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𝐾</m:t>
                            </m:r>
                          </m:e>
                          <m:sub>
                            <m:r>
                              <a:rPr lang="en-GB" b="0" i="1" smtClean="0">
                                <a:latin typeface="Cambria Math" panose="02040503050406030204" pitchFamily="18" charset="0"/>
                              </a:rPr>
                              <m:t>𝐼</m:t>
                            </m:r>
                          </m:sub>
                        </m:sSub>
                      </m:den>
                    </m:f>
                  </m:oMath>
                </a14:m>
                <a:r>
                  <a:rPr lang="en-GB" sz="3200" dirty="0"/>
                  <a:t>             </a:t>
                </a:r>
                <a:r>
                  <a:rPr lang="en-GB" sz="2400" dirty="0">
                    <a:latin typeface="+mj-lt"/>
                    <a:ea typeface="+mj-ea"/>
                    <a:cs typeface="+mj-cs"/>
                  </a:rPr>
                  <a:t>(4)</a:t>
                </a:r>
              </a:p>
              <a:p>
                <a:pPr marL="0" indent="0">
                  <a:buNone/>
                </a:pPr>
                <a:endParaRPr lang="en-GB" dirty="0"/>
              </a:p>
              <a:p>
                <a:pPr marL="0" indent="0">
                  <a:lnSpc>
                    <a:spcPct val="150000"/>
                  </a:lnSpc>
                  <a:buNone/>
                </a:pPr>
                <a:r>
                  <a:rPr lang="en-GB" sz="2400" dirty="0">
                    <a:latin typeface="+mj-lt"/>
                    <a:ea typeface="+mj-ea"/>
                    <a:cs typeface="+mj-cs"/>
                  </a:rPr>
                  <a:t> From the Routh-Hurwitz stability criterion</a:t>
                </a:r>
              </a:p>
              <a:p>
                <a:pPr marL="0" indent="0">
                  <a:lnSpc>
                    <a:spcPct val="0"/>
                  </a:lnSpc>
                  <a:buNone/>
                </a:pPr>
                <a:r>
                  <a:rPr lang="en-GB" dirty="0"/>
                  <a:t>                                                      </a:t>
                </a:r>
              </a:p>
              <a:p>
                <a:pPr marL="0" indent="0">
                  <a:buNone/>
                </a:pPr>
                <a:r>
                  <a:rPr lang="en-GB" dirty="0"/>
                  <a:t>                                                  </a:t>
                </a:r>
                <a:r>
                  <a:rPr lang="en-GB" sz="2400" dirty="0">
                    <a:latin typeface="+mj-lt"/>
                    <a:ea typeface="+mj-ea"/>
                    <a:cs typeface="+mj-cs"/>
                  </a:rPr>
                  <a:t>(5)</a:t>
                </a:r>
              </a:p>
              <a:p>
                <a:pPr marL="0" indent="0">
                  <a:buNone/>
                </a:pPr>
                <a:r>
                  <a:rPr lang="en-GB" sz="2400" dirty="0"/>
                  <a:t>         </a:t>
                </a:r>
              </a:p>
              <a:p>
                <a:pPr marL="0" indent="0">
                  <a:buNone/>
                </a:pPr>
                <a:r>
                  <a:rPr lang="en-GB" sz="2400" dirty="0"/>
                  <a:t>          </a:t>
                </a:r>
                <a:r>
                  <a:rPr lang="en-GB" sz="2400" dirty="0">
                    <a:solidFill>
                      <a:schemeClr val="accent2">
                        <a:lumMod val="75000"/>
                      </a:schemeClr>
                    </a:solidFill>
                  </a:rPr>
                  <a:t>A condition for isolated stability</a:t>
                </a:r>
                <a:endParaRPr lang="en-GB" sz="2400" dirty="0">
                  <a:solidFill>
                    <a:schemeClr val="accent2">
                      <a:lumMod val="75000"/>
                    </a:schemeClr>
                  </a:solidFill>
                  <a:latin typeface="+mj-lt"/>
                  <a:ea typeface="+mj-ea"/>
                  <a:cs typeface="+mj-cs"/>
                </a:endParaRPr>
              </a:p>
            </p:txBody>
          </p:sp>
        </mc:Choice>
        <mc:Fallback>
          <p:sp>
            <p:nvSpPr>
              <p:cNvPr id="4" name="Content Placeholder 3">
                <a:extLst>
                  <a:ext uri="{FF2B5EF4-FFF2-40B4-BE49-F238E27FC236}">
                    <a16:creationId xmlns:a16="http://schemas.microsoft.com/office/drawing/2014/main" id="{265FADF4-69FB-490C-A49E-C26592E91D0F}"/>
                  </a:ext>
                </a:extLst>
              </p:cNvPr>
              <p:cNvSpPr>
                <a:spLocks noGrp="1" noRot="1" noChangeAspect="1" noMove="1" noResize="1" noEditPoints="1" noAdjustHandles="1" noChangeArrowheads="1" noChangeShapeType="1" noTextEdit="1"/>
              </p:cNvSpPr>
              <p:nvPr>
                <p:ph idx="1"/>
              </p:nvPr>
            </p:nvSpPr>
            <p:spPr>
              <a:xfrm>
                <a:off x="0" y="1056442"/>
                <a:ext cx="12192000" cy="5801557"/>
              </a:xfrm>
              <a:blipFill>
                <a:blip r:embed="rId4"/>
                <a:stretch>
                  <a:fillRect l="-200" t="-1471"/>
                </a:stretch>
              </a:blipFill>
            </p:spPr>
            <p:txBody>
              <a:bodyPr/>
              <a:lstStyle/>
              <a:p>
                <a:r>
                  <a:rPr lang="en-GB">
                    <a:noFill/>
                  </a:rPr>
                  <a:t> </a:t>
                </a:r>
              </a:p>
            </p:txBody>
          </p:sp>
        </mc:Fallback>
      </mc:AlternateContent>
    </p:spTree>
    <p:extLst>
      <p:ext uri="{BB962C8B-B14F-4D97-AF65-F5344CB8AC3E}">
        <p14:creationId xmlns:p14="http://schemas.microsoft.com/office/powerpoint/2010/main" val="379676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500"/>
                                        <p:tgtEl>
                                          <p:spTgt spid="4">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500"/>
                                        <p:tgtEl>
                                          <p:spTgt spid="4">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500"/>
                                        <p:tgtEl>
                                          <p:spTgt spid="4">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ppt_x"/>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0C59B3-D559-4382-BF0E-61528B021E55}"/>
              </a:ext>
            </a:extLst>
          </p:cNvPr>
          <p:cNvSpPr/>
          <p:nvPr/>
        </p:nvSpPr>
        <p:spPr>
          <a:xfrm>
            <a:off x="877600" y="5104416"/>
            <a:ext cx="3792054" cy="950155"/>
          </a:xfrm>
          <a:prstGeom prst="roundRect">
            <a:avLst/>
          </a:prstGeom>
          <a:solidFill>
            <a:schemeClr val="accent1">
              <a:alpha val="19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1"/>
            <a:ext cx="6083808" cy="614995"/>
          </a:xfrm>
        </p:spPr>
        <p:txBody>
          <a:bodyPr>
            <a:normAutofit/>
          </a:body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Robot interacts with environment</a:t>
            </a:r>
          </a:p>
        </p:txBody>
      </p:sp>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056442"/>
            <a:ext cx="6972300" cy="5801557"/>
          </a:xfrm>
        </p:spPr>
        <p:txBody>
          <a:bodyPr>
            <a:normAutofit/>
          </a:bodyPr>
          <a:lstStyle/>
          <a:p>
            <a:pPr marL="0" indent="0" algn="just">
              <a:buNone/>
            </a:pPr>
            <a:endParaRPr lang="en-GB" sz="2400" dirty="0">
              <a:latin typeface="+mj-lt"/>
              <a:ea typeface="+mj-ea"/>
              <a:cs typeface="+mj-cs"/>
            </a:endParaRPr>
          </a:p>
          <a:p>
            <a:pPr marL="0" indent="0" algn="just">
              <a:buNone/>
            </a:pPr>
            <a:r>
              <a:rPr lang="en-GB" sz="2400" dirty="0">
                <a:latin typeface="+mj-lt"/>
                <a:ea typeface="+mj-ea"/>
                <a:cs typeface="+mj-cs"/>
              </a:rPr>
              <a:t>However, this condition is not sufficient to ensure that the robot will remain stable when it interacts with objects in its environment. Even the simple act of grasping an object may be destabilizing. If the system is not isolated, and instead is coupled to a mass Me, this is equivalent to increasing the mass from M to (M + Me). Hence a condition for stability of the coupled system is</a:t>
            </a:r>
          </a:p>
          <a:p>
            <a:pPr marL="0" indent="0" algn="just">
              <a:lnSpc>
                <a:spcPct val="0"/>
              </a:lnSpc>
              <a:buNone/>
            </a:pPr>
            <a:endParaRPr lang="en-GB" sz="2400" dirty="0">
              <a:latin typeface="+mj-lt"/>
              <a:ea typeface="+mj-ea"/>
              <a:cs typeface="+mj-cs"/>
            </a:endParaRPr>
          </a:p>
          <a:p>
            <a:pPr marL="0" indent="0" algn="just">
              <a:lnSpc>
                <a:spcPct val="200000"/>
              </a:lnSpc>
              <a:buNone/>
            </a:pPr>
            <a:endParaRPr lang="en-GB" dirty="0"/>
          </a:p>
          <a:p>
            <a:pPr marL="0" indent="0" algn="just">
              <a:buNone/>
            </a:pPr>
            <a:r>
              <a:rPr lang="en-GB" dirty="0"/>
              <a:t>                                                   </a:t>
            </a:r>
            <a:r>
              <a:rPr lang="en-GB" sz="2400" dirty="0">
                <a:latin typeface="+mj-lt"/>
                <a:ea typeface="+mj-ea"/>
                <a:cs typeface="+mj-cs"/>
              </a:rPr>
              <a:t>(6)</a:t>
            </a:r>
          </a:p>
        </p:txBody>
      </p:sp>
      <p:pic>
        <p:nvPicPr>
          <p:cNvPr id="10" name="Content Placeholder 7" descr="Diagram&#10;&#10;Description automatically generated">
            <a:extLst>
              <a:ext uri="{FF2B5EF4-FFF2-40B4-BE49-F238E27FC236}">
                <a16:creationId xmlns:a16="http://schemas.microsoft.com/office/drawing/2014/main" id="{75320305-A5C6-479D-8C79-5BBB90529F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98123" y="2248500"/>
            <a:ext cx="5093877" cy="1872000"/>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B635639-DB9B-4A28-98B6-2CE56C5EB140}"/>
                  </a:ext>
                </a:extLst>
              </p:cNvPr>
              <p:cNvSpPr/>
              <p:nvPr/>
            </p:nvSpPr>
            <p:spPr>
              <a:xfrm>
                <a:off x="1081786" y="5104416"/>
                <a:ext cx="2229585" cy="8590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𝐼</m:t>
                          </m:r>
                        </m:sub>
                      </m:sSub>
                      <m:r>
                        <a:rPr lang="en-GB" sz="2400" b="0" i="1" smtClean="0">
                          <a:solidFill>
                            <a:schemeClr val="tx1"/>
                          </a:solidFill>
                          <a:latin typeface="Cambria Math" panose="02040503050406030204" pitchFamily="18" charset="0"/>
                        </a:rPr>
                        <m:t>&lt;</m:t>
                      </m:r>
                      <m:f>
                        <m:fPr>
                          <m:ctrlPr>
                            <a:rPr lang="en-GB" sz="2400" i="1">
                              <a:solidFill>
                                <a:schemeClr val="tx1"/>
                              </a:solidFill>
                              <a:latin typeface="Cambria Math" panose="02040503050406030204" pitchFamily="18" charset="0"/>
                            </a:rPr>
                          </m:ctrlPr>
                        </m:fPr>
                        <m:num>
                          <m:r>
                            <a:rPr lang="en-GB" sz="2400" i="1">
                              <a:solidFill>
                                <a:schemeClr val="tx1"/>
                              </a:solidFill>
                              <a:latin typeface="Cambria Math" panose="02040503050406030204" pitchFamily="18" charset="0"/>
                            </a:rPr>
                            <m:t>𝑏</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𝑃</m:t>
                              </m:r>
                            </m:sub>
                          </m:sSub>
                        </m:num>
                        <m:den>
                          <m:r>
                            <a:rPr lang="en-GB" sz="2400" i="1">
                              <a:solidFill>
                                <a:schemeClr val="tx1"/>
                              </a:solidFill>
                              <a:latin typeface="Cambria Math" panose="02040503050406030204" pitchFamily="18" charset="0"/>
                            </a:rPr>
                            <m:t>(</m:t>
                          </m:r>
                          <m:r>
                            <a:rPr lang="en-GB" sz="2400" i="1">
                              <a:solidFill>
                                <a:schemeClr val="tx1"/>
                              </a:solidFill>
                              <a:latin typeface="Cambria Math" panose="02040503050406030204" pitchFamily="18" charset="0"/>
                            </a:rPr>
                            <m:t>𝑀</m:t>
                          </m:r>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𝑀</m:t>
                              </m:r>
                            </m:e>
                            <m:sub>
                              <m:r>
                                <a:rPr lang="en-GB" sz="2400" i="1">
                                  <a:solidFill>
                                    <a:schemeClr val="tx1"/>
                                  </a:solidFill>
                                  <a:latin typeface="Cambria Math" panose="02040503050406030204" pitchFamily="18" charset="0"/>
                                </a:rPr>
                                <m:t>𝑒</m:t>
                              </m:r>
                            </m:sub>
                          </m:sSub>
                          <m:r>
                            <a:rPr lang="en-GB" sz="2400" i="1">
                              <a:solidFill>
                                <a:schemeClr val="tx1"/>
                              </a:solidFill>
                              <a:latin typeface="Cambria Math" panose="02040503050406030204" pitchFamily="18" charset="0"/>
                            </a:rPr>
                            <m:t>)</m:t>
                          </m:r>
                        </m:den>
                      </m:f>
                    </m:oMath>
                  </m:oMathPara>
                </a14:m>
                <a:endParaRPr lang="en-GB" sz="2400" dirty="0"/>
              </a:p>
            </p:txBody>
          </p:sp>
        </mc:Choice>
        <mc:Fallback xmlns="">
          <p:sp>
            <p:nvSpPr>
              <p:cNvPr id="5" name="Rectangle 4">
                <a:extLst>
                  <a:ext uri="{FF2B5EF4-FFF2-40B4-BE49-F238E27FC236}">
                    <a16:creationId xmlns:a16="http://schemas.microsoft.com/office/drawing/2014/main" id="{BB635639-DB9B-4A28-98B6-2CE56C5EB140}"/>
                  </a:ext>
                </a:extLst>
              </p:cNvPr>
              <p:cNvSpPr>
                <a:spLocks noRot="1" noChangeAspect="1" noMove="1" noResize="1" noEditPoints="1" noAdjustHandles="1" noChangeArrowheads="1" noChangeShapeType="1" noTextEdit="1"/>
              </p:cNvSpPr>
              <p:nvPr/>
            </p:nvSpPr>
            <p:spPr>
              <a:xfrm>
                <a:off x="1081786" y="5104416"/>
                <a:ext cx="2229585" cy="859081"/>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634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1"/>
            <a:ext cx="6083808" cy="614995"/>
          </a:xfrm>
        </p:spPr>
        <p:txBody>
          <a:bodyPr>
            <a:normAutofit/>
          </a:body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Robot interacts with environment</a:t>
            </a:r>
          </a:p>
        </p:txBody>
      </p:sp>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0" y="1136342"/>
            <a:ext cx="6972300"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buNone/>
            </a:pPr>
            <a:r>
              <a:rPr lang="en-GB" sz="2400" dirty="0">
                <a:latin typeface="+mj-lt"/>
                <a:ea typeface="+mj-ea"/>
                <a:cs typeface="+mj-cs"/>
              </a:rPr>
              <a:t>However, for any fixed controller gains, coupling the robot to a sufficiently large me will violate the condition for stability. Interaction with a large enough mass can always destabilize a system that includes integral-action motion control, even if that system is stable in isolation</a:t>
            </a:r>
          </a:p>
          <a:p>
            <a:pPr marL="0" indent="0" algn="just">
              <a:lnSpc>
                <a:spcPct val="0"/>
              </a:lnSpc>
              <a:buNone/>
            </a:pPr>
            <a:endParaRPr lang="en-GB" sz="2400" dirty="0">
              <a:latin typeface="+mj-lt"/>
              <a:ea typeface="+mj-ea"/>
              <a:cs typeface="+mj-cs"/>
            </a:endParaRP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endParaRPr lang="en-GB" dirty="0"/>
          </a:p>
          <a:p>
            <a:pPr marL="0" indent="0" algn="just">
              <a:buNone/>
            </a:pPr>
            <a:r>
              <a:rPr lang="en-GB" dirty="0"/>
              <a:t>                                                   </a:t>
            </a:r>
            <a:r>
              <a:rPr lang="en-GB" sz="2400" dirty="0">
                <a:latin typeface="+mj-lt"/>
                <a:ea typeface="+mj-ea"/>
                <a:cs typeface="+mj-cs"/>
              </a:rPr>
              <a:t>(6)</a:t>
            </a:r>
          </a:p>
        </p:txBody>
      </p:sp>
      <p:pic>
        <p:nvPicPr>
          <p:cNvPr id="10" name="Content Placeholder 7" descr="Diagram&#10;&#10;Description automatically generated">
            <a:extLst>
              <a:ext uri="{FF2B5EF4-FFF2-40B4-BE49-F238E27FC236}">
                <a16:creationId xmlns:a16="http://schemas.microsoft.com/office/drawing/2014/main" id="{75320305-A5C6-479D-8C79-5BBB90529F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98123" y="2248500"/>
            <a:ext cx="5093877" cy="1872000"/>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7898D4A-4231-41AD-BEE0-B685ED7FE3D2}"/>
                  </a:ext>
                </a:extLst>
              </p:cNvPr>
              <p:cNvSpPr/>
              <p:nvPr/>
            </p:nvSpPr>
            <p:spPr>
              <a:xfrm>
                <a:off x="1081786" y="5104416"/>
                <a:ext cx="2229585" cy="8590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𝐼</m:t>
                          </m:r>
                        </m:sub>
                      </m:sSub>
                      <m:r>
                        <a:rPr lang="en-GB" sz="2400" b="0" i="1" smtClean="0">
                          <a:solidFill>
                            <a:schemeClr val="tx1"/>
                          </a:solidFill>
                          <a:latin typeface="Cambria Math" panose="02040503050406030204" pitchFamily="18" charset="0"/>
                        </a:rPr>
                        <m:t>&lt;</m:t>
                      </m:r>
                      <m:f>
                        <m:fPr>
                          <m:ctrlPr>
                            <a:rPr lang="en-GB" sz="2400" i="1">
                              <a:solidFill>
                                <a:schemeClr val="tx1"/>
                              </a:solidFill>
                              <a:latin typeface="Cambria Math" panose="02040503050406030204" pitchFamily="18" charset="0"/>
                            </a:rPr>
                          </m:ctrlPr>
                        </m:fPr>
                        <m:num>
                          <m:r>
                            <a:rPr lang="en-GB" sz="2400" i="1">
                              <a:solidFill>
                                <a:schemeClr val="tx1"/>
                              </a:solidFill>
                              <a:latin typeface="Cambria Math" panose="02040503050406030204" pitchFamily="18" charset="0"/>
                            </a:rPr>
                            <m:t>𝑏</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𝑃</m:t>
                              </m:r>
                            </m:sub>
                          </m:sSub>
                        </m:num>
                        <m:den>
                          <m:r>
                            <a:rPr lang="en-GB" sz="2400" i="1">
                              <a:solidFill>
                                <a:schemeClr val="tx1"/>
                              </a:solidFill>
                              <a:latin typeface="Cambria Math" panose="02040503050406030204" pitchFamily="18" charset="0"/>
                            </a:rPr>
                            <m:t>(</m:t>
                          </m:r>
                          <m:r>
                            <a:rPr lang="en-GB" sz="2400" i="1">
                              <a:solidFill>
                                <a:schemeClr val="tx1"/>
                              </a:solidFill>
                              <a:latin typeface="Cambria Math" panose="02040503050406030204" pitchFamily="18" charset="0"/>
                            </a:rPr>
                            <m:t>𝑀</m:t>
                          </m:r>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𝑀</m:t>
                              </m:r>
                            </m:e>
                            <m:sub>
                              <m:r>
                                <a:rPr lang="en-GB" sz="2400" i="1">
                                  <a:solidFill>
                                    <a:schemeClr val="tx1"/>
                                  </a:solidFill>
                                  <a:latin typeface="Cambria Math" panose="02040503050406030204" pitchFamily="18" charset="0"/>
                                </a:rPr>
                                <m:t>𝑒</m:t>
                              </m:r>
                            </m:sub>
                          </m:sSub>
                          <m:r>
                            <a:rPr lang="en-GB" sz="2400" i="1">
                              <a:solidFill>
                                <a:schemeClr val="tx1"/>
                              </a:solidFill>
                              <a:latin typeface="Cambria Math" panose="02040503050406030204" pitchFamily="18" charset="0"/>
                            </a:rPr>
                            <m:t>)</m:t>
                          </m:r>
                        </m:den>
                      </m:f>
                    </m:oMath>
                  </m:oMathPara>
                </a14:m>
                <a:endParaRPr lang="en-GB" sz="2400" dirty="0"/>
              </a:p>
            </p:txBody>
          </p:sp>
        </mc:Choice>
        <mc:Fallback xmlns="">
          <p:sp>
            <p:nvSpPr>
              <p:cNvPr id="6" name="Rectangle 5">
                <a:extLst>
                  <a:ext uri="{FF2B5EF4-FFF2-40B4-BE49-F238E27FC236}">
                    <a16:creationId xmlns:a16="http://schemas.microsoft.com/office/drawing/2014/main" id="{77898D4A-4231-41AD-BEE0-B685ED7FE3D2}"/>
                  </a:ext>
                </a:extLst>
              </p:cNvPr>
              <p:cNvSpPr>
                <a:spLocks noRot="1" noChangeAspect="1" noMove="1" noResize="1" noEditPoints="1" noAdjustHandles="1" noChangeArrowheads="1" noChangeShapeType="1" noTextEdit="1"/>
              </p:cNvSpPr>
              <p:nvPr/>
            </p:nvSpPr>
            <p:spPr>
              <a:xfrm>
                <a:off x="1081786" y="5104416"/>
                <a:ext cx="2229585" cy="859081"/>
              </a:xfrm>
              <a:prstGeom prst="rect">
                <a:avLst/>
              </a:prstGeom>
              <a:blipFill>
                <a:blip r:embed="rId3"/>
                <a:stretch>
                  <a:fillRect/>
                </a:stretch>
              </a:blipFill>
            </p:spPr>
            <p:txBody>
              <a:bodyPr/>
              <a:lstStyle/>
              <a:p>
                <a:r>
                  <a:rPr lang="en-GB">
                    <a:noFill/>
                  </a:rPr>
                  <a:t> </a:t>
                </a:r>
              </a:p>
            </p:txBody>
          </p:sp>
        </mc:Fallback>
      </mc:AlternateContent>
      <p:sp>
        <p:nvSpPr>
          <p:cNvPr id="8" name="Rectangle: Rounded Corners 7">
            <a:extLst>
              <a:ext uri="{FF2B5EF4-FFF2-40B4-BE49-F238E27FC236}">
                <a16:creationId xmlns:a16="http://schemas.microsoft.com/office/drawing/2014/main" id="{4A03926E-88BC-4CAC-90C3-26DF9A89DABF}"/>
              </a:ext>
            </a:extLst>
          </p:cNvPr>
          <p:cNvSpPr/>
          <p:nvPr/>
        </p:nvSpPr>
        <p:spPr>
          <a:xfrm>
            <a:off x="877600" y="5104416"/>
            <a:ext cx="3792054" cy="950155"/>
          </a:xfrm>
          <a:prstGeom prst="roundRect">
            <a:avLst/>
          </a:prstGeom>
          <a:solidFill>
            <a:schemeClr val="accent1">
              <a:alpha val="19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99217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A03926E-88BC-4CAC-90C3-26DF9A89DABF}"/>
              </a:ext>
            </a:extLst>
          </p:cNvPr>
          <p:cNvSpPr/>
          <p:nvPr/>
        </p:nvSpPr>
        <p:spPr>
          <a:xfrm>
            <a:off x="376741" y="3997170"/>
            <a:ext cx="3792054" cy="2692867"/>
          </a:xfrm>
          <a:prstGeom prst="roundRect">
            <a:avLst/>
          </a:prstGeom>
          <a:solidFill>
            <a:schemeClr val="accent1">
              <a:alpha val="19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1"/>
            <a:ext cx="6083808" cy="614995"/>
          </a:xfrm>
        </p:spPr>
        <p:txBody>
          <a:bodyPr>
            <a:normAutofit/>
          </a:bodyPr>
          <a:lstStyle/>
          <a:p>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Robot interacts with environment</a:t>
            </a:r>
          </a:p>
        </p:txBody>
      </p:sp>
      <p:sp>
        <p:nvSpPr>
          <p:cNvPr id="4" name="Content Placeholder 3">
            <a:extLst>
              <a:ext uri="{FF2B5EF4-FFF2-40B4-BE49-F238E27FC236}">
                <a16:creationId xmlns:a16="http://schemas.microsoft.com/office/drawing/2014/main" id="{265FADF4-69FB-490C-A49E-C26592E91D0F}"/>
              </a:ext>
            </a:extLst>
          </p:cNvPr>
          <p:cNvSpPr>
            <a:spLocks noGrp="1"/>
          </p:cNvSpPr>
          <p:nvPr>
            <p:ph idx="1"/>
          </p:nvPr>
        </p:nvSpPr>
        <p:spPr>
          <a:xfrm>
            <a:off x="-1" y="1136342"/>
            <a:ext cx="11815259" cy="5721657"/>
          </a:xfrm>
        </p:spPr>
        <p:txBody>
          <a:bodyPr>
            <a:normAutofit/>
          </a:bodyPr>
          <a:lstStyle/>
          <a:p>
            <a:pPr marL="0" indent="0" algn="just">
              <a:lnSpc>
                <a:spcPct val="50000"/>
              </a:lnSpc>
              <a:buNone/>
            </a:pPr>
            <a:endParaRPr lang="en-GB" sz="2400" dirty="0">
              <a:latin typeface="+mj-lt"/>
              <a:ea typeface="+mj-ea"/>
              <a:cs typeface="+mj-cs"/>
            </a:endParaRPr>
          </a:p>
          <a:p>
            <a:pPr marL="0" indent="0" algn="just">
              <a:buNone/>
            </a:pPr>
            <a:r>
              <a:rPr lang="en-GB" sz="2400" dirty="0">
                <a:latin typeface="+mj-lt"/>
                <a:ea typeface="+mj-ea"/>
                <a:cs typeface="+mj-cs"/>
              </a:rPr>
              <a:t>This difficulty may be obscured by the facts that, at present, most robots have inertia far exceeding that of the payloads they may carry, the total mass M + Me is not much greater than the mass M of the robot alone, and the bounds of Equation (5) and Equation (6) are similar.</a:t>
            </a:r>
          </a:p>
          <a:p>
            <a:pPr marL="0" indent="0" algn="just">
              <a:lnSpc>
                <a:spcPct val="100000"/>
              </a:lnSpc>
              <a:buNone/>
            </a:pPr>
            <a:r>
              <a:rPr lang="en-GB" dirty="0"/>
              <a:t>                                             </a:t>
            </a:r>
          </a:p>
          <a:p>
            <a:pPr marL="0" indent="0" algn="just">
              <a:lnSpc>
                <a:spcPct val="100000"/>
              </a:lnSpc>
              <a:buNone/>
            </a:pPr>
            <a:endParaRPr lang="en-GB" dirty="0"/>
          </a:p>
          <a:p>
            <a:pPr marL="0" indent="0" algn="just">
              <a:lnSpc>
                <a:spcPct val="100000"/>
              </a:lnSpc>
              <a:buNone/>
            </a:pPr>
            <a:endParaRPr lang="en-GB" dirty="0"/>
          </a:p>
          <a:p>
            <a:pPr marL="0" indent="0" algn="just">
              <a:lnSpc>
                <a:spcPct val="100000"/>
              </a:lnSpc>
              <a:buNone/>
            </a:pPr>
            <a:r>
              <a:rPr lang="en-GB" sz="2400" dirty="0">
                <a:latin typeface="+mj-lt"/>
                <a:ea typeface="+mj-ea"/>
                <a:cs typeface="+mj-cs"/>
              </a:rPr>
              <a:t>                                                    (5)</a:t>
            </a:r>
          </a:p>
          <a:p>
            <a:pPr marL="0" indent="0" algn="just">
              <a:lnSpc>
                <a:spcPct val="100000"/>
              </a:lnSpc>
              <a:buNone/>
            </a:pPr>
            <a:endParaRPr lang="en-GB" dirty="0"/>
          </a:p>
          <a:p>
            <a:pPr marL="0" indent="0" algn="just">
              <a:lnSpc>
                <a:spcPct val="100000"/>
              </a:lnSpc>
              <a:buNone/>
            </a:pPr>
            <a:endParaRPr lang="en-GB" dirty="0"/>
          </a:p>
          <a:p>
            <a:pPr marL="0" indent="0" algn="just">
              <a:buNone/>
            </a:pPr>
            <a:r>
              <a:rPr lang="en-GB" dirty="0"/>
              <a:t>                                            </a:t>
            </a:r>
            <a:r>
              <a:rPr lang="en-GB" sz="2400" dirty="0">
                <a:latin typeface="+mj-lt"/>
                <a:ea typeface="+mj-ea"/>
                <a:cs typeface="+mj-cs"/>
              </a:rPr>
              <a:t>(6)</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7898D4A-4231-41AD-BEE0-B685ED7FE3D2}"/>
                  </a:ext>
                </a:extLst>
              </p:cNvPr>
              <p:cNvSpPr/>
              <p:nvPr/>
            </p:nvSpPr>
            <p:spPr>
              <a:xfrm>
                <a:off x="877684" y="5403315"/>
                <a:ext cx="2229585" cy="8590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𝐼</m:t>
                          </m:r>
                        </m:sub>
                      </m:sSub>
                      <m:r>
                        <a:rPr lang="en-GB" sz="2400" b="0" i="1" smtClean="0">
                          <a:solidFill>
                            <a:schemeClr val="tx1"/>
                          </a:solidFill>
                          <a:latin typeface="Cambria Math" panose="02040503050406030204" pitchFamily="18" charset="0"/>
                        </a:rPr>
                        <m:t>&lt;</m:t>
                      </m:r>
                      <m:f>
                        <m:fPr>
                          <m:ctrlPr>
                            <a:rPr lang="en-GB" sz="2400" i="1">
                              <a:solidFill>
                                <a:schemeClr val="tx1"/>
                              </a:solidFill>
                              <a:latin typeface="Cambria Math" panose="02040503050406030204" pitchFamily="18" charset="0"/>
                            </a:rPr>
                          </m:ctrlPr>
                        </m:fPr>
                        <m:num>
                          <m:r>
                            <a:rPr lang="en-GB" sz="2400" i="1">
                              <a:solidFill>
                                <a:schemeClr val="tx1"/>
                              </a:solidFill>
                              <a:latin typeface="Cambria Math" panose="02040503050406030204" pitchFamily="18" charset="0"/>
                            </a:rPr>
                            <m:t>𝑏</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𝑃</m:t>
                              </m:r>
                            </m:sub>
                          </m:sSub>
                        </m:num>
                        <m:den>
                          <m:r>
                            <a:rPr lang="en-GB" sz="2400" i="1">
                              <a:solidFill>
                                <a:schemeClr val="tx1"/>
                              </a:solidFill>
                              <a:latin typeface="Cambria Math" panose="02040503050406030204" pitchFamily="18" charset="0"/>
                            </a:rPr>
                            <m:t>(</m:t>
                          </m:r>
                          <m:r>
                            <a:rPr lang="en-GB" sz="2400" i="1">
                              <a:solidFill>
                                <a:schemeClr val="tx1"/>
                              </a:solidFill>
                              <a:latin typeface="Cambria Math" panose="02040503050406030204" pitchFamily="18" charset="0"/>
                            </a:rPr>
                            <m:t>𝑀</m:t>
                          </m:r>
                          <m:r>
                            <a:rPr lang="en-GB" sz="2400" i="1">
                              <a:solidFill>
                                <a:schemeClr val="tx1"/>
                              </a:solidFill>
                              <a:latin typeface="Cambria Math" panose="02040503050406030204" pitchFamily="18" charset="0"/>
                            </a:rPr>
                            <m:t>+</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𝑀</m:t>
                              </m:r>
                            </m:e>
                            <m:sub>
                              <m:r>
                                <a:rPr lang="en-GB" sz="2400" i="1">
                                  <a:solidFill>
                                    <a:schemeClr val="tx1"/>
                                  </a:solidFill>
                                  <a:latin typeface="Cambria Math" panose="02040503050406030204" pitchFamily="18" charset="0"/>
                                </a:rPr>
                                <m:t>𝑒</m:t>
                              </m:r>
                            </m:sub>
                          </m:sSub>
                          <m:r>
                            <a:rPr lang="en-GB" sz="2400" i="1">
                              <a:solidFill>
                                <a:schemeClr val="tx1"/>
                              </a:solidFill>
                              <a:latin typeface="Cambria Math" panose="02040503050406030204" pitchFamily="18" charset="0"/>
                            </a:rPr>
                            <m:t>)</m:t>
                          </m:r>
                        </m:den>
                      </m:f>
                    </m:oMath>
                  </m:oMathPara>
                </a14:m>
                <a:endParaRPr lang="en-GB" sz="2400" dirty="0"/>
              </a:p>
            </p:txBody>
          </p:sp>
        </mc:Choice>
        <mc:Fallback xmlns="">
          <p:sp>
            <p:nvSpPr>
              <p:cNvPr id="6" name="Rectangle 5">
                <a:extLst>
                  <a:ext uri="{FF2B5EF4-FFF2-40B4-BE49-F238E27FC236}">
                    <a16:creationId xmlns:a16="http://schemas.microsoft.com/office/drawing/2014/main" id="{77898D4A-4231-41AD-BEE0-B685ED7FE3D2}"/>
                  </a:ext>
                </a:extLst>
              </p:cNvPr>
              <p:cNvSpPr>
                <a:spLocks noRot="1" noChangeAspect="1" noMove="1" noResize="1" noEditPoints="1" noAdjustHandles="1" noChangeArrowheads="1" noChangeShapeType="1" noTextEdit="1"/>
              </p:cNvSpPr>
              <p:nvPr/>
            </p:nvSpPr>
            <p:spPr>
              <a:xfrm>
                <a:off x="877684" y="5403315"/>
                <a:ext cx="2229585" cy="85908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D40257E-C681-442C-A07F-0D6647C30725}"/>
                  </a:ext>
                </a:extLst>
              </p:cNvPr>
              <p:cNvSpPr/>
              <p:nvPr/>
            </p:nvSpPr>
            <p:spPr>
              <a:xfrm>
                <a:off x="1081786" y="4116593"/>
                <a:ext cx="1481111" cy="8590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2400" i="1" smtClean="0">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𝐼</m:t>
                          </m:r>
                        </m:sub>
                      </m:sSub>
                      <m:r>
                        <a:rPr lang="en-GB" sz="2400" b="0" i="1" smtClean="0">
                          <a:solidFill>
                            <a:schemeClr val="tx1"/>
                          </a:solidFill>
                          <a:latin typeface="Cambria Math" panose="02040503050406030204" pitchFamily="18" charset="0"/>
                        </a:rPr>
                        <m:t>&lt;</m:t>
                      </m:r>
                      <m:f>
                        <m:fPr>
                          <m:ctrlPr>
                            <a:rPr lang="en-GB" sz="2400" i="1">
                              <a:solidFill>
                                <a:schemeClr val="tx1"/>
                              </a:solidFill>
                              <a:latin typeface="Cambria Math" panose="02040503050406030204" pitchFamily="18" charset="0"/>
                            </a:rPr>
                          </m:ctrlPr>
                        </m:fPr>
                        <m:num>
                          <m:r>
                            <a:rPr lang="en-GB" sz="2400" i="1">
                              <a:solidFill>
                                <a:schemeClr val="tx1"/>
                              </a:solidFill>
                              <a:latin typeface="Cambria Math" panose="02040503050406030204" pitchFamily="18" charset="0"/>
                            </a:rPr>
                            <m:t>𝑏</m:t>
                          </m:r>
                          <m:sSub>
                            <m:sSubPr>
                              <m:ctrlPr>
                                <a:rPr lang="en-GB" sz="2400" i="1">
                                  <a:solidFill>
                                    <a:schemeClr val="tx1"/>
                                  </a:solidFill>
                                  <a:latin typeface="Cambria Math" panose="02040503050406030204" pitchFamily="18" charset="0"/>
                                </a:rPr>
                              </m:ctrlPr>
                            </m:sSubPr>
                            <m:e>
                              <m:r>
                                <a:rPr lang="en-GB" sz="2400" i="1">
                                  <a:solidFill>
                                    <a:schemeClr val="tx1"/>
                                  </a:solidFill>
                                  <a:latin typeface="Cambria Math" panose="02040503050406030204" pitchFamily="18" charset="0"/>
                                </a:rPr>
                                <m:t>𝐾</m:t>
                              </m:r>
                            </m:e>
                            <m:sub>
                              <m:r>
                                <a:rPr lang="en-GB" sz="2400" i="1">
                                  <a:solidFill>
                                    <a:schemeClr val="tx1"/>
                                  </a:solidFill>
                                  <a:latin typeface="Cambria Math" panose="02040503050406030204" pitchFamily="18" charset="0"/>
                                </a:rPr>
                                <m:t>𝑃</m:t>
                              </m:r>
                            </m:sub>
                          </m:sSub>
                        </m:num>
                        <m:den>
                          <m:r>
                            <a:rPr lang="en-GB" sz="2400" i="1">
                              <a:solidFill>
                                <a:schemeClr val="tx1"/>
                              </a:solidFill>
                              <a:latin typeface="Cambria Math" panose="02040503050406030204" pitchFamily="18" charset="0"/>
                            </a:rPr>
                            <m:t>(</m:t>
                          </m:r>
                          <m:r>
                            <a:rPr lang="en-GB" sz="2400" i="1">
                              <a:solidFill>
                                <a:schemeClr val="tx1"/>
                              </a:solidFill>
                              <a:latin typeface="Cambria Math" panose="02040503050406030204" pitchFamily="18" charset="0"/>
                            </a:rPr>
                            <m:t>𝑀</m:t>
                          </m:r>
                          <m:r>
                            <a:rPr lang="en-GB" sz="2400" i="1">
                              <a:solidFill>
                                <a:schemeClr val="tx1"/>
                              </a:solidFill>
                              <a:latin typeface="Cambria Math" panose="02040503050406030204" pitchFamily="18" charset="0"/>
                            </a:rPr>
                            <m:t>)</m:t>
                          </m:r>
                        </m:den>
                      </m:f>
                    </m:oMath>
                  </m:oMathPara>
                </a14:m>
                <a:endParaRPr lang="en-GB" sz="2400" dirty="0"/>
              </a:p>
            </p:txBody>
          </p:sp>
        </mc:Choice>
        <mc:Fallback xmlns="">
          <p:sp>
            <p:nvSpPr>
              <p:cNvPr id="7" name="Rectangle 6">
                <a:extLst>
                  <a:ext uri="{FF2B5EF4-FFF2-40B4-BE49-F238E27FC236}">
                    <a16:creationId xmlns:a16="http://schemas.microsoft.com/office/drawing/2014/main" id="{8D40257E-C681-442C-A07F-0D6647C30725}"/>
                  </a:ext>
                </a:extLst>
              </p:cNvPr>
              <p:cNvSpPr>
                <a:spLocks noRot="1" noChangeAspect="1" noMove="1" noResize="1" noEditPoints="1" noAdjustHandles="1" noChangeArrowheads="1" noChangeShapeType="1" noTextEdit="1"/>
              </p:cNvSpPr>
              <p:nvPr/>
            </p:nvSpPr>
            <p:spPr>
              <a:xfrm>
                <a:off x="1081786" y="4116593"/>
                <a:ext cx="1481111" cy="85908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392837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4038600" cy="590719"/>
          </a:xfrm>
        </p:spPr>
        <p:txBody>
          <a:bodyPr>
            <a:normAutofit/>
          </a:bodyPr>
          <a:lstStyle/>
          <a:p>
            <a:r>
              <a:rPr lang="en-GB" sz="2800" b="1" dirty="0">
                <a:solidFill>
                  <a:schemeClr val="accent5">
                    <a:lumMod val="75000"/>
                  </a:schemeClr>
                </a:solidFill>
                <a:latin typeface="+mn-lt"/>
              </a:rPr>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Example</a:t>
            </a:r>
          </a:p>
        </p:txBody>
      </p:sp>
      <p:pic>
        <p:nvPicPr>
          <p:cNvPr id="5" name="V2">
            <a:hlinkClick r:id="" action="ppaction://media"/>
            <a:extLst>
              <a:ext uri="{FF2B5EF4-FFF2-40B4-BE49-F238E27FC236}">
                <a16:creationId xmlns:a16="http://schemas.microsoft.com/office/drawing/2014/main" id="{DAD5A6A6-E0F0-4F19-BA6A-573854BBC0F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l="9309" r="14193"/>
          <a:stretch/>
        </p:blipFill>
        <p:spPr>
          <a:xfrm>
            <a:off x="6214559" y="1251000"/>
            <a:ext cx="5924042" cy="4356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pic>
        <p:nvPicPr>
          <p:cNvPr id="8" name="New video">
            <a:hlinkClick r:id="" action="ppaction://media"/>
            <a:extLst>
              <a:ext uri="{FF2B5EF4-FFF2-40B4-BE49-F238E27FC236}">
                <a16:creationId xmlns:a16="http://schemas.microsoft.com/office/drawing/2014/main" id="{3D5815B8-451F-4257-AAD0-B46C289F1F61}"/>
              </a:ext>
            </a:extLst>
          </p:cNvPr>
          <p:cNvPicPr>
            <a:picLocks noGrp="1" noChangeAspect="1"/>
          </p:cNvPicPr>
          <p:nvPr>
            <p:ph idx="1"/>
            <a:videoFile r:link="rId4"/>
            <p:extLst>
              <p:ext uri="{DAA4B4D4-6D71-4841-9C94-3DE7FCFB9230}">
                <p14:media xmlns:p14="http://schemas.microsoft.com/office/powerpoint/2010/main" r:embed="rId3"/>
              </p:ext>
            </p:extLst>
          </p:nvPr>
        </p:nvPicPr>
        <p:blipFill rotWithShape="1">
          <a:blip r:embed="rId7"/>
          <a:srcRect l="9895" r="12307"/>
          <a:stretch/>
        </p:blipFill>
        <p:spPr>
          <a:xfrm>
            <a:off x="53399" y="1207101"/>
            <a:ext cx="6024846" cy="4356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sp>
        <p:nvSpPr>
          <p:cNvPr id="7" name="TextBox 6">
            <a:extLst>
              <a:ext uri="{FF2B5EF4-FFF2-40B4-BE49-F238E27FC236}">
                <a16:creationId xmlns:a16="http://schemas.microsoft.com/office/drawing/2014/main" id="{560A5417-11FE-4E02-8A81-4B1B15006F3A}"/>
              </a:ext>
            </a:extLst>
          </p:cNvPr>
          <p:cNvSpPr txBox="1"/>
          <p:nvPr/>
        </p:nvSpPr>
        <p:spPr>
          <a:xfrm>
            <a:off x="1041990" y="5571979"/>
            <a:ext cx="4651855" cy="1200329"/>
          </a:xfrm>
          <a:prstGeom prst="rect">
            <a:avLst/>
          </a:prstGeom>
          <a:noFill/>
        </p:spPr>
        <p:txBody>
          <a:bodyPr wrap="square" rtlCol="0">
            <a:spAutoFit/>
          </a:bodyPr>
          <a:lstStyle/>
          <a:p>
            <a:r>
              <a:rPr lang="en-GB" b="1" dirty="0"/>
              <a:t>Robot body:                </a:t>
            </a:r>
            <a:r>
              <a:rPr lang="en-GB" dirty="0"/>
              <a:t>Cast Iron (7080 kg/m^3)</a:t>
            </a:r>
          </a:p>
          <a:p>
            <a:r>
              <a:rPr lang="en-GB" b="1" dirty="0"/>
              <a:t>Robot total mass:       </a:t>
            </a:r>
            <a:r>
              <a:rPr lang="en-GB" dirty="0"/>
              <a:t>1643 Kg</a:t>
            </a:r>
          </a:p>
          <a:p>
            <a:r>
              <a:rPr lang="en-GB" b="1" dirty="0"/>
              <a:t>KI:</a:t>
            </a:r>
            <a:r>
              <a:rPr lang="en-GB" dirty="0"/>
              <a:t>                                  1.2</a:t>
            </a:r>
          </a:p>
          <a:p>
            <a:r>
              <a:rPr lang="en-GB" b="1" dirty="0"/>
              <a:t>Object weight:</a:t>
            </a:r>
            <a:r>
              <a:rPr lang="en-GB" dirty="0"/>
              <a:t>            26.5 Kg</a:t>
            </a:r>
          </a:p>
        </p:txBody>
      </p:sp>
      <p:sp>
        <p:nvSpPr>
          <p:cNvPr id="9" name="TextBox 8">
            <a:extLst>
              <a:ext uri="{FF2B5EF4-FFF2-40B4-BE49-F238E27FC236}">
                <a16:creationId xmlns:a16="http://schemas.microsoft.com/office/drawing/2014/main" id="{DFEE7A60-EE23-4D37-9786-BA99A081FAE8}"/>
              </a:ext>
            </a:extLst>
          </p:cNvPr>
          <p:cNvSpPr txBox="1"/>
          <p:nvPr/>
        </p:nvSpPr>
        <p:spPr>
          <a:xfrm>
            <a:off x="7199850" y="5572467"/>
            <a:ext cx="4651855" cy="1200329"/>
          </a:xfrm>
          <a:prstGeom prst="rect">
            <a:avLst/>
          </a:prstGeom>
          <a:noFill/>
        </p:spPr>
        <p:txBody>
          <a:bodyPr wrap="square" rtlCol="0">
            <a:spAutoFit/>
          </a:bodyPr>
          <a:lstStyle/>
          <a:p>
            <a:r>
              <a:rPr lang="en-GB" b="1" dirty="0"/>
              <a:t>Robot body:                </a:t>
            </a:r>
            <a:r>
              <a:rPr lang="en-GB" dirty="0"/>
              <a:t>Aluminium (2740 kg/m^3)</a:t>
            </a:r>
          </a:p>
          <a:p>
            <a:r>
              <a:rPr lang="en-GB" b="1" dirty="0"/>
              <a:t>Robot total mass:       </a:t>
            </a:r>
            <a:r>
              <a:rPr lang="en-GB" dirty="0"/>
              <a:t>636 Kg</a:t>
            </a:r>
          </a:p>
          <a:p>
            <a:r>
              <a:rPr lang="en-GB" b="1" dirty="0"/>
              <a:t>KI:</a:t>
            </a:r>
            <a:r>
              <a:rPr lang="en-GB" dirty="0"/>
              <a:t>                                  1.2</a:t>
            </a:r>
          </a:p>
          <a:p>
            <a:r>
              <a:rPr lang="en-GB" b="1" dirty="0"/>
              <a:t>Object weight:</a:t>
            </a:r>
            <a:r>
              <a:rPr lang="en-GB" dirty="0"/>
              <a:t>            26.5 Kg</a:t>
            </a:r>
          </a:p>
        </p:txBody>
      </p:sp>
    </p:spTree>
    <p:extLst>
      <p:ext uri="{BB962C8B-B14F-4D97-AF65-F5344CB8AC3E}">
        <p14:creationId xmlns:p14="http://schemas.microsoft.com/office/powerpoint/2010/main" val="41496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578" fill="hold"/>
                                        <p:tgtEl>
                                          <p:spTgt spid="5"/>
                                        </p:tgtEl>
                                      </p:cBhvr>
                                    </p:cmd>
                                  </p:childTnLst>
                                </p:cTn>
                              </p:par>
                            </p:childTnLst>
                          </p:cTn>
                        </p:par>
                        <p:par>
                          <p:cTn id="7" fill="hold">
                            <p:stCondLst>
                              <p:cond delay="9578"/>
                            </p:stCondLst>
                            <p:childTnLst>
                              <p:par>
                                <p:cTn id="8" presetID="1" presetClass="mediacall" presetSubtype="0" fill="hold" nodeType="afterEffect">
                                  <p:stCondLst>
                                    <p:cond delay="0"/>
                                  </p:stCondLst>
                                  <p:childTnLst>
                                    <p:cmd type="call" cmd="playFrom(0.0)">
                                      <p:cBhvr>
                                        <p:cTn id="9" dur="1557"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5"/>
                </p:tgtEl>
              </p:cMediaNode>
            </p:video>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5"/>
                                        </p:tgtEl>
                                      </p:cBhvr>
                                    </p:cmd>
                                  </p:childTnLst>
                                </p:cTn>
                              </p:par>
                            </p:childTnLst>
                          </p:cTn>
                        </p:par>
                      </p:childTnLst>
                    </p:cTn>
                  </p:par>
                </p:childTnLst>
              </p:cTn>
              <p:nextCondLst>
                <p:cond evt="onClick" delay="0">
                  <p:tgtEl>
                    <p:spTgt spid="5"/>
                  </p:tgtEl>
                </p:cond>
              </p:nextCondLst>
            </p:seq>
            <p:video>
              <p:cMediaNode vol="80000">
                <p:cTn id="16" fill="hold" display="0">
                  <p:stCondLst>
                    <p:cond delay="indefinite"/>
                  </p:stCondLst>
                </p:cTn>
                <p:tgtEl>
                  <p:spTgt spid="8"/>
                </p:tgtEl>
              </p:cMediaNode>
            </p:video>
            <p:seq concurrent="1" nextAc="seek">
              <p:cTn id="17" restart="whenNotActive" fill="hold" evtFilter="cancelBubble" nodeType="interactiveSeq">
                <p:stCondLst>
                  <p:cond evt="onClick" delay="0">
                    <p:tgtEl>
                      <p:spTgt spid="8"/>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6091-8A27-4A22-A44E-E279F308256C}"/>
              </a:ext>
            </a:extLst>
          </p:cNvPr>
          <p:cNvSpPr>
            <a:spLocks noGrp="1"/>
          </p:cNvSpPr>
          <p:nvPr>
            <p:ph type="title"/>
          </p:nvPr>
        </p:nvSpPr>
        <p:spPr>
          <a:xfrm>
            <a:off x="12192" y="0"/>
            <a:ext cx="4038600" cy="566442"/>
          </a:xfrm>
        </p:spPr>
        <p:txBody>
          <a:bodyPr>
            <a:normAutofit/>
          </a:bodyPr>
          <a:lstStyle/>
          <a:p>
            <a:r>
              <a:rPr lang="en-GB" sz="3200" b="1" dirty="0">
                <a:latin typeface="+mn-lt"/>
              </a:rPr>
              <a:t> </a:t>
            </a:r>
            <a:r>
              <a:rPr lang="en-GB" sz="2600" b="1" dirty="0">
                <a:solidFill>
                  <a:schemeClr val="accent6">
                    <a:lumMod val="75000"/>
                  </a:schemeClr>
                </a:solidFill>
                <a:latin typeface="Arial" panose="020B0604020202020204" pitchFamily="34" charset="0"/>
                <a:ea typeface="Adobe Heiti Std R" panose="020B0400000000000000" pitchFamily="34" charset="-128"/>
                <a:cs typeface="Arial" panose="020B0604020202020204" pitchFamily="34" charset="0"/>
              </a:rPr>
              <a:t>Example</a:t>
            </a:r>
          </a:p>
        </p:txBody>
      </p:sp>
      <p:pic>
        <p:nvPicPr>
          <p:cNvPr id="3" name="Va2">
            <a:hlinkClick r:id="" action="ppaction://media"/>
            <a:extLst>
              <a:ext uri="{FF2B5EF4-FFF2-40B4-BE49-F238E27FC236}">
                <a16:creationId xmlns:a16="http://schemas.microsoft.com/office/drawing/2014/main" id="{53E2F400-29C1-4C1A-A2D0-65DEDB011A2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6"/>
          <a:stretch>
            <a:fillRect/>
          </a:stretch>
        </p:blipFill>
        <p:spPr>
          <a:xfrm>
            <a:off x="498812" y="1257244"/>
            <a:ext cx="4875478" cy="4824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pic>
        <p:nvPicPr>
          <p:cNvPr id="5" name="Vb2">
            <a:hlinkClick r:id="" action="ppaction://media"/>
            <a:extLst>
              <a:ext uri="{FF2B5EF4-FFF2-40B4-BE49-F238E27FC236}">
                <a16:creationId xmlns:a16="http://schemas.microsoft.com/office/drawing/2014/main" id="{E312DDFD-7B4E-4C49-8BC2-C9E51E07CD79}"/>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137558" y="1257244"/>
            <a:ext cx="4844100" cy="4824000"/>
          </a:xfrm>
          <a:prstGeom prst="snip2DiagRect">
            <a:avLst>
              <a:gd name="adj1" fmla="val 0"/>
              <a:gd name="adj2" fmla="val 6620"/>
            </a:avLst>
          </a:prstGeom>
          <a:ln w="31750" cap="flat">
            <a:gradFill>
              <a:gsLst>
                <a:gs pos="0">
                  <a:srgbClr val="7F7F7F"/>
                </a:gs>
                <a:gs pos="100000">
                  <a:srgbClr val="F2F2F2"/>
                </a:gs>
              </a:gsLst>
              <a:lin ang="2700000" scaled="1"/>
            </a:gradFill>
          </a:ln>
          <a:effectLst>
            <a:glow rad="101600">
              <a:srgbClr val="969696">
                <a:alpha val="40000"/>
              </a:srgbClr>
            </a:glow>
          </a:effectLst>
          <a:scene3d>
            <a:camera prst="orthographicFront"/>
            <a:lightRig rig="twoPt" dir="t"/>
          </a:scene3d>
          <a:sp3d contourW="25400">
            <a:contourClr>
              <a:srgbClr val="262626"/>
            </a:contourClr>
          </a:sp3d>
        </p:spPr>
      </p:pic>
      <p:sp>
        <p:nvSpPr>
          <p:cNvPr id="4" name="Rectangle 3">
            <a:extLst>
              <a:ext uri="{FF2B5EF4-FFF2-40B4-BE49-F238E27FC236}">
                <a16:creationId xmlns:a16="http://schemas.microsoft.com/office/drawing/2014/main" id="{F2856D09-8C69-42A9-B4A6-1DC81130C8DB}"/>
              </a:ext>
            </a:extLst>
          </p:cNvPr>
          <p:cNvSpPr/>
          <p:nvPr/>
        </p:nvSpPr>
        <p:spPr>
          <a:xfrm>
            <a:off x="2344690" y="5487111"/>
            <a:ext cx="1183722" cy="400110"/>
          </a:xfrm>
          <a:prstGeom prst="rect">
            <a:avLst/>
          </a:prstGeom>
        </p:spPr>
        <p:txBody>
          <a:bodyPr wrap="none">
            <a:spAutoFit/>
          </a:bodyPr>
          <a:lstStyle/>
          <a:p>
            <a:r>
              <a:rPr lang="en-GB" sz="2000" b="1" dirty="0">
                <a:solidFill>
                  <a:schemeClr val="bg1">
                    <a:lumMod val="95000"/>
                  </a:schemeClr>
                </a:solidFill>
              </a:rPr>
              <a:t>Cast Iron </a:t>
            </a:r>
          </a:p>
        </p:txBody>
      </p:sp>
      <p:sp>
        <p:nvSpPr>
          <p:cNvPr id="6" name="Rectangle 5">
            <a:extLst>
              <a:ext uri="{FF2B5EF4-FFF2-40B4-BE49-F238E27FC236}">
                <a16:creationId xmlns:a16="http://schemas.microsoft.com/office/drawing/2014/main" id="{4CA30226-1633-4710-9BD4-39C05A8463AD}"/>
              </a:ext>
            </a:extLst>
          </p:cNvPr>
          <p:cNvSpPr/>
          <p:nvPr/>
        </p:nvSpPr>
        <p:spPr>
          <a:xfrm>
            <a:off x="7880576" y="5487111"/>
            <a:ext cx="1358064" cy="400110"/>
          </a:xfrm>
          <a:prstGeom prst="rect">
            <a:avLst/>
          </a:prstGeom>
        </p:spPr>
        <p:txBody>
          <a:bodyPr wrap="none">
            <a:spAutoFit/>
          </a:bodyPr>
          <a:lstStyle/>
          <a:p>
            <a:r>
              <a:rPr lang="en-GB" sz="2000" b="1" dirty="0">
                <a:solidFill>
                  <a:schemeClr val="bg1">
                    <a:lumMod val="95000"/>
                  </a:schemeClr>
                </a:solidFill>
              </a:rPr>
              <a:t>Aluminium</a:t>
            </a:r>
          </a:p>
        </p:txBody>
      </p:sp>
      <p:sp>
        <p:nvSpPr>
          <p:cNvPr id="7" name="TextBox 6">
            <a:extLst>
              <a:ext uri="{FF2B5EF4-FFF2-40B4-BE49-F238E27FC236}">
                <a16:creationId xmlns:a16="http://schemas.microsoft.com/office/drawing/2014/main" id="{8D723DE6-8956-4217-BEA5-3DCBA6B1CEED}"/>
              </a:ext>
            </a:extLst>
          </p:cNvPr>
          <p:cNvSpPr txBox="1"/>
          <p:nvPr/>
        </p:nvSpPr>
        <p:spPr>
          <a:xfrm>
            <a:off x="2371817" y="6236068"/>
            <a:ext cx="7292381" cy="369332"/>
          </a:xfrm>
          <a:prstGeom prst="rect">
            <a:avLst/>
          </a:prstGeom>
          <a:noFill/>
        </p:spPr>
        <p:txBody>
          <a:bodyPr wrap="none" rtlCol="0">
            <a:spAutoFit/>
          </a:bodyPr>
          <a:lstStyle/>
          <a:p>
            <a:r>
              <a:rPr lang="en-GB" dirty="0"/>
              <a:t>Time [sec]                                                                                                  Time [sec]</a:t>
            </a:r>
          </a:p>
        </p:txBody>
      </p:sp>
      <p:sp>
        <p:nvSpPr>
          <p:cNvPr id="8" name="TextBox 7">
            <a:extLst>
              <a:ext uri="{FF2B5EF4-FFF2-40B4-BE49-F238E27FC236}">
                <a16:creationId xmlns:a16="http://schemas.microsoft.com/office/drawing/2014/main" id="{9D2AE56D-4B54-42D6-B30A-A50977D0AA39}"/>
              </a:ext>
            </a:extLst>
          </p:cNvPr>
          <p:cNvSpPr txBox="1"/>
          <p:nvPr/>
        </p:nvSpPr>
        <p:spPr>
          <a:xfrm rot="16200000">
            <a:off x="-724779" y="3103244"/>
            <a:ext cx="1843262" cy="369332"/>
          </a:xfrm>
          <a:prstGeom prst="rect">
            <a:avLst/>
          </a:prstGeom>
          <a:noFill/>
        </p:spPr>
        <p:txBody>
          <a:bodyPr wrap="none" rtlCol="0">
            <a:spAutoFit/>
          </a:bodyPr>
          <a:lstStyle/>
          <a:p>
            <a:r>
              <a:rPr lang="en-GB" dirty="0"/>
              <a:t>Displacement [m]</a:t>
            </a:r>
          </a:p>
        </p:txBody>
      </p:sp>
    </p:spTree>
    <p:extLst>
      <p:ext uri="{BB962C8B-B14F-4D97-AF65-F5344CB8AC3E}">
        <p14:creationId xmlns:p14="http://schemas.microsoft.com/office/powerpoint/2010/main" val="46104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00" fill="hold"/>
                                        <p:tgtEl>
                                          <p:spTgt spid="3"/>
                                        </p:tgtEl>
                                      </p:cBhvr>
                                    </p:cmd>
                                  </p:childTnLst>
                                </p:cTn>
                              </p:par>
                            </p:childTnLst>
                          </p:cTn>
                        </p:par>
                        <p:par>
                          <p:cTn id="7" fill="hold">
                            <p:stCondLst>
                              <p:cond delay="11300"/>
                            </p:stCondLst>
                            <p:childTnLst>
                              <p:par>
                                <p:cTn id="8" presetID="1" presetClass="mediacall" presetSubtype="0" fill="hold" nodeType="afterEffect">
                                  <p:stCondLst>
                                    <p:cond delay="0"/>
                                  </p:stCondLst>
                                  <p:childTnLst>
                                    <p:cmd type="call" cmd="playFrom(0.0)">
                                      <p:cBhvr>
                                        <p:cTn id="9" dur="137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3"/>
                </p:tgtEl>
              </p:cMediaNode>
            </p:video>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vol="80000">
                <p:cTn id="16" fill="hold" display="0">
                  <p:stCondLst>
                    <p:cond delay="indefinite"/>
                  </p:stCondLst>
                </p:cTn>
                <p:tgtEl>
                  <p:spTgt spid="5"/>
                </p:tgtEl>
              </p:cMediaNode>
            </p:video>
            <p:seq concurrent="1" nextAc="seek">
              <p:cTn id="17" restart="whenNotActive" fill="hold" evtFilter="cancelBubble" nodeType="interactiveSeq">
                <p:stCondLst>
                  <p:cond evt="onClick" delay="0">
                    <p:tgtEl>
                      <p:spTgt spid="5"/>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1939</TotalTime>
  <Words>807</Words>
  <Application>Microsoft Office PowerPoint</Application>
  <PresentationFormat>Widescreen</PresentationFormat>
  <Paragraphs>174</Paragraphs>
  <Slides>22</Slides>
  <Notes>0</Notes>
  <HiddenSlides>0</HiddenSlides>
  <MMClips>8</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Aharoni</vt:lpstr>
      <vt:lpstr>Arial</vt:lpstr>
      <vt:lpstr>Calibri</vt:lpstr>
      <vt:lpstr>Calibri Light</vt:lpstr>
      <vt:lpstr>Cambria Math</vt:lpstr>
      <vt:lpstr>Courier New</vt:lpstr>
      <vt:lpstr>Roboto</vt:lpstr>
      <vt:lpstr>Office Theme</vt:lpstr>
      <vt:lpstr>Automation &amp; Robotics PID CONTROL Routh-Hurwitz Stability Criterion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Recap on the previous lecture</vt:lpstr>
      <vt:lpstr> Examples of mechanical interactions</vt:lpstr>
      <vt:lpstr>PowerPoint Presentation</vt:lpstr>
      <vt:lpstr>PowerPoint Presentation</vt:lpstr>
      <vt:lpstr> </vt:lpstr>
      <vt:lpstr> Example1: Robot motion controller</vt:lpstr>
      <vt:lpstr> Example1: Robot motion controller</vt:lpstr>
      <vt:lpstr> Example1: Robot motion controller</vt:lpstr>
      <vt:lpstr>Robot in isolation</vt:lpstr>
      <vt:lpstr>Robot interacts with environment</vt:lpstr>
      <vt:lpstr>Robot interacts with environment</vt:lpstr>
      <vt:lpstr>Robot interacts with environment</vt:lpstr>
      <vt:lpstr> Example</vt:lpstr>
      <vt:lpstr>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Saber Mahboubi Heydarabad</dc:creator>
  <cp:lastModifiedBy>Saber Mahboubi Heydarabad</cp:lastModifiedBy>
  <cp:revision>115</cp:revision>
  <dcterms:created xsi:type="dcterms:W3CDTF">2021-03-06T22:16:34Z</dcterms:created>
  <dcterms:modified xsi:type="dcterms:W3CDTF">2025-11-09T19:20:51Z</dcterms:modified>
</cp:coreProperties>
</file>