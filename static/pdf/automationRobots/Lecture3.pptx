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4974" r:id="rId2"/>
    <p:sldMasterId id="2147484990" r:id="rId3"/>
  </p:sldMasterIdLst>
  <p:notesMasterIdLst>
    <p:notesMasterId r:id="rId63"/>
  </p:notesMasterIdLst>
  <p:handoutMasterIdLst>
    <p:handoutMasterId r:id="rId64"/>
  </p:handoutMasterIdLst>
  <p:sldIdLst>
    <p:sldId id="300" r:id="rId4"/>
    <p:sldId id="301" r:id="rId5"/>
    <p:sldId id="447" r:id="rId6"/>
    <p:sldId id="448" r:id="rId7"/>
    <p:sldId id="449" r:id="rId8"/>
    <p:sldId id="450" r:id="rId9"/>
    <p:sldId id="451" r:id="rId10"/>
    <p:sldId id="452" r:id="rId11"/>
    <p:sldId id="518" r:id="rId12"/>
    <p:sldId id="556" r:id="rId13"/>
    <p:sldId id="453" r:id="rId14"/>
    <p:sldId id="456" r:id="rId15"/>
    <p:sldId id="457" r:id="rId16"/>
    <p:sldId id="458" r:id="rId17"/>
    <p:sldId id="459" r:id="rId18"/>
    <p:sldId id="460" r:id="rId19"/>
    <p:sldId id="461" r:id="rId20"/>
    <p:sldId id="462" r:id="rId21"/>
    <p:sldId id="463" r:id="rId22"/>
    <p:sldId id="464" r:id="rId23"/>
    <p:sldId id="465" r:id="rId24"/>
    <p:sldId id="466" r:id="rId25"/>
    <p:sldId id="467" r:id="rId26"/>
    <p:sldId id="468" r:id="rId27"/>
    <p:sldId id="469" r:id="rId28"/>
    <p:sldId id="470" r:id="rId29"/>
    <p:sldId id="475" r:id="rId30"/>
    <p:sldId id="480" r:id="rId31"/>
    <p:sldId id="481" r:id="rId32"/>
    <p:sldId id="482" r:id="rId33"/>
    <p:sldId id="484" r:id="rId34"/>
    <p:sldId id="557" r:id="rId35"/>
    <p:sldId id="485" r:id="rId36"/>
    <p:sldId id="494" r:id="rId37"/>
    <p:sldId id="495" r:id="rId38"/>
    <p:sldId id="496" r:id="rId39"/>
    <p:sldId id="497" r:id="rId40"/>
    <p:sldId id="499" r:id="rId41"/>
    <p:sldId id="500" r:id="rId42"/>
    <p:sldId id="501" r:id="rId43"/>
    <p:sldId id="519" r:id="rId44"/>
    <p:sldId id="520" r:id="rId45"/>
    <p:sldId id="521" r:id="rId46"/>
    <p:sldId id="522" r:id="rId47"/>
    <p:sldId id="523" r:id="rId48"/>
    <p:sldId id="524" r:id="rId49"/>
    <p:sldId id="528" r:id="rId50"/>
    <p:sldId id="531" r:id="rId51"/>
    <p:sldId id="534" r:id="rId52"/>
    <p:sldId id="542" r:id="rId53"/>
    <p:sldId id="561" r:id="rId54"/>
    <p:sldId id="562" r:id="rId55"/>
    <p:sldId id="564" r:id="rId56"/>
    <p:sldId id="563" r:id="rId57"/>
    <p:sldId id="565" r:id="rId58"/>
    <p:sldId id="566" r:id="rId59"/>
    <p:sldId id="559" r:id="rId60"/>
    <p:sldId id="558" r:id="rId61"/>
    <p:sldId id="554" r:id="rId62"/>
  </p:sldIdLst>
  <p:sldSz cx="9144000" cy="6858000" type="screen4x3"/>
  <p:notesSz cx="6797675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6" autoAdjust="0"/>
    <p:restoredTop sz="94302" autoAdjust="0"/>
  </p:normalViewPr>
  <p:slideViewPr>
    <p:cSldViewPr snapToGrid="0" snapToObjects="1">
      <p:cViewPr varScale="1">
        <p:scale>
          <a:sx n="84" d="100"/>
          <a:sy n="84" d="100"/>
        </p:scale>
        <p:origin x="14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6" d="100"/>
          <a:sy n="76" d="100"/>
        </p:scale>
        <p:origin x="-2166" y="-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100" y="61913"/>
            <a:ext cx="5699125" cy="66516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1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3812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DF0CDD-250B-44FA-B365-4CE5BD183BFF}" type="datetimeFigureOut">
              <a:rPr lang="en-GB"/>
              <a:pPr>
                <a:defRPr/>
              </a:pPr>
              <a:t>08/11/2023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8B4681-E8FC-4223-855F-F6D0206950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5648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7BFCB-54E2-4FAD-ABE5-6D07B5A6197A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04992B-7A2F-4E49-836D-152A541CA74E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47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59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038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192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567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75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76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897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555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04992B-7A2F-4E49-836D-152A541CA74E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599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8441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859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62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062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26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21607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1E0CB55-7894-41DE-AA2F-2B83CE7B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25C880-DF4A-47A3-82D7-FC185C3746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4AA89C7-1412-40FB-A5AF-F73BE273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4DA77A7-80FC-496D-9A08-26D76FAA7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15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912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5040F1CA-107E-4C02-9350-2638B13676DD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AA4DB-3605-4FA3-B073-F6157C791C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88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" y="2905124"/>
            <a:ext cx="8175801" cy="322104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60EB70C-1D28-4D0E-9EBF-F8A612BE2157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6146ED-8A61-444D-BED3-FE896BEB6B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19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A77813-D615-4EF5-8121-05F040F7EA32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B63B96-E220-44D6-A3BE-F55E548856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998" y="2905125"/>
            <a:ext cx="3984801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2905125"/>
            <a:ext cx="3924300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C8ADA1B-B27B-44DF-94FD-5F80705E82A6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297BDDE-412F-465E-9C0E-4A7A756F42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77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1475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5225"/>
            <a:ext cx="3986390" cy="2420937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911475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5225"/>
            <a:ext cx="4041775" cy="24209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1F0045E-A52B-400C-BA7C-0AB7F1517D1E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9493AE6-02A4-4579-B6A8-67567F8C0C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12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14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E88F20-1AAB-4FD3-BF23-27A9452A5CF6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161F95E-9EB3-41D2-AD4C-9F0FE5ADF1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48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49DD050-0C74-48C3-8BCE-E6188004D976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01412CD-2C22-49FD-A854-1BB75DC92D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01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5F7BE7A-A994-4833-8C88-7E73C52F6179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5FFA643-5063-437F-859D-8FD1C6FE38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823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3475"/>
            <a:ext cx="3008313" cy="499268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29FA7F8-151E-40BF-B9EE-6D203BF2458B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D61F0F-4D0B-4117-9D0C-4C6BC2AAF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89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90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0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F35BFFA0-2FB4-485B-B508-3C350D2D46BA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2D1AF6-8CCE-453E-A992-4ACAED152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91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30074" y="342900"/>
            <a:ext cx="7956725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D5E2B5-B450-4682-A92A-894F7F2B2141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824A4E3-28B3-405D-957D-37D13CC524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1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0555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5321716-F687-4FF8-9100-52DE8ECBB97A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D9506A1-0073-4CC4-A378-D74D20A87C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708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0"/>
            <a:ext cx="8305800" cy="1828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19692AF-231A-4B2B-B713-B87B19A23A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762000" y="6553200"/>
            <a:ext cx="9906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MS PGothic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C36571D-E169-4898-8E82-F40B26A27D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58200" y="6553200"/>
            <a:ext cx="609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C00DDB2-C99B-4CB4-B758-924F315FFF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080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>
            <a:extLst>
              <a:ext uri="{FF2B5EF4-FFF2-40B4-BE49-F238E27FC236}">
                <a16:creationId xmlns:a16="http://schemas.microsoft.com/office/drawing/2014/main" id="{DB7008E6-9B80-45A9-B908-D775AC055D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3437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5CBA3E-02F4-45C2-9DB7-10A2DDB5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666F6D7A-3FE6-449C-9D35-6325E4E404F1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F363E4-34A5-4D43-8B13-8E21BCD3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38C9D6-57A1-4CCB-BCBF-897BD005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561FC552-5CEA-42B9-B736-73799257E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99759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>
            <a:extLst>
              <a:ext uri="{FF2B5EF4-FFF2-40B4-BE49-F238E27FC236}">
                <a16:creationId xmlns:a16="http://schemas.microsoft.com/office/drawing/2014/main" id="{09EE0583-30C1-4D87-B4E4-8C30B12053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F351ECF-35CA-485D-AB97-F8970D07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0D67D8E3-0FF1-4B17-B47F-3F583200D70F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EBC2DEB-16F6-4222-9191-C6DA324C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0983CA-518D-48AB-87D1-F363A8BF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7DEB98B-F419-432A-8EC5-85F45BFEC0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04415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ASTER_Salford logo_RGB.png">
            <a:extLst>
              <a:ext uri="{FF2B5EF4-FFF2-40B4-BE49-F238E27FC236}">
                <a16:creationId xmlns:a16="http://schemas.microsoft.com/office/drawing/2014/main" id="{B272519F-078D-43EC-8973-878FDDDB9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166688"/>
            <a:ext cx="137318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3063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6813"/>
            <a:ext cx="3986389" cy="2419349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914651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6813"/>
            <a:ext cx="4041775" cy="241935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A02CD2FB-C388-4A41-8367-CA8764F5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DA0C308-73B2-4BA0-8B28-E5925134C00C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2F703D84-9931-4E11-8DEF-0B756823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8301B85-1B62-4FD5-BCC5-E96829D0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535ABCB0-6E3A-45BE-8368-9C81997D3B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88397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STER_Salford logo_RGB.png">
            <a:extLst>
              <a:ext uri="{FF2B5EF4-FFF2-40B4-BE49-F238E27FC236}">
                <a16:creationId xmlns:a16="http://schemas.microsoft.com/office/drawing/2014/main" id="{914E1B34-AFC9-4389-ADFF-15935D1053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166688"/>
            <a:ext cx="137318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81574B1-AAA8-4A09-B48E-D0A5B434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A9DF6C3-BB5A-45CA-80C9-79E549063D11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AAE5C73-3021-4647-BC4C-83ED67DD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8456983-527C-4E18-B6F9-60C33F67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131E157-60D8-4DCE-9E6D-160D9419C5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751913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79ACF6C8-2932-4599-8310-31D47141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071728F1-9DBA-4B28-B0A1-4F40009CC47B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5A01C06-9992-4FC0-B2DE-3F29620F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3094853-5C6F-4BB6-ACDF-920008E6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F56906D-E3F0-4BC3-B11B-B4805729F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73427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ASTER_Salford logo_RGB.png">
            <a:extLst>
              <a:ext uri="{FF2B5EF4-FFF2-40B4-BE49-F238E27FC236}">
                <a16:creationId xmlns:a16="http://schemas.microsoft.com/office/drawing/2014/main" id="{781EC1D7-D7AC-45D2-9B5E-B4F1090F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166688"/>
            <a:ext cx="137318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34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3200"/>
            </a:lvl1pPr>
            <a:lvl2pPr>
              <a:buClr>
                <a:srgbClr val="C60C30"/>
              </a:buClr>
              <a:defRPr sz="2800"/>
            </a:lvl2pPr>
            <a:lvl3pPr>
              <a:buClr>
                <a:srgbClr val="C60C30"/>
              </a:buClr>
              <a:defRPr sz="2400"/>
            </a:lvl3pPr>
            <a:lvl4pPr>
              <a:buClr>
                <a:srgbClr val="C60C30"/>
              </a:buClr>
              <a:defRPr sz="2000"/>
            </a:lvl4pPr>
            <a:lvl5pPr>
              <a:buClr>
                <a:srgbClr val="C60C30"/>
              </a:buCl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71676"/>
            <a:ext cx="3008313" cy="41544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13832B7-C51F-43F4-8B7B-2B6677DE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447B6D0-FBE5-41AB-BDF2-96C4D3D9770B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0E4E2E0-3C02-49D5-98CE-BC9C8B0F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5B484F3-F9E4-46C6-9D52-94660DEA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C347939-8A90-4487-99FF-8FCF64912C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18053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ASTER_Salford logo_RGB.png">
            <a:extLst>
              <a:ext uri="{FF2B5EF4-FFF2-40B4-BE49-F238E27FC236}">
                <a16:creationId xmlns:a16="http://schemas.microsoft.com/office/drawing/2014/main" id="{D4C7E6F2-1647-47C1-948C-7EC3F98979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166688"/>
            <a:ext cx="137318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47825" y="342900"/>
            <a:ext cx="7038974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BC9CD0-24BD-448A-BB6D-D85BB90C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E974F9-0419-4000-9F1A-1C3BA4867D90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D5B849-337A-4E9D-A3BF-B3D9EC90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5A25EF-9316-47BC-A20E-2F56750F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892EBAD1-A93D-4ACB-BE13-57FB5223F9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52553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ASTER_Salford logo_RGB.png">
            <a:extLst>
              <a:ext uri="{FF2B5EF4-FFF2-40B4-BE49-F238E27FC236}">
                <a16:creationId xmlns:a16="http://schemas.microsoft.com/office/drawing/2014/main" id="{2D054C28-38D8-4366-85D4-AABE4F7869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675" y="60325"/>
            <a:ext cx="102711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1552575"/>
            <a:ext cx="2057400" cy="457358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30F556-4EEE-466C-A84E-FCCCEE2A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EAA4BAE-D2C3-4E6E-A8EE-A02EF6B726E4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1E8121-DEEA-4987-B032-67452B3F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C794FE-99D5-45AF-A5C5-86AF3491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7D25777D-2009-4260-BE5F-621554F7E8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03563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4679F-A83E-46DE-A64D-7BF2D606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9F290B99-1ABF-4E4F-B0DE-02DECFCE256D}" type="datetimeFigureOut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D8B0-8D35-4076-A4E9-9C0F8AFA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BBCC-753E-4A85-BD28-007D69AC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53B8C46C-887B-4591-B1B6-049C869762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934837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47689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5">
            <a:extLst>
              <a:ext uri="{FF2B5EF4-FFF2-40B4-BE49-F238E27FC236}">
                <a16:creationId xmlns:a16="http://schemas.microsoft.com/office/drawing/2014/main" id="{8AA4ABF5-11C6-4CA2-88E4-207EB319C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プレースホルダー 3"/>
          <p:cNvSpPr>
            <a:spLocks noGrp="1"/>
          </p:cNvSpPr>
          <p:nvPr>
            <p:ph type="body" sz="quarter" idx="12"/>
          </p:nvPr>
        </p:nvSpPr>
        <p:spPr>
          <a:xfrm>
            <a:off x="679450" y="2675669"/>
            <a:ext cx="5843588" cy="58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テキスト プレースホルダー 7"/>
          <p:cNvSpPr>
            <a:spLocks noGrp="1"/>
          </p:cNvSpPr>
          <p:nvPr>
            <p:ph type="body" sz="quarter" idx="13"/>
          </p:nvPr>
        </p:nvSpPr>
        <p:spPr>
          <a:xfrm>
            <a:off x="679450" y="3245582"/>
            <a:ext cx="5865813" cy="5235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95720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04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912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5040F1CA-107E-4C02-9350-2638B13676DD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AA4DB-3605-4FA3-B073-F6157C791C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54848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" y="2905124"/>
            <a:ext cx="8175801" cy="322104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60EB70C-1D28-4D0E-9EBF-F8A612BE2157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6146ED-8A61-444D-BED3-FE896BEB6B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5166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A77813-D615-4EF5-8121-05F040F7EA32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B63B96-E220-44D6-A3BE-F55E548856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5265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998" y="2905125"/>
            <a:ext cx="3984801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2905125"/>
            <a:ext cx="3924300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C8ADA1B-B27B-44DF-94FD-5F80705E82A6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297BDDE-412F-465E-9C0E-4A7A756F42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9185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1475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5225"/>
            <a:ext cx="3986390" cy="2420937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911475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5225"/>
            <a:ext cx="4041775" cy="24209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1F0045E-A52B-400C-BA7C-0AB7F1517D1E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9493AE6-02A4-4579-B6A8-67567F8C0C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9272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246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E88F20-1AAB-4FD3-BF23-27A9452A5CF6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161F95E-9EB3-41D2-AD4C-9F0FE5ADF1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76780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49DD050-0C74-48C3-8BCE-E6188004D976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01412CD-2C22-49FD-A854-1BB75DC92D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0168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5F7BE7A-A994-4833-8C88-7E73C52F6179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5FFA643-5063-437F-859D-8FD1C6FE38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5827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3475"/>
            <a:ext cx="3008313" cy="499268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29FA7F8-151E-40BF-B9EE-6D203BF2458B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D61F0F-4D0B-4117-9D0C-4C6BC2AAF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54854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90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0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F35BFFA0-2FB4-485B-B508-3C350D2D46BA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2D1AF6-8CCE-453E-A992-4ACAED152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3585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30074" y="342900"/>
            <a:ext cx="7956725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D5E2B5-B450-4682-A92A-894F7F2B2141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824A4E3-28B3-405D-957D-37D13CC524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5917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0555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5321716-F687-4FF8-9100-52DE8ECBB97A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D9506A1-0073-4CC4-A378-D74D20A87C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5871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0"/>
            <a:ext cx="8305800" cy="1828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19692AF-231A-4B2B-B713-B87B19A23A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762000" y="6553200"/>
            <a:ext cx="9906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MS PGothic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C36571D-E169-4898-8E82-F40B26A27D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58200" y="6553200"/>
            <a:ext cx="609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C00DDB2-C99B-4CB4-B758-924F315FFF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927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0" r:id="rId1"/>
    <p:sldLayoutId id="2147484961" r:id="rId2"/>
    <p:sldLayoutId id="2147484962" r:id="rId3"/>
    <p:sldLayoutId id="2147484963" r:id="rId4"/>
    <p:sldLayoutId id="2147484964" r:id="rId5"/>
    <p:sldLayoutId id="2147484965" r:id="rId6"/>
    <p:sldLayoutId id="2147484966" r:id="rId7"/>
    <p:sldLayoutId id="2147484967" r:id="rId8"/>
    <p:sldLayoutId id="2147484968" r:id="rId9"/>
    <p:sldLayoutId id="2147484969" r:id="rId10"/>
    <p:sldLayoutId id="2147484970" r:id="rId11"/>
    <p:sldLayoutId id="2147484971" r:id="rId12"/>
    <p:sldLayoutId id="2147484972" r:id="rId13"/>
    <p:sldLayoutId id="2147485005" r:id="rId14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ＭＳ Ｐゴシック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>
            <a:extLst>
              <a:ext uri="{FF2B5EF4-FFF2-40B4-BE49-F238E27FC236}">
                <a16:creationId xmlns:a16="http://schemas.microsoft.com/office/drawing/2014/main" id="{C91452F7-3B49-49B2-93C1-DE4113D40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37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5" r:id="rId1"/>
    <p:sldLayoutId id="2147484976" r:id="rId2"/>
    <p:sldLayoutId id="2147484977" r:id="rId3"/>
    <p:sldLayoutId id="2147484978" r:id="rId4"/>
    <p:sldLayoutId id="2147484979" r:id="rId5"/>
    <p:sldLayoutId id="2147484980" r:id="rId6"/>
    <p:sldLayoutId id="2147484981" r:id="rId7"/>
    <p:sldLayoutId id="2147484982" r:id="rId8"/>
    <p:sldLayoutId id="2147484983" r:id="rId9"/>
    <p:sldLayoutId id="2147484984" r:id="rId10"/>
    <p:sldLayoutId id="2147484986" r:id="rId11"/>
    <p:sldLayoutId id="2147484989" r:id="rId12"/>
  </p:sldLayoutIdLst>
  <p:transition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MS PGothic" pitchFamily="34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MS PGothic" pitchFamily="34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MS PGothic" pitchFamily="34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MS PGothic" pitchFamily="34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MS PGothic" pitchFamily="34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13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1" r:id="rId1"/>
    <p:sldLayoutId id="2147484992" r:id="rId2"/>
    <p:sldLayoutId id="2147484993" r:id="rId3"/>
    <p:sldLayoutId id="2147484994" r:id="rId4"/>
    <p:sldLayoutId id="2147484995" r:id="rId5"/>
    <p:sldLayoutId id="2147484996" r:id="rId6"/>
    <p:sldLayoutId id="2147484997" r:id="rId7"/>
    <p:sldLayoutId id="2147484998" r:id="rId8"/>
    <p:sldLayoutId id="2147484999" r:id="rId9"/>
    <p:sldLayoutId id="2147485000" r:id="rId10"/>
    <p:sldLayoutId id="2147485001" r:id="rId11"/>
    <p:sldLayoutId id="2147485002" r:id="rId12"/>
    <p:sldLayoutId id="2147485003" r:id="rId13"/>
    <p:sldLayoutId id="2147485004" r:id="rId14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ＭＳ Ｐゴシック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8.w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3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52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6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8.wmf"/><Relationship Id="rId7" Type="http://schemas.openxmlformats.org/officeDocument/2006/relationships/image" Target="../media/image61.png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3.bin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5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 bwMode="auto">
          <a:xfrm>
            <a:off x="819150" y="2047875"/>
            <a:ext cx="8324850" cy="804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 dirty="0"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BEng (Hons) Control and Automation</a:t>
            </a:r>
            <a:endParaRPr lang="en-US" altLang="en-US" sz="3600" i="1" dirty="0">
              <a:latin typeface="Arial Bold" panose="020B0704020202020204" pitchFamily="34" charset="0"/>
              <a:ea typeface="ＭＳ Ｐゴシック" panose="020B0600070205080204" pitchFamily="34" charset="-128"/>
              <a:cs typeface="Arial Bold" panose="020B0704020202020204" pitchFamily="34" charset="0"/>
            </a:endParaRP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819150" y="2944813"/>
            <a:ext cx="7772400" cy="347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Automation and Robotics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CRN: 50295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 Saber </a:t>
            </a:r>
            <a:r>
              <a:rPr lang="en-US" altLang="en-US" sz="2800" b="1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Mahboubi</a:t>
            </a:r>
            <a:endParaRPr lang="en-US" altLang="en-US" sz="28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Email:    s.mahboubiheydarabad@salford.ac.uk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11175" y="1066800"/>
            <a:ext cx="8175625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Lecture Content: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Second Order Systems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and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PID controllers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836712"/>
            <a:ext cx="8856984" cy="590465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400" dirty="0"/>
              <a:t>We have already discussed the affect of location of the  pole on the transient response of 1</a:t>
            </a:r>
            <a:r>
              <a:rPr lang="en-GB" sz="2400" baseline="30000" dirty="0"/>
              <a:t>st</a:t>
            </a:r>
            <a:r>
              <a:rPr lang="en-GB" sz="2400" dirty="0"/>
              <a:t> order systems.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Compared to the simplicity of a first-order system, a second-order system exhibits a wide range of responses that must be </a:t>
            </a:r>
            <a:r>
              <a:rPr lang="en-GB" sz="2400" dirty="0" err="1"/>
              <a:t>analyzed</a:t>
            </a:r>
            <a:r>
              <a:rPr lang="en-GB" sz="2400" dirty="0"/>
              <a:t> and described.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Varying a first-order system's parameters (T, K) simply changes the speed and offset of the response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Whereas, changes in the parameters of a second-order system can change the </a:t>
            </a:r>
            <a:r>
              <a:rPr lang="en-GB" sz="2400" i="1" dirty="0">
                <a:solidFill>
                  <a:srgbClr val="FF0000"/>
                </a:solidFill>
              </a:rPr>
              <a:t>form</a:t>
            </a:r>
            <a:r>
              <a:rPr lang="en-GB" sz="2400" i="1" dirty="0"/>
              <a:t> </a:t>
            </a:r>
            <a:r>
              <a:rPr lang="en-GB" sz="2400" dirty="0"/>
              <a:t>of</a:t>
            </a:r>
            <a:r>
              <a:rPr lang="en-GB" sz="2400" i="1" dirty="0"/>
              <a:t> </a:t>
            </a:r>
            <a:r>
              <a:rPr lang="en-GB" sz="2400" dirty="0"/>
              <a:t>the response.</a:t>
            </a:r>
          </a:p>
          <a:p>
            <a:pPr algn="just"/>
            <a:endParaRPr lang="en-GB" sz="2400" dirty="0"/>
          </a:p>
          <a:p>
            <a:pPr algn="just"/>
            <a:r>
              <a:rPr lang="en-US" sz="2400" dirty="0">
                <a:cs typeface="Arial" charset="0"/>
              </a:rPr>
              <a:t>A second-order system can display characteristics much like a first-order system or, depending on component values, display damped or </a:t>
            </a:r>
            <a:r>
              <a:rPr lang="en-US" sz="2400" i="1" dirty="0">
                <a:solidFill>
                  <a:schemeClr val="tx2"/>
                </a:solidFill>
                <a:cs typeface="Arial" charset="0"/>
              </a:rPr>
              <a:t>pure oscillations</a:t>
            </a:r>
            <a:r>
              <a:rPr lang="en-US" sz="2400" dirty="0">
                <a:cs typeface="Arial" charset="0"/>
              </a:rPr>
              <a:t> for its </a:t>
            </a:r>
            <a:r>
              <a:rPr lang="en-US" sz="2400" i="1" dirty="0">
                <a:cs typeface="Arial" charset="0"/>
              </a:rPr>
              <a:t>transient response</a:t>
            </a:r>
            <a:r>
              <a:rPr lang="en-US" sz="2400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441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692696"/>
            <a:ext cx="8964488" cy="576064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cs typeface="Arial" charset="0"/>
              </a:rPr>
              <a:t>A general second-order system (</a:t>
            </a:r>
            <a:r>
              <a:rPr lang="en-US" sz="2000" dirty="0">
                <a:solidFill>
                  <a:srgbClr val="FF0000"/>
                </a:solidFill>
                <a:cs typeface="Arial" charset="0"/>
              </a:rPr>
              <a:t>without zeros</a:t>
            </a:r>
            <a:r>
              <a:rPr lang="en-US" sz="2000" dirty="0">
                <a:cs typeface="Arial" charset="0"/>
              </a:rPr>
              <a:t>) is characterized by the following transfer function</a:t>
            </a:r>
            <a:r>
              <a:rPr lang="en-US" dirty="0">
                <a:cs typeface="Arial" charset="0"/>
              </a:rPr>
              <a:t>.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683568" y="5517232"/>
          <a:ext cx="3272731" cy="1038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418918" progId="Equation.3">
                  <p:embed/>
                </p:oleObj>
              </mc:Choice>
              <mc:Fallback>
                <p:oleObj name="Equation" r:id="rId2" imgW="1320227" imgH="418918" progId="Equation.3">
                  <p:embed/>
                  <p:pic>
                    <p:nvPicPr>
                      <p:cNvPr id="1966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517232"/>
                        <a:ext cx="3272731" cy="10388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37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24424" y="1916832"/>
            <a:ext cx="4795848" cy="199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3568" y="4077072"/>
          <a:ext cx="2820740" cy="106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457200" progId="Equation.3">
                  <p:embed/>
                </p:oleObj>
              </mc:Choice>
              <mc:Fallback>
                <p:oleObj name="Equation" r:id="rId5" imgW="1206360" imgH="4572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077072"/>
                        <a:ext cx="2820740" cy="10696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55976" y="4437112"/>
            <a:ext cx="291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Open-Loop Transfer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8376" y="5805264"/>
            <a:ext cx="302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Closed-Loop Transfer Function</a:t>
            </a:r>
          </a:p>
        </p:txBody>
      </p:sp>
    </p:spTree>
    <p:extLst>
      <p:ext uri="{BB962C8B-B14F-4D97-AF65-F5344CB8AC3E}">
        <p14:creationId xmlns:p14="http://schemas.microsoft.com/office/powerpoint/2010/main" val="250230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303" y="3719568"/>
            <a:ext cx="6797504" cy="100811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CC0000"/>
                </a:solidFill>
                <a:cs typeface="Arial" charset="0"/>
              </a:rPr>
              <a:t>un-damped natural frequency</a:t>
            </a:r>
            <a:r>
              <a:rPr lang="en-US" sz="2400" b="1" dirty="0"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of the second order system, which is the frequency of oscillation of the system without damping.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2915816" y="764704"/>
          <a:ext cx="35607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418918" progId="Equation.3">
                  <p:embed/>
                </p:oleObj>
              </mc:Choice>
              <mc:Fallback>
                <p:oleObj name="Equation" r:id="rId2" imgW="1320227" imgH="418918" progId="Equation.3">
                  <p:embed/>
                  <p:pic>
                    <p:nvPicPr>
                      <p:cNvPr id="1966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764704"/>
                        <a:ext cx="3560763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27653" y="3628749"/>
            <a:ext cx="1193072" cy="512763"/>
            <a:chOff x="179512" y="1980133"/>
            <a:chExt cx="1193072" cy="512763"/>
          </a:xfrm>
        </p:grpSpPr>
        <p:graphicFrame>
          <p:nvGraphicFramePr>
            <p:cNvPr id="263171" name="Object 1"/>
            <p:cNvGraphicFramePr>
              <a:graphicFrameLocks noChangeAspect="1"/>
            </p:cNvGraphicFramePr>
            <p:nvPr/>
          </p:nvGraphicFramePr>
          <p:xfrm>
            <a:off x="179512" y="1980133"/>
            <a:ext cx="47942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646" imgH="190335" progId="Equation.3">
                    <p:embed/>
                  </p:oleObj>
                </mc:Choice>
                <mc:Fallback>
                  <p:oleObj name="Equation" r:id="rId4" imgW="177646" imgH="190335" progId="Equation.3">
                    <p:embed/>
                    <p:pic>
                      <p:nvPicPr>
                        <p:cNvPr id="263171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12" y="1980133"/>
                          <a:ext cx="479425" cy="512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Straight Arrow Connector 7"/>
            <p:cNvCxnSpPr/>
            <p:nvPr/>
          </p:nvCxnSpPr>
          <p:spPr>
            <a:xfrm>
              <a:off x="724512" y="2290520"/>
              <a:ext cx="64807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419224" y="2252526"/>
            <a:ext cx="7970583" cy="1106983"/>
            <a:chOff x="214313" y="3186113"/>
            <a:chExt cx="8606159" cy="1106983"/>
          </a:xfrm>
        </p:grpSpPr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1403648" y="3284984"/>
              <a:ext cx="7416824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/>
            <a:p>
              <a:pPr lvl="0" algn="just">
                <a:spcBef>
                  <a:spcPct val="20000"/>
                </a:spcBef>
              </a:pPr>
              <a:r>
                <a:rPr lang="en-US" sz="2400" dirty="0">
                  <a:solidFill>
                    <a:srgbClr val="CC0000"/>
                  </a:solidFill>
                  <a:cs typeface="Arial" charset="0"/>
                </a:rPr>
                <a:t>damping ratio</a:t>
              </a:r>
              <a:r>
                <a:rPr lang="en-US" sz="2400" b="1" dirty="0">
                  <a:cs typeface="Arial" charset="0"/>
                </a:rPr>
                <a:t> </a:t>
              </a:r>
              <a:r>
                <a:rPr lang="en-US" sz="2400" dirty="0">
                  <a:cs typeface="Arial" charset="0"/>
                </a:rPr>
                <a:t>of the second order system, which is a measure of the degree of resistance to change in the system output.</a:t>
              </a:r>
              <a:endParaRPr kumimoji="0" lang="en-US" sz="24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endParaRPr>
            </a:p>
          </p:txBody>
        </p:sp>
        <p:graphicFrame>
          <p:nvGraphicFramePr>
            <p:cNvPr id="11" name="Object 1"/>
            <p:cNvGraphicFramePr>
              <a:graphicFrameLocks noChangeAspect="1"/>
            </p:cNvGraphicFramePr>
            <p:nvPr/>
          </p:nvGraphicFramePr>
          <p:xfrm>
            <a:off x="214313" y="3186113"/>
            <a:ext cx="409575" cy="547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203040" progId="Equation.3">
                    <p:embed/>
                  </p:oleObj>
                </mc:Choice>
                <mc:Fallback>
                  <p:oleObj name="Equation" r:id="rId6" imgW="152280" imgH="203040" progId="Equation.3">
                    <p:embed/>
                    <p:pic>
                      <p:nvPicPr>
                        <p:cNvPr id="11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313" y="3186113"/>
                          <a:ext cx="409575" cy="547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" name="Straight Arrow Connector 11"/>
            <p:cNvCxnSpPr/>
            <p:nvPr/>
          </p:nvCxnSpPr>
          <p:spPr>
            <a:xfrm>
              <a:off x="724512" y="3514656"/>
              <a:ext cx="64807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790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Example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347864" y="1844824"/>
          <a:ext cx="2448272" cy="87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700" imgH="368300" progId="Equation.3">
                  <p:embed/>
                </p:oleObj>
              </mc:Choice>
              <mc:Fallback>
                <p:oleObj name="Equation" r:id="rId2" imgW="1028700" imgH="368300" progId="Equation.3">
                  <p:embed/>
                  <p:pic>
                    <p:nvPicPr>
                      <p:cNvPr id="1966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844824"/>
                        <a:ext cx="2448272" cy="875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864096"/>
          </a:xfrm>
        </p:spPr>
        <p:txBody>
          <a:bodyPr>
            <a:normAutofit/>
          </a:bodyPr>
          <a:lstStyle/>
          <a:p>
            <a:pPr marL="273050" indent="-273050" algn="just"/>
            <a:r>
              <a:rPr lang="en-US" sz="2400" dirty="0">
                <a:cs typeface="Arial" charset="0"/>
              </a:rPr>
              <a:t>Determine the un-damped natural frequency</a:t>
            </a:r>
            <a:r>
              <a:rPr lang="en-US" sz="2400" b="1" dirty="0"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and damping ratio of the following second order system.</a:t>
            </a:r>
          </a:p>
        </p:txBody>
      </p:sp>
      <p:graphicFrame>
        <p:nvGraphicFramePr>
          <p:cNvPr id="270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657349"/>
              </p:ext>
            </p:extLst>
          </p:nvPr>
        </p:nvGraphicFramePr>
        <p:xfrm>
          <a:off x="407988" y="4933950"/>
          <a:ext cx="12001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41200" progId="Equation.3">
                  <p:embed/>
                </p:oleObj>
              </mc:Choice>
              <mc:Fallback>
                <p:oleObj name="Equation" r:id="rId4" imgW="444240" imgH="241200" progId="Equation.3">
                  <p:embed/>
                  <p:pic>
                    <p:nvPicPr>
                      <p:cNvPr id="270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4933950"/>
                        <a:ext cx="120015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251520" y="2924944"/>
            <a:ext cx="8568952" cy="1975669"/>
            <a:chOff x="251520" y="2924944"/>
            <a:chExt cx="8568952" cy="1975669"/>
          </a:xfrm>
        </p:grpSpPr>
        <p:graphicFrame>
          <p:nvGraphicFramePr>
            <p:cNvPr id="270341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094326"/>
                </p:ext>
              </p:extLst>
            </p:nvPr>
          </p:nvGraphicFramePr>
          <p:xfrm>
            <a:off x="3152775" y="3816350"/>
            <a:ext cx="3519488" cy="1084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85720" imgH="457200" progId="Equation.3">
                    <p:embed/>
                  </p:oleObj>
                </mc:Choice>
                <mc:Fallback>
                  <p:oleObj name="Equation" r:id="rId6" imgW="1485720" imgH="457200" progId="Equation.3">
                    <p:embed/>
                    <p:pic>
                      <p:nvPicPr>
                        <p:cNvPr id="270341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775" y="3816350"/>
                          <a:ext cx="3519488" cy="1084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251520" y="2924944"/>
              <a:ext cx="8568952" cy="93610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marL="273050" marR="0" lvl="0" indent="-27305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Arial" charset="0"/>
                </a:rPr>
                <a:t>Compare the numerator and denominator of the given transfer function with the general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Arial" charset="0"/>
                </a:rPr>
                <a:t>nd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Arial" charset="0"/>
                </a:rPr>
                <a:t> order transfer function.</a:t>
              </a:r>
            </a:p>
          </p:txBody>
        </p:sp>
      </p:grpSp>
      <p:graphicFrame>
        <p:nvGraphicFramePr>
          <p:cNvPr id="270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866892"/>
              </p:ext>
            </p:extLst>
          </p:nvPr>
        </p:nvGraphicFramePr>
        <p:xfrm>
          <a:off x="1691692" y="5013176"/>
          <a:ext cx="28082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0948" imgH="190417" progId="Equation.3">
                  <p:embed/>
                </p:oleObj>
              </mc:Choice>
              <mc:Fallback>
                <p:oleObj name="Equation" r:id="rId8" imgW="1040948" imgH="190417" progId="Equation.3">
                  <p:embed/>
                  <p:pic>
                    <p:nvPicPr>
                      <p:cNvPr id="2703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92" y="5013176"/>
                        <a:ext cx="2808287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4" name="Object 8"/>
          <p:cNvGraphicFramePr>
            <a:graphicFrameLocks noChangeAspect="1"/>
          </p:cNvGraphicFramePr>
          <p:nvPr/>
        </p:nvGraphicFramePr>
        <p:xfrm>
          <a:off x="6261100" y="5229200"/>
          <a:ext cx="2155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753" imgH="190417" progId="Equation.3">
                  <p:embed/>
                </p:oleObj>
              </mc:Choice>
              <mc:Fallback>
                <p:oleObj name="Equation" r:id="rId10" imgW="799753" imgH="190417" progId="Equation.3">
                  <p:embed/>
                  <p:pic>
                    <p:nvPicPr>
                      <p:cNvPr id="270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5229200"/>
                        <a:ext cx="21558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5" name="Object 9"/>
          <p:cNvGraphicFramePr>
            <a:graphicFrameLocks noChangeAspect="1"/>
          </p:cNvGraphicFramePr>
          <p:nvPr/>
        </p:nvGraphicFramePr>
        <p:xfrm>
          <a:off x="977255" y="5949280"/>
          <a:ext cx="43148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215900" progId="Equation.3">
                  <p:embed/>
                </p:oleObj>
              </mc:Choice>
              <mc:Fallback>
                <p:oleObj name="Equation" r:id="rId12" imgW="1600200" imgH="215900" progId="Equation.3">
                  <p:embed/>
                  <p:pic>
                    <p:nvPicPr>
                      <p:cNvPr id="270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255" y="5949280"/>
                        <a:ext cx="4314825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1043608" y="5877272"/>
            <a:ext cx="3024336" cy="648072"/>
            <a:chOff x="1043608" y="5877272"/>
            <a:chExt cx="3024336" cy="648072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1043608" y="5877272"/>
              <a:ext cx="360040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3707904" y="5949280"/>
              <a:ext cx="360040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 flipH="1">
            <a:off x="4932040" y="5949280"/>
            <a:ext cx="36004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2915816" y="6021288"/>
            <a:ext cx="36004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0346" name="Object 10"/>
          <p:cNvGraphicFramePr>
            <a:graphicFrameLocks noChangeAspect="1"/>
          </p:cNvGraphicFramePr>
          <p:nvPr/>
        </p:nvGraphicFramePr>
        <p:xfrm>
          <a:off x="6228184" y="6261943"/>
          <a:ext cx="1574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693" imgH="177646" progId="Equation.3">
                  <p:embed/>
                </p:oleObj>
              </mc:Choice>
              <mc:Fallback>
                <p:oleObj name="Equation" r:id="rId14" imgW="583693" imgH="177646" progId="Equation.3">
                  <p:embed/>
                  <p:pic>
                    <p:nvPicPr>
                      <p:cNvPr id="2703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6261943"/>
                        <a:ext cx="1574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7" name="Object 11"/>
          <p:cNvGraphicFramePr>
            <a:graphicFrameLocks noChangeAspect="1"/>
          </p:cNvGraphicFramePr>
          <p:nvPr/>
        </p:nvGraphicFramePr>
        <p:xfrm>
          <a:off x="6228184" y="5722962"/>
          <a:ext cx="16081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6900" imgH="190500" progId="Equation.3">
                  <p:embed/>
                </p:oleObj>
              </mc:Choice>
              <mc:Fallback>
                <p:oleObj name="Equation" r:id="rId16" imgW="596900" imgH="190500" progId="Equation.3">
                  <p:embed/>
                  <p:pic>
                    <p:nvPicPr>
                      <p:cNvPr id="270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5722962"/>
                        <a:ext cx="160813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510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059832" y="1268760"/>
          <a:ext cx="35607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418918" progId="Equation.3">
                  <p:embed/>
                </p:oleObj>
              </mc:Choice>
              <mc:Fallback>
                <p:oleObj name="Equation" r:id="rId2" imgW="1320227" imgH="418918" progId="Equation.3">
                  <p:embed/>
                  <p:pic>
                    <p:nvPicPr>
                      <p:cNvPr id="1966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268760"/>
                        <a:ext cx="3560763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349056" y="2943488"/>
            <a:ext cx="7416824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>
                <a:cs typeface="Arial" charset="0"/>
              </a:rPr>
              <a:t>The closed-loop poles of the system are</a:t>
            </a:r>
            <a:endParaRPr kumimoji="0" lang="en-US" sz="2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2915816" y="3789040"/>
          <a:ext cx="284162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100" imgH="520700" progId="Equation.3">
                  <p:embed/>
                </p:oleObj>
              </mc:Choice>
              <mc:Fallback>
                <p:oleObj name="Equation" r:id="rId4" imgW="1054100" imgH="520700" progId="Equation.3">
                  <p:embed/>
                  <p:pic>
                    <p:nvPicPr>
                      <p:cNvPr id="26419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789040"/>
                        <a:ext cx="2841625" cy="1403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7970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2700" y="1983960"/>
            <a:ext cx="840396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Depending upon the value of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066860"/>
              </p:ext>
            </p:extLst>
          </p:nvPr>
        </p:nvGraphicFramePr>
        <p:xfrm>
          <a:off x="3149248" y="567674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520700" progId="Equation.3">
                  <p:embed/>
                </p:oleObj>
              </mc:Choice>
              <mc:Fallback>
                <p:oleObj name="Equation" r:id="rId2" imgW="1054100" imgH="520700" progId="Equation.3">
                  <p:embed/>
                  <p:pic>
                    <p:nvPicPr>
                      <p:cNvPr id="26419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248" y="567674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472107"/>
              </p:ext>
            </p:extLst>
          </p:nvPr>
        </p:nvGraphicFramePr>
        <p:xfrm>
          <a:off x="4537911" y="1992494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2652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911" y="1992494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325352" y="2998895"/>
            <a:ext cx="7851416" cy="831165"/>
            <a:chOff x="330257" y="2924782"/>
            <a:chExt cx="8424936" cy="831165"/>
          </a:xfrm>
        </p:grpSpPr>
        <p:sp>
          <p:nvSpPr>
            <p:cNvPr id="8" name="Rectangle 7"/>
            <p:cNvSpPr/>
            <p:nvPr/>
          </p:nvSpPr>
          <p:spPr>
            <a:xfrm>
              <a:off x="330257" y="2924782"/>
              <a:ext cx="842493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73050" indent="-273050" algn="just">
                <a:buAutoNum type="arabicPeriod"/>
              </a:pPr>
              <a:r>
                <a:rPr lang="en-US" sz="2200" i="1" dirty="0">
                  <a:solidFill>
                    <a:srgbClr val="CC0000"/>
                  </a:solidFill>
                  <a:cs typeface="Arial" charset="0"/>
                </a:rPr>
                <a:t>Overdamped</a:t>
              </a:r>
              <a:r>
                <a:rPr lang="en-US" sz="2200" dirty="0">
                  <a:solidFill>
                    <a:srgbClr val="CC0000"/>
                  </a:solidFill>
                  <a:cs typeface="Arial" charset="0"/>
                </a:rPr>
                <a:t> </a:t>
              </a:r>
              <a:r>
                <a:rPr lang="en-US" sz="2200" dirty="0">
                  <a:cs typeface="Arial" charset="0"/>
                </a:rPr>
                <a:t>- when the system has two real distinct poles (       &gt;1).</a:t>
              </a:r>
            </a:p>
          </p:txBody>
        </p:sp>
        <p:graphicFrame>
          <p:nvGraphicFramePr>
            <p:cNvPr id="26522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017904"/>
                </p:ext>
              </p:extLst>
            </p:nvPr>
          </p:nvGraphicFramePr>
          <p:xfrm>
            <a:off x="941553" y="3276522"/>
            <a:ext cx="341311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5" imgH="177415" progId="Equation.3">
                    <p:embed/>
                  </p:oleObj>
                </mc:Choice>
                <mc:Fallback>
                  <p:oleObj name="Equation" r:id="rId6" imgW="126725" imgH="177415" progId="Equation.3">
                    <p:embed/>
                    <p:pic>
                      <p:nvPicPr>
                        <p:cNvPr id="26522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553" y="3276522"/>
                          <a:ext cx="341311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28"/>
          <p:cNvGrpSpPr/>
          <p:nvPr/>
        </p:nvGrpSpPr>
        <p:grpSpPr>
          <a:xfrm>
            <a:off x="2195736" y="3467724"/>
            <a:ext cx="5056654" cy="2811492"/>
            <a:chOff x="2195736" y="3857868"/>
            <a:chExt cx="5056654" cy="2811492"/>
          </a:xfrm>
        </p:grpSpPr>
        <p:grpSp>
          <p:nvGrpSpPr>
            <p:cNvPr id="11" name="Group 10"/>
            <p:cNvGrpSpPr/>
            <p:nvPr/>
          </p:nvGrpSpPr>
          <p:grpSpPr>
            <a:xfrm>
              <a:off x="2195736" y="3857868"/>
              <a:ext cx="5056654" cy="2811492"/>
              <a:chOff x="4090552" y="2109148"/>
              <a:chExt cx="5056654" cy="2811492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575142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5031344" y="3751864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31126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5535400" y="38511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-a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801672" y="3874696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-b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090552" y="3874696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-c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3779912" y="5472520"/>
              <a:ext cx="144017" cy="145470"/>
              <a:chOff x="3203847" y="4809330"/>
              <a:chExt cx="144017" cy="14547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3077248" y="5486168"/>
              <a:ext cx="144017" cy="145470"/>
              <a:chOff x="3203847" y="4809330"/>
              <a:chExt cx="144017" cy="14547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7882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2700" y="1983960"/>
            <a:ext cx="840396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Depending upon the value of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149248" y="567674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520700" progId="Equation.3">
                  <p:embed/>
                </p:oleObj>
              </mc:Choice>
              <mc:Fallback>
                <p:oleObj name="Equation" r:id="rId2" imgW="1054100" imgH="520700" progId="Equation.3">
                  <p:embed/>
                  <p:pic>
                    <p:nvPicPr>
                      <p:cNvPr id="26419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248" y="567674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759779"/>
              </p:ext>
            </p:extLst>
          </p:nvPr>
        </p:nvGraphicFramePr>
        <p:xfrm>
          <a:off x="4572000" y="1999282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2652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99282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EE95D27A-6DAD-4F06-A2A6-F9E83C131680}"/>
              </a:ext>
            </a:extLst>
          </p:cNvPr>
          <p:cNvGrpSpPr/>
          <p:nvPr/>
        </p:nvGrpSpPr>
        <p:grpSpPr>
          <a:xfrm>
            <a:off x="392616" y="2959061"/>
            <a:ext cx="8113671" cy="727139"/>
            <a:chOff x="323528" y="3284984"/>
            <a:chExt cx="8424936" cy="72713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69F3CF-BFBE-4808-8540-6572010A6989}"/>
                </a:ext>
              </a:extLst>
            </p:cNvPr>
            <p:cNvSpPr/>
            <p:nvPr/>
          </p:nvSpPr>
          <p:spPr>
            <a:xfrm>
              <a:off x="323528" y="3284984"/>
              <a:ext cx="84249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cs typeface="Arial" charset="0"/>
                </a:rPr>
                <a:t>2. </a:t>
              </a:r>
              <a:r>
                <a:rPr lang="en-US" sz="2000" i="1" dirty="0" err="1">
                  <a:solidFill>
                    <a:srgbClr val="CC0000"/>
                  </a:solidFill>
                  <a:cs typeface="Arial" charset="0"/>
                </a:rPr>
                <a:t>Underdamped</a:t>
              </a:r>
              <a:r>
                <a:rPr lang="en-US" sz="2000" dirty="0">
                  <a:solidFill>
                    <a:srgbClr val="FFFF66"/>
                  </a:solidFill>
                  <a:cs typeface="Arial" charset="0"/>
                </a:rPr>
                <a:t> </a:t>
              </a:r>
              <a:r>
                <a:rPr lang="en-US" sz="2000" dirty="0">
                  <a:cs typeface="Arial" charset="0"/>
                </a:rPr>
                <a:t>- when the system has two complex conjugate poles (0 &lt;     &lt;1)</a:t>
              </a:r>
            </a:p>
          </p:txBody>
        </p:sp>
        <p:graphicFrame>
          <p:nvGraphicFramePr>
            <p:cNvPr id="33" name="Object 7">
              <a:extLst>
                <a:ext uri="{FF2B5EF4-FFF2-40B4-BE49-F238E27FC236}">
                  <a16:creationId xmlns:a16="http://schemas.microsoft.com/office/drawing/2014/main" id="{228EAA3B-615E-4014-B382-93DB9E9380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7805255"/>
                </p:ext>
              </p:extLst>
            </p:nvPr>
          </p:nvGraphicFramePr>
          <p:xfrm>
            <a:off x="903164" y="3604706"/>
            <a:ext cx="290048" cy="407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5" imgH="177415" progId="Equation.3">
                    <p:embed/>
                  </p:oleObj>
                </mc:Choice>
                <mc:Fallback>
                  <p:oleObj name="Equation" r:id="rId6" imgW="126725" imgH="177415" progId="Equation.3">
                    <p:embed/>
                    <p:pic>
                      <p:nvPicPr>
                        <p:cNvPr id="26522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3164" y="3604706"/>
                          <a:ext cx="290048" cy="4074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BEFBAEC-8938-4A40-9F38-592368CEC19A}"/>
              </a:ext>
            </a:extLst>
          </p:cNvPr>
          <p:cNvGrpSpPr/>
          <p:nvPr/>
        </p:nvGrpSpPr>
        <p:grpSpPr>
          <a:xfrm>
            <a:off x="2264824" y="3531945"/>
            <a:ext cx="5133067" cy="2811492"/>
            <a:chOff x="2195736" y="3857868"/>
            <a:chExt cx="5056654" cy="2811492"/>
          </a:xfrm>
        </p:grpSpPr>
        <p:grpSp>
          <p:nvGrpSpPr>
            <p:cNvPr id="35" name="Group 10">
              <a:extLst>
                <a:ext uri="{FF2B5EF4-FFF2-40B4-BE49-F238E27FC236}">
                  <a16:creationId xmlns:a16="http://schemas.microsoft.com/office/drawing/2014/main" id="{DFF543D2-A988-4A40-8BB9-0B8088AA4D51}"/>
                </a:ext>
              </a:extLst>
            </p:cNvPr>
            <p:cNvGrpSpPr/>
            <p:nvPr/>
          </p:nvGrpSpPr>
          <p:grpSpPr>
            <a:xfrm>
              <a:off x="2195736" y="3857868"/>
              <a:ext cx="5056654" cy="2811492"/>
              <a:chOff x="4090552" y="2109148"/>
              <a:chExt cx="5056654" cy="2811492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5213E80-4247-4346-BF33-C86E0A908A7B}"/>
                  </a:ext>
                </a:extLst>
              </p:cNvPr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F9E9083-6D62-40E3-B482-B7677AA3BC4F}"/>
                  </a:ext>
                </a:extLst>
              </p:cNvPr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5E5675D-A234-4236-AAE3-FFE5007E3056}"/>
                  </a:ext>
                </a:extLst>
              </p:cNvPr>
              <p:cNvCxnSpPr/>
              <p:nvPr/>
            </p:nvCxnSpPr>
            <p:spPr>
              <a:xfrm flipV="1">
                <a:off x="575142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25331EC2-0A10-4ADB-AC93-8413263A5C53}"/>
                  </a:ext>
                </a:extLst>
              </p:cNvPr>
              <p:cNvCxnSpPr/>
              <p:nvPr/>
            </p:nvCxnSpPr>
            <p:spPr>
              <a:xfrm flipV="1">
                <a:off x="5031344" y="3751864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F48B465-3302-4926-823E-876DAD46DBCE}"/>
                  </a:ext>
                </a:extLst>
              </p:cNvPr>
              <p:cNvCxnSpPr/>
              <p:nvPr/>
            </p:nvCxnSpPr>
            <p:spPr>
              <a:xfrm flipV="1">
                <a:off x="431126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BFE08F-EFE0-4885-9631-E1FC569A856D}"/>
                  </a:ext>
                </a:extLst>
              </p:cNvPr>
              <p:cNvSpPr txBox="1"/>
              <p:nvPr/>
            </p:nvSpPr>
            <p:spPr>
              <a:xfrm>
                <a:off x="5535400" y="38511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-a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E5C36D6-534B-435B-81D8-81DE28A14A70}"/>
                  </a:ext>
                </a:extLst>
              </p:cNvPr>
              <p:cNvSpPr txBox="1"/>
              <p:nvPr/>
            </p:nvSpPr>
            <p:spPr>
              <a:xfrm>
                <a:off x="4801672" y="3874696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-b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BADDAE-BF55-4879-9C6D-69897BBAF876}"/>
                  </a:ext>
                </a:extLst>
              </p:cNvPr>
              <p:cNvSpPr txBox="1"/>
              <p:nvPr/>
            </p:nvSpPr>
            <p:spPr>
              <a:xfrm>
                <a:off x="4090552" y="3874696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-c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445EDF0-6BA1-4C8B-9CFE-CFFC5FDD3DD0}"/>
                  </a:ext>
                </a:extLst>
              </p:cNvPr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CA6C4BB-DD99-4C95-93FC-FF39B7F0F91E}"/>
                  </a:ext>
                </a:extLst>
              </p:cNvPr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36" name="Group 21">
              <a:extLst>
                <a:ext uri="{FF2B5EF4-FFF2-40B4-BE49-F238E27FC236}">
                  <a16:creationId xmlns:a16="http://schemas.microsoft.com/office/drawing/2014/main" id="{F09266AF-EA65-4F6D-8D83-62C09699182D}"/>
                </a:ext>
              </a:extLst>
            </p:cNvPr>
            <p:cNvGrpSpPr/>
            <p:nvPr/>
          </p:nvGrpSpPr>
          <p:grpSpPr>
            <a:xfrm>
              <a:off x="3059832" y="4579674"/>
              <a:ext cx="144017" cy="145470"/>
              <a:chOff x="3203847" y="4809330"/>
              <a:chExt cx="144017" cy="14547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4D843CE-15A7-4A35-8DFD-8F926896451C}"/>
                  </a:ext>
                </a:extLst>
              </p:cNvPr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643BC59-AFDB-4C72-A3BE-B914C42998C3}"/>
                  </a:ext>
                </a:extLst>
              </p:cNvPr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25">
              <a:extLst>
                <a:ext uri="{FF2B5EF4-FFF2-40B4-BE49-F238E27FC236}">
                  <a16:creationId xmlns:a16="http://schemas.microsoft.com/office/drawing/2014/main" id="{AF3EB727-ECBC-451A-A444-9E735BBD1053}"/>
                </a:ext>
              </a:extLst>
            </p:cNvPr>
            <p:cNvGrpSpPr/>
            <p:nvPr/>
          </p:nvGrpSpPr>
          <p:grpSpPr>
            <a:xfrm>
              <a:off x="3059832" y="6307866"/>
              <a:ext cx="144017" cy="145470"/>
              <a:chOff x="3203847" y="4809330"/>
              <a:chExt cx="144017" cy="14547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B2428C5-EDED-4456-B13F-D1E3A27F353E}"/>
                  </a:ext>
                </a:extLst>
              </p:cNvPr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2EBD080-E2F1-4D54-A62E-05399E07D8E0}"/>
                  </a:ext>
                </a:extLst>
              </p:cNvPr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884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8376" y="2316668"/>
            <a:ext cx="8416544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Depending upon the value of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203848" y="908720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520700" progId="Equation.3">
                  <p:embed/>
                </p:oleObj>
              </mc:Choice>
              <mc:Fallback>
                <p:oleObj name="Equation" r:id="rId2" imgW="1054100" imgH="520700" progId="Equation.3">
                  <p:embed/>
                  <p:pic>
                    <p:nvPicPr>
                      <p:cNvPr id="26419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08720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982939"/>
              </p:ext>
            </p:extLst>
          </p:nvPr>
        </p:nvGraphicFramePr>
        <p:xfrm>
          <a:off x="4586679" y="2336850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2652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679" y="2336850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Group 53">
            <a:extLst>
              <a:ext uri="{FF2B5EF4-FFF2-40B4-BE49-F238E27FC236}">
                <a16:creationId xmlns:a16="http://schemas.microsoft.com/office/drawing/2014/main" id="{B9006B12-8D3F-4C3D-B09A-8CA00389E804}"/>
              </a:ext>
            </a:extLst>
          </p:cNvPr>
          <p:cNvGrpSpPr/>
          <p:nvPr/>
        </p:nvGrpSpPr>
        <p:grpSpPr>
          <a:xfrm>
            <a:off x="372296" y="3150872"/>
            <a:ext cx="7877624" cy="776592"/>
            <a:chOff x="323528" y="3284984"/>
            <a:chExt cx="8424936" cy="776592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E1A50E9-A54C-4DE8-AEC1-7942587CC3B7}"/>
                </a:ext>
              </a:extLst>
            </p:cNvPr>
            <p:cNvSpPr/>
            <p:nvPr/>
          </p:nvSpPr>
          <p:spPr>
            <a:xfrm>
              <a:off x="323528" y="3284984"/>
              <a:ext cx="842493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200" dirty="0">
                  <a:cs typeface="Arial" charset="0"/>
                </a:rPr>
                <a:t>3. </a:t>
              </a:r>
              <a:r>
                <a:rPr lang="en-US" sz="2000" i="1" dirty="0">
                  <a:solidFill>
                    <a:srgbClr val="CC0000"/>
                  </a:solidFill>
                  <a:cs typeface="Arial" charset="0"/>
                </a:rPr>
                <a:t>Critically damped</a:t>
              </a:r>
              <a:r>
                <a:rPr lang="en-US" sz="2000" dirty="0">
                  <a:cs typeface="Arial" charset="0"/>
                </a:rPr>
                <a:t> - when the system has two real but equal poles (     = 1).</a:t>
              </a:r>
            </a:p>
          </p:txBody>
        </p:sp>
        <p:graphicFrame>
          <p:nvGraphicFramePr>
            <p:cNvPr id="56" name="Object 7">
              <a:extLst>
                <a:ext uri="{FF2B5EF4-FFF2-40B4-BE49-F238E27FC236}">
                  <a16:creationId xmlns:a16="http://schemas.microsoft.com/office/drawing/2014/main" id="{0A88F62A-F54A-4643-8352-82B70927CE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9636439"/>
                </p:ext>
              </p:extLst>
            </p:nvPr>
          </p:nvGraphicFramePr>
          <p:xfrm>
            <a:off x="530236" y="3654159"/>
            <a:ext cx="290049" cy="407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5" imgH="177415" progId="Equation.3">
                    <p:embed/>
                  </p:oleObj>
                </mc:Choice>
                <mc:Fallback>
                  <p:oleObj name="Equation" r:id="rId6" imgW="126725" imgH="177415" progId="Equation.3">
                    <p:embed/>
                    <p:pic>
                      <p:nvPicPr>
                        <p:cNvPr id="56" name="Object 7">
                          <a:extLst>
                            <a:ext uri="{FF2B5EF4-FFF2-40B4-BE49-F238E27FC236}">
                              <a16:creationId xmlns:a16="http://schemas.microsoft.com/office/drawing/2014/main" id="{0A88F62A-F54A-4643-8352-82B70927CE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236" y="3654159"/>
                          <a:ext cx="290049" cy="4074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2244504" y="3723756"/>
            <a:ext cx="5056654" cy="2811492"/>
            <a:chOff x="2244504" y="3723756"/>
            <a:chExt cx="5056654" cy="2811492"/>
          </a:xfrm>
        </p:grpSpPr>
        <p:grpSp>
          <p:nvGrpSpPr>
            <p:cNvPr id="57" name="Group 10">
              <a:extLst>
                <a:ext uri="{FF2B5EF4-FFF2-40B4-BE49-F238E27FC236}">
                  <a16:creationId xmlns:a16="http://schemas.microsoft.com/office/drawing/2014/main" id="{B7AF8BCD-B6A2-42CC-9E41-ABFDBE6DA214}"/>
                </a:ext>
              </a:extLst>
            </p:cNvPr>
            <p:cNvGrpSpPr/>
            <p:nvPr/>
          </p:nvGrpSpPr>
          <p:grpSpPr>
            <a:xfrm>
              <a:off x="2244504" y="3723756"/>
              <a:ext cx="5056654" cy="2811492"/>
              <a:chOff x="4090552" y="2109148"/>
              <a:chExt cx="5056654" cy="281149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17F358B-F8D3-4E52-8D9A-9FE71F2303EA}"/>
                  </a:ext>
                </a:extLst>
              </p:cNvPr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D7A7E9D-E344-48B4-9350-A89FCE4BEE9D}"/>
                  </a:ext>
                </a:extLst>
              </p:cNvPr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1A17056-4D35-4B45-A5A3-B7FAD46AD660}"/>
                  </a:ext>
                </a:extLst>
              </p:cNvPr>
              <p:cNvCxnSpPr/>
              <p:nvPr/>
            </p:nvCxnSpPr>
            <p:spPr>
              <a:xfrm flipV="1">
                <a:off x="575142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32D6ACB-6492-4515-AFBD-915880488BE2}"/>
                  </a:ext>
                </a:extLst>
              </p:cNvPr>
              <p:cNvCxnSpPr/>
              <p:nvPr/>
            </p:nvCxnSpPr>
            <p:spPr>
              <a:xfrm flipV="1">
                <a:off x="5031344" y="3751864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5706A29-4674-4645-8418-62A2AA9F5407}"/>
                  </a:ext>
                </a:extLst>
              </p:cNvPr>
              <p:cNvCxnSpPr/>
              <p:nvPr/>
            </p:nvCxnSpPr>
            <p:spPr>
              <a:xfrm flipV="1">
                <a:off x="431126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61D3E9B-6DA9-4FA6-8F81-FAAF444E57ED}"/>
                  </a:ext>
                </a:extLst>
              </p:cNvPr>
              <p:cNvSpPr txBox="1"/>
              <p:nvPr/>
            </p:nvSpPr>
            <p:spPr>
              <a:xfrm>
                <a:off x="5535400" y="38511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-a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15A24A9-0F9A-44C8-980E-D138597EC116}"/>
                  </a:ext>
                </a:extLst>
              </p:cNvPr>
              <p:cNvSpPr txBox="1"/>
              <p:nvPr/>
            </p:nvSpPr>
            <p:spPr>
              <a:xfrm>
                <a:off x="4801672" y="3874696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-b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8346FB0-5A6B-4AB7-80B6-6449BCA0B659}"/>
                  </a:ext>
                </a:extLst>
              </p:cNvPr>
              <p:cNvSpPr txBox="1"/>
              <p:nvPr/>
            </p:nvSpPr>
            <p:spPr>
              <a:xfrm>
                <a:off x="4090552" y="3874696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-c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CF2A36E-B7A8-4DB6-BBD3-97414902D3DF}"/>
                  </a:ext>
                </a:extLst>
              </p:cNvPr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22F3A8A-A167-4DC7-AF8D-E425D565E42D}"/>
                  </a:ext>
                </a:extLst>
              </p:cNvPr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68" name="Group 21">
              <a:extLst>
                <a:ext uri="{FF2B5EF4-FFF2-40B4-BE49-F238E27FC236}">
                  <a16:creationId xmlns:a16="http://schemas.microsoft.com/office/drawing/2014/main" id="{E850D02A-D38A-4E80-8CF1-730A12514EDD}"/>
                </a:ext>
              </a:extLst>
            </p:cNvPr>
            <p:cNvGrpSpPr/>
            <p:nvPr/>
          </p:nvGrpSpPr>
          <p:grpSpPr>
            <a:xfrm>
              <a:off x="3828680" y="5338408"/>
              <a:ext cx="144017" cy="145470"/>
              <a:chOff x="3203847" y="4809330"/>
              <a:chExt cx="144017" cy="145470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B72C16E-B77F-496A-B651-6F89ED3F1FDA}"/>
                  </a:ext>
                </a:extLst>
              </p:cNvPr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D8A067E-B6FF-4999-AC26-36BAACF04EC5}"/>
                  </a:ext>
                </a:extLst>
              </p:cNvPr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25">
              <a:extLst>
                <a:ext uri="{FF2B5EF4-FFF2-40B4-BE49-F238E27FC236}">
                  <a16:creationId xmlns:a16="http://schemas.microsoft.com/office/drawing/2014/main" id="{3A8A2EC8-275B-414D-95FA-6448E5670292}"/>
                </a:ext>
              </a:extLst>
            </p:cNvPr>
            <p:cNvGrpSpPr/>
            <p:nvPr/>
          </p:nvGrpSpPr>
          <p:grpSpPr>
            <a:xfrm>
              <a:off x="3869623" y="5352056"/>
              <a:ext cx="144017" cy="145470"/>
              <a:chOff x="3203847" y="4809330"/>
              <a:chExt cx="144017" cy="14547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C407762-B34D-404A-9CF4-09DA9969B7DE}"/>
                  </a:ext>
                </a:extLst>
              </p:cNvPr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78AF43D-F6A7-4A14-91D1-3695C4735BD0}"/>
                  </a:ext>
                </a:extLst>
              </p:cNvPr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197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8376" y="2316668"/>
            <a:ext cx="8416544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Depending upon the value of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203848" y="908720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520700" progId="Equation.3">
                  <p:embed/>
                </p:oleObj>
              </mc:Choice>
              <mc:Fallback>
                <p:oleObj name="Equation" r:id="rId2" imgW="1054100" imgH="520700" progId="Equation.3">
                  <p:embed/>
                  <p:pic>
                    <p:nvPicPr>
                      <p:cNvPr id="26419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08720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434791"/>
              </p:ext>
            </p:extLst>
          </p:nvPr>
        </p:nvGraphicFramePr>
        <p:xfrm>
          <a:off x="4553337" y="2333386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2652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3337" y="2333386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DE1A50E9-A54C-4DE8-AEC1-7942587CC3B7}"/>
              </a:ext>
            </a:extLst>
          </p:cNvPr>
          <p:cNvSpPr/>
          <p:nvPr/>
        </p:nvSpPr>
        <p:spPr>
          <a:xfrm>
            <a:off x="372296" y="3150872"/>
            <a:ext cx="78776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cs typeface="Arial" charset="0"/>
              </a:rPr>
              <a:t>4. </a:t>
            </a:r>
            <a:r>
              <a:rPr lang="en-US" sz="2000" i="1" dirty="0" err="1">
                <a:solidFill>
                  <a:srgbClr val="CC0000"/>
                </a:solidFill>
                <a:cs typeface="Arial" charset="0"/>
              </a:rPr>
              <a:t>Undamped</a:t>
            </a:r>
            <a:r>
              <a:rPr lang="en-US" sz="2000" dirty="0">
                <a:cs typeface="Arial" charset="0"/>
              </a:rPr>
              <a:t> - when the poles have no real component.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94424" y="3723756"/>
            <a:ext cx="5006734" cy="2811492"/>
            <a:chOff x="2294424" y="3723756"/>
            <a:chExt cx="5006734" cy="2811492"/>
          </a:xfrm>
        </p:grpSpPr>
        <p:grpSp>
          <p:nvGrpSpPr>
            <p:cNvPr id="57" name="Group 10">
              <a:extLst>
                <a:ext uri="{FF2B5EF4-FFF2-40B4-BE49-F238E27FC236}">
                  <a16:creationId xmlns:a16="http://schemas.microsoft.com/office/drawing/2014/main" id="{B7AF8BCD-B6A2-42CC-9E41-ABFDBE6DA214}"/>
                </a:ext>
              </a:extLst>
            </p:cNvPr>
            <p:cNvGrpSpPr/>
            <p:nvPr/>
          </p:nvGrpSpPr>
          <p:grpSpPr>
            <a:xfrm>
              <a:off x="2294424" y="3723756"/>
              <a:ext cx="5006734" cy="2811492"/>
              <a:chOff x="4140472" y="2109148"/>
              <a:chExt cx="5006734" cy="281149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17F358B-F8D3-4E52-8D9A-9FE71F2303EA}"/>
                  </a:ext>
                </a:extLst>
              </p:cNvPr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D7A7E9D-E344-48B4-9350-A89FCE4BEE9D}"/>
                  </a:ext>
                </a:extLst>
              </p:cNvPr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CF2A36E-B7A8-4DB6-BBD3-97414902D3DF}"/>
                  </a:ext>
                </a:extLst>
              </p:cNvPr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22F3A8A-A167-4DC7-AF8D-E425D565E42D}"/>
                  </a:ext>
                </a:extLst>
              </p:cNvPr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68" name="Group 21">
              <a:extLst>
                <a:ext uri="{FF2B5EF4-FFF2-40B4-BE49-F238E27FC236}">
                  <a16:creationId xmlns:a16="http://schemas.microsoft.com/office/drawing/2014/main" id="{E850D02A-D38A-4E80-8CF1-730A12514EDD}"/>
                </a:ext>
              </a:extLst>
            </p:cNvPr>
            <p:cNvGrpSpPr/>
            <p:nvPr/>
          </p:nvGrpSpPr>
          <p:grpSpPr>
            <a:xfrm>
              <a:off x="4481337" y="5824296"/>
              <a:ext cx="144111" cy="145152"/>
              <a:chOff x="3856504" y="5295218"/>
              <a:chExt cx="144111" cy="145152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B72C16E-B77F-496A-B651-6F89ED3F1FDA}"/>
                  </a:ext>
                </a:extLst>
              </p:cNvPr>
              <p:cNvCxnSpPr/>
              <p:nvPr/>
            </p:nvCxnSpPr>
            <p:spPr>
              <a:xfrm flipH="1">
                <a:off x="3856504" y="5295218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D8A067E-B6FF-4999-AC26-36BAACF04EC5}"/>
                  </a:ext>
                </a:extLst>
              </p:cNvPr>
              <p:cNvCxnSpPr/>
              <p:nvPr/>
            </p:nvCxnSpPr>
            <p:spPr>
              <a:xfrm>
                <a:off x="3856615" y="529637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25">
              <a:extLst>
                <a:ext uri="{FF2B5EF4-FFF2-40B4-BE49-F238E27FC236}">
                  <a16:creationId xmlns:a16="http://schemas.microsoft.com/office/drawing/2014/main" id="{3A8A2EC8-275B-414D-95FA-6448E5670292}"/>
                </a:ext>
              </a:extLst>
            </p:cNvPr>
            <p:cNvGrpSpPr/>
            <p:nvPr/>
          </p:nvGrpSpPr>
          <p:grpSpPr>
            <a:xfrm>
              <a:off x="4481448" y="4637448"/>
              <a:ext cx="152976" cy="145829"/>
              <a:chOff x="3815672" y="4094722"/>
              <a:chExt cx="152976" cy="145829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C407762-B34D-404A-9CF4-09DA9969B7DE}"/>
                  </a:ext>
                </a:extLst>
              </p:cNvPr>
              <p:cNvCxnSpPr/>
              <p:nvPr/>
            </p:nvCxnSpPr>
            <p:spPr>
              <a:xfrm flipH="1">
                <a:off x="3824648" y="4096551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78AF43D-F6A7-4A14-91D1-3695C4735BD0}"/>
                  </a:ext>
                </a:extLst>
              </p:cNvPr>
              <p:cNvCxnSpPr/>
              <p:nvPr/>
            </p:nvCxnSpPr>
            <p:spPr>
              <a:xfrm>
                <a:off x="3815672" y="4094722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9870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2000" dirty="0"/>
              <a:t>Time-Domain Specification</a:t>
            </a:r>
            <a:endParaRPr lang="en-MY" sz="20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537093"/>
            <a:ext cx="81792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Most systems are underdamped where </a:t>
            </a:r>
            <a:r>
              <a:rPr lang="en-US" sz="2400" dirty="0">
                <a:solidFill>
                  <a:srgbClr val="FF0000"/>
                </a:solidFill>
              </a:rPr>
              <a:t>0&lt;</a:t>
            </a:r>
            <a:r>
              <a:rPr lang="el-GR" sz="2400" dirty="0">
                <a:solidFill>
                  <a:srgbClr val="FF0000"/>
                </a:solidFill>
              </a:rPr>
              <a:t> </a:t>
            </a:r>
            <a:r>
              <a:rPr lang="en-GB" sz="2400" dirty="0">
                <a:solidFill>
                  <a:srgbClr val="FF0000"/>
                </a:solidFill>
              </a:rPr>
              <a:t>  </a:t>
            </a:r>
            <a:r>
              <a:rPr lang="el-GR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&lt;1 </a:t>
            </a:r>
            <a:r>
              <a:rPr lang="en-US" sz="2400" dirty="0"/>
              <a:t>and 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US" sz="2400" baseline="-25000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&gt; 0</a:t>
            </a:r>
            <a:r>
              <a:rPr lang="en-US" sz="2400" dirty="0"/>
              <a:t>, these systems are of most interest. The 2</a:t>
            </a:r>
            <a:r>
              <a:rPr lang="en-US" sz="2400" baseline="30000" dirty="0"/>
              <a:t>nd</a:t>
            </a:r>
            <a:r>
              <a:rPr lang="en-US" sz="2400" dirty="0"/>
              <a:t> order system’s response due to a unit step input looks like</a:t>
            </a:r>
            <a:endParaRPr lang="en-MY" sz="2400" dirty="0"/>
          </a:p>
        </p:txBody>
      </p:sp>
      <p:graphicFrame>
        <p:nvGraphicFramePr>
          <p:cNvPr id="269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818146"/>
              </p:ext>
            </p:extLst>
          </p:nvPr>
        </p:nvGraphicFramePr>
        <p:xfrm>
          <a:off x="6142857" y="561194"/>
          <a:ext cx="289765" cy="407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5" imgH="177415" progId="Equation.3">
                  <p:embed/>
                </p:oleObj>
              </mc:Choice>
              <mc:Fallback>
                <p:oleObj name="Equation" r:id="rId2" imgW="126725" imgH="177415" progId="Equation.3">
                  <p:embed/>
                  <p:pic>
                    <p:nvPicPr>
                      <p:cNvPr id="269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857" y="561194"/>
                        <a:ext cx="289765" cy="4070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931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1916832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3048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2000" dirty="0"/>
              <a:t>Time-Domain Specification</a:t>
            </a:r>
            <a:endParaRPr lang="en-MY" sz="20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600" dirty="0"/>
              <a:t>The delay (</a:t>
            </a:r>
            <a:r>
              <a:rPr lang="en-GB" sz="2600" i="1" dirty="0">
                <a:solidFill>
                  <a:srgbClr val="FF0000"/>
                </a:solidFill>
              </a:rPr>
              <a:t>t</a:t>
            </a:r>
            <a:r>
              <a:rPr lang="en-GB" sz="2600" i="1" baseline="-25000" dirty="0">
                <a:solidFill>
                  <a:srgbClr val="FF0000"/>
                </a:solidFill>
              </a:rPr>
              <a:t>d</a:t>
            </a:r>
            <a:r>
              <a:rPr lang="en-GB" sz="2600" dirty="0"/>
              <a:t>) time is the time required for the response to reach half the final value the very first time.</a:t>
            </a:r>
          </a:p>
          <a:p>
            <a:pPr algn="just"/>
            <a:endParaRPr lang="en-GB" sz="2400" dirty="0"/>
          </a:p>
          <a:p>
            <a:endParaRPr lang="en-GB" sz="2400" dirty="0"/>
          </a:p>
          <a:p>
            <a:endParaRPr lang="en-MY" sz="2400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069817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403648" y="5585984"/>
            <a:ext cx="3744416" cy="128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458240" y="2505633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812360" y="286944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763688" y="2392681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563888" y="2213833"/>
            <a:ext cx="21602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961680" y="3445505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411760" y="3473936"/>
            <a:ext cx="476760" cy="201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671304" y="3507633"/>
            <a:ext cx="476760" cy="19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339368" y="2776249"/>
            <a:ext cx="936104" cy="980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 rot="5400000">
            <a:off x="2375756" y="3642941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 rot="5400000">
            <a:off x="2653944" y="2927785"/>
            <a:ext cx="468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 rot="5400000">
            <a:off x="796592" y="6089969"/>
            <a:ext cx="129600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57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48072"/>
          </a:xfrm>
        </p:spPr>
        <p:txBody>
          <a:bodyPr>
            <a:normAutofit/>
          </a:bodyPr>
          <a:lstStyle/>
          <a:p>
            <a:r>
              <a:rPr lang="en-US" sz="2000" dirty="0"/>
              <a:t>Time-Domain Specification</a:t>
            </a:r>
            <a:endParaRPr lang="en-MY" sz="20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788398"/>
            <a:ext cx="2133600" cy="365125"/>
          </a:xfrm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179512" y="544612"/>
            <a:ext cx="817929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200" dirty="0"/>
              <a:t>The rise time is the time required for the response to rise from 10% to 90%, 5% to 95%, or 0% to 100% of its final value. </a:t>
            </a:r>
          </a:p>
          <a:p>
            <a:pPr marL="177800" indent="-177800" algn="just">
              <a:buFont typeface="Arial" pitchFamily="34" charset="0"/>
              <a:buChar char="•"/>
            </a:pPr>
            <a:endParaRPr lang="en-GB" sz="1000" dirty="0"/>
          </a:p>
          <a:p>
            <a:pPr marL="177800" indent="-177800" algn="just">
              <a:buFont typeface="Arial" pitchFamily="34" charset="0"/>
              <a:buChar char="•"/>
            </a:pPr>
            <a:r>
              <a:rPr lang="en-GB" sz="2200" dirty="0"/>
              <a:t>For underdamped second order systems, the 0% to 100% rise time is normally used. For overdamped systems, the 10% to 90% rise time is commonly used.</a:t>
            </a:r>
          </a:p>
          <a:p>
            <a:endParaRPr lang="en-MY" sz="2400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6553200" y="6788398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8F24C-94B3-46D8-9CDA-FE81998887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501865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555776" y="6018032"/>
            <a:ext cx="2592288" cy="128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58240" y="293768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812360" y="3301489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763688" y="2824729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563888" y="2645881"/>
            <a:ext cx="21602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961680" y="3877553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2727088" y="3905984"/>
            <a:ext cx="476760" cy="201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4671304" y="3939681"/>
            <a:ext cx="476760" cy="19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339368" y="3208297"/>
            <a:ext cx="936104" cy="980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 rot="5400000">
            <a:off x="2375756" y="4074989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 rot="5400000">
            <a:off x="2653944" y="3359833"/>
            <a:ext cx="468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 rot="5400000">
            <a:off x="796592" y="6522017"/>
            <a:ext cx="129600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403648" y="6507928"/>
            <a:ext cx="1359768" cy="642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515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2000" dirty="0"/>
              <a:t>Time-Domain Specification</a:t>
            </a:r>
            <a:endParaRPr lang="en-MY" sz="20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GB" sz="2400" dirty="0"/>
              <a:t>The peak time is the time required for the response to reach the first peak of the overshoot.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6481192" y="6275373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8F24C-94B3-46D8-9CDA-FE81998887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6481192" y="6275373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8F24C-94B3-46D8-9CDA-FE81998887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988840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059832" y="5505007"/>
            <a:ext cx="2016224" cy="128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740352" y="2788464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491880" y="2132856"/>
            <a:ext cx="21602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889672" y="336452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599296" y="3426656"/>
            <a:ext cx="476760" cy="19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267360" y="2695272"/>
            <a:ext cx="936104" cy="980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 rot="5400000">
            <a:off x="724584" y="6008992"/>
            <a:ext cx="129600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304344" y="6367519"/>
            <a:ext cx="2016224" cy="435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579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2000" dirty="0"/>
              <a:t>Time-Domain Specification</a:t>
            </a:r>
            <a:endParaRPr lang="en-MY" sz="20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The maximum overshoot is the maximum peak value of the response curve measured from unity. If the final steady-state value of the response differs from unity, then it is common to use the maximum percent overshoot. It is defined by</a:t>
            </a:r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The amount of the maximum (percent) overshoot directly indicates the relative stability of the system.</a:t>
            </a:r>
          </a:p>
          <a:p>
            <a:endParaRPr lang="en-MY" sz="2400" dirty="0"/>
          </a:p>
        </p:txBody>
      </p:sp>
      <p:pic>
        <p:nvPicPr>
          <p:cNvPr id="271362" name="Picture 2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1547664" y="3068960"/>
            <a:ext cx="5953472" cy="74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1992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2000" dirty="0"/>
              <a:t>Time-Domain Specification</a:t>
            </a:r>
            <a:endParaRPr lang="en-MY" sz="20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251520" y="836712"/>
            <a:ext cx="817929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 settling time is the time required for the response curve to reach and stay within a range about the final value of size specified by absolute percentage of the final value (usually 2% or 5%). 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52" y="2310840"/>
            <a:ext cx="7272808" cy="450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70144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4101770" y="2319660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678987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Natural Undamped Frequency. </a:t>
            </a:r>
          </a:p>
        </p:txBody>
      </p:sp>
      <p:grpSp>
        <p:nvGrpSpPr>
          <p:cNvPr id="11" name="Group 25"/>
          <p:cNvGrpSpPr/>
          <p:nvPr/>
        </p:nvGrpSpPr>
        <p:grpSpPr>
          <a:xfrm>
            <a:off x="5171592" y="3267568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6" name="Group 25"/>
          <p:cNvGrpSpPr/>
          <p:nvPr/>
        </p:nvGrpSpPr>
        <p:grpSpPr>
          <a:xfrm>
            <a:off x="5117000" y="501172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5148064" y="4180144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6372200" y="3253920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51520" y="2636912"/>
            <a:ext cx="6120680" cy="1579136"/>
            <a:chOff x="251520" y="2636912"/>
            <a:chExt cx="6120680" cy="1579136"/>
          </a:xfrm>
        </p:grpSpPr>
        <p:grpSp>
          <p:nvGrpSpPr>
            <p:cNvPr id="29" name="Group 28"/>
            <p:cNvGrpSpPr/>
            <p:nvPr/>
          </p:nvGrpSpPr>
          <p:grpSpPr>
            <a:xfrm>
              <a:off x="5220072" y="3316048"/>
              <a:ext cx="1152128" cy="900000"/>
              <a:chOff x="3275856" y="3316048"/>
              <a:chExt cx="1152128" cy="9000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 flipH="1" flipV="1">
                <a:off x="3275856" y="3316048"/>
                <a:ext cx="1152128" cy="900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8" name="Object 27"/>
              <p:cNvGraphicFramePr>
                <a:graphicFrameLocks noChangeAspect="1"/>
              </p:cNvGraphicFramePr>
              <p:nvPr/>
            </p:nvGraphicFramePr>
            <p:xfrm>
              <a:off x="3779912" y="3390328"/>
              <a:ext cx="372132" cy="3987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77646" imgH="190335" progId="Equation.3">
                      <p:embed/>
                    </p:oleObj>
                  </mc:Choice>
                  <mc:Fallback>
                    <p:oleObj name="Equation" r:id="rId3" imgW="177646" imgH="190335" progId="Equation.3">
                      <p:embed/>
                      <p:pic>
                        <p:nvPicPr>
                          <p:cNvPr id="28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9912" y="3390328"/>
                            <a:ext cx="372132" cy="3987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" name="TextBox 7"/>
            <p:cNvSpPr txBox="1">
              <a:spLocks noChangeArrowheads="1"/>
            </p:cNvSpPr>
            <p:nvPr/>
          </p:nvSpPr>
          <p:spPr bwMode="auto">
            <a:xfrm>
              <a:off x="251520" y="2636912"/>
              <a:ext cx="3816424" cy="144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73050" indent="-273050" algn="just">
                <a:buFont typeface="Arial" pitchFamily="34" charset="0"/>
                <a:buChar char="•"/>
              </a:pPr>
              <a:r>
                <a:rPr lang="en-GB" sz="2200" dirty="0"/>
                <a:t>Distance from the origin of s-plane to pole is natural undamped frequency in </a:t>
              </a:r>
              <a:r>
                <a:rPr lang="en-GB" sz="2200" dirty="0" err="1"/>
                <a:t>rad</a:t>
              </a:r>
              <a:r>
                <a:rPr lang="en-GB" sz="2200" dirty="0"/>
                <a:t>/sec.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10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</a:p>
        </p:txBody>
      </p:sp>
      <p:grpSp>
        <p:nvGrpSpPr>
          <p:cNvPr id="7" name="Group 10"/>
          <p:cNvGrpSpPr/>
          <p:nvPr/>
        </p:nvGrpSpPr>
        <p:grpSpPr>
          <a:xfrm>
            <a:off x="2157554" y="296773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Let us draw a circle of radius 3 in s-plane.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221264" y="3645024"/>
            <a:ext cx="2369558" cy="2380032"/>
            <a:chOff x="3221264" y="2996952"/>
            <a:chExt cx="2369558" cy="2380032"/>
          </a:xfrm>
        </p:grpSpPr>
        <p:sp>
          <p:nvSpPr>
            <p:cNvPr id="25" name="Oval 24"/>
            <p:cNvSpPr/>
            <p:nvPr/>
          </p:nvSpPr>
          <p:spPr>
            <a:xfrm>
              <a:off x="3532824" y="3308512"/>
              <a:ext cx="1800000" cy="180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73392" y="299695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21264" y="3937412"/>
              <a:ext cx="3513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-3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352208" y="5038430"/>
              <a:ext cx="3513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-3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01960" y="394670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3</a:t>
              </a:r>
            </a:p>
          </p:txBody>
        </p:sp>
      </p:grpSp>
      <p:grpSp>
        <p:nvGrpSpPr>
          <p:cNvPr id="32" name="Group 21"/>
          <p:cNvGrpSpPr/>
          <p:nvPr/>
        </p:nvGrpSpPr>
        <p:grpSpPr>
          <a:xfrm>
            <a:off x="3838272" y="4077072"/>
            <a:ext cx="144017" cy="145470"/>
            <a:chOff x="3203847" y="4809330"/>
            <a:chExt cx="144017" cy="145470"/>
          </a:xfrm>
        </p:grpSpPr>
        <p:cxnSp>
          <p:nvCxnSpPr>
            <p:cNvPr id="33" name="Straight Connector 32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21"/>
          <p:cNvGrpSpPr/>
          <p:nvPr/>
        </p:nvGrpSpPr>
        <p:grpSpPr>
          <a:xfrm>
            <a:off x="5058639" y="4229472"/>
            <a:ext cx="144017" cy="145470"/>
            <a:chOff x="3203847" y="4809330"/>
            <a:chExt cx="144017" cy="145470"/>
          </a:xfrm>
        </p:grpSpPr>
        <p:cxnSp>
          <p:nvCxnSpPr>
            <p:cNvPr id="36" name="Straight Connector 35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21"/>
          <p:cNvGrpSpPr/>
          <p:nvPr/>
        </p:nvGrpSpPr>
        <p:grpSpPr>
          <a:xfrm>
            <a:off x="4945688" y="5471066"/>
            <a:ext cx="144017" cy="145470"/>
            <a:chOff x="3203847" y="4809330"/>
            <a:chExt cx="144017" cy="145470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21"/>
          <p:cNvGrpSpPr/>
          <p:nvPr/>
        </p:nvGrpSpPr>
        <p:grpSpPr>
          <a:xfrm>
            <a:off x="3635896" y="5299754"/>
            <a:ext cx="144017" cy="145470"/>
            <a:chOff x="3203847" y="4809330"/>
            <a:chExt cx="144017" cy="145470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7"/>
          <p:cNvSpPr txBox="1">
            <a:spLocks noChangeArrowheads="1"/>
          </p:cNvSpPr>
          <p:nvPr/>
        </p:nvSpPr>
        <p:spPr bwMode="auto">
          <a:xfrm>
            <a:off x="251520" y="1772816"/>
            <a:ext cx="817929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If a pole is located anywhere on the circumference of the circle the natural undamped frequency would be </a:t>
            </a:r>
            <a:r>
              <a:rPr lang="en-GB" sz="2200" i="1" dirty="0">
                <a:solidFill>
                  <a:srgbClr val="FF0000"/>
                </a:solidFill>
              </a:rPr>
              <a:t>3 </a:t>
            </a:r>
            <a:r>
              <a:rPr lang="en-GB" sz="2200" i="1" dirty="0" err="1">
                <a:solidFill>
                  <a:srgbClr val="FF0000"/>
                </a:solidFill>
              </a:rPr>
              <a:t>rad</a:t>
            </a:r>
            <a:r>
              <a:rPr lang="en-GB" sz="2200" i="1" dirty="0">
                <a:solidFill>
                  <a:srgbClr val="FF0000"/>
                </a:solidFill>
              </a:rPr>
              <a:t>/sec</a:t>
            </a:r>
            <a:r>
              <a:rPr lang="en-GB" sz="2200" dirty="0"/>
              <a:t>.</a:t>
            </a:r>
          </a:p>
        </p:txBody>
      </p:sp>
      <p:grpSp>
        <p:nvGrpSpPr>
          <p:cNvPr id="45" name="Group 21"/>
          <p:cNvGrpSpPr/>
          <p:nvPr/>
        </p:nvGrpSpPr>
        <p:grpSpPr>
          <a:xfrm>
            <a:off x="3464584" y="4795698"/>
            <a:ext cx="144017" cy="145470"/>
            <a:chOff x="3203847" y="4809330"/>
            <a:chExt cx="144017" cy="145470"/>
          </a:xfrm>
        </p:grpSpPr>
        <p:cxnSp>
          <p:nvCxnSpPr>
            <p:cNvPr id="46" name="Straight Connector 45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21"/>
          <p:cNvGrpSpPr/>
          <p:nvPr/>
        </p:nvGrpSpPr>
        <p:grpSpPr>
          <a:xfrm>
            <a:off x="4355975" y="3888344"/>
            <a:ext cx="144017" cy="145470"/>
            <a:chOff x="3203847" y="4809330"/>
            <a:chExt cx="144017" cy="145470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95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2641986" y="2387948"/>
            <a:ext cx="3949086" cy="3849364"/>
            <a:chOff x="4624904" y="1727004"/>
            <a:chExt cx="3949086" cy="384936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012368"/>
              <a:ext cx="0" cy="3564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42904" y="1971040"/>
              <a:ext cx="0" cy="3636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265892" y="361396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727004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Therefore the s-plane is divided into Constant Natural Undamped Frequency (</a:t>
            </a:r>
            <a:r>
              <a:rPr lang="el-GR" sz="2400" b="1" dirty="0">
                <a:solidFill>
                  <a:srgbClr val="FF0000"/>
                </a:solidFill>
              </a:rPr>
              <a:t>ω</a:t>
            </a:r>
            <a:r>
              <a:rPr lang="en-GB" sz="2400" b="1" baseline="-25000" dirty="0">
                <a:solidFill>
                  <a:srgbClr val="FF0000"/>
                </a:solidFill>
              </a:rPr>
              <a:t>n</a:t>
            </a:r>
            <a:r>
              <a:rPr lang="en-GB" sz="2400" dirty="0"/>
              <a:t>) Circles. </a:t>
            </a:r>
          </a:p>
        </p:txBody>
      </p:sp>
      <p:sp>
        <p:nvSpPr>
          <p:cNvPr id="25" name="Oval 24"/>
          <p:cNvSpPr/>
          <p:nvPr/>
        </p:nvSpPr>
        <p:spPr>
          <a:xfrm>
            <a:off x="3532824" y="3554224"/>
            <a:ext cx="1800000" cy="180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256672" y="4279840"/>
            <a:ext cx="360000" cy="36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889944" y="3924992"/>
            <a:ext cx="1080000" cy="108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3166600" y="3188000"/>
            <a:ext cx="2520000" cy="252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2773080" y="2821776"/>
            <a:ext cx="3240000" cy="324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83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4101770" y="2319660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Damping ratio.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5171592" y="3267568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5117000" y="501172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5148064" y="4180144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6372200" y="3253920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5220072" y="3316048"/>
            <a:ext cx="1152128" cy="900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6"/>
          <p:cNvGrpSpPr/>
          <p:nvPr/>
        </p:nvGrpSpPr>
        <p:grpSpPr>
          <a:xfrm>
            <a:off x="251520" y="2204864"/>
            <a:ext cx="6103848" cy="2448272"/>
            <a:chOff x="251520" y="2204864"/>
            <a:chExt cx="6103848" cy="2448272"/>
          </a:xfrm>
        </p:grpSpPr>
        <p:grpSp>
          <p:nvGrpSpPr>
            <p:cNvPr id="9" name="Group 34"/>
            <p:cNvGrpSpPr/>
            <p:nvPr/>
          </p:nvGrpSpPr>
          <p:grpSpPr>
            <a:xfrm>
              <a:off x="251520" y="2204864"/>
              <a:ext cx="6103848" cy="2233368"/>
              <a:chOff x="251520" y="2204864"/>
              <a:chExt cx="6103848" cy="2233368"/>
            </a:xfrm>
          </p:grpSpPr>
          <p:sp>
            <p:nvSpPr>
              <p:cNvPr id="32" name="TextBox 7"/>
              <p:cNvSpPr txBox="1">
                <a:spLocks noChangeArrowheads="1"/>
              </p:cNvSpPr>
              <p:nvPr/>
            </p:nvSpPr>
            <p:spPr bwMode="auto">
              <a:xfrm>
                <a:off x="251520" y="2204864"/>
                <a:ext cx="3816424" cy="144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273050" indent="-273050" algn="just">
                  <a:buFont typeface="Arial" pitchFamily="34" charset="0"/>
                  <a:buChar char="•"/>
                </a:pPr>
                <a:r>
                  <a:rPr lang="en-GB" sz="2200" dirty="0"/>
                  <a:t>Cosine of the angle between vector connecting origin and pole and –</a:t>
                </a:r>
                <a:r>
                  <a:rPr lang="en-GB" sz="2200" dirty="0" err="1"/>
                  <a:t>ve</a:t>
                </a:r>
                <a:r>
                  <a:rPr lang="en-GB" sz="2200" dirty="0"/>
                  <a:t> real axis yields damping ratio.</a:t>
                </a:r>
              </a:p>
            </p:txBody>
          </p:sp>
          <p:sp>
            <p:nvSpPr>
              <p:cNvPr id="33" name="Arc 32"/>
              <p:cNvSpPr/>
              <p:nvPr/>
            </p:nvSpPr>
            <p:spPr>
              <a:xfrm rot="8829187" flipV="1">
                <a:off x="5800973" y="3790160"/>
                <a:ext cx="554395" cy="648072"/>
              </a:xfrm>
              <a:prstGeom prst="arc">
                <a:avLst>
                  <a:gd name="adj1" fmla="val 16200000"/>
                  <a:gd name="adj2" fmla="val 20630307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34" name="Object 33"/>
              <p:cNvGraphicFramePr>
                <a:graphicFrameLocks noChangeAspect="1"/>
              </p:cNvGraphicFramePr>
              <p:nvPr/>
            </p:nvGraphicFramePr>
            <p:xfrm>
              <a:off x="5520512" y="3815004"/>
              <a:ext cx="238125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14151" imgH="152202" progId="Equation.3">
                      <p:embed/>
                    </p:oleObj>
                  </mc:Choice>
                  <mc:Fallback>
                    <p:oleObj name="Equation" r:id="rId3" imgW="114151" imgH="152202" progId="Equation.3">
                      <p:embed/>
                      <p:pic>
                        <p:nvPicPr>
                          <p:cNvPr id="34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20512" y="3815004"/>
                            <a:ext cx="238125" cy="3175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1259632" y="4221088"/>
            <a:ext cx="1298000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32937" imgH="177646" progId="Equation.3">
                    <p:embed/>
                  </p:oleObj>
                </mc:Choice>
                <mc:Fallback>
                  <p:oleObj name="Equation" r:id="rId5" imgW="532937" imgH="177646" progId="Equation.3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4221088"/>
                          <a:ext cx="1298000" cy="432048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02930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For Underdamped system                        therefore,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3049534" y="3195560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2994942" y="4939714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3026006" y="4108136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4250142" y="3181912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368402"/>
              </p:ext>
            </p:extLst>
          </p:nvPr>
        </p:nvGraphicFramePr>
        <p:xfrm>
          <a:off x="4462862" y="1136938"/>
          <a:ext cx="169703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190500" progId="Equation.3">
                  <p:embed/>
                </p:oleObj>
              </mc:Choice>
              <mc:Fallback>
                <p:oleObj name="Equation" r:id="rId3" imgW="685800" imgH="190500" progId="Equation.3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862" y="1136938"/>
                        <a:ext cx="1697038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74955"/>
              </p:ext>
            </p:extLst>
          </p:nvPr>
        </p:nvGraphicFramePr>
        <p:xfrm>
          <a:off x="7535101" y="1231002"/>
          <a:ext cx="12573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780" imgH="177723" progId="Equation.3">
                  <p:embed/>
                </p:oleObj>
              </mc:Choice>
              <mc:Fallback>
                <p:oleObj name="Equation" r:id="rId5" imgW="507780" imgH="177723" progId="Equation.3">
                  <p:embed/>
                  <p:pic>
                    <p:nvPicPr>
                      <p:cNvPr id="2723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101" y="1231002"/>
                        <a:ext cx="1257300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4094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For Undamped system                  therefore,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4180896" y="3332040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4182318" y="474864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99272"/>
              </p:ext>
            </p:extLst>
          </p:nvPr>
        </p:nvGraphicFramePr>
        <p:xfrm>
          <a:off x="3929462" y="1156031"/>
          <a:ext cx="1066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13" imgH="190417" progId="Equation.3">
                  <p:embed/>
                </p:oleObj>
              </mc:Choice>
              <mc:Fallback>
                <p:oleObj name="Equation" r:id="rId3" imgW="431613" imgH="190417" progId="Equation.3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462" y="1156031"/>
                        <a:ext cx="106680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53610"/>
              </p:ext>
            </p:extLst>
          </p:nvPr>
        </p:nvGraphicFramePr>
        <p:xfrm>
          <a:off x="6577665" y="1212850"/>
          <a:ext cx="81756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9914" imgH="177646" progId="Equation.3">
                  <p:embed/>
                </p:oleObj>
              </mc:Choice>
              <mc:Fallback>
                <p:oleObj name="Equation" r:id="rId5" imgW="329914" imgH="177646" progId="Equation.3">
                  <p:embed/>
                  <p:pic>
                    <p:nvPicPr>
                      <p:cNvPr id="2723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665" y="1212850"/>
                        <a:ext cx="817562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4018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6409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>
              <a:buFont typeface="Arial" pitchFamily="34" charset="0"/>
              <a:buChar char="•"/>
            </a:pPr>
            <a:r>
              <a:rPr lang="en-GB" sz="2400" dirty="0"/>
              <a:t>For overdamped and critically damped systems                  therefore,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2339752" y="4077072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3419872" y="407707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364587"/>
              </p:ext>
            </p:extLst>
          </p:nvPr>
        </p:nvGraphicFramePr>
        <p:xfrm>
          <a:off x="7075904" y="1124744"/>
          <a:ext cx="9096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300" imgH="190500" progId="Equation.3">
                  <p:embed/>
                </p:oleObj>
              </mc:Choice>
              <mc:Fallback>
                <p:oleObj name="Equation" r:id="rId3" imgW="368300" imgH="190500" progId="Equation.3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904" y="1124744"/>
                        <a:ext cx="90963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2391" name="Object 7"/>
              <p:cNvSpPr txBox="1"/>
              <p:nvPr/>
            </p:nvSpPr>
            <p:spPr bwMode="auto">
              <a:xfrm>
                <a:off x="1956933" y="1516698"/>
                <a:ext cx="909638" cy="4064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239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6933" y="1516698"/>
                <a:ext cx="909638" cy="406400"/>
              </a:xfrm>
              <a:prstGeom prst="rect">
                <a:avLst/>
              </a:prstGeom>
              <a:blipFill>
                <a:blip r:embed="rId6"/>
                <a:stretch>
                  <a:fillRect l="-5369" r="-2013" b="-36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387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6409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>
              <a:buFont typeface="Arial" pitchFamily="34" charset="0"/>
              <a:buChar char="•"/>
            </a:pPr>
            <a:r>
              <a:rPr lang="en-GB" sz="2400" dirty="0"/>
              <a:t>Draw a vector connecting </a:t>
            </a:r>
            <a:r>
              <a:rPr lang="en-GB" sz="2400" dirty="0">
                <a:solidFill>
                  <a:srgbClr val="FF0000"/>
                </a:solidFill>
              </a:rPr>
              <a:t>origin</a:t>
            </a:r>
            <a:r>
              <a:rPr lang="en-GB" sz="2400" dirty="0"/>
              <a:t> of s-plane and some point </a:t>
            </a:r>
            <a:r>
              <a:rPr lang="en-GB" sz="2400" dirty="0">
                <a:solidFill>
                  <a:srgbClr val="FF0000"/>
                </a:solidFill>
              </a:rPr>
              <a:t>P</a:t>
            </a:r>
            <a:r>
              <a:rPr lang="en-GB" sz="2400" dirty="0"/>
              <a:t>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7784" y="2564904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</a:t>
            </a:r>
            <a:endParaRPr lang="en-GB" dirty="0"/>
          </a:p>
        </p:txBody>
      </p:sp>
      <p:sp>
        <p:nvSpPr>
          <p:cNvPr id="21" name="Oval 20"/>
          <p:cNvSpPr/>
          <p:nvPr/>
        </p:nvSpPr>
        <p:spPr>
          <a:xfrm>
            <a:off x="2898408" y="281200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/>
          <p:cNvGrpSpPr/>
          <p:nvPr/>
        </p:nvGrpSpPr>
        <p:grpSpPr>
          <a:xfrm>
            <a:off x="2946880" y="2852936"/>
            <a:ext cx="1386841" cy="1534937"/>
            <a:chOff x="2946880" y="2852936"/>
            <a:chExt cx="1386841" cy="1534937"/>
          </a:xfrm>
        </p:grpSpPr>
        <p:cxnSp>
          <p:nvCxnSpPr>
            <p:cNvPr id="26" name="Straight Arrow Connector 25"/>
            <p:cNvCxnSpPr/>
            <p:nvPr/>
          </p:nvCxnSpPr>
          <p:spPr>
            <a:xfrm flipH="1" flipV="1">
              <a:off x="2946880" y="2852936"/>
              <a:ext cx="1296144" cy="12961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Arc 27"/>
            <p:cNvSpPr/>
            <p:nvPr/>
          </p:nvSpPr>
          <p:spPr>
            <a:xfrm rot="8829187" flipV="1">
              <a:off x="3779326" y="3739801"/>
              <a:ext cx="554395" cy="648072"/>
            </a:xfrm>
            <a:prstGeom prst="arc">
              <a:avLst>
                <a:gd name="adj1" fmla="val 16200000"/>
                <a:gd name="adj2" fmla="val 20630307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3275856" y="3664921"/>
            <a:ext cx="449262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5713" imgH="190335" progId="Equation.3">
                    <p:embed/>
                  </p:oleObj>
                </mc:Choice>
                <mc:Fallback>
                  <p:oleObj name="Equation" r:id="rId3" imgW="215713" imgH="190335" progId="Equation.3">
                    <p:embed/>
                    <p:pic>
                      <p:nvPicPr>
                        <p:cNvPr id="3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664921"/>
                          <a:ext cx="449262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457200" y="5084763"/>
          <a:ext cx="262731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032" imgH="215806" progId="Equation.3">
                  <p:embed/>
                </p:oleObj>
              </mc:Choice>
              <mc:Fallback>
                <p:oleObj name="Equation" r:id="rId5" imgW="1079032" imgH="215806" progId="Equation.3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084763"/>
                        <a:ext cx="262731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25"/>
          <p:cNvGrpSpPr/>
          <p:nvPr/>
        </p:nvGrpSpPr>
        <p:grpSpPr>
          <a:xfrm>
            <a:off x="3968640" y="3859594"/>
            <a:ext cx="144017" cy="145470"/>
            <a:chOff x="3203847" y="4809330"/>
            <a:chExt cx="144017" cy="145470"/>
          </a:xfrm>
        </p:grpSpPr>
        <p:cxnSp>
          <p:nvCxnSpPr>
            <p:cNvPr id="34" name="Straight Connector 33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6" name="Group 25"/>
          <p:cNvGrpSpPr/>
          <p:nvPr/>
        </p:nvGrpSpPr>
        <p:grpSpPr>
          <a:xfrm>
            <a:off x="3649544" y="3559368"/>
            <a:ext cx="144017" cy="145470"/>
            <a:chOff x="3203847" y="4809330"/>
            <a:chExt cx="144017" cy="145470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9" name="Group 25"/>
          <p:cNvGrpSpPr/>
          <p:nvPr/>
        </p:nvGrpSpPr>
        <p:grpSpPr>
          <a:xfrm>
            <a:off x="3392576" y="3294864"/>
            <a:ext cx="144017" cy="145470"/>
            <a:chOff x="3203847" y="4809330"/>
            <a:chExt cx="144017" cy="145470"/>
          </a:xfrm>
        </p:grpSpPr>
        <p:cxnSp>
          <p:nvCxnSpPr>
            <p:cNvPr id="40" name="Straight Connector 39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2" name="Group 25"/>
          <p:cNvGrpSpPr/>
          <p:nvPr/>
        </p:nvGrpSpPr>
        <p:grpSpPr>
          <a:xfrm>
            <a:off x="3104543" y="2996952"/>
            <a:ext cx="144017" cy="145470"/>
            <a:chOff x="3203847" y="4809330"/>
            <a:chExt cx="144017" cy="145470"/>
          </a:xfrm>
        </p:grpSpPr>
        <p:cxnSp>
          <p:nvCxnSpPr>
            <p:cNvPr id="43" name="Straight Connector 42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058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sz="2000" dirty="0"/>
              <a:t>Using the S-Plane</a:t>
            </a:r>
            <a:endParaRPr lang="en-GB" dirty="0"/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6409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>
              <a:buFont typeface="Arial" pitchFamily="34" charset="0"/>
              <a:buChar char="•"/>
            </a:pPr>
            <a:r>
              <a:rPr lang="en-GB" sz="2400" dirty="0"/>
              <a:t>Therefore, s-plane is divided into sections of constant damping ratio lines. 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3923928" y="2852936"/>
            <a:ext cx="315328" cy="127872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3347864" y="3068960"/>
            <a:ext cx="898928" cy="107635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3635896" y="2852936"/>
            <a:ext cx="579832" cy="129614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3059832" y="3284984"/>
            <a:ext cx="1193072" cy="86409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2915816" y="3573016"/>
            <a:ext cx="1296144" cy="57606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2871104" y="3933056"/>
            <a:ext cx="1395448" cy="20237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824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07" y="1692"/>
            <a:ext cx="8229600" cy="940966"/>
          </a:xfrm>
        </p:spPr>
        <p:txBody>
          <a:bodyPr/>
          <a:lstStyle/>
          <a:p>
            <a:r>
              <a:rPr lang="en-GB" sz="2000" dirty="0"/>
              <a:t>Using the S-Plane</a:t>
            </a:r>
          </a:p>
        </p:txBody>
      </p:sp>
      <p:graphicFrame>
        <p:nvGraphicFramePr>
          <p:cNvPr id="320516" name="Object 5"/>
          <p:cNvGraphicFramePr>
            <a:graphicFrameLocks noChangeAspect="1"/>
          </p:cNvGraphicFramePr>
          <p:nvPr/>
        </p:nvGraphicFramePr>
        <p:xfrm>
          <a:off x="251520" y="908720"/>
          <a:ext cx="262572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520700" progId="Equation.3">
                  <p:embed/>
                </p:oleObj>
              </mc:Choice>
              <mc:Fallback>
                <p:oleObj name="Equation" r:id="rId2" imgW="1054100" imgH="520700" progId="Equation.3">
                  <p:embed/>
                  <p:pic>
                    <p:nvPicPr>
                      <p:cNvPr id="3205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908720"/>
                        <a:ext cx="2625725" cy="1296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175C670A-157D-4EB1-835A-6982CA0FB52A}"/>
              </a:ext>
            </a:extLst>
          </p:cNvPr>
          <p:cNvGrpSpPr/>
          <p:nvPr/>
        </p:nvGrpSpPr>
        <p:grpSpPr>
          <a:xfrm>
            <a:off x="2714090" y="1401479"/>
            <a:ext cx="5972710" cy="4876800"/>
            <a:chOff x="2714090" y="1401479"/>
            <a:chExt cx="5972710" cy="48768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C34336B-9859-4F3D-9E6A-53AB789C6978}"/>
                </a:ext>
              </a:extLst>
            </p:cNvPr>
            <p:cNvGrpSpPr/>
            <p:nvPr/>
          </p:nvGrpSpPr>
          <p:grpSpPr>
            <a:xfrm>
              <a:off x="2714090" y="1401479"/>
              <a:ext cx="5972710" cy="4876800"/>
              <a:chOff x="1648853" y="1844824"/>
              <a:chExt cx="5972710" cy="48768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5389315" y="2463465"/>
                <a:ext cx="2232248" cy="17032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295848" y="6180288"/>
                <a:ext cx="1292376" cy="3450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C95EC3E-7E21-47E7-8F8E-FA3693A6AC0C}"/>
                  </a:ext>
                </a:extLst>
              </p:cNvPr>
              <p:cNvGrpSpPr/>
              <p:nvPr/>
            </p:nvGrpSpPr>
            <p:grpSpPr>
              <a:xfrm>
                <a:off x="1648853" y="1844824"/>
                <a:ext cx="5972710" cy="4876800"/>
                <a:chOff x="1648853" y="1844824"/>
                <a:chExt cx="5972710" cy="4876800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1A5FD539-814C-4C5D-BF70-436610AD57FE}"/>
                    </a:ext>
                  </a:extLst>
                </p:cNvPr>
                <p:cNvGrpSpPr/>
                <p:nvPr/>
              </p:nvGrpSpPr>
              <p:grpSpPr>
                <a:xfrm>
                  <a:off x="1648853" y="1844824"/>
                  <a:ext cx="5972710" cy="4876800"/>
                  <a:chOff x="1648853" y="1844824"/>
                  <a:chExt cx="5972710" cy="4876800"/>
                </a:xfrm>
              </p:grpSpPr>
              <p:grpSp>
                <p:nvGrpSpPr>
                  <p:cNvPr id="4" name="Group 3">
                    <a:extLst>
                      <a:ext uri="{FF2B5EF4-FFF2-40B4-BE49-F238E27FC236}">
                        <a16:creationId xmlns:a16="http://schemas.microsoft.com/office/drawing/2014/main" id="{627F6F47-225B-4DDC-9F97-D7CB11812E8C}"/>
                      </a:ext>
                    </a:extLst>
                  </p:cNvPr>
                  <p:cNvGrpSpPr/>
                  <p:nvPr/>
                </p:nvGrpSpPr>
                <p:grpSpPr>
                  <a:xfrm>
                    <a:off x="1763688" y="1844824"/>
                    <a:ext cx="5857875" cy="4876800"/>
                    <a:chOff x="1763688" y="1844824"/>
                    <a:chExt cx="5857875" cy="4876800"/>
                  </a:xfrm>
                </p:grpSpPr>
                <p:pic>
                  <p:nvPicPr>
                    <p:cNvPr id="320514" name="Picture 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1763688" y="1844824"/>
                      <a:ext cx="5857875" cy="48768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5" name="Rectangle 4"/>
                    <p:cNvSpPr/>
                    <p:nvPr/>
                  </p:nvSpPr>
                  <p:spPr>
                    <a:xfrm>
                      <a:off x="4531056" y="4396168"/>
                      <a:ext cx="360040" cy="43204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graphicFrame>
                  <p:nvGraphicFramePr>
                    <p:cNvPr id="6" name="Object 5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663679805"/>
                        </p:ext>
                      </p:extLst>
                    </p:nvPr>
                  </p:nvGraphicFramePr>
                  <p:xfrm>
                    <a:off x="4577790" y="4475161"/>
                    <a:ext cx="238125" cy="3175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5" imgW="114151" imgH="152202" progId="Equation.3">
                            <p:embed/>
                          </p:oleObj>
                        </mc:Choice>
                        <mc:Fallback>
                          <p:oleObj name="Equation" r:id="rId5" imgW="114151" imgH="152202" progId="Equation.3">
                            <p:embed/>
                            <p:pic>
                              <p:nvPicPr>
                                <p:cNvPr id="6" name="Object 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577790" y="4475161"/>
                                  <a:ext cx="238125" cy="3175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97B8092-54AE-4BCC-ADF4-BD50C201F05A}"/>
                      </a:ext>
                    </a:extLst>
                  </p:cNvPr>
                  <p:cNvSpPr/>
                  <p:nvPr/>
                </p:nvSpPr>
                <p:spPr>
                  <a:xfrm>
                    <a:off x="1648853" y="3136950"/>
                    <a:ext cx="2232248" cy="1703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13F6D99-D2ED-47E3-A005-EEC91AEE148E}"/>
                      </a:ext>
                    </a:extLst>
                  </p:cNvPr>
                  <p:cNvSpPr/>
                  <p:nvPr/>
                </p:nvSpPr>
                <p:spPr>
                  <a:xfrm>
                    <a:off x="3288145" y="5477164"/>
                    <a:ext cx="1827270" cy="124239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CDFD800-1200-40B0-8E93-0BFEC95EA79F}"/>
                    </a:ext>
                  </a:extLst>
                </p:cNvPr>
                <p:cNvSpPr/>
                <p:nvPr/>
              </p:nvSpPr>
              <p:spPr>
                <a:xfrm>
                  <a:off x="5295848" y="5697404"/>
                  <a:ext cx="1827270" cy="102215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009D580-0B06-4642-9A0E-350B115857AC}"/>
                </a:ext>
              </a:extLst>
            </p:cNvPr>
            <p:cNvSpPr/>
            <p:nvPr/>
          </p:nvSpPr>
          <p:spPr>
            <a:xfrm>
              <a:off x="6454552" y="2138240"/>
              <a:ext cx="2232248" cy="1703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0B085B-0CEA-46DC-BA6C-DD6CA5D1EAA1}"/>
              </a:ext>
            </a:extLst>
          </p:cNvPr>
          <p:cNvGrpSpPr/>
          <p:nvPr/>
        </p:nvGrpSpPr>
        <p:grpSpPr>
          <a:xfrm>
            <a:off x="2680292" y="1409664"/>
            <a:ext cx="5972710" cy="4876800"/>
            <a:chOff x="2701983" y="1399417"/>
            <a:chExt cx="5972710" cy="48768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09877C-37E8-40B9-B573-86C8A9BA0647}"/>
                </a:ext>
              </a:extLst>
            </p:cNvPr>
            <p:cNvGrpSpPr/>
            <p:nvPr/>
          </p:nvGrpSpPr>
          <p:grpSpPr>
            <a:xfrm>
              <a:off x="2701983" y="1399417"/>
              <a:ext cx="5972710" cy="4876800"/>
              <a:chOff x="1648853" y="1844824"/>
              <a:chExt cx="5972710" cy="48768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53F34D2-3A5A-4C72-848F-63BDB5FC147B}"/>
                  </a:ext>
                </a:extLst>
              </p:cNvPr>
              <p:cNvSpPr/>
              <p:nvPr/>
            </p:nvSpPr>
            <p:spPr>
              <a:xfrm>
                <a:off x="5389315" y="2463465"/>
                <a:ext cx="2232248" cy="17032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590BFA9-7919-4BE3-94CF-A2D02B58DF8F}"/>
                  </a:ext>
                </a:extLst>
              </p:cNvPr>
              <p:cNvSpPr/>
              <p:nvPr/>
            </p:nvSpPr>
            <p:spPr>
              <a:xfrm>
                <a:off x="5295848" y="6180288"/>
                <a:ext cx="1292376" cy="3450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59A4E5-8A94-485A-ABA5-067AC7D7F28D}"/>
                  </a:ext>
                </a:extLst>
              </p:cNvPr>
              <p:cNvGrpSpPr/>
              <p:nvPr/>
            </p:nvGrpSpPr>
            <p:grpSpPr>
              <a:xfrm>
                <a:off x="1648853" y="1844824"/>
                <a:ext cx="5972710" cy="4876800"/>
                <a:chOff x="1648853" y="1844824"/>
                <a:chExt cx="5972710" cy="487680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B9EF8E4-7914-49F0-BFE6-7561D08482BD}"/>
                    </a:ext>
                  </a:extLst>
                </p:cNvPr>
                <p:cNvGrpSpPr/>
                <p:nvPr/>
              </p:nvGrpSpPr>
              <p:grpSpPr>
                <a:xfrm>
                  <a:off x="1763688" y="1844824"/>
                  <a:ext cx="5857875" cy="4876800"/>
                  <a:chOff x="1763688" y="1844824"/>
                  <a:chExt cx="5857875" cy="4876800"/>
                </a:xfrm>
              </p:grpSpPr>
              <p:pic>
                <p:nvPicPr>
                  <p:cNvPr id="28" name="Picture 2">
                    <a:extLst>
                      <a:ext uri="{FF2B5EF4-FFF2-40B4-BE49-F238E27FC236}">
                        <a16:creationId xmlns:a16="http://schemas.microsoft.com/office/drawing/2014/main" id="{83ACA935-7EB5-48E5-9810-917B52BEB74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1763688" y="1844824"/>
                    <a:ext cx="5857875" cy="48768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5A012656-4728-46F3-85BC-263092B193F2}"/>
                      </a:ext>
                    </a:extLst>
                  </p:cNvPr>
                  <p:cNvSpPr/>
                  <p:nvPr/>
                </p:nvSpPr>
                <p:spPr>
                  <a:xfrm>
                    <a:off x="4531056" y="4396168"/>
                    <a:ext cx="36004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aphicFrame>
                <p:nvGraphicFramePr>
                  <p:cNvPr id="30" name="Object 29">
                    <a:extLst>
                      <a:ext uri="{FF2B5EF4-FFF2-40B4-BE49-F238E27FC236}">
                        <a16:creationId xmlns:a16="http://schemas.microsoft.com/office/drawing/2014/main" id="{EA434935-1C8C-4F58-A616-C8F1074ED36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172024265"/>
                      </p:ext>
                    </p:extLst>
                  </p:nvPr>
                </p:nvGraphicFramePr>
                <p:xfrm>
                  <a:off x="4577790" y="4475161"/>
                  <a:ext cx="238125" cy="3175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5" imgW="114151" imgH="152202" progId="Equation.3">
                          <p:embed/>
                        </p:oleObj>
                      </mc:Choice>
                      <mc:Fallback>
                        <p:oleObj name="Equation" r:id="rId5" imgW="114151" imgH="152202" progId="Equation.3">
                          <p:embed/>
                          <p:pic>
                            <p:nvPicPr>
                              <p:cNvPr id="6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77790" y="4475161"/>
                                <a:ext cx="238125" cy="3175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BA401A9-2D0F-4FEF-9FDA-9E16E5A9E3E4}"/>
                    </a:ext>
                  </a:extLst>
                </p:cNvPr>
                <p:cNvSpPr/>
                <p:nvPr/>
              </p:nvSpPr>
              <p:spPr>
                <a:xfrm>
                  <a:off x="1648853" y="3136950"/>
                  <a:ext cx="2232248" cy="1703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E44BB4-1855-4CA4-8C23-B497275B30E7}"/>
                </a:ext>
              </a:extLst>
            </p:cNvPr>
            <p:cNvSpPr/>
            <p:nvPr/>
          </p:nvSpPr>
          <p:spPr>
            <a:xfrm>
              <a:off x="6395512" y="2249583"/>
              <a:ext cx="2232248" cy="1703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833559-2557-4D3D-9885-C3908DCA2640}"/>
              </a:ext>
            </a:extLst>
          </p:cNvPr>
          <p:cNvGrpSpPr/>
          <p:nvPr/>
        </p:nvGrpSpPr>
        <p:grpSpPr>
          <a:xfrm>
            <a:off x="2783020" y="1409664"/>
            <a:ext cx="5869982" cy="4876800"/>
            <a:chOff x="-1876613" y="1591354"/>
            <a:chExt cx="5869982" cy="48768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A8E17D-4891-4F6E-BD5E-EB3ED0553C7B}"/>
                </a:ext>
              </a:extLst>
            </p:cNvPr>
            <p:cNvGrpSpPr/>
            <p:nvPr/>
          </p:nvGrpSpPr>
          <p:grpSpPr>
            <a:xfrm>
              <a:off x="-1876613" y="1591354"/>
              <a:ext cx="5857875" cy="4876800"/>
              <a:chOff x="-2508220" y="1468979"/>
              <a:chExt cx="5857875" cy="48768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CA82EA-9811-4172-A7A8-F72CDBE927FF}"/>
                  </a:ext>
                </a:extLst>
              </p:cNvPr>
              <p:cNvSpPr/>
              <p:nvPr/>
            </p:nvSpPr>
            <p:spPr>
              <a:xfrm>
                <a:off x="1117407" y="2131002"/>
                <a:ext cx="2232248" cy="17032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1923E46-6537-4E51-A25B-803304164DB2}"/>
                  </a:ext>
                </a:extLst>
              </p:cNvPr>
              <p:cNvSpPr/>
              <p:nvPr/>
            </p:nvSpPr>
            <p:spPr>
              <a:xfrm>
                <a:off x="1023940" y="5847825"/>
                <a:ext cx="1292376" cy="3450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B5EE1A8-FF80-48E1-B34F-C114B054BCC7}"/>
                  </a:ext>
                </a:extLst>
              </p:cNvPr>
              <p:cNvGrpSpPr/>
              <p:nvPr/>
            </p:nvGrpSpPr>
            <p:grpSpPr>
              <a:xfrm>
                <a:off x="-2508220" y="1468979"/>
                <a:ext cx="5857875" cy="4876800"/>
                <a:chOff x="1763688" y="1801442"/>
                <a:chExt cx="5857875" cy="4876800"/>
              </a:xfrm>
            </p:grpSpPr>
            <p:pic>
              <p:nvPicPr>
                <p:cNvPr id="37" name="Picture 2">
                  <a:extLst>
                    <a:ext uri="{FF2B5EF4-FFF2-40B4-BE49-F238E27FC236}">
                      <a16:creationId xmlns:a16="http://schemas.microsoft.com/office/drawing/2014/main" id="{F4EBF838-242A-43E6-9717-C24EF6E2D2D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1763688" y="1801442"/>
                  <a:ext cx="5857875" cy="4876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E7C1B36-407D-44BA-934A-68C799643EB3}"/>
                    </a:ext>
                  </a:extLst>
                </p:cNvPr>
                <p:cNvSpPr/>
                <p:nvPr/>
              </p:nvSpPr>
              <p:spPr>
                <a:xfrm>
                  <a:off x="4531056" y="4396168"/>
                  <a:ext cx="360040" cy="4320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aphicFrame>
              <p:nvGraphicFramePr>
                <p:cNvPr id="39" name="Object 38">
                  <a:extLst>
                    <a:ext uri="{FF2B5EF4-FFF2-40B4-BE49-F238E27FC236}">
                      <a16:creationId xmlns:a16="http://schemas.microsoft.com/office/drawing/2014/main" id="{6321987F-0685-42B3-AA69-D2A77A6F23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90428392"/>
                    </p:ext>
                  </p:extLst>
                </p:nvPr>
              </p:nvGraphicFramePr>
              <p:xfrm>
                <a:off x="4577790" y="4475161"/>
                <a:ext cx="238125" cy="317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5" imgW="114151" imgH="152202" progId="Equation.3">
                        <p:embed/>
                      </p:oleObj>
                    </mc:Choice>
                    <mc:Fallback>
                      <p:oleObj name="Equation" r:id="rId5" imgW="114151" imgH="152202" progId="Equation.3">
                        <p:embed/>
                        <p:pic>
                          <p:nvPicPr>
                            <p:cNvPr id="30" name="Object 29">
                              <a:extLst>
                                <a:ext uri="{FF2B5EF4-FFF2-40B4-BE49-F238E27FC236}">
                                  <a16:creationId xmlns:a16="http://schemas.microsoft.com/office/drawing/2014/main" id="{EA434935-1C8C-4F58-A616-C8F1074ED36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77790" y="4475161"/>
                              <a:ext cx="238125" cy="3175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C1502B9-3C6C-4134-A791-B81ED00ADF1B}"/>
                </a:ext>
              </a:extLst>
            </p:cNvPr>
            <p:cNvSpPr/>
            <p:nvPr/>
          </p:nvSpPr>
          <p:spPr>
            <a:xfrm>
              <a:off x="1761121" y="2247521"/>
              <a:ext cx="2232248" cy="1703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09CA5F-83B8-4E4C-B103-F044C1EC2A01}"/>
                </a:ext>
              </a:extLst>
            </p:cNvPr>
            <p:cNvSpPr/>
            <p:nvPr/>
          </p:nvSpPr>
          <p:spPr>
            <a:xfrm>
              <a:off x="-1672560" y="3441294"/>
              <a:ext cx="1913360" cy="5905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4D77870-F3B0-4AD2-9380-4FDDF99002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2087" b="46497"/>
            <a:stretch/>
          </p:blipFill>
          <p:spPr>
            <a:xfrm>
              <a:off x="-1542736" y="3410425"/>
              <a:ext cx="1862455" cy="85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581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 fontScale="90000"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700" progId="Equation.3">
                  <p:embed/>
                </p:oleObj>
              </mc:Choice>
              <mc:Fallback>
                <p:oleObj name="Equation" r:id="rId2" imgW="2286000" imgH="520700" progId="Equation.3">
                  <p:embed/>
                  <p:pic>
                    <p:nvPicPr>
                      <p:cNvPr id="2908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265113" y="2205038"/>
          <a:ext cx="4619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200" imgH="190500" progId="Equation.3">
                  <p:embed/>
                </p:oleObj>
              </mc:Choice>
              <mc:Fallback>
                <p:oleObj name="Equation" r:id="rId4" imgW="1981200" imgH="190500" progId="Equation.3">
                  <p:embed/>
                  <p:pic>
                    <p:nvPicPr>
                      <p:cNvPr id="2908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2205038"/>
                        <a:ext cx="461962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3892" name="Picture 4"/>
          <p:cNvPicPr>
            <a:picLocks noChangeAspect="1" noChangeArrowheads="1"/>
          </p:cNvPicPr>
          <p:nvPr/>
        </p:nvPicPr>
        <p:blipFill>
          <a:blip r:embed="rId6" cstate="print"/>
          <a:srcRect l="6475" t="4109" r="7727" b="5501"/>
          <a:stretch>
            <a:fillRect/>
          </a:stretch>
        </p:blipFill>
        <p:spPr bwMode="auto">
          <a:xfrm>
            <a:off x="1933576" y="2681624"/>
            <a:ext cx="5040560" cy="418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6979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 fontScale="90000"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700" progId="Equation.3">
                  <p:embed/>
                </p:oleObj>
              </mc:Choice>
              <mc:Fallback>
                <p:oleObj name="Equation" r:id="rId2" imgW="2286000" imgH="520700" progId="Equation.3">
                  <p:embed/>
                  <p:pic>
                    <p:nvPicPr>
                      <p:cNvPr id="2908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251520" y="2204864"/>
          <a:ext cx="4649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900" imgH="190500" progId="Equation.3">
                  <p:embed/>
                </p:oleObj>
              </mc:Choice>
              <mc:Fallback>
                <p:oleObj name="Equation" r:id="rId4" imgW="1993900" imgH="190500" progId="Equation.3">
                  <p:embed/>
                  <p:pic>
                    <p:nvPicPr>
                      <p:cNvPr id="2908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04864"/>
                        <a:ext cx="46497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2872" name="Picture 8"/>
          <p:cNvPicPr>
            <a:picLocks noChangeAspect="1" noChangeArrowheads="1"/>
          </p:cNvPicPr>
          <p:nvPr/>
        </p:nvPicPr>
        <p:blipFill>
          <a:blip r:embed="rId6" cstate="print"/>
          <a:srcRect l="6475" t="4228" r="7727" b="5382"/>
          <a:stretch>
            <a:fillRect/>
          </a:stretch>
        </p:blipFill>
        <p:spPr bwMode="auto">
          <a:xfrm>
            <a:off x="1979712" y="2708920"/>
            <a:ext cx="4997756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1735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 fontScale="90000"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700" progId="Equation.3">
                  <p:embed/>
                </p:oleObj>
              </mc:Choice>
              <mc:Fallback>
                <p:oleObj name="Equation" r:id="rId2" imgW="2286000" imgH="520700" progId="Equation.3">
                  <p:embed/>
                  <p:pic>
                    <p:nvPicPr>
                      <p:cNvPr id="2908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251520" y="2204864"/>
          <a:ext cx="4649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900" imgH="190500" progId="Equation.3">
                  <p:embed/>
                </p:oleObj>
              </mc:Choice>
              <mc:Fallback>
                <p:oleObj name="Equation" r:id="rId4" imgW="1993900" imgH="190500" progId="Equation.3">
                  <p:embed/>
                  <p:pic>
                    <p:nvPicPr>
                      <p:cNvPr id="2908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04864"/>
                        <a:ext cx="46497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4916" name="Picture 4"/>
          <p:cNvPicPr>
            <a:picLocks noChangeAspect="1" noChangeArrowheads="1"/>
          </p:cNvPicPr>
          <p:nvPr/>
        </p:nvPicPr>
        <p:blipFill>
          <a:blip r:embed="rId6" cstate="print"/>
          <a:srcRect l="6475" t="4109" r="7727" b="5501"/>
          <a:stretch>
            <a:fillRect/>
          </a:stretch>
        </p:blipFill>
        <p:spPr bwMode="auto">
          <a:xfrm>
            <a:off x="1941111" y="2667976"/>
            <a:ext cx="4997755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225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2000" dirty="0"/>
              <a:t>Other Step Responses</a:t>
            </a:r>
          </a:p>
        </p:txBody>
      </p:sp>
      <p:pic>
        <p:nvPicPr>
          <p:cNvPr id="139266" name="Picture 2" descr="Image result for step response of overdamped system">
            <a:extLst>
              <a:ext uri="{FF2B5EF4-FFF2-40B4-BE49-F238E27FC236}">
                <a16:creationId xmlns:a16="http://schemas.microsoft.com/office/drawing/2014/main" id="{5948F23F-E27A-4244-87ED-0F971160F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619" y="666876"/>
            <a:ext cx="6478463" cy="574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732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2000" dirty="0"/>
              <a:t>Step Responses by Pole Positions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C054E-BFC3-49A1-863C-AA71A56692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22" t="10548" r="11378" b="31897"/>
          <a:stretch/>
        </p:blipFill>
        <p:spPr>
          <a:xfrm>
            <a:off x="296672" y="731520"/>
            <a:ext cx="6522912" cy="3657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3DB3BAF-F4DE-48CC-BBA7-9CEDD12CD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6928" y="1274686"/>
            <a:ext cx="304438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/>
              <a:t>Higher Frequency</a:t>
            </a:r>
          </a:p>
          <a:p>
            <a:r>
              <a:rPr lang="en-GB" sz="2400" dirty="0"/>
              <a:t>Oscillation 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0D720D3-B4EF-499F-93C2-0E4AA2086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6448" y="2317102"/>
            <a:ext cx="304438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/>
              <a:t>Lower Frequency</a:t>
            </a:r>
          </a:p>
          <a:p>
            <a:r>
              <a:rPr lang="en-GB" sz="2400" dirty="0"/>
              <a:t>Oscillation 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D5DC644-8D3D-40A2-9A0A-7819F5F34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6928" y="3248237"/>
            <a:ext cx="3044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/>
              <a:t>No Oscillation 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140A069-6535-4A9D-BE15-0331DD73E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3984" y="4129399"/>
            <a:ext cx="16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/>
              <a:t>Increasing </a:t>
            </a:r>
          </a:p>
          <a:p>
            <a:r>
              <a:rPr lang="en-GB" sz="2400" dirty="0"/>
              <a:t>Amplitude 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E8BAD60-2896-4A1C-8326-7666AD83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336" y="4129399"/>
            <a:ext cx="16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/>
              <a:t>Stable </a:t>
            </a:r>
          </a:p>
          <a:p>
            <a:r>
              <a:rPr lang="en-GB" sz="2400" dirty="0"/>
              <a:t>Amplitude 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E143E4F-9CB6-4F6B-88BE-481780381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68" y="4129399"/>
            <a:ext cx="16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/>
              <a:t>Settling </a:t>
            </a:r>
          </a:p>
          <a:p>
            <a:r>
              <a:rPr lang="en-GB" sz="2400" dirty="0"/>
              <a:t>Amplitude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C50742-7140-4BD7-B89C-7F6D1FF8DBCC}"/>
              </a:ext>
            </a:extLst>
          </p:cNvPr>
          <p:cNvGrpSpPr/>
          <p:nvPr/>
        </p:nvGrpSpPr>
        <p:grpSpPr>
          <a:xfrm>
            <a:off x="6867712" y="3967488"/>
            <a:ext cx="1873952" cy="2339840"/>
            <a:chOff x="6867712" y="3967488"/>
            <a:chExt cx="1873952" cy="2339840"/>
          </a:xfrm>
        </p:grpSpPr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A2B08CB2-6C47-4604-82C5-AED069A29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7712" y="3967488"/>
              <a:ext cx="1873952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2400" dirty="0"/>
                <a:t>Oscillations</a:t>
              </a:r>
            </a:p>
            <a:p>
              <a:r>
                <a:rPr lang="en-GB" sz="2400" dirty="0"/>
                <a:t>Mirrored </a:t>
              </a:r>
            </a:p>
            <a:p>
              <a:r>
                <a:rPr lang="en-GB" sz="2400" dirty="0"/>
                <a:t>(+/- Nature </a:t>
              </a:r>
            </a:p>
            <a:p>
              <a:r>
                <a:rPr lang="en-GB" sz="2400" dirty="0"/>
                <a:t>of poles)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0D1CDD3-EAAC-469B-B8CE-FA2B77F07E45}"/>
                </a:ext>
              </a:extLst>
            </p:cNvPr>
            <p:cNvCxnSpPr/>
            <p:nvPr/>
          </p:nvCxnSpPr>
          <p:spPr>
            <a:xfrm>
              <a:off x="7802880" y="5689600"/>
              <a:ext cx="0" cy="617728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150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Time Domain Specifications of Underdamped system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8256503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97C0309-B115-4B25-8312-FE4F3066B973}"/>
              </a:ext>
            </a:extLst>
          </p:cNvPr>
          <p:cNvSpPr txBox="1">
            <a:spLocks/>
          </p:cNvSpPr>
          <p:nvPr/>
        </p:nvSpPr>
        <p:spPr>
          <a:xfrm>
            <a:off x="457200" y="44624"/>
            <a:ext cx="8229600" cy="63408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000"/>
              <a:t>Time Domain Specifications (Settling Time)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61469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000" dirty="0"/>
              <a:t>Time Domain Specifications (Settling Time)</a:t>
            </a:r>
          </a:p>
        </p:txBody>
      </p:sp>
      <p:pic>
        <p:nvPicPr>
          <p:cNvPr id="340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132856"/>
            <a:ext cx="6372707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40995" name="Object 6"/>
          <p:cNvGraphicFramePr>
            <a:graphicFrameLocks noChangeAspect="1"/>
          </p:cNvGraphicFramePr>
          <p:nvPr/>
        </p:nvGraphicFramePr>
        <p:xfrm>
          <a:off x="1691680" y="836712"/>
          <a:ext cx="5376862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520700" progId="Equation.3">
                  <p:embed/>
                </p:oleObj>
              </mc:Choice>
              <mc:Fallback>
                <p:oleObj name="Equation" r:id="rId3" imgW="2286000" imgH="520700" progId="Equation.3">
                  <p:embed/>
                  <p:pic>
                    <p:nvPicPr>
                      <p:cNvPr id="3409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836712"/>
                        <a:ext cx="5376862" cy="1223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996" name="Object 5"/>
          <p:cNvGraphicFramePr>
            <a:graphicFrameLocks noChangeAspect="1"/>
          </p:cNvGraphicFramePr>
          <p:nvPr/>
        </p:nvGraphicFramePr>
        <p:xfrm>
          <a:off x="6156176" y="3068960"/>
          <a:ext cx="26257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3643" imgH="266584" progId="Equation.3">
                  <p:embed/>
                </p:oleObj>
              </mc:Choice>
              <mc:Fallback>
                <p:oleObj name="Equation" r:id="rId5" imgW="1053643" imgH="266584" progId="Equation.3">
                  <p:embed/>
                  <p:pic>
                    <p:nvPicPr>
                      <p:cNvPr id="34099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3068960"/>
                        <a:ext cx="2625725" cy="665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997" name="Object 5"/>
          <p:cNvGraphicFramePr>
            <a:graphicFrameLocks noChangeAspect="1"/>
          </p:cNvGraphicFramePr>
          <p:nvPr/>
        </p:nvGraphicFramePr>
        <p:xfrm>
          <a:off x="3419872" y="3501008"/>
          <a:ext cx="1008435" cy="756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8000" imgH="381000" progId="Equation.3">
                  <p:embed/>
                </p:oleObj>
              </mc:Choice>
              <mc:Fallback>
                <p:oleObj name="Equation" r:id="rId7" imgW="508000" imgH="381000" progId="Equation.3">
                  <p:embed/>
                  <p:pic>
                    <p:nvPicPr>
                      <p:cNvPr id="3409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501008"/>
                        <a:ext cx="1008435" cy="7566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3109415" y="1473958"/>
            <a:ext cx="3993622" cy="2900438"/>
            <a:chOff x="3109415" y="1473958"/>
            <a:chExt cx="3993622" cy="2900438"/>
          </a:xfrm>
        </p:grpSpPr>
        <p:grpSp>
          <p:nvGrpSpPr>
            <p:cNvPr id="14" name="Group 13"/>
            <p:cNvGrpSpPr/>
            <p:nvPr/>
          </p:nvGrpSpPr>
          <p:grpSpPr>
            <a:xfrm>
              <a:off x="3109415" y="1473958"/>
              <a:ext cx="3982865" cy="2459098"/>
              <a:chOff x="3109415" y="1473958"/>
              <a:chExt cx="3982865" cy="2459098"/>
            </a:xfrm>
          </p:grpSpPr>
          <p:sp>
            <p:nvSpPr>
              <p:cNvPr id="8" name="Freeform 7"/>
              <p:cNvSpPr/>
              <p:nvPr/>
            </p:nvSpPr>
            <p:spPr>
              <a:xfrm>
                <a:off x="3109415" y="1473958"/>
                <a:ext cx="3046761" cy="1667010"/>
              </a:xfrm>
              <a:custGeom>
                <a:avLst/>
                <a:gdLst>
                  <a:gd name="connsiteX0" fmla="*/ 206991 w 3496101"/>
                  <a:gd name="connsiteY0" fmla="*/ 0 h 1828800"/>
                  <a:gd name="connsiteX1" fmla="*/ 193343 w 3496101"/>
                  <a:gd name="connsiteY1" fmla="*/ 655093 h 1828800"/>
                  <a:gd name="connsiteX2" fmla="*/ 1367051 w 3496101"/>
                  <a:gd name="connsiteY2" fmla="*/ 1173708 h 1828800"/>
                  <a:gd name="connsiteX3" fmla="*/ 3496101 w 3496101"/>
                  <a:gd name="connsiteY3" fmla="*/ 182880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6101" h="1828800">
                    <a:moveTo>
                      <a:pt x="206991" y="0"/>
                    </a:moveTo>
                    <a:cubicBezTo>
                      <a:pt x="103495" y="229737"/>
                      <a:pt x="0" y="459475"/>
                      <a:pt x="193343" y="655093"/>
                    </a:cubicBezTo>
                    <a:cubicBezTo>
                      <a:pt x="386686" y="850711"/>
                      <a:pt x="816591" y="978090"/>
                      <a:pt x="1367051" y="1173708"/>
                    </a:cubicBezTo>
                    <a:cubicBezTo>
                      <a:pt x="1917511" y="1369326"/>
                      <a:pt x="2706806" y="1599063"/>
                      <a:pt x="3496101" y="1828800"/>
                    </a:cubicBezTo>
                  </a:path>
                </a:pathLst>
              </a:custGeom>
              <a:ln>
                <a:solidFill>
                  <a:schemeClr val="accent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156176" y="3068960"/>
                <a:ext cx="936104" cy="8640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6084168" y="4005064"/>
              <a:ext cx="1018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Real Part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311265" y="1601505"/>
            <a:ext cx="4764513" cy="2772891"/>
            <a:chOff x="4311265" y="1601505"/>
            <a:chExt cx="4764513" cy="2772891"/>
          </a:xfrm>
        </p:grpSpPr>
        <p:grpSp>
          <p:nvGrpSpPr>
            <p:cNvPr id="13" name="Group 12"/>
            <p:cNvGrpSpPr/>
            <p:nvPr/>
          </p:nvGrpSpPr>
          <p:grpSpPr>
            <a:xfrm>
              <a:off x="4311265" y="1601505"/>
              <a:ext cx="4653223" cy="2290607"/>
              <a:chOff x="4311265" y="1601505"/>
              <a:chExt cx="4653223" cy="2290607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6246127" y="1637731"/>
                <a:ext cx="1638242" cy="1359221"/>
              </a:xfrm>
              <a:custGeom>
                <a:avLst/>
                <a:gdLst>
                  <a:gd name="connsiteX0" fmla="*/ 345743 w 1683223"/>
                  <a:gd name="connsiteY0" fmla="*/ 0 h 1433015"/>
                  <a:gd name="connsiteX1" fmla="*/ 222913 w 1683223"/>
                  <a:gd name="connsiteY1" fmla="*/ 450376 h 1433015"/>
                  <a:gd name="connsiteX2" fmla="*/ 1683223 w 1683223"/>
                  <a:gd name="connsiteY2" fmla="*/ 1433015 h 1433015"/>
                  <a:gd name="connsiteX3" fmla="*/ 1683223 w 1683223"/>
                  <a:gd name="connsiteY3" fmla="*/ 1433015 h 143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223" h="1433015">
                    <a:moveTo>
                      <a:pt x="345743" y="0"/>
                    </a:moveTo>
                    <a:cubicBezTo>
                      <a:pt x="172871" y="105770"/>
                      <a:pt x="0" y="211540"/>
                      <a:pt x="222913" y="450376"/>
                    </a:cubicBezTo>
                    <a:cubicBezTo>
                      <a:pt x="445826" y="689212"/>
                      <a:pt x="1683223" y="1433015"/>
                      <a:pt x="1683223" y="1433015"/>
                    </a:cubicBezTo>
                    <a:lnTo>
                      <a:pt x="1683223" y="1433015"/>
                    </a:lnTo>
                  </a:path>
                </a:pathLst>
              </a:cu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4311265" y="1601505"/>
                <a:ext cx="3213064" cy="1467456"/>
              </a:xfrm>
              <a:custGeom>
                <a:avLst/>
                <a:gdLst>
                  <a:gd name="connsiteX0" fmla="*/ 0 w 3207224"/>
                  <a:gd name="connsiteY0" fmla="*/ 0 h 1433015"/>
                  <a:gd name="connsiteX1" fmla="*/ 818866 w 3207224"/>
                  <a:gd name="connsiteY1" fmla="*/ 491319 h 1433015"/>
                  <a:gd name="connsiteX2" fmla="*/ 3207224 w 3207224"/>
                  <a:gd name="connsiteY2" fmla="*/ 1433015 h 143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07224" h="1433015">
                    <a:moveTo>
                      <a:pt x="0" y="0"/>
                    </a:moveTo>
                    <a:cubicBezTo>
                      <a:pt x="142164" y="126241"/>
                      <a:pt x="284329" y="252483"/>
                      <a:pt x="818866" y="491319"/>
                    </a:cubicBezTo>
                    <a:cubicBezTo>
                      <a:pt x="1353403" y="730155"/>
                      <a:pt x="2280313" y="1081585"/>
                      <a:pt x="3207224" y="1433015"/>
                    </a:cubicBezTo>
                  </a:path>
                </a:pathLst>
              </a:cu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7236296" y="3028016"/>
                <a:ext cx="1728192" cy="8640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7524328" y="4005064"/>
              <a:ext cx="1551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Imaginary Part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938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1878004"/>
            <a:ext cx="3888431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000" dirty="0"/>
              <a:t>Time Domain Specifications (Settling Time)</a:t>
            </a:r>
          </a:p>
        </p:txBody>
      </p:sp>
      <p:graphicFrame>
        <p:nvGraphicFramePr>
          <p:cNvPr id="342017" name="Object 1"/>
          <p:cNvGraphicFramePr>
            <a:graphicFrameLocks noChangeAspect="1"/>
          </p:cNvGraphicFramePr>
          <p:nvPr/>
        </p:nvGraphicFramePr>
        <p:xfrm>
          <a:off x="7020272" y="2708920"/>
          <a:ext cx="100806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8000" imgH="381000" progId="Equation.3">
                  <p:embed/>
                </p:oleObj>
              </mc:Choice>
              <mc:Fallback>
                <p:oleObj name="Equation" r:id="rId3" imgW="508000" imgH="381000" progId="Equation.3">
                  <p:embed/>
                  <p:pic>
                    <p:nvPicPr>
                      <p:cNvPr id="34201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2708920"/>
                        <a:ext cx="1008063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15008" y="908720"/>
            <a:ext cx="892899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Settling time (2%) criterion</a:t>
            </a:r>
          </a:p>
          <a:p>
            <a:pPr marL="730250" lvl="1" indent="-273050" algn="just">
              <a:buFont typeface="Arial" pitchFamily="34" charset="0"/>
              <a:buChar char="•"/>
            </a:pPr>
            <a:r>
              <a:rPr lang="en-GB" sz="2500" dirty="0"/>
              <a:t> Time consumed in exponential decay up to 98% of the input. </a:t>
            </a:r>
          </a:p>
        </p:txBody>
      </p:sp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899592" y="2492896"/>
          <a:ext cx="2265753" cy="108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753" imgH="380835" progId="Equation.3">
                  <p:embed/>
                </p:oleObj>
              </mc:Choice>
              <mc:Fallback>
                <p:oleObj name="Equation" r:id="rId5" imgW="799753" imgH="380835" progId="Equation.3">
                  <p:embed/>
                  <p:pic>
                    <p:nvPicPr>
                      <p:cNvPr id="3420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492896"/>
                        <a:ext cx="2265753" cy="108076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252833" y="4150241"/>
            <a:ext cx="892899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Settling time (5%) criterion</a:t>
            </a:r>
          </a:p>
          <a:p>
            <a:pPr marL="730250" lvl="1" indent="-273050" algn="just">
              <a:buFont typeface="Arial" pitchFamily="34" charset="0"/>
              <a:buChar char="•"/>
            </a:pPr>
            <a:r>
              <a:rPr lang="en-GB" sz="2500" dirty="0"/>
              <a:t> Time consumed in exponential decay up to 95% of the input. </a:t>
            </a:r>
          </a:p>
        </p:txBody>
      </p:sp>
      <p:graphicFrame>
        <p:nvGraphicFramePr>
          <p:cNvPr id="3420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473091"/>
              </p:ext>
            </p:extLst>
          </p:nvPr>
        </p:nvGraphicFramePr>
        <p:xfrm>
          <a:off x="798599" y="5511762"/>
          <a:ext cx="2265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9753" imgH="380835" progId="Equation.3">
                  <p:embed/>
                </p:oleObj>
              </mc:Choice>
              <mc:Fallback>
                <p:oleObj name="Equation" r:id="rId7" imgW="799753" imgH="380835" progId="Equation.3">
                  <p:embed/>
                  <p:pic>
                    <p:nvPicPr>
                      <p:cNvPr id="3420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99" y="5511762"/>
                        <a:ext cx="2265362" cy="1081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569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000" dirty="0"/>
              <a:t>Summary of Time Domain Specifications</a:t>
            </a:r>
          </a:p>
        </p:txBody>
      </p:sp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755576" y="3933056"/>
          <a:ext cx="2265753" cy="108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380835" progId="Equation.3">
                  <p:embed/>
                </p:oleObj>
              </mc:Choice>
              <mc:Fallback>
                <p:oleObj name="Equation" r:id="rId2" imgW="799753" imgH="380835" progId="Equation.3">
                  <p:embed/>
                  <p:pic>
                    <p:nvPicPr>
                      <p:cNvPr id="3420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933056"/>
                        <a:ext cx="2265753" cy="108076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023300"/>
              </p:ext>
            </p:extLst>
          </p:nvPr>
        </p:nvGraphicFramePr>
        <p:xfrm>
          <a:off x="755967" y="5157192"/>
          <a:ext cx="2265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753" imgH="380835" progId="Equation.3">
                  <p:embed/>
                </p:oleObj>
              </mc:Choice>
              <mc:Fallback>
                <p:oleObj name="Equation" r:id="rId4" imgW="799753" imgH="380835" progId="Equation.3">
                  <p:embed/>
                  <p:pic>
                    <p:nvPicPr>
                      <p:cNvPr id="3420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967" y="5157192"/>
                        <a:ext cx="2265362" cy="1081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5076056" y="4797152"/>
          <a:ext cx="31480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726" imgH="406224" progId="Equation.3">
                  <p:embed/>
                </p:oleObj>
              </mc:Choice>
              <mc:Fallback>
                <p:oleObj name="Equation" r:id="rId6" imgW="1091726" imgH="406224" progId="Equation.3">
                  <p:embed/>
                  <p:pic>
                    <p:nvPicPr>
                      <p:cNvPr id="3440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797152"/>
                        <a:ext cx="3148013" cy="1173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/>
        </p:nvGraphicFramePr>
        <p:xfrm>
          <a:off x="5240659" y="1482725"/>
          <a:ext cx="35798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500" imgH="431800" progId="Equation.3">
                  <p:embed/>
                </p:oleObj>
              </mc:Choice>
              <mc:Fallback>
                <p:oleObj name="Equation" r:id="rId8" imgW="1206500" imgH="431800" progId="Equation.3">
                  <p:embed/>
                  <p:pic>
                    <p:nvPicPr>
                      <p:cNvPr id="344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659" y="1482725"/>
                        <a:ext cx="3579813" cy="1285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1" name="Object 7"/>
          <p:cNvGraphicFramePr>
            <a:graphicFrameLocks noChangeAspect="1"/>
          </p:cNvGraphicFramePr>
          <p:nvPr/>
        </p:nvGraphicFramePr>
        <p:xfrm>
          <a:off x="291529" y="1547813"/>
          <a:ext cx="4208463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532" imgH="431613" progId="Equation.3">
                  <p:embed/>
                </p:oleObj>
              </mc:Choice>
              <mc:Fallback>
                <p:oleObj name="Equation" r:id="rId10" imgW="1307532" imgH="431613" progId="Equation.3">
                  <p:embed/>
                  <p:pic>
                    <p:nvPicPr>
                      <p:cNvPr id="3440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29" y="1547813"/>
                        <a:ext cx="4208463" cy="1387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50847" y="1124744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Rise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6518" y="1124744"/>
            <a:ext cx="1281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Peak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76" y="3501008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576" y="6269250"/>
            <a:ext cx="2398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5201" y="4325034"/>
            <a:ext cx="244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Maximum Overshoot</a:t>
            </a:r>
          </a:p>
        </p:txBody>
      </p:sp>
    </p:spTree>
    <p:extLst>
      <p:ext uri="{BB962C8B-B14F-4D97-AF65-F5344CB8AC3E}">
        <p14:creationId xmlns:p14="http://schemas.microsoft.com/office/powerpoint/2010/main" val="3470586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sz="2000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19261"/>
            <a:ext cx="8856984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Consider the system shown in following figure, where damping ratio is </a:t>
            </a:r>
            <a:r>
              <a:rPr lang="en-GB" sz="2600" dirty="0">
                <a:solidFill>
                  <a:srgbClr val="FF0000"/>
                </a:solidFill>
              </a:rPr>
              <a:t>0.6</a:t>
            </a:r>
            <a:r>
              <a:rPr lang="en-GB" sz="2600" dirty="0"/>
              <a:t> and natural undamped frequency is </a:t>
            </a:r>
            <a:r>
              <a:rPr lang="en-GB" sz="2600" dirty="0">
                <a:solidFill>
                  <a:srgbClr val="FF0000"/>
                </a:solidFill>
              </a:rPr>
              <a:t>5 rad/sec</a:t>
            </a:r>
            <a:r>
              <a:rPr lang="en-GB" sz="2600" dirty="0"/>
              <a:t>. Obtain the rise time </a:t>
            </a:r>
            <a:r>
              <a:rPr lang="en-GB" sz="2600" dirty="0" err="1">
                <a:solidFill>
                  <a:srgbClr val="FF0000"/>
                </a:solidFill>
              </a:rPr>
              <a:t>t</a:t>
            </a:r>
            <a:r>
              <a:rPr lang="en-GB" sz="2600" baseline="-25000" dirty="0" err="1">
                <a:solidFill>
                  <a:srgbClr val="FF0000"/>
                </a:solidFill>
              </a:rPr>
              <a:t>r</a:t>
            </a:r>
            <a:r>
              <a:rPr lang="en-GB" sz="2600" dirty="0"/>
              <a:t>, peak time </a:t>
            </a:r>
            <a:r>
              <a:rPr lang="en-GB" sz="2600" dirty="0" err="1">
                <a:solidFill>
                  <a:srgbClr val="FF0000"/>
                </a:solidFill>
              </a:rPr>
              <a:t>t</a:t>
            </a:r>
            <a:r>
              <a:rPr lang="en-GB" sz="2600" baseline="-25000" dirty="0" err="1">
                <a:solidFill>
                  <a:srgbClr val="FF0000"/>
                </a:solidFill>
              </a:rPr>
              <a:t>p</a:t>
            </a:r>
            <a:r>
              <a:rPr lang="en-GB" sz="2600" dirty="0"/>
              <a:t>, maximum overshoot </a:t>
            </a:r>
            <a:r>
              <a:rPr lang="en-GB" sz="2600" dirty="0">
                <a:solidFill>
                  <a:srgbClr val="FF0000"/>
                </a:solidFill>
              </a:rPr>
              <a:t>M</a:t>
            </a:r>
            <a:r>
              <a:rPr lang="en-GB" sz="2600" baseline="-25000" dirty="0">
                <a:solidFill>
                  <a:srgbClr val="FF0000"/>
                </a:solidFill>
              </a:rPr>
              <a:t>p</a:t>
            </a:r>
            <a:r>
              <a:rPr lang="en-GB" sz="2600" dirty="0"/>
              <a:t>, and settling time 2% and 5% criterion </a:t>
            </a:r>
            <a:r>
              <a:rPr lang="en-GB" sz="2600" dirty="0" err="1">
                <a:solidFill>
                  <a:srgbClr val="FF0000"/>
                </a:solidFill>
              </a:rPr>
              <a:t>t</a:t>
            </a:r>
            <a:r>
              <a:rPr lang="en-GB" sz="2600" baseline="-25000" dirty="0" err="1">
                <a:solidFill>
                  <a:srgbClr val="FF0000"/>
                </a:solidFill>
              </a:rPr>
              <a:t>s</a:t>
            </a:r>
            <a:r>
              <a:rPr lang="en-GB" sz="2600" dirty="0"/>
              <a:t> when the system is subjected to a unit-step input.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3664583"/>
            <a:ext cx="5141764" cy="2140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77603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000" dirty="0"/>
              <a:t>Example</a:t>
            </a:r>
          </a:p>
        </p:txBody>
      </p:sp>
      <p:graphicFrame>
        <p:nvGraphicFramePr>
          <p:cNvPr id="344071" name="Object 7"/>
          <p:cNvGraphicFramePr>
            <a:graphicFrameLocks noChangeAspect="1"/>
          </p:cNvGraphicFramePr>
          <p:nvPr/>
        </p:nvGraphicFramePr>
        <p:xfrm>
          <a:off x="395536" y="1628775"/>
          <a:ext cx="18796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380835" progId="Equation.3">
                  <p:embed/>
                </p:oleObj>
              </mc:Choice>
              <mc:Fallback>
                <p:oleObj name="Equation" r:id="rId2" imgW="583947" imgH="380835" progId="Equation.3">
                  <p:embed/>
                  <p:pic>
                    <p:nvPicPr>
                      <p:cNvPr id="3440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628775"/>
                        <a:ext cx="1879600" cy="12239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3568" y="1124744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Rise Time</a:t>
            </a:r>
          </a:p>
        </p:txBody>
      </p:sp>
      <p:graphicFrame>
        <p:nvGraphicFramePr>
          <p:cNvPr id="347144" name="Object 7"/>
          <p:cNvGraphicFramePr>
            <a:graphicFrameLocks noChangeAspect="1"/>
          </p:cNvGraphicFramePr>
          <p:nvPr/>
        </p:nvGraphicFramePr>
        <p:xfrm>
          <a:off x="467544" y="3212976"/>
          <a:ext cx="1986037" cy="991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25" imgH="431613" progId="Equation.3">
                  <p:embed/>
                </p:oleObj>
              </mc:Choice>
              <mc:Fallback>
                <p:oleObj name="Equation" r:id="rId4" imgW="863225" imgH="431613" progId="Equation.3">
                  <p:embed/>
                  <p:pic>
                    <p:nvPicPr>
                      <p:cNvPr id="34714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3212976"/>
                        <a:ext cx="1986037" cy="991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0"/>
              <p:cNvSpPr txBox="1"/>
              <p:nvPr/>
            </p:nvSpPr>
            <p:spPr bwMode="auto">
              <a:xfrm>
                <a:off x="395536" y="4566716"/>
                <a:ext cx="5094205" cy="7921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GB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)=0.93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4566716"/>
                <a:ext cx="5094205" cy="7921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7146" name="Object 7"/>
          <p:cNvGraphicFramePr>
            <a:graphicFrameLocks noChangeAspect="1"/>
          </p:cNvGraphicFramePr>
          <p:nvPr/>
        </p:nvGraphicFramePr>
        <p:xfrm>
          <a:off x="395536" y="5661248"/>
          <a:ext cx="30956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5616" imgH="406224" progId="Equation.3">
                  <p:embed/>
                </p:oleObj>
              </mc:Choice>
              <mc:Fallback>
                <p:oleObj name="Equation" r:id="rId8" imgW="1345616" imgH="406224" progId="Equation.3">
                  <p:embed/>
                  <p:pic>
                    <p:nvPicPr>
                      <p:cNvPr id="3471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661248"/>
                        <a:ext cx="3095625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420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000" dirty="0"/>
              <a:t>Example</a:t>
            </a:r>
          </a:p>
        </p:txBody>
      </p:sp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6262688" y="1700213"/>
          <a:ext cx="147637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380835" progId="Equation.3">
                  <p:embed/>
                </p:oleObj>
              </mc:Choice>
              <mc:Fallback>
                <p:oleObj name="Equation" r:id="rId2" imgW="520474" imgH="380835" progId="Equation.3">
                  <p:embed/>
                  <p:pic>
                    <p:nvPicPr>
                      <p:cNvPr id="3420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688" y="1700213"/>
                        <a:ext cx="1476375" cy="10810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756149"/>
              </p:ext>
            </p:extLst>
          </p:nvPr>
        </p:nvGraphicFramePr>
        <p:xfrm>
          <a:off x="611560" y="1768640"/>
          <a:ext cx="14319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380835" progId="Equation.3">
                  <p:embed/>
                </p:oleObj>
              </mc:Choice>
              <mc:Fallback>
                <p:oleObj name="Equation" r:id="rId4" imgW="482391" imgH="380835" progId="Equation.3">
                  <p:embed/>
                  <p:pic>
                    <p:nvPicPr>
                      <p:cNvPr id="344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768640"/>
                        <a:ext cx="1431925" cy="11350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1560" y="1124744"/>
            <a:ext cx="1281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Peak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152" y="1268760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(2%)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3671888" y="4437063"/>
          <a:ext cx="1474787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474" imgH="380835" progId="Equation.3">
                  <p:embed/>
                </p:oleObj>
              </mc:Choice>
              <mc:Fallback>
                <p:oleObj name="Equation" r:id="rId6" imgW="520474" imgH="380835" progId="Equation.3">
                  <p:embed/>
                  <p:pic>
                    <p:nvPicPr>
                      <p:cNvPr id="1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437063"/>
                        <a:ext cx="1474787" cy="10810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88808" y="3997528"/>
            <a:ext cx="2398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(5%)</a:t>
            </a:r>
          </a:p>
        </p:txBody>
      </p:sp>
      <p:graphicFrame>
        <p:nvGraphicFramePr>
          <p:cNvPr id="348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960913"/>
              </p:ext>
            </p:extLst>
          </p:nvPr>
        </p:nvGraphicFramePr>
        <p:xfrm>
          <a:off x="293304" y="3115440"/>
          <a:ext cx="2984624" cy="94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726" imgH="342751" progId="Equation.3">
                  <p:embed/>
                </p:oleObj>
              </mc:Choice>
              <mc:Fallback>
                <p:oleObj name="Equation" r:id="rId8" imgW="1091726" imgH="342751" progId="Equation.3">
                  <p:embed/>
                  <p:pic>
                    <p:nvPicPr>
                      <p:cNvPr id="3481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04" y="3115440"/>
                        <a:ext cx="2984624" cy="940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8" name="Object 2"/>
          <p:cNvGraphicFramePr>
            <a:graphicFrameLocks noChangeAspect="1"/>
          </p:cNvGraphicFramePr>
          <p:nvPr/>
        </p:nvGraphicFramePr>
        <p:xfrm>
          <a:off x="5741988" y="2997200"/>
          <a:ext cx="269716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0948" imgH="355446" progId="Equation.3">
                  <p:embed/>
                </p:oleObj>
              </mc:Choice>
              <mc:Fallback>
                <p:oleObj name="Equation" r:id="rId10" imgW="1040948" imgH="355446" progId="Equation.3">
                  <p:embed/>
                  <p:pic>
                    <p:nvPicPr>
                      <p:cNvPr id="3481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988" y="2997200"/>
                        <a:ext cx="2697162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9" name="Object 3"/>
          <p:cNvGraphicFramePr>
            <a:graphicFrameLocks noChangeAspect="1"/>
          </p:cNvGraphicFramePr>
          <p:nvPr/>
        </p:nvGraphicFramePr>
        <p:xfrm>
          <a:off x="3168650" y="5695950"/>
          <a:ext cx="24812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5920" imgH="355446" progId="Equation.3">
                  <p:embed/>
                </p:oleObj>
              </mc:Choice>
              <mc:Fallback>
                <p:oleObj name="Equation" r:id="rId12" imgW="875920" imgH="355446" progId="Equation.3">
                  <p:embed/>
                  <p:pic>
                    <p:nvPicPr>
                      <p:cNvPr id="34816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695950"/>
                        <a:ext cx="24812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739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2000" dirty="0"/>
              <a:t>Example</a:t>
            </a:r>
          </a:p>
        </p:txBody>
      </p:sp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2879700" y="1484784"/>
          <a:ext cx="31480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406224" progId="Equation.3">
                  <p:embed/>
                </p:oleObj>
              </mc:Choice>
              <mc:Fallback>
                <p:oleObj name="Equation" r:id="rId2" imgW="1091726" imgH="406224" progId="Equation.3">
                  <p:embed/>
                  <p:pic>
                    <p:nvPicPr>
                      <p:cNvPr id="3440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00" y="1484784"/>
                        <a:ext cx="3148013" cy="1173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51708" y="980728"/>
            <a:ext cx="244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Maximum Overshoot</a:t>
            </a:r>
          </a:p>
        </p:txBody>
      </p:sp>
      <p:graphicFrame>
        <p:nvGraphicFramePr>
          <p:cNvPr id="34919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968868"/>
              </p:ext>
            </p:extLst>
          </p:nvPr>
        </p:nvGraphicFramePr>
        <p:xfrm>
          <a:off x="703263" y="3086100"/>
          <a:ext cx="73596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400" imgH="393480" progId="Equation.3">
                  <p:embed/>
                </p:oleObj>
              </mc:Choice>
              <mc:Fallback>
                <p:oleObj name="Equation" r:id="rId4" imgW="2552400" imgH="393480" progId="Equation.3">
                  <p:embed/>
                  <p:pic>
                    <p:nvPicPr>
                      <p:cNvPr id="34919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3086100"/>
                        <a:ext cx="7359650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704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11175" y="1066800"/>
            <a:ext cx="8175625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PID Control</a:t>
            </a:r>
          </a:p>
        </p:txBody>
      </p:sp>
    </p:spTree>
    <p:extLst>
      <p:ext uri="{BB962C8B-B14F-4D97-AF65-F5344CB8AC3E}">
        <p14:creationId xmlns:p14="http://schemas.microsoft.com/office/powerpoint/2010/main" val="2223186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3074E6-12C9-4DA9-B99C-8622567A1E74}"/>
              </a:ext>
            </a:extLst>
          </p:cNvPr>
          <p:cNvGrpSpPr/>
          <p:nvPr/>
        </p:nvGrpSpPr>
        <p:grpSpPr>
          <a:xfrm>
            <a:off x="306388" y="729449"/>
            <a:ext cx="8458200" cy="2551004"/>
            <a:chOff x="306388" y="729449"/>
            <a:chExt cx="8458200" cy="2551004"/>
          </a:xfrm>
        </p:grpSpPr>
        <p:sp>
          <p:nvSpPr>
            <p:cNvPr id="17410" name="Text Box 2">
              <a:extLst>
                <a:ext uri="{FF2B5EF4-FFF2-40B4-BE49-F238E27FC236}">
                  <a16:creationId xmlns:a16="http://schemas.microsoft.com/office/drawing/2014/main" id="{57A1BB70-FC20-4962-B1FD-7BF2DFDAA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88" y="729449"/>
              <a:ext cx="8458200" cy="178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/>
                <a:t>The PID-controller is a “combination” of three different actions: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/>
                <a:t>* The “P-Action”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/>
                <a:t>* The “I-Action”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/>
                <a:t>* The “D-Action” </a:t>
              </a:r>
            </a:p>
          </p:txBody>
        </p:sp>
        <p:pic>
          <p:nvPicPr>
            <p:cNvPr id="17413" name="Picture 13" descr="E:\!AAA TEMP TRANSPORT COPY\E5CNza1.JPG">
              <a:extLst>
                <a:ext uri="{FF2B5EF4-FFF2-40B4-BE49-F238E27FC236}">
                  <a16:creationId xmlns:a16="http://schemas.microsoft.com/office/drawing/2014/main" id="{D96671EE-62E7-496B-A43B-BC89EECE0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FAFC"/>
                </a:clrFrom>
                <a:clrTo>
                  <a:srgbClr val="FEFA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2549" y="1335766"/>
              <a:ext cx="2076450" cy="194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00862079-2ADE-4EF0-97AC-AD826DE66140}"/>
              </a:ext>
            </a:extLst>
          </p:cNvPr>
          <p:cNvSpPr txBox="1">
            <a:spLocks/>
          </p:cNvSpPr>
          <p:nvPr/>
        </p:nvSpPr>
        <p:spPr bwMode="auto">
          <a:xfrm>
            <a:off x="25659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MS PGothic" pitchFamily="34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altLang="en-US" sz="2400" b="1" dirty="0">
                <a:solidFill>
                  <a:schemeClr val="tx2"/>
                </a:solidFill>
              </a:rPr>
              <a:t>PID-Control – Introduction</a:t>
            </a:r>
            <a:endParaRPr lang="en-GB" sz="2400" dirty="0">
              <a:solidFill>
                <a:schemeClr val="tx2"/>
              </a:solidFill>
              <a:cs typeface="Arial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1F3137B3-AAC6-495B-97B8-96220F49C363}"/>
              </a:ext>
            </a:extLst>
          </p:cNvPr>
          <p:cNvSpPr txBox="1"/>
          <p:nvPr/>
        </p:nvSpPr>
        <p:spPr>
          <a:xfrm>
            <a:off x="384236" y="3492035"/>
            <a:ext cx="8556625" cy="36933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354965" algn="l"/>
                <a:tab pos="355600" algn="l"/>
              </a:tabLst>
            </a:pPr>
            <a:r>
              <a:rPr lang="en-US" altLang="en-US" sz="2000" dirty="0">
                <a:latin typeface="+mn-lt"/>
                <a:cs typeface="Arial Bold" panose="020B0704020202020204" pitchFamily="34" charset="0"/>
              </a:rPr>
              <a:t>Industrial controllers come with different classifications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BB90AB61-AD3B-4D1B-88A4-8D529C64F1AC}"/>
              </a:ext>
            </a:extLst>
          </p:cNvPr>
          <p:cNvSpPr txBox="1"/>
          <p:nvPr/>
        </p:nvSpPr>
        <p:spPr>
          <a:xfrm>
            <a:off x="489860" y="4101114"/>
            <a:ext cx="8556625" cy="160043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Proportional controllers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Integral controllers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Proportional-plus-integral controllers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Proportional-plus-derivative controllers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1" dirty="0"/>
              <a:t>Proportional-plus-integral-plus-derivative controllers</a:t>
            </a: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BD4CB77F-F09A-4828-980F-9CBA57CDD74B}"/>
              </a:ext>
            </a:extLst>
          </p:cNvPr>
          <p:cNvSpPr txBox="1"/>
          <p:nvPr/>
        </p:nvSpPr>
        <p:spPr>
          <a:xfrm>
            <a:off x="384236" y="5832225"/>
            <a:ext cx="8556625" cy="67710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GB" altLang="en-US" sz="2000" dirty="0"/>
              <a:t>This  Lecture will explain these actions “one-by-one”, so that each action will be easy to understand</a:t>
            </a:r>
            <a:endParaRPr lang="en-US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193040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 descr="Image result for PID controller">
            <a:extLst>
              <a:ext uri="{FF2B5EF4-FFF2-40B4-BE49-F238E27FC236}">
                <a16:creationId xmlns:a16="http://schemas.microsoft.com/office/drawing/2014/main" id="{5408F5B9-D079-4EF9-BE5B-B4F676204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85" y="1583422"/>
            <a:ext cx="7599285" cy="349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 Box 2">
            <a:extLst>
              <a:ext uri="{FF2B5EF4-FFF2-40B4-BE49-F238E27FC236}">
                <a16:creationId xmlns:a16="http://schemas.microsoft.com/office/drawing/2014/main" id="{57A1BB70-FC20-4962-B1FD-7BF2DFDAA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729449"/>
            <a:ext cx="8458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The PID-controller combines the three actions in parallel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862079-2ADE-4EF0-97AC-AD826DE66140}"/>
              </a:ext>
            </a:extLst>
          </p:cNvPr>
          <p:cNvSpPr txBox="1">
            <a:spLocks/>
          </p:cNvSpPr>
          <p:nvPr/>
        </p:nvSpPr>
        <p:spPr bwMode="auto">
          <a:xfrm>
            <a:off x="25659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MS PGothic" pitchFamily="34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altLang="en-US" sz="2400" b="1" dirty="0">
                <a:solidFill>
                  <a:schemeClr val="tx2"/>
                </a:solidFill>
              </a:rPr>
              <a:t>Proportional-Integral-Derivative (PID) Control</a:t>
            </a:r>
            <a:endParaRPr lang="en-GB" sz="2400" dirty="0">
              <a:solidFill>
                <a:schemeClr val="tx2"/>
              </a:solidFill>
              <a:cs typeface="Arial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1F3137B3-AAC6-495B-97B8-96220F49C363}"/>
              </a:ext>
            </a:extLst>
          </p:cNvPr>
          <p:cNvSpPr txBox="1"/>
          <p:nvPr/>
        </p:nvSpPr>
        <p:spPr>
          <a:xfrm>
            <a:off x="1398110" y="3267420"/>
            <a:ext cx="359669" cy="36933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354965" algn="l"/>
                <a:tab pos="355600" algn="l"/>
              </a:tabLst>
            </a:pPr>
            <a:r>
              <a:rPr lang="en-US" altLang="en-US" sz="2000" dirty="0">
                <a:latin typeface="+mn-lt"/>
                <a:cs typeface="Arial Bold" panose="020B0704020202020204" pitchFamily="34" charset="0"/>
              </a:rPr>
              <a:t>V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CF89E343-BCEE-4E98-9404-6FE9479CFC41}"/>
              </a:ext>
            </a:extLst>
          </p:cNvPr>
          <p:cNvSpPr txBox="1"/>
          <p:nvPr/>
        </p:nvSpPr>
        <p:spPr>
          <a:xfrm>
            <a:off x="7795951" y="2731801"/>
            <a:ext cx="359669" cy="36933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354965" algn="l"/>
                <a:tab pos="355600" algn="l"/>
              </a:tabLst>
            </a:pPr>
            <a:r>
              <a:rPr lang="en-US" sz="2000" dirty="0">
                <a:latin typeface="+mn-lt"/>
                <a:cs typeface="Arial Bold" panose="020B0704020202020204" pitchFamily="34" charset="0"/>
              </a:rPr>
              <a:t>Y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243296E-653C-446D-A318-E800C2674980}"/>
              </a:ext>
            </a:extLst>
          </p:cNvPr>
          <p:cNvSpPr txBox="1"/>
          <p:nvPr/>
        </p:nvSpPr>
        <p:spPr>
          <a:xfrm>
            <a:off x="866929" y="5710259"/>
            <a:ext cx="4703809" cy="36933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354965" algn="l"/>
                <a:tab pos="355600" algn="l"/>
              </a:tabLst>
            </a:pPr>
            <a:r>
              <a:rPr lang="en-US" sz="2000" dirty="0">
                <a:latin typeface="+mn-lt"/>
                <a:cs typeface="Arial Bold" panose="020B0704020202020204" pitchFamily="34" charset="0"/>
              </a:rPr>
              <a:t>At any given time the Error signal will be: </a:t>
            </a:r>
            <a:endParaRPr sz="2000" dirty="0">
              <a:latin typeface="+mn-lt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803ABC-E9F8-4FDC-AA44-AF3C4C6CA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983" y="5641320"/>
            <a:ext cx="3439509" cy="50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1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0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57A1BB70-FC20-4962-B1FD-7BF2DFDAA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729449"/>
            <a:ext cx="8458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Hence the transfer function of the controller is the sum of the three elements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862079-2ADE-4EF0-97AC-AD826DE66140}"/>
              </a:ext>
            </a:extLst>
          </p:cNvPr>
          <p:cNvSpPr txBox="1">
            <a:spLocks/>
          </p:cNvSpPr>
          <p:nvPr/>
        </p:nvSpPr>
        <p:spPr bwMode="auto">
          <a:xfrm>
            <a:off x="25659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MS PGothic" pitchFamily="34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altLang="en-US" sz="2400" b="1" dirty="0">
                <a:solidFill>
                  <a:schemeClr val="tx2"/>
                </a:solidFill>
              </a:rPr>
              <a:t>Proportional-Integral-Derivative (PID) Control</a:t>
            </a:r>
            <a:endParaRPr lang="en-GB" sz="2400" dirty="0">
              <a:solidFill>
                <a:schemeClr val="tx2"/>
              </a:solidFill>
              <a:cs typeface="Arial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243296E-653C-446D-A318-E800C2674980}"/>
              </a:ext>
            </a:extLst>
          </p:cNvPr>
          <p:cNvSpPr txBox="1"/>
          <p:nvPr/>
        </p:nvSpPr>
        <p:spPr>
          <a:xfrm>
            <a:off x="489628" y="3339921"/>
            <a:ext cx="8274960" cy="67710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354965" algn="l"/>
                <a:tab pos="355600" algn="l"/>
              </a:tabLst>
            </a:pPr>
            <a:r>
              <a:rPr lang="en-US" sz="2000" dirty="0">
                <a:latin typeface="+mn-lt"/>
                <a:cs typeface="Arial Bold" panose="020B0704020202020204" pitchFamily="34" charset="0"/>
              </a:rPr>
              <a:t>The gain k can be weighted to determine the relative influence of each control type.</a:t>
            </a:r>
            <a:endParaRPr sz="2000" dirty="0">
              <a:latin typeface="+mn-lt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401E48-B9F4-408D-B3A3-999C8552F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7" y="1729695"/>
            <a:ext cx="9022862" cy="13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9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0862079-2ADE-4EF0-97AC-AD826DE66140}"/>
              </a:ext>
            </a:extLst>
          </p:cNvPr>
          <p:cNvSpPr txBox="1">
            <a:spLocks/>
          </p:cNvSpPr>
          <p:nvPr/>
        </p:nvSpPr>
        <p:spPr bwMode="auto">
          <a:xfrm>
            <a:off x="25659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MS PGothic" pitchFamily="34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altLang="en-US" sz="2400" b="1" dirty="0">
                <a:solidFill>
                  <a:schemeClr val="tx2"/>
                </a:solidFill>
              </a:rPr>
              <a:t>Proportional-Integral-Derivative (PID) Control</a:t>
            </a:r>
            <a:endParaRPr lang="en-GB" sz="2400" dirty="0">
              <a:solidFill>
                <a:schemeClr val="tx2"/>
              </a:solidFill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392F1F-3F13-449A-ACF6-0BDBAE725479}"/>
              </a:ext>
            </a:extLst>
          </p:cNvPr>
          <p:cNvGraphicFramePr>
            <a:graphicFrameLocks noGrp="1"/>
          </p:cNvGraphicFramePr>
          <p:nvPr/>
        </p:nvGraphicFramePr>
        <p:xfrm>
          <a:off x="893763" y="1397000"/>
          <a:ext cx="7273926" cy="4130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4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2669">
                <a:tc>
                  <a:txBody>
                    <a:bodyPr/>
                    <a:lstStyle/>
                    <a:p>
                      <a:endParaRPr lang="en-GB" sz="2800" dirty="0"/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Good</a:t>
                      </a:r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Bad</a:t>
                      </a:r>
                    </a:p>
                  </a:txBody>
                  <a:tcPr marL="91444" marR="91444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669">
                <a:tc>
                  <a:txBody>
                    <a:bodyPr/>
                    <a:lstStyle/>
                    <a:p>
                      <a:r>
                        <a:rPr lang="en-GB" sz="1800" dirty="0"/>
                        <a:t>Proportional</a:t>
                      </a:r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Reduces steady-state</a:t>
                      </a:r>
                      <a:r>
                        <a:rPr lang="en-GB" sz="1800" baseline="0" dirty="0"/>
                        <a:t> error</a:t>
                      </a:r>
                      <a:endParaRPr lang="en-GB" sz="1800" dirty="0"/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Too much</a:t>
                      </a:r>
                      <a:r>
                        <a:rPr lang="en-GB" sz="1800" baseline="0" dirty="0"/>
                        <a:t> causes instability</a:t>
                      </a:r>
                      <a:endParaRPr lang="en-GB" sz="1800" dirty="0"/>
                    </a:p>
                  </a:txBody>
                  <a:tcPr marL="91444" marR="91444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2669">
                <a:tc>
                  <a:txBody>
                    <a:bodyPr/>
                    <a:lstStyle/>
                    <a:p>
                      <a:r>
                        <a:rPr lang="en-GB" sz="1800" dirty="0"/>
                        <a:t>Integral</a:t>
                      </a:r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Eliminates steady-state error</a:t>
                      </a:r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Too much causes instability</a:t>
                      </a:r>
                    </a:p>
                  </a:txBody>
                  <a:tcPr marL="91444" marR="91444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2669">
                <a:tc>
                  <a:txBody>
                    <a:bodyPr/>
                    <a:lstStyle/>
                    <a:p>
                      <a:r>
                        <a:rPr lang="en-GB" sz="1800" dirty="0"/>
                        <a:t>Derivative</a:t>
                      </a:r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Adds damping</a:t>
                      </a:r>
                      <a:r>
                        <a:rPr lang="en-GB" sz="1800" baseline="0" dirty="0"/>
                        <a:t> reduces overshoot</a:t>
                      </a:r>
                      <a:endParaRPr lang="en-GB" sz="1800" dirty="0"/>
                    </a:p>
                  </a:txBody>
                  <a:tcPr marL="91444" marR="91444" marT="45717" marB="45717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Amplifies noise</a:t>
                      </a:r>
                    </a:p>
                  </a:txBody>
                  <a:tcPr marL="91444" marR="91444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128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0862079-2ADE-4EF0-97AC-AD826DE66140}"/>
              </a:ext>
            </a:extLst>
          </p:cNvPr>
          <p:cNvSpPr txBox="1">
            <a:spLocks/>
          </p:cNvSpPr>
          <p:nvPr/>
        </p:nvSpPr>
        <p:spPr bwMode="auto">
          <a:xfrm>
            <a:off x="25659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MS PGothic" pitchFamily="34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MS PGothic" pitchFamily="34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altLang="en-US" sz="2400" b="1" dirty="0">
                <a:solidFill>
                  <a:schemeClr val="tx2"/>
                </a:solidFill>
              </a:rPr>
              <a:t>Proportional Control</a:t>
            </a:r>
            <a:endParaRPr lang="en-GB" sz="2400" dirty="0">
              <a:solidFill>
                <a:schemeClr val="tx2"/>
              </a:solidFill>
              <a:cs typeface="Arial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83B2AC2-CB8B-424B-A7CB-78DA4E808059}"/>
              </a:ext>
            </a:extLst>
          </p:cNvPr>
          <p:cNvGrpSpPr/>
          <p:nvPr/>
        </p:nvGrpSpPr>
        <p:grpSpPr>
          <a:xfrm>
            <a:off x="5697451" y="4211160"/>
            <a:ext cx="3198813" cy="1781175"/>
            <a:chOff x="5372100" y="4276725"/>
            <a:chExt cx="3198813" cy="1781175"/>
          </a:xfrm>
        </p:grpSpPr>
        <p:grpSp>
          <p:nvGrpSpPr>
            <p:cNvPr id="4" name="Group 118">
              <a:extLst>
                <a:ext uri="{FF2B5EF4-FFF2-40B4-BE49-F238E27FC236}">
                  <a16:creationId xmlns:a16="http://schemas.microsoft.com/office/drawing/2014/main" id="{91218DD7-EF89-40C9-A53B-AE18BFF629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7238" y="4829175"/>
              <a:ext cx="2339975" cy="884238"/>
              <a:chOff x="1057" y="2330"/>
              <a:chExt cx="1474" cy="557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E70DEDA1-947F-4639-8886-EC54FFFD6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" y="2377"/>
                <a:ext cx="172" cy="300"/>
              </a:xfrm>
              <a:custGeom>
                <a:avLst/>
                <a:gdLst>
                  <a:gd name="T0" fmla="*/ 171 w 172"/>
                  <a:gd name="T1" fmla="*/ 8 h 300"/>
                  <a:gd name="T2" fmla="*/ 154 w 172"/>
                  <a:gd name="T3" fmla="*/ 1 h 300"/>
                  <a:gd name="T4" fmla="*/ 140 w 172"/>
                  <a:gd name="T5" fmla="*/ 0 h 300"/>
                  <a:gd name="T6" fmla="*/ 123 w 172"/>
                  <a:gd name="T7" fmla="*/ 7 h 300"/>
                  <a:gd name="T8" fmla="*/ 113 w 172"/>
                  <a:gd name="T9" fmla="*/ 20 h 300"/>
                  <a:gd name="T10" fmla="*/ 109 w 172"/>
                  <a:gd name="T11" fmla="*/ 33 h 300"/>
                  <a:gd name="T12" fmla="*/ 48 w 172"/>
                  <a:gd name="T13" fmla="*/ 267 h 300"/>
                  <a:gd name="T14" fmla="*/ 44 w 172"/>
                  <a:gd name="T15" fmla="*/ 279 h 300"/>
                  <a:gd name="T16" fmla="*/ 34 w 172"/>
                  <a:gd name="T17" fmla="*/ 288 h 300"/>
                  <a:gd name="T18" fmla="*/ 20 w 172"/>
                  <a:gd name="T19" fmla="*/ 295 h 300"/>
                  <a:gd name="T20" fmla="*/ 0 w 172"/>
                  <a:gd name="T21" fmla="*/ 299 h 3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2"/>
                  <a:gd name="T34" fmla="*/ 0 h 300"/>
                  <a:gd name="T35" fmla="*/ 172 w 172"/>
                  <a:gd name="T36" fmla="*/ 300 h 3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2" h="300">
                    <a:moveTo>
                      <a:pt x="171" y="8"/>
                    </a:moveTo>
                    <a:lnTo>
                      <a:pt x="154" y="1"/>
                    </a:lnTo>
                    <a:lnTo>
                      <a:pt x="140" y="0"/>
                    </a:lnTo>
                    <a:lnTo>
                      <a:pt x="123" y="7"/>
                    </a:lnTo>
                    <a:lnTo>
                      <a:pt x="113" y="20"/>
                    </a:lnTo>
                    <a:lnTo>
                      <a:pt x="109" y="33"/>
                    </a:lnTo>
                    <a:lnTo>
                      <a:pt x="48" y="267"/>
                    </a:lnTo>
                    <a:lnTo>
                      <a:pt x="44" y="279"/>
                    </a:lnTo>
                    <a:lnTo>
                      <a:pt x="34" y="288"/>
                    </a:lnTo>
                    <a:lnTo>
                      <a:pt x="20" y="295"/>
                    </a:lnTo>
                    <a:lnTo>
                      <a:pt x="0" y="299"/>
                    </a:lnTo>
                  </a:path>
                </a:pathLst>
              </a:custGeom>
              <a:noFill/>
              <a:ln w="222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716479EB-AC8C-429A-96D4-1B3E9E357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5" y="2330"/>
                <a:ext cx="185" cy="352"/>
              </a:xfrm>
              <a:custGeom>
                <a:avLst/>
                <a:gdLst>
                  <a:gd name="T0" fmla="*/ 0 w 185"/>
                  <a:gd name="T1" fmla="*/ 9 h 352"/>
                  <a:gd name="T2" fmla="*/ 18 w 185"/>
                  <a:gd name="T3" fmla="*/ 1 h 352"/>
                  <a:gd name="T4" fmla="*/ 34 w 185"/>
                  <a:gd name="T5" fmla="*/ 0 h 352"/>
                  <a:gd name="T6" fmla="*/ 51 w 185"/>
                  <a:gd name="T7" fmla="*/ 8 h 352"/>
                  <a:gd name="T8" fmla="*/ 62 w 185"/>
                  <a:gd name="T9" fmla="*/ 24 h 352"/>
                  <a:gd name="T10" fmla="*/ 67 w 185"/>
                  <a:gd name="T11" fmla="*/ 39 h 352"/>
                  <a:gd name="T12" fmla="*/ 133 w 185"/>
                  <a:gd name="T13" fmla="*/ 313 h 352"/>
                  <a:gd name="T14" fmla="*/ 137 w 185"/>
                  <a:gd name="T15" fmla="*/ 328 h 352"/>
                  <a:gd name="T16" fmla="*/ 148 w 185"/>
                  <a:gd name="T17" fmla="*/ 339 h 352"/>
                  <a:gd name="T18" fmla="*/ 162 w 185"/>
                  <a:gd name="T19" fmla="*/ 346 h 352"/>
                  <a:gd name="T20" fmla="*/ 184 w 185"/>
                  <a:gd name="T21" fmla="*/ 351 h 3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5"/>
                  <a:gd name="T34" fmla="*/ 0 h 352"/>
                  <a:gd name="T35" fmla="*/ 185 w 185"/>
                  <a:gd name="T36" fmla="*/ 352 h 3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5" h="352">
                    <a:moveTo>
                      <a:pt x="0" y="9"/>
                    </a:moveTo>
                    <a:lnTo>
                      <a:pt x="18" y="1"/>
                    </a:lnTo>
                    <a:lnTo>
                      <a:pt x="34" y="0"/>
                    </a:lnTo>
                    <a:lnTo>
                      <a:pt x="51" y="8"/>
                    </a:lnTo>
                    <a:lnTo>
                      <a:pt x="62" y="24"/>
                    </a:lnTo>
                    <a:lnTo>
                      <a:pt x="67" y="39"/>
                    </a:lnTo>
                    <a:lnTo>
                      <a:pt x="133" y="313"/>
                    </a:lnTo>
                    <a:lnTo>
                      <a:pt x="137" y="328"/>
                    </a:lnTo>
                    <a:lnTo>
                      <a:pt x="148" y="339"/>
                    </a:lnTo>
                    <a:lnTo>
                      <a:pt x="162" y="346"/>
                    </a:lnTo>
                    <a:lnTo>
                      <a:pt x="184" y="351"/>
                    </a:lnTo>
                  </a:path>
                </a:pathLst>
              </a:custGeom>
              <a:noFill/>
              <a:ln w="222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9" name="Group 6">
                <a:extLst>
                  <a:ext uri="{FF2B5EF4-FFF2-40B4-BE49-F238E27FC236}">
                    <a16:creationId xmlns:a16="http://schemas.microsoft.com/office/drawing/2014/main" id="{D641B3D4-0B0F-4C84-A67F-4AD76A990A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2400"/>
                <a:ext cx="803" cy="179"/>
                <a:chOff x="3807" y="1413"/>
                <a:chExt cx="803" cy="179"/>
              </a:xfrm>
            </p:grpSpPr>
            <p:sp>
              <p:nvSpPr>
                <p:cNvPr id="12" name="Freeform 7">
                  <a:extLst>
                    <a:ext uri="{FF2B5EF4-FFF2-40B4-BE49-F238E27FC236}">
                      <a16:creationId xmlns:a16="http://schemas.microsoft.com/office/drawing/2014/main" id="{6896483E-536C-4102-859F-635CBE0098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0" y="1413"/>
                  <a:ext cx="153" cy="179"/>
                </a:xfrm>
                <a:custGeom>
                  <a:avLst/>
                  <a:gdLst>
                    <a:gd name="T0" fmla="*/ 152 w 153"/>
                    <a:gd name="T1" fmla="*/ 5 h 179"/>
                    <a:gd name="T2" fmla="*/ 137 w 153"/>
                    <a:gd name="T3" fmla="*/ 0 h 179"/>
                    <a:gd name="T4" fmla="*/ 124 w 153"/>
                    <a:gd name="T5" fmla="*/ 0 h 179"/>
                    <a:gd name="T6" fmla="*/ 110 w 153"/>
                    <a:gd name="T7" fmla="*/ 4 h 179"/>
                    <a:gd name="T8" fmla="*/ 101 w 153"/>
                    <a:gd name="T9" fmla="*/ 12 h 179"/>
                    <a:gd name="T10" fmla="*/ 97 w 153"/>
                    <a:gd name="T11" fmla="*/ 20 h 179"/>
                    <a:gd name="T12" fmla="*/ 42 w 153"/>
                    <a:gd name="T13" fmla="*/ 159 h 179"/>
                    <a:gd name="T14" fmla="*/ 39 w 153"/>
                    <a:gd name="T15" fmla="*/ 166 h 179"/>
                    <a:gd name="T16" fmla="*/ 30 w 153"/>
                    <a:gd name="T17" fmla="*/ 172 h 179"/>
                    <a:gd name="T18" fmla="*/ 18 w 153"/>
                    <a:gd name="T19" fmla="*/ 176 h 179"/>
                    <a:gd name="T20" fmla="*/ 0 w 153"/>
                    <a:gd name="T21" fmla="*/ 178 h 17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3"/>
                    <a:gd name="T34" fmla="*/ 0 h 179"/>
                    <a:gd name="T35" fmla="*/ 153 w 153"/>
                    <a:gd name="T36" fmla="*/ 179 h 17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3" h="179">
                      <a:moveTo>
                        <a:pt x="152" y="5"/>
                      </a:moveTo>
                      <a:lnTo>
                        <a:pt x="137" y="0"/>
                      </a:lnTo>
                      <a:lnTo>
                        <a:pt x="124" y="0"/>
                      </a:lnTo>
                      <a:lnTo>
                        <a:pt x="110" y="4"/>
                      </a:lnTo>
                      <a:lnTo>
                        <a:pt x="101" y="12"/>
                      </a:lnTo>
                      <a:lnTo>
                        <a:pt x="97" y="20"/>
                      </a:lnTo>
                      <a:lnTo>
                        <a:pt x="42" y="159"/>
                      </a:lnTo>
                      <a:lnTo>
                        <a:pt x="39" y="166"/>
                      </a:lnTo>
                      <a:lnTo>
                        <a:pt x="30" y="172"/>
                      </a:lnTo>
                      <a:lnTo>
                        <a:pt x="18" y="176"/>
                      </a:lnTo>
                      <a:lnTo>
                        <a:pt x="0" y="178"/>
                      </a:lnTo>
                    </a:path>
                  </a:pathLst>
                </a:custGeom>
                <a:noFill/>
                <a:ln w="22225" cap="rnd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" name="Freeform 8">
                  <a:extLst>
                    <a:ext uri="{FF2B5EF4-FFF2-40B4-BE49-F238E27FC236}">
                      <a16:creationId xmlns:a16="http://schemas.microsoft.com/office/drawing/2014/main" id="{4A97F988-1A5D-4125-BD0F-DDEB29086F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6" y="1413"/>
                  <a:ext cx="154" cy="179"/>
                </a:xfrm>
                <a:custGeom>
                  <a:avLst/>
                  <a:gdLst>
                    <a:gd name="T0" fmla="*/ 0 w 154"/>
                    <a:gd name="T1" fmla="*/ 5 h 179"/>
                    <a:gd name="T2" fmla="*/ 16 w 154"/>
                    <a:gd name="T3" fmla="*/ 0 h 179"/>
                    <a:gd name="T4" fmla="*/ 28 w 154"/>
                    <a:gd name="T5" fmla="*/ 0 h 179"/>
                    <a:gd name="T6" fmla="*/ 42 w 154"/>
                    <a:gd name="T7" fmla="*/ 4 h 179"/>
                    <a:gd name="T8" fmla="*/ 52 w 154"/>
                    <a:gd name="T9" fmla="*/ 12 h 179"/>
                    <a:gd name="T10" fmla="*/ 56 w 154"/>
                    <a:gd name="T11" fmla="*/ 20 h 179"/>
                    <a:gd name="T12" fmla="*/ 111 w 154"/>
                    <a:gd name="T13" fmla="*/ 159 h 179"/>
                    <a:gd name="T14" fmla="*/ 113 w 154"/>
                    <a:gd name="T15" fmla="*/ 166 h 179"/>
                    <a:gd name="T16" fmla="*/ 122 w 154"/>
                    <a:gd name="T17" fmla="*/ 172 h 179"/>
                    <a:gd name="T18" fmla="*/ 135 w 154"/>
                    <a:gd name="T19" fmla="*/ 176 h 179"/>
                    <a:gd name="T20" fmla="*/ 153 w 154"/>
                    <a:gd name="T21" fmla="*/ 178 h 17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4"/>
                    <a:gd name="T34" fmla="*/ 0 h 179"/>
                    <a:gd name="T35" fmla="*/ 154 w 154"/>
                    <a:gd name="T36" fmla="*/ 179 h 17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4" h="179">
                      <a:moveTo>
                        <a:pt x="0" y="5"/>
                      </a:moveTo>
                      <a:lnTo>
                        <a:pt x="16" y="0"/>
                      </a:lnTo>
                      <a:lnTo>
                        <a:pt x="28" y="0"/>
                      </a:lnTo>
                      <a:lnTo>
                        <a:pt x="42" y="4"/>
                      </a:lnTo>
                      <a:lnTo>
                        <a:pt x="52" y="12"/>
                      </a:lnTo>
                      <a:lnTo>
                        <a:pt x="56" y="20"/>
                      </a:lnTo>
                      <a:lnTo>
                        <a:pt x="111" y="159"/>
                      </a:lnTo>
                      <a:lnTo>
                        <a:pt x="113" y="166"/>
                      </a:lnTo>
                      <a:lnTo>
                        <a:pt x="122" y="172"/>
                      </a:lnTo>
                      <a:lnTo>
                        <a:pt x="135" y="176"/>
                      </a:lnTo>
                      <a:lnTo>
                        <a:pt x="153" y="178"/>
                      </a:lnTo>
                    </a:path>
                  </a:pathLst>
                </a:custGeom>
                <a:noFill/>
                <a:ln w="22225" cap="rnd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" name="Freeform 9">
                  <a:extLst>
                    <a:ext uri="{FF2B5EF4-FFF2-40B4-BE49-F238E27FC236}">
                      <a16:creationId xmlns:a16="http://schemas.microsoft.com/office/drawing/2014/main" id="{98EBD332-9725-4589-B5FF-8CB6443CA4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9" y="1413"/>
                  <a:ext cx="153" cy="179"/>
                </a:xfrm>
                <a:custGeom>
                  <a:avLst/>
                  <a:gdLst>
                    <a:gd name="T0" fmla="*/ 152 w 153"/>
                    <a:gd name="T1" fmla="*/ 5 h 179"/>
                    <a:gd name="T2" fmla="*/ 137 w 153"/>
                    <a:gd name="T3" fmla="*/ 0 h 179"/>
                    <a:gd name="T4" fmla="*/ 124 w 153"/>
                    <a:gd name="T5" fmla="*/ 0 h 179"/>
                    <a:gd name="T6" fmla="*/ 110 w 153"/>
                    <a:gd name="T7" fmla="*/ 4 h 179"/>
                    <a:gd name="T8" fmla="*/ 101 w 153"/>
                    <a:gd name="T9" fmla="*/ 12 h 179"/>
                    <a:gd name="T10" fmla="*/ 97 w 153"/>
                    <a:gd name="T11" fmla="*/ 20 h 179"/>
                    <a:gd name="T12" fmla="*/ 42 w 153"/>
                    <a:gd name="T13" fmla="*/ 159 h 179"/>
                    <a:gd name="T14" fmla="*/ 39 w 153"/>
                    <a:gd name="T15" fmla="*/ 166 h 179"/>
                    <a:gd name="T16" fmla="*/ 31 w 153"/>
                    <a:gd name="T17" fmla="*/ 172 h 179"/>
                    <a:gd name="T18" fmla="*/ 18 w 153"/>
                    <a:gd name="T19" fmla="*/ 176 h 179"/>
                    <a:gd name="T20" fmla="*/ 0 w 153"/>
                    <a:gd name="T21" fmla="*/ 178 h 17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3"/>
                    <a:gd name="T34" fmla="*/ 0 h 179"/>
                    <a:gd name="T35" fmla="*/ 153 w 153"/>
                    <a:gd name="T36" fmla="*/ 179 h 17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3" h="179">
                      <a:moveTo>
                        <a:pt x="152" y="5"/>
                      </a:moveTo>
                      <a:lnTo>
                        <a:pt x="137" y="0"/>
                      </a:lnTo>
                      <a:lnTo>
                        <a:pt x="124" y="0"/>
                      </a:lnTo>
                      <a:lnTo>
                        <a:pt x="110" y="4"/>
                      </a:lnTo>
                      <a:lnTo>
                        <a:pt x="101" y="12"/>
                      </a:lnTo>
                      <a:lnTo>
                        <a:pt x="97" y="20"/>
                      </a:lnTo>
                      <a:lnTo>
                        <a:pt x="42" y="159"/>
                      </a:lnTo>
                      <a:lnTo>
                        <a:pt x="39" y="166"/>
                      </a:lnTo>
                      <a:lnTo>
                        <a:pt x="31" y="172"/>
                      </a:lnTo>
                      <a:lnTo>
                        <a:pt x="18" y="176"/>
                      </a:lnTo>
                      <a:lnTo>
                        <a:pt x="0" y="178"/>
                      </a:lnTo>
                    </a:path>
                  </a:pathLst>
                </a:custGeom>
                <a:noFill/>
                <a:ln w="22225" cap="rnd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5" name="Freeform 10">
                  <a:extLst>
                    <a:ext uri="{FF2B5EF4-FFF2-40B4-BE49-F238E27FC236}">
                      <a16:creationId xmlns:a16="http://schemas.microsoft.com/office/drawing/2014/main" id="{09D1716D-863E-46B6-A3FE-4949B7683F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07" y="1413"/>
                  <a:ext cx="153" cy="179"/>
                </a:xfrm>
                <a:custGeom>
                  <a:avLst/>
                  <a:gdLst>
                    <a:gd name="T0" fmla="*/ 152 w 153"/>
                    <a:gd name="T1" fmla="*/ 5 h 179"/>
                    <a:gd name="T2" fmla="*/ 137 w 153"/>
                    <a:gd name="T3" fmla="*/ 0 h 179"/>
                    <a:gd name="T4" fmla="*/ 124 w 153"/>
                    <a:gd name="T5" fmla="*/ 0 h 179"/>
                    <a:gd name="T6" fmla="*/ 110 w 153"/>
                    <a:gd name="T7" fmla="*/ 4 h 179"/>
                    <a:gd name="T8" fmla="*/ 101 w 153"/>
                    <a:gd name="T9" fmla="*/ 12 h 179"/>
                    <a:gd name="T10" fmla="*/ 97 w 153"/>
                    <a:gd name="T11" fmla="*/ 20 h 179"/>
                    <a:gd name="T12" fmla="*/ 42 w 153"/>
                    <a:gd name="T13" fmla="*/ 159 h 179"/>
                    <a:gd name="T14" fmla="*/ 39 w 153"/>
                    <a:gd name="T15" fmla="*/ 166 h 179"/>
                    <a:gd name="T16" fmla="*/ 30 w 153"/>
                    <a:gd name="T17" fmla="*/ 172 h 179"/>
                    <a:gd name="T18" fmla="*/ 18 w 153"/>
                    <a:gd name="T19" fmla="*/ 176 h 179"/>
                    <a:gd name="T20" fmla="*/ 0 w 153"/>
                    <a:gd name="T21" fmla="*/ 178 h 17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3"/>
                    <a:gd name="T34" fmla="*/ 0 h 179"/>
                    <a:gd name="T35" fmla="*/ 153 w 153"/>
                    <a:gd name="T36" fmla="*/ 179 h 17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3" h="179">
                      <a:moveTo>
                        <a:pt x="152" y="5"/>
                      </a:moveTo>
                      <a:lnTo>
                        <a:pt x="137" y="0"/>
                      </a:lnTo>
                      <a:lnTo>
                        <a:pt x="124" y="0"/>
                      </a:lnTo>
                      <a:lnTo>
                        <a:pt x="110" y="4"/>
                      </a:lnTo>
                      <a:lnTo>
                        <a:pt x="101" y="12"/>
                      </a:lnTo>
                      <a:lnTo>
                        <a:pt x="97" y="20"/>
                      </a:lnTo>
                      <a:lnTo>
                        <a:pt x="42" y="159"/>
                      </a:lnTo>
                      <a:lnTo>
                        <a:pt x="39" y="166"/>
                      </a:lnTo>
                      <a:lnTo>
                        <a:pt x="30" y="172"/>
                      </a:lnTo>
                      <a:lnTo>
                        <a:pt x="18" y="176"/>
                      </a:lnTo>
                      <a:lnTo>
                        <a:pt x="0" y="178"/>
                      </a:lnTo>
                    </a:path>
                  </a:pathLst>
                </a:custGeom>
                <a:noFill/>
                <a:ln w="22225" cap="rnd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" name="Freeform 11">
                  <a:extLst>
                    <a:ext uri="{FF2B5EF4-FFF2-40B4-BE49-F238E27FC236}">
                      <a16:creationId xmlns:a16="http://schemas.microsoft.com/office/drawing/2014/main" id="{4491D937-EF96-4819-8712-895B20D072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24" y="1413"/>
                  <a:ext cx="153" cy="179"/>
                </a:xfrm>
                <a:custGeom>
                  <a:avLst/>
                  <a:gdLst>
                    <a:gd name="T0" fmla="*/ 0 w 153"/>
                    <a:gd name="T1" fmla="*/ 5 h 179"/>
                    <a:gd name="T2" fmla="*/ 15 w 153"/>
                    <a:gd name="T3" fmla="*/ 0 h 179"/>
                    <a:gd name="T4" fmla="*/ 28 w 153"/>
                    <a:gd name="T5" fmla="*/ 0 h 179"/>
                    <a:gd name="T6" fmla="*/ 42 w 153"/>
                    <a:gd name="T7" fmla="*/ 4 h 179"/>
                    <a:gd name="T8" fmla="*/ 51 w 153"/>
                    <a:gd name="T9" fmla="*/ 12 h 179"/>
                    <a:gd name="T10" fmla="*/ 55 w 153"/>
                    <a:gd name="T11" fmla="*/ 20 h 179"/>
                    <a:gd name="T12" fmla="*/ 110 w 153"/>
                    <a:gd name="T13" fmla="*/ 159 h 179"/>
                    <a:gd name="T14" fmla="*/ 113 w 153"/>
                    <a:gd name="T15" fmla="*/ 166 h 179"/>
                    <a:gd name="T16" fmla="*/ 122 w 153"/>
                    <a:gd name="T17" fmla="*/ 172 h 179"/>
                    <a:gd name="T18" fmla="*/ 134 w 153"/>
                    <a:gd name="T19" fmla="*/ 176 h 179"/>
                    <a:gd name="T20" fmla="*/ 152 w 153"/>
                    <a:gd name="T21" fmla="*/ 178 h 17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3"/>
                    <a:gd name="T34" fmla="*/ 0 h 179"/>
                    <a:gd name="T35" fmla="*/ 153 w 153"/>
                    <a:gd name="T36" fmla="*/ 179 h 17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3" h="179">
                      <a:moveTo>
                        <a:pt x="0" y="5"/>
                      </a:moveTo>
                      <a:lnTo>
                        <a:pt x="15" y="0"/>
                      </a:lnTo>
                      <a:lnTo>
                        <a:pt x="28" y="0"/>
                      </a:lnTo>
                      <a:lnTo>
                        <a:pt x="42" y="4"/>
                      </a:lnTo>
                      <a:lnTo>
                        <a:pt x="51" y="12"/>
                      </a:lnTo>
                      <a:lnTo>
                        <a:pt x="55" y="20"/>
                      </a:lnTo>
                      <a:lnTo>
                        <a:pt x="110" y="159"/>
                      </a:lnTo>
                      <a:lnTo>
                        <a:pt x="113" y="166"/>
                      </a:lnTo>
                      <a:lnTo>
                        <a:pt x="122" y="172"/>
                      </a:lnTo>
                      <a:lnTo>
                        <a:pt x="134" y="176"/>
                      </a:lnTo>
                      <a:lnTo>
                        <a:pt x="152" y="178"/>
                      </a:lnTo>
                    </a:path>
                  </a:pathLst>
                </a:custGeom>
                <a:noFill/>
                <a:ln w="22225" cap="rnd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" name="Freeform 12">
                  <a:extLst>
                    <a:ext uri="{FF2B5EF4-FFF2-40B4-BE49-F238E27FC236}">
                      <a16:creationId xmlns:a16="http://schemas.microsoft.com/office/drawing/2014/main" id="{73DC1B6F-0AE8-4E60-860E-5459B4C344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92" y="1413"/>
                  <a:ext cx="152" cy="179"/>
                </a:xfrm>
                <a:custGeom>
                  <a:avLst/>
                  <a:gdLst>
                    <a:gd name="T0" fmla="*/ 0 w 152"/>
                    <a:gd name="T1" fmla="*/ 5 h 179"/>
                    <a:gd name="T2" fmla="*/ 15 w 152"/>
                    <a:gd name="T3" fmla="*/ 0 h 179"/>
                    <a:gd name="T4" fmla="*/ 28 w 152"/>
                    <a:gd name="T5" fmla="*/ 0 h 179"/>
                    <a:gd name="T6" fmla="*/ 42 w 152"/>
                    <a:gd name="T7" fmla="*/ 4 h 179"/>
                    <a:gd name="T8" fmla="*/ 51 w 152"/>
                    <a:gd name="T9" fmla="*/ 12 h 179"/>
                    <a:gd name="T10" fmla="*/ 55 w 152"/>
                    <a:gd name="T11" fmla="*/ 20 h 179"/>
                    <a:gd name="T12" fmla="*/ 109 w 152"/>
                    <a:gd name="T13" fmla="*/ 159 h 179"/>
                    <a:gd name="T14" fmla="*/ 111 w 152"/>
                    <a:gd name="T15" fmla="*/ 166 h 179"/>
                    <a:gd name="T16" fmla="*/ 121 w 152"/>
                    <a:gd name="T17" fmla="*/ 172 h 179"/>
                    <a:gd name="T18" fmla="*/ 133 w 152"/>
                    <a:gd name="T19" fmla="*/ 176 h 179"/>
                    <a:gd name="T20" fmla="*/ 151 w 152"/>
                    <a:gd name="T21" fmla="*/ 178 h 17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2"/>
                    <a:gd name="T34" fmla="*/ 0 h 179"/>
                    <a:gd name="T35" fmla="*/ 152 w 152"/>
                    <a:gd name="T36" fmla="*/ 179 h 17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2" h="179">
                      <a:moveTo>
                        <a:pt x="0" y="5"/>
                      </a:moveTo>
                      <a:lnTo>
                        <a:pt x="15" y="0"/>
                      </a:lnTo>
                      <a:lnTo>
                        <a:pt x="28" y="0"/>
                      </a:lnTo>
                      <a:lnTo>
                        <a:pt x="42" y="4"/>
                      </a:lnTo>
                      <a:lnTo>
                        <a:pt x="51" y="12"/>
                      </a:lnTo>
                      <a:lnTo>
                        <a:pt x="55" y="20"/>
                      </a:lnTo>
                      <a:lnTo>
                        <a:pt x="109" y="159"/>
                      </a:lnTo>
                      <a:lnTo>
                        <a:pt x="111" y="166"/>
                      </a:lnTo>
                      <a:lnTo>
                        <a:pt x="121" y="172"/>
                      </a:lnTo>
                      <a:lnTo>
                        <a:pt x="133" y="176"/>
                      </a:lnTo>
                      <a:lnTo>
                        <a:pt x="151" y="178"/>
                      </a:lnTo>
                    </a:path>
                  </a:pathLst>
                </a:custGeom>
                <a:noFill/>
                <a:ln w="22225" cap="rnd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0" name="Freeform 13">
                <a:extLst>
                  <a:ext uri="{FF2B5EF4-FFF2-40B4-BE49-F238E27FC236}">
                    <a16:creationId xmlns:a16="http://schemas.microsoft.com/office/drawing/2014/main" id="{C090F38C-1360-4AD6-91E0-5ADCCB696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378"/>
                <a:ext cx="153" cy="203"/>
              </a:xfrm>
              <a:custGeom>
                <a:avLst/>
                <a:gdLst>
                  <a:gd name="T0" fmla="*/ 0 w 153"/>
                  <a:gd name="T1" fmla="*/ 5 h 203"/>
                  <a:gd name="T2" fmla="*/ 15 w 153"/>
                  <a:gd name="T3" fmla="*/ 0 h 203"/>
                  <a:gd name="T4" fmla="*/ 28 w 153"/>
                  <a:gd name="T5" fmla="*/ 0 h 203"/>
                  <a:gd name="T6" fmla="*/ 42 w 153"/>
                  <a:gd name="T7" fmla="*/ 5 h 203"/>
                  <a:gd name="T8" fmla="*/ 51 w 153"/>
                  <a:gd name="T9" fmla="*/ 14 h 203"/>
                  <a:gd name="T10" fmla="*/ 55 w 153"/>
                  <a:gd name="T11" fmla="*/ 23 h 203"/>
                  <a:gd name="T12" fmla="*/ 110 w 153"/>
                  <a:gd name="T13" fmla="*/ 180 h 203"/>
                  <a:gd name="T14" fmla="*/ 112 w 153"/>
                  <a:gd name="T15" fmla="*/ 189 h 203"/>
                  <a:gd name="T16" fmla="*/ 122 w 153"/>
                  <a:gd name="T17" fmla="*/ 195 h 203"/>
                  <a:gd name="T18" fmla="*/ 134 w 153"/>
                  <a:gd name="T19" fmla="*/ 199 h 203"/>
                  <a:gd name="T20" fmla="*/ 152 w 153"/>
                  <a:gd name="T21" fmla="*/ 202 h 20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53"/>
                  <a:gd name="T34" fmla="*/ 0 h 203"/>
                  <a:gd name="T35" fmla="*/ 153 w 153"/>
                  <a:gd name="T36" fmla="*/ 203 h 20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53" h="203">
                    <a:moveTo>
                      <a:pt x="0" y="5"/>
                    </a:moveTo>
                    <a:lnTo>
                      <a:pt x="15" y="0"/>
                    </a:lnTo>
                    <a:lnTo>
                      <a:pt x="28" y="0"/>
                    </a:lnTo>
                    <a:lnTo>
                      <a:pt x="42" y="5"/>
                    </a:lnTo>
                    <a:lnTo>
                      <a:pt x="51" y="14"/>
                    </a:lnTo>
                    <a:lnTo>
                      <a:pt x="55" y="23"/>
                    </a:lnTo>
                    <a:lnTo>
                      <a:pt x="110" y="180"/>
                    </a:lnTo>
                    <a:lnTo>
                      <a:pt x="112" y="189"/>
                    </a:lnTo>
                    <a:lnTo>
                      <a:pt x="122" y="195"/>
                    </a:lnTo>
                    <a:lnTo>
                      <a:pt x="134" y="199"/>
                    </a:lnTo>
                    <a:lnTo>
                      <a:pt x="152" y="202"/>
                    </a:lnTo>
                  </a:path>
                </a:pathLst>
              </a:custGeom>
              <a:noFill/>
              <a:ln w="222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21C16AE7-7FE2-466E-B574-077684A87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7" y="2340"/>
                <a:ext cx="215" cy="547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28" name="Group 113">
              <a:extLst>
                <a:ext uri="{FF2B5EF4-FFF2-40B4-BE49-F238E27FC236}">
                  <a16:creationId xmlns:a16="http://schemas.microsoft.com/office/drawing/2014/main" id="{F9C199AC-28BB-46E5-8270-5E1A69CC8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2100" y="4276725"/>
              <a:ext cx="3198813" cy="1781175"/>
              <a:chOff x="2928" y="288"/>
              <a:chExt cx="2015" cy="1122"/>
            </a:xfrm>
          </p:grpSpPr>
          <p:sp>
            <p:nvSpPr>
              <p:cNvPr id="29" name="Line 14">
                <a:extLst>
                  <a:ext uri="{FF2B5EF4-FFF2-40B4-BE49-F238E27FC236}">
                    <a16:creationId xmlns:a16="http://schemas.microsoft.com/office/drawing/2014/main" id="{063C6020-B2F6-4B96-A267-302044CD1B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5" y="428"/>
                <a:ext cx="11" cy="7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Line 15">
                <a:extLst>
                  <a:ext uri="{FF2B5EF4-FFF2-40B4-BE49-F238E27FC236}">
                    <a16:creationId xmlns:a16="http://schemas.microsoft.com/office/drawing/2014/main" id="{6602D9DE-8D08-48F7-B105-E991CE157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200"/>
                <a:ext cx="15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1" name="Line 16">
                <a:extLst>
                  <a:ext uri="{FF2B5EF4-FFF2-40B4-BE49-F238E27FC236}">
                    <a16:creationId xmlns:a16="http://schemas.microsoft.com/office/drawing/2014/main" id="{6FF0BDF7-168B-4D6D-93B9-569ACEEF2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752"/>
                <a:ext cx="158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Line 17">
                <a:extLst>
                  <a:ext uri="{FF2B5EF4-FFF2-40B4-BE49-F238E27FC236}">
                    <a16:creationId xmlns:a16="http://schemas.microsoft.com/office/drawing/2014/main" id="{828E65F0-C0E5-4EA3-AB7C-34C6124A8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9" y="720"/>
                <a:ext cx="1591" cy="8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3" name="Line 18">
                <a:extLst>
                  <a:ext uri="{FF2B5EF4-FFF2-40B4-BE49-F238E27FC236}">
                    <a16:creationId xmlns:a16="http://schemas.microsoft.com/office/drawing/2014/main" id="{9C33A783-9CD6-4E17-A2D4-21C659136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776"/>
                <a:ext cx="1591" cy="16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Rectangle 20">
                <a:extLst>
                  <a:ext uri="{FF2B5EF4-FFF2-40B4-BE49-F238E27FC236}">
                    <a16:creationId xmlns:a16="http://schemas.microsoft.com/office/drawing/2014/main" id="{CB2D087F-9A4D-4DD7-92AB-79F0EF00F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02"/>
                <a:ext cx="6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400" b="1"/>
                  <a:t>PB too big</a:t>
                </a:r>
              </a:p>
            </p:txBody>
          </p:sp>
          <p:sp>
            <p:nvSpPr>
              <p:cNvPr id="35" name="Rectangle 21">
                <a:extLst>
                  <a:ext uri="{FF2B5EF4-FFF2-40B4-BE49-F238E27FC236}">
                    <a16:creationId xmlns:a16="http://schemas.microsoft.com/office/drawing/2014/main" id="{B2AF5BA4-0326-49A8-B155-E428258D9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4" y="288"/>
                <a:ext cx="260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Bookman Old Style" panose="02050604050505020204" pitchFamily="18" charset="0"/>
                  </a:rPr>
                  <a:t>C°</a:t>
                </a:r>
              </a:p>
            </p:txBody>
          </p:sp>
          <p:sp>
            <p:nvSpPr>
              <p:cNvPr id="36" name="Rectangle 22">
                <a:extLst>
                  <a:ext uri="{FF2B5EF4-FFF2-40B4-BE49-F238E27FC236}">
                    <a16:creationId xmlns:a16="http://schemas.microsoft.com/office/drawing/2014/main" id="{AB4A6B27-311D-4016-AE6C-2FB30756B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200"/>
                <a:ext cx="239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Bookman Old Style" panose="02050604050505020204" pitchFamily="18" charset="0"/>
                  </a:rPr>
                  <a:t>(t)</a:t>
                </a:r>
              </a:p>
            </p:txBody>
          </p:sp>
          <p:sp>
            <p:nvSpPr>
              <p:cNvPr id="37" name="Rectangle 49">
                <a:extLst>
                  <a:ext uri="{FF2B5EF4-FFF2-40B4-BE49-F238E27FC236}">
                    <a16:creationId xmlns:a16="http://schemas.microsoft.com/office/drawing/2014/main" id="{9196648E-19EF-4691-98E7-AA2ECB991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654"/>
                <a:ext cx="27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b="1">
                    <a:solidFill>
                      <a:srgbClr val="008000"/>
                    </a:solidFill>
                  </a:rPr>
                  <a:t>SV</a:t>
                </a: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2A2E88-1C98-48D1-A705-92D0E8D726D1}"/>
              </a:ext>
            </a:extLst>
          </p:cNvPr>
          <p:cNvGrpSpPr/>
          <p:nvPr/>
        </p:nvGrpSpPr>
        <p:grpSpPr>
          <a:xfrm>
            <a:off x="5638800" y="2504597"/>
            <a:ext cx="3198813" cy="1781175"/>
            <a:chOff x="5638800" y="2638425"/>
            <a:chExt cx="3198813" cy="1781175"/>
          </a:xfrm>
        </p:grpSpPr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3A888A24-13CC-47CD-96B1-E3BCDA12F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2971800"/>
              <a:ext cx="2514600" cy="868363"/>
              <a:chOff x="2812" y="2701"/>
              <a:chExt cx="2120" cy="547"/>
            </a:xfrm>
          </p:grpSpPr>
          <p:sp>
            <p:nvSpPr>
              <p:cNvPr id="19" name="Freeform 24">
                <a:extLst>
                  <a:ext uri="{FF2B5EF4-FFF2-40B4-BE49-F238E27FC236}">
                    <a16:creationId xmlns:a16="http://schemas.microsoft.com/office/drawing/2014/main" id="{1CC91845-F9CF-431B-A7A5-21BFEF851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2" y="2900"/>
                <a:ext cx="172" cy="166"/>
              </a:xfrm>
              <a:custGeom>
                <a:avLst/>
                <a:gdLst>
                  <a:gd name="T0" fmla="*/ 171 w 172"/>
                  <a:gd name="T1" fmla="*/ 4 h 166"/>
                  <a:gd name="T2" fmla="*/ 154 w 172"/>
                  <a:gd name="T3" fmla="*/ 0 h 166"/>
                  <a:gd name="T4" fmla="*/ 140 w 172"/>
                  <a:gd name="T5" fmla="*/ 0 h 166"/>
                  <a:gd name="T6" fmla="*/ 123 w 172"/>
                  <a:gd name="T7" fmla="*/ 4 h 166"/>
                  <a:gd name="T8" fmla="*/ 113 w 172"/>
                  <a:gd name="T9" fmla="*/ 11 h 166"/>
                  <a:gd name="T10" fmla="*/ 109 w 172"/>
                  <a:gd name="T11" fmla="*/ 18 h 166"/>
                  <a:gd name="T12" fmla="*/ 48 w 172"/>
                  <a:gd name="T13" fmla="*/ 147 h 166"/>
                  <a:gd name="T14" fmla="*/ 44 w 172"/>
                  <a:gd name="T15" fmla="*/ 154 h 166"/>
                  <a:gd name="T16" fmla="*/ 34 w 172"/>
                  <a:gd name="T17" fmla="*/ 159 h 166"/>
                  <a:gd name="T18" fmla="*/ 20 w 172"/>
                  <a:gd name="T19" fmla="*/ 163 h 166"/>
                  <a:gd name="T20" fmla="*/ 0 w 172"/>
                  <a:gd name="T21" fmla="*/ 165 h 1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2"/>
                  <a:gd name="T34" fmla="*/ 0 h 166"/>
                  <a:gd name="T35" fmla="*/ 172 w 172"/>
                  <a:gd name="T36" fmla="*/ 166 h 16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2" h="166">
                    <a:moveTo>
                      <a:pt x="171" y="4"/>
                    </a:moveTo>
                    <a:lnTo>
                      <a:pt x="154" y="0"/>
                    </a:lnTo>
                    <a:lnTo>
                      <a:pt x="140" y="0"/>
                    </a:lnTo>
                    <a:lnTo>
                      <a:pt x="123" y="4"/>
                    </a:lnTo>
                    <a:lnTo>
                      <a:pt x="113" y="11"/>
                    </a:lnTo>
                    <a:lnTo>
                      <a:pt x="109" y="18"/>
                    </a:lnTo>
                    <a:lnTo>
                      <a:pt x="48" y="147"/>
                    </a:lnTo>
                    <a:lnTo>
                      <a:pt x="44" y="154"/>
                    </a:lnTo>
                    <a:lnTo>
                      <a:pt x="34" y="159"/>
                    </a:lnTo>
                    <a:lnTo>
                      <a:pt x="20" y="163"/>
                    </a:lnTo>
                    <a:lnTo>
                      <a:pt x="0" y="165"/>
                    </a:lnTo>
                  </a:path>
                </a:pathLst>
              </a:custGeom>
              <a:noFill/>
              <a:ln w="222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45DC0F30-A43A-4AE8-996E-8BAF38484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2707"/>
                <a:ext cx="185" cy="352"/>
              </a:xfrm>
              <a:custGeom>
                <a:avLst/>
                <a:gdLst>
                  <a:gd name="T0" fmla="*/ 0 w 185"/>
                  <a:gd name="T1" fmla="*/ 9 h 352"/>
                  <a:gd name="T2" fmla="*/ 18 w 185"/>
                  <a:gd name="T3" fmla="*/ 1 h 352"/>
                  <a:gd name="T4" fmla="*/ 34 w 185"/>
                  <a:gd name="T5" fmla="*/ 0 h 352"/>
                  <a:gd name="T6" fmla="*/ 51 w 185"/>
                  <a:gd name="T7" fmla="*/ 8 h 352"/>
                  <a:gd name="T8" fmla="*/ 62 w 185"/>
                  <a:gd name="T9" fmla="*/ 24 h 352"/>
                  <a:gd name="T10" fmla="*/ 67 w 185"/>
                  <a:gd name="T11" fmla="*/ 39 h 352"/>
                  <a:gd name="T12" fmla="*/ 133 w 185"/>
                  <a:gd name="T13" fmla="*/ 313 h 352"/>
                  <a:gd name="T14" fmla="*/ 137 w 185"/>
                  <a:gd name="T15" fmla="*/ 328 h 352"/>
                  <a:gd name="T16" fmla="*/ 148 w 185"/>
                  <a:gd name="T17" fmla="*/ 339 h 352"/>
                  <a:gd name="T18" fmla="*/ 162 w 185"/>
                  <a:gd name="T19" fmla="*/ 346 h 352"/>
                  <a:gd name="T20" fmla="*/ 184 w 185"/>
                  <a:gd name="T21" fmla="*/ 351 h 3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5"/>
                  <a:gd name="T34" fmla="*/ 0 h 352"/>
                  <a:gd name="T35" fmla="*/ 185 w 185"/>
                  <a:gd name="T36" fmla="*/ 352 h 3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5" h="352">
                    <a:moveTo>
                      <a:pt x="0" y="9"/>
                    </a:moveTo>
                    <a:lnTo>
                      <a:pt x="18" y="1"/>
                    </a:lnTo>
                    <a:lnTo>
                      <a:pt x="34" y="0"/>
                    </a:lnTo>
                    <a:lnTo>
                      <a:pt x="51" y="8"/>
                    </a:lnTo>
                    <a:lnTo>
                      <a:pt x="62" y="24"/>
                    </a:lnTo>
                    <a:lnTo>
                      <a:pt x="67" y="39"/>
                    </a:lnTo>
                    <a:lnTo>
                      <a:pt x="133" y="313"/>
                    </a:lnTo>
                    <a:lnTo>
                      <a:pt x="137" y="328"/>
                    </a:lnTo>
                    <a:lnTo>
                      <a:pt x="148" y="339"/>
                    </a:lnTo>
                    <a:lnTo>
                      <a:pt x="162" y="346"/>
                    </a:lnTo>
                    <a:lnTo>
                      <a:pt x="184" y="351"/>
                    </a:lnTo>
                  </a:path>
                </a:pathLst>
              </a:custGeom>
              <a:noFill/>
              <a:ln w="222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Freeform 26">
                <a:extLst>
                  <a:ext uri="{FF2B5EF4-FFF2-40B4-BE49-F238E27FC236}">
                    <a16:creationId xmlns:a16="http://schemas.microsoft.com/office/drawing/2014/main" id="{A7FDA4B2-636F-4D71-960D-EEAFB78A7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899"/>
                <a:ext cx="178" cy="30"/>
              </a:xfrm>
              <a:custGeom>
                <a:avLst/>
                <a:gdLst>
                  <a:gd name="T0" fmla="*/ 0 w 178"/>
                  <a:gd name="T1" fmla="*/ 1 h 30"/>
                  <a:gd name="T2" fmla="*/ 17 w 178"/>
                  <a:gd name="T3" fmla="*/ 0 h 30"/>
                  <a:gd name="T4" fmla="*/ 33 w 178"/>
                  <a:gd name="T5" fmla="*/ 0 h 30"/>
                  <a:gd name="T6" fmla="*/ 49 w 178"/>
                  <a:gd name="T7" fmla="*/ 1 h 30"/>
                  <a:gd name="T8" fmla="*/ 60 w 178"/>
                  <a:gd name="T9" fmla="*/ 2 h 30"/>
                  <a:gd name="T10" fmla="*/ 64 w 178"/>
                  <a:gd name="T11" fmla="*/ 3 h 30"/>
                  <a:gd name="T12" fmla="*/ 128 w 178"/>
                  <a:gd name="T13" fmla="*/ 26 h 30"/>
                  <a:gd name="T14" fmla="*/ 130 w 178"/>
                  <a:gd name="T15" fmla="*/ 27 h 30"/>
                  <a:gd name="T16" fmla="*/ 142 w 178"/>
                  <a:gd name="T17" fmla="*/ 28 h 30"/>
                  <a:gd name="T18" fmla="*/ 156 w 178"/>
                  <a:gd name="T19" fmla="*/ 29 h 30"/>
                  <a:gd name="T20" fmla="*/ 177 w 178"/>
                  <a:gd name="T21" fmla="*/ 29 h 3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8"/>
                  <a:gd name="T34" fmla="*/ 0 h 30"/>
                  <a:gd name="T35" fmla="*/ 178 w 178"/>
                  <a:gd name="T36" fmla="*/ 30 h 3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8" h="30">
                    <a:moveTo>
                      <a:pt x="0" y="1"/>
                    </a:moveTo>
                    <a:lnTo>
                      <a:pt x="17" y="0"/>
                    </a:lnTo>
                    <a:lnTo>
                      <a:pt x="33" y="0"/>
                    </a:lnTo>
                    <a:lnTo>
                      <a:pt x="49" y="1"/>
                    </a:lnTo>
                    <a:lnTo>
                      <a:pt x="60" y="2"/>
                    </a:lnTo>
                    <a:lnTo>
                      <a:pt x="64" y="3"/>
                    </a:lnTo>
                    <a:lnTo>
                      <a:pt x="128" y="26"/>
                    </a:lnTo>
                    <a:lnTo>
                      <a:pt x="130" y="27"/>
                    </a:lnTo>
                    <a:lnTo>
                      <a:pt x="142" y="28"/>
                    </a:lnTo>
                    <a:lnTo>
                      <a:pt x="156" y="29"/>
                    </a:lnTo>
                    <a:lnTo>
                      <a:pt x="177" y="29"/>
                    </a:lnTo>
                  </a:path>
                </a:pathLst>
              </a:custGeom>
              <a:noFill/>
              <a:ln w="222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Line 32">
                <a:extLst>
                  <a:ext uri="{FF2B5EF4-FFF2-40B4-BE49-F238E27FC236}">
                    <a16:creationId xmlns:a16="http://schemas.microsoft.com/office/drawing/2014/main" id="{9169AB53-618F-451F-AA72-8B3B31AD9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12" y="2701"/>
                <a:ext cx="215" cy="547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3" name="Line 33">
                <a:extLst>
                  <a:ext uri="{FF2B5EF4-FFF2-40B4-BE49-F238E27FC236}">
                    <a16:creationId xmlns:a16="http://schemas.microsoft.com/office/drawing/2014/main" id="{BC6690C0-BF05-4208-902F-5B4127682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928"/>
                <a:ext cx="1428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8" name="Group 114">
              <a:extLst>
                <a:ext uri="{FF2B5EF4-FFF2-40B4-BE49-F238E27FC236}">
                  <a16:creationId xmlns:a16="http://schemas.microsoft.com/office/drawing/2014/main" id="{67966531-6F7E-45E9-B098-903796CF8A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2638425"/>
              <a:ext cx="3198813" cy="1781175"/>
              <a:chOff x="2832" y="1486"/>
              <a:chExt cx="2015" cy="1122"/>
            </a:xfrm>
          </p:grpSpPr>
          <p:sp>
            <p:nvSpPr>
              <p:cNvPr id="39" name="Line 94">
                <a:extLst>
                  <a:ext uri="{FF2B5EF4-FFF2-40B4-BE49-F238E27FC236}">
                    <a16:creationId xmlns:a16="http://schemas.microsoft.com/office/drawing/2014/main" id="{8E53B171-B80A-42FB-BDD1-C5FF990F0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9" y="1626"/>
                <a:ext cx="11" cy="7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" name="Line 95">
                <a:extLst>
                  <a:ext uri="{FF2B5EF4-FFF2-40B4-BE49-F238E27FC236}">
                    <a16:creationId xmlns:a16="http://schemas.microsoft.com/office/drawing/2014/main" id="{B7B1ABF9-5C8A-4A7B-B0AC-78AA457DB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398"/>
                <a:ext cx="15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1" name="Line 96">
                <a:extLst>
                  <a:ext uri="{FF2B5EF4-FFF2-40B4-BE49-F238E27FC236}">
                    <a16:creationId xmlns:a16="http://schemas.microsoft.com/office/drawing/2014/main" id="{18D89D4B-E7FC-4E62-9360-60EE387B21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1950"/>
                <a:ext cx="158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" name="Line 97">
                <a:extLst>
                  <a:ext uri="{FF2B5EF4-FFF2-40B4-BE49-F238E27FC236}">
                    <a16:creationId xmlns:a16="http://schemas.microsoft.com/office/drawing/2014/main" id="{423AB222-7222-4141-B5DB-38036AF4A7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3" y="1824"/>
                <a:ext cx="1591" cy="8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3" name="Line 98">
                <a:extLst>
                  <a:ext uri="{FF2B5EF4-FFF2-40B4-BE49-F238E27FC236}">
                    <a16:creationId xmlns:a16="http://schemas.microsoft.com/office/drawing/2014/main" id="{243175AD-E8BE-4EAF-A63D-FC9B5F964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064"/>
                <a:ext cx="1591" cy="16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" name="Rectangle 100">
                <a:extLst>
                  <a:ext uri="{FF2B5EF4-FFF2-40B4-BE49-F238E27FC236}">
                    <a16:creationId xmlns:a16="http://schemas.microsoft.com/office/drawing/2014/main" id="{35DF353F-27CB-45FD-AB30-C697E22E4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400"/>
                <a:ext cx="7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400" b="1"/>
                  <a:t>gain correct</a:t>
                </a:r>
              </a:p>
            </p:txBody>
          </p:sp>
          <p:sp>
            <p:nvSpPr>
              <p:cNvPr id="45" name="Rectangle 101">
                <a:extLst>
                  <a:ext uri="{FF2B5EF4-FFF2-40B4-BE49-F238E27FC236}">
                    <a16:creationId xmlns:a16="http://schemas.microsoft.com/office/drawing/2014/main" id="{89E589BC-7C45-476B-BC96-3629003D1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486"/>
                <a:ext cx="260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Bookman Old Style" panose="02050604050505020204" pitchFamily="18" charset="0"/>
                  </a:rPr>
                  <a:t>C°</a:t>
                </a:r>
              </a:p>
            </p:txBody>
          </p:sp>
          <p:sp>
            <p:nvSpPr>
              <p:cNvPr id="46" name="Rectangle 102">
                <a:extLst>
                  <a:ext uri="{FF2B5EF4-FFF2-40B4-BE49-F238E27FC236}">
                    <a16:creationId xmlns:a16="http://schemas.microsoft.com/office/drawing/2014/main" id="{0EBC7742-FF0A-4265-BA8B-D38CC6AAF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398"/>
                <a:ext cx="239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Bookman Old Style" panose="02050604050505020204" pitchFamily="18" charset="0"/>
                  </a:rPr>
                  <a:t>(t)</a:t>
                </a:r>
              </a:p>
            </p:txBody>
          </p:sp>
          <p:sp>
            <p:nvSpPr>
              <p:cNvPr id="47" name="Rectangle 103">
                <a:extLst>
                  <a:ext uri="{FF2B5EF4-FFF2-40B4-BE49-F238E27FC236}">
                    <a16:creationId xmlns:a16="http://schemas.microsoft.com/office/drawing/2014/main" id="{5F2DC7A7-0143-48E7-B3C7-A106832A7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852"/>
                <a:ext cx="27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b="1">
                    <a:solidFill>
                      <a:srgbClr val="008000"/>
                    </a:solidFill>
                  </a:rPr>
                  <a:t>SV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112777F-5ECD-498B-93E2-6C76AB68760D}"/>
              </a:ext>
            </a:extLst>
          </p:cNvPr>
          <p:cNvGrpSpPr/>
          <p:nvPr/>
        </p:nvGrpSpPr>
        <p:grpSpPr>
          <a:xfrm>
            <a:off x="5638800" y="721218"/>
            <a:ext cx="3103563" cy="1781175"/>
            <a:chOff x="5638800" y="721218"/>
            <a:chExt cx="3103563" cy="1781175"/>
          </a:xfrm>
        </p:grpSpPr>
        <p:grpSp>
          <p:nvGrpSpPr>
            <p:cNvPr id="24" name="Group 116">
              <a:extLst>
                <a:ext uri="{FF2B5EF4-FFF2-40B4-BE49-F238E27FC236}">
                  <a16:creationId xmlns:a16="http://schemas.microsoft.com/office/drawing/2014/main" id="{FF4390F4-7B0F-4292-805E-9810BF5C8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6951" y="1500759"/>
              <a:ext cx="2514600" cy="558800"/>
              <a:chOff x="3312" y="3552"/>
              <a:chExt cx="1724" cy="336"/>
            </a:xfrm>
          </p:grpSpPr>
          <p:sp>
            <p:nvSpPr>
              <p:cNvPr id="25" name="Line 43">
                <a:extLst>
                  <a:ext uri="{FF2B5EF4-FFF2-40B4-BE49-F238E27FC236}">
                    <a16:creationId xmlns:a16="http://schemas.microsoft.com/office/drawing/2014/main" id="{8635ADA9-3F02-4417-BC85-CC4E17DAF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3604"/>
                <a:ext cx="152" cy="284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Arc 44">
                <a:extLst>
                  <a:ext uri="{FF2B5EF4-FFF2-40B4-BE49-F238E27FC236}">
                    <a16:creationId xmlns:a16="http://schemas.microsoft.com/office/drawing/2014/main" id="{110717FF-6846-40AE-80CA-FFEA0929BEE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505" y="3504"/>
                <a:ext cx="94" cy="193"/>
              </a:xfrm>
              <a:custGeom>
                <a:avLst/>
                <a:gdLst>
                  <a:gd name="T0" fmla="*/ 0 w 21600"/>
                  <a:gd name="T1" fmla="*/ 0 h 21842"/>
                  <a:gd name="T2" fmla="*/ 0 w 21600"/>
                  <a:gd name="T3" fmla="*/ 0 h 21842"/>
                  <a:gd name="T4" fmla="*/ 0 w 21600"/>
                  <a:gd name="T5" fmla="*/ 0 h 2184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842"/>
                  <a:gd name="T11" fmla="*/ 21600 w 21600"/>
                  <a:gd name="T12" fmla="*/ 21842 h 218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842" fill="none" extrusionOk="0">
                    <a:moveTo>
                      <a:pt x="21600" y="21842"/>
                    </a:moveTo>
                    <a:cubicBezTo>
                      <a:pt x="9670" y="21842"/>
                      <a:pt x="0" y="12171"/>
                      <a:pt x="0" y="242"/>
                    </a:cubicBezTo>
                    <a:cubicBezTo>
                      <a:pt x="-1" y="161"/>
                      <a:pt x="0" y="80"/>
                      <a:pt x="1" y="0"/>
                    </a:cubicBezTo>
                  </a:path>
                  <a:path w="21600" h="21842" stroke="0" extrusionOk="0">
                    <a:moveTo>
                      <a:pt x="21600" y="21842"/>
                    </a:moveTo>
                    <a:cubicBezTo>
                      <a:pt x="9670" y="21842"/>
                      <a:pt x="0" y="12171"/>
                      <a:pt x="0" y="242"/>
                    </a:cubicBezTo>
                    <a:cubicBezTo>
                      <a:pt x="-1" y="161"/>
                      <a:pt x="0" y="80"/>
                      <a:pt x="1" y="0"/>
                    </a:cubicBezTo>
                    <a:lnTo>
                      <a:pt x="21600" y="242"/>
                    </a:lnTo>
                    <a:lnTo>
                      <a:pt x="21600" y="21842"/>
                    </a:lnTo>
                    <a:close/>
                  </a:path>
                </a:pathLst>
              </a:custGeom>
              <a:noFill/>
              <a:ln w="22225" cap="rnd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" name="Line 45">
                <a:extLst>
                  <a:ext uri="{FF2B5EF4-FFF2-40B4-BE49-F238E27FC236}">
                    <a16:creationId xmlns:a16="http://schemas.microsoft.com/office/drawing/2014/main" id="{175AF153-5194-401D-AAB1-B431A59C9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552"/>
                <a:ext cx="1388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48" name="Group 115">
              <a:extLst>
                <a:ext uri="{FF2B5EF4-FFF2-40B4-BE49-F238E27FC236}">
                  <a16:creationId xmlns:a16="http://schemas.microsoft.com/office/drawing/2014/main" id="{C67333A7-F397-42C0-840C-BB6EA33246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721218"/>
              <a:ext cx="3103563" cy="1781175"/>
              <a:chOff x="192" y="2638"/>
              <a:chExt cx="2015" cy="1122"/>
            </a:xfrm>
          </p:grpSpPr>
          <p:sp>
            <p:nvSpPr>
              <p:cNvPr id="49" name="Line 104">
                <a:extLst>
                  <a:ext uri="{FF2B5EF4-FFF2-40B4-BE49-F238E27FC236}">
                    <a16:creationId xmlns:a16="http://schemas.microsoft.com/office/drawing/2014/main" id="{31A16C3E-A039-4C46-9AD8-E612EC42C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" y="2778"/>
                <a:ext cx="11" cy="7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0" name="Line 105">
                <a:extLst>
                  <a:ext uri="{FF2B5EF4-FFF2-40B4-BE49-F238E27FC236}">
                    <a16:creationId xmlns:a16="http://schemas.microsoft.com/office/drawing/2014/main" id="{CFFB7528-6312-43C1-84CD-ACB4984B1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550"/>
                <a:ext cx="15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1" name="Line 106">
                <a:extLst>
                  <a:ext uri="{FF2B5EF4-FFF2-40B4-BE49-F238E27FC236}">
                    <a16:creationId xmlns:a16="http://schemas.microsoft.com/office/drawing/2014/main" id="{1CBDA16C-5966-45B6-8784-1AB1FDFBE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3102"/>
                <a:ext cx="158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2" name="Line 107">
                <a:extLst>
                  <a:ext uri="{FF2B5EF4-FFF2-40B4-BE49-F238E27FC236}">
                    <a16:creationId xmlns:a16="http://schemas.microsoft.com/office/drawing/2014/main" id="{D7F47DD0-7F96-45A4-ADC5-7E733CAD8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" y="2928"/>
                <a:ext cx="1591" cy="8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" name="Line 108">
                <a:extLst>
                  <a:ext uri="{FF2B5EF4-FFF2-40B4-BE49-F238E27FC236}">
                    <a16:creationId xmlns:a16="http://schemas.microsoft.com/office/drawing/2014/main" id="{46D4E236-C7A3-4716-BE1B-A02C5CFA4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3248"/>
                <a:ext cx="1591" cy="16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" name="Rectangle 109">
                <a:extLst>
                  <a:ext uri="{FF2B5EF4-FFF2-40B4-BE49-F238E27FC236}">
                    <a16:creationId xmlns:a16="http://schemas.microsoft.com/office/drawing/2014/main" id="{94146C1C-4318-4A11-B35A-B276B1B1F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3552"/>
                <a:ext cx="90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400" b="1"/>
                  <a:t>gain too  small</a:t>
                </a:r>
              </a:p>
            </p:txBody>
          </p:sp>
          <p:sp>
            <p:nvSpPr>
              <p:cNvPr id="55" name="Rectangle 110">
                <a:extLst>
                  <a:ext uri="{FF2B5EF4-FFF2-40B4-BE49-F238E27FC236}">
                    <a16:creationId xmlns:a16="http://schemas.microsoft.com/office/drawing/2014/main" id="{77FEEAF4-9C68-4A88-9D1F-62AD5387B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" y="2638"/>
                <a:ext cx="260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Bookman Old Style" panose="02050604050505020204" pitchFamily="18" charset="0"/>
                  </a:rPr>
                  <a:t>C°</a:t>
                </a:r>
              </a:p>
            </p:txBody>
          </p:sp>
          <p:sp>
            <p:nvSpPr>
              <p:cNvPr id="56" name="Rectangle 111">
                <a:extLst>
                  <a:ext uri="{FF2B5EF4-FFF2-40B4-BE49-F238E27FC236}">
                    <a16:creationId xmlns:a16="http://schemas.microsoft.com/office/drawing/2014/main" id="{171E6724-6B3C-441D-86EA-BBEAD2680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550"/>
                <a:ext cx="239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Bookman Old Style" panose="02050604050505020204" pitchFamily="18" charset="0"/>
                  </a:rPr>
                  <a:t>(t)</a:t>
                </a:r>
              </a:p>
            </p:txBody>
          </p:sp>
          <p:sp>
            <p:nvSpPr>
              <p:cNvPr id="57" name="Rectangle 112">
                <a:extLst>
                  <a:ext uri="{FF2B5EF4-FFF2-40B4-BE49-F238E27FC236}">
                    <a16:creationId xmlns:a16="http://schemas.microsoft.com/office/drawing/2014/main" id="{A37CCE20-6397-4DE6-81CB-AAB610A4B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004"/>
                <a:ext cx="27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b="1">
                    <a:solidFill>
                      <a:srgbClr val="008000"/>
                    </a:solidFill>
                  </a:rPr>
                  <a:t>SV</a:t>
                </a:r>
              </a:p>
            </p:txBody>
          </p:sp>
        </p:grpSp>
      </p:grpSp>
      <p:sp>
        <p:nvSpPr>
          <p:cNvPr id="58" name="Text Box 121">
            <a:extLst>
              <a:ext uri="{FF2B5EF4-FFF2-40B4-BE49-F238E27FC236}">
                <a16:creationId xmlns:a16="http://schemas.microsoft.com/office/drawing/2014/main" id="{21CBB2DB-7939-436F-9B07-7F7770639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6" y="4548187"/>
            <a:ext cx="5083175" cy="1031875"/>
          </a:xfrm>
          <a:prstGeom prst="rect">
            <a:avLst/>
          </a:prstGeom>
          <a:solidFill>
            <a:srgbClr val="FEACBA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A Proportional gain that is too high causes hunting!  The TC will than behave like an ON/OFF controller!</a:t>
            </a:r>
            <a:endParaRPr lang="en-GB" altLang="en-US" sz="2000" dirty="0"/>
          </a:p>
        </p:txBody>
      </p:sp>
      <p:sp>
        <p:nvSpPr>
          <p:cNvPr id="59" name="Text Box 122">
            <a:extLst>
              <a:ext uri="{FF2B5EF4-FFF2-40B4-BE49-F238E27FC236}">
                <a16:creationId xmlns:a16="http://schemas.microsoft.com/office/drawing/2014/main" id="{CDD71BCC-37B1-4B61-BD45-94DC82243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" y="2598737"/>
            <a:ext cx="5219700" cy="1323975"/>
          </a:xfrm>
          <a:prstGeom prst="rect">
            <a:avLst/>
          </a:prstGeom>
          <a:solidFill>
            <a:srgbClr val="66FF66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A correctly sized P gain results in an Overshoot, followed by an Undershoot and than Stabilization, with a small offset near the Set Point.</a:t>
            </a:r>
            <a:endParaRPr lang="en-GB" altLang="en-US" sz="2000"/>
          </a:p>
        </p:txBody>
      </p:sp>
      <p:sp>
        <p:nvSpPr>
          <p:cNvPr id="60" name="Text Box 124">
            <a:extLst>
              <a:ext uri="{FF2B5EF4-FFF2-40B4-BE49-F238E27FC236}">
                <a16:creationId xmlns:a16="http://schemas.microsoft.com/office/drawing/2014/main" id="{52C3CF94-1686-4219-A80D-440D2D1F4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" y="969578"/>
            <a:ext cx="5273675" cy="1092200"/>
          </a:xfrm>
          <a:prstGeom prst="rect">
            <a:avLst/>
          </a:prstGeom>
          <a:solidFill>
            <a:srgbClr val="FEC4D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With a  low gain the Setpoint temperature will never be reached!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This will create a large offset from the Set Point!</a:t>
            </a:r>
            <a:endParaRPr lang="en-GB" altLang="en-US" dirty="0"/>
          </a:p>
        </p:txBody>
      </p:sp>
      <p:sp>
        <p:nvSpPr>
          <p:cNvPr id="61" name="Text Box 126">
            <a:extLst>
              <a:ext uri="{FF2B5EF4-FFF2-40B4-BE49-F238E27FC236}">
                <a16:creationId xmlns:a16="http://schemas.microsoft.com/office/drawing/2014/main" id="{C1ED40A4-0C8D-4B55-AB07-C822044DC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6057900"/>
            <a:ext cx="7537450" cy="4000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The right setting of the proportional gain  is very important</a:t>
            </a:r>
            <a:endParaRPr lang="en-GB" alt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194658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0B876A0-03AA-4B6E-B8D9-C4434801ACF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58599" y="107949"/>
            <a:ext cx="8175801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000" b="1" dirty="0">
                <a:latin typeface="Arial Bold" panose="020B0704020202020204" pitchFamily="34" charset="0"/>
                <a:cs typeface="Arial Bold" panose="020B0704020202020204" pitchFamily="34" charset="0"/>
              </a:rPr>
              <a:t>Integral Control of Systems.</a:t>
            </a:r>
            <a:endParaRPr lang="en-US" altLang="en-US" sz="2000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9440C57E-14E0-4FB0-89EA-9EC408A2F8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112" y="633984"/>
            <a:ext cx="5078413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5">
            <a:extLst>
              <a:ext uri="{FF2B5EF4-FFF2-40B4-BE49-F238E27FC236}">
                <a16:creationId xmlns:a16="http://schemas.microsoft.com/office/drawing/2014/main" id="{E5D4497A-459A-43EA-A83B-6FDB3FC30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248" y="2288032"/>
            <a:ext cx="7620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Integral control of the system  eliminates the steady-state   error in the response to the step input..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80E7F5B-6C64-4AC2-9FA1-2CAD27717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3084513"/>
            <a:ext cx="5864225" cy="343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18030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270F-5457-4D0C-8792-A4F1C378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9" y="152400"/>
            <a:ext cx="8175801" cy="14763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/>
              <a:t>Derivative Control</a:t>
            </a:r>
            <a:endParaRPr lang="en-US" sz="2000" dirty="0"/>
          </a:p>
        </p:txBody>
      </p:sp>
      <p:pic>
        <p:nvPicPr>
          <p:cNvPr id="29699" name="Picture 2">
            <a:extLst>
              <a:ext uri="{FF2B5EF4-FFF2-40B4-BE49-F238E27FC236}">
                <a16:creationId xmlns:a16="http://schemas.microsoft.com/office/drawing/2014/main" id="{27B0C1C4-C005-423B-B734-BA9ADFF64C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6" y="981075"/>
            <a:ext cx="3738563" cy="1295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">
            <a:extLst>
              <a:ext uri="{FF2B5EF4-FFF2-40B4-BE49-F238E27FC236}">
                <a16:creationId xmlns:a16="http://schemas.microsoft.com/office/drawing/2014/main" id="{3D1BAC77-F806-4899-9C6A-D95841E0E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743" y="899350"/>
            <a:ext cx="337661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>
            <a:extLst>
              <a:ext uri="{FF2B5EF4-FFF2-40B4-BE49-F238E27FC236}">
                <a16:creationId xmlns:a16="http://schemas.microsoft.com/office/drawing/2014/main" id="{0CAD3EE8-0FBE-4EAB-98C0-E319A3331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20" y="2457450"/>
            <a:ext cx="2667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6">
            <a:extLst>
              <a:ext uri="{FF2B5EF4-FFF2-40B4-BE49-F238E27FC236}">
                <a16:creationId xmlns:a16="http://schemas.microsoft.com/office/drawing/2014/main" id="{58D82DA2-C9EE-475F-9DDD-725BA6249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99" y="3407664"/>
            <a:ext cx="6858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Derivative control introduces a damping effect. A typical response curve </a:t>
            </a:r>
            <a:r>
              <a:rPr lang="en-US" altLang="en-US" b="1" i="1" dirty="0">
                <a:latin typeface="Calibri" panose="020F0502020204030204" pitchFamily="34" charset="0"/>
              </a:rPr>
              <a:t>c ( t ) to a unit step </a:t>
            </a:r>
            <a:r>
              <a:rPr lang="en-US" altLang="en-US" dirty="0">
                <a:latin typeface="Calibri" panose="020F0502020204030204" pitchFamily="34" charset="0"/>
              </a:rPr>
              <a:t>input is shown</a:t>
            </a:r>
          </a:p>
        </p:txBody>
      </p:sp>
    </p:spTree>
    <p:extLst>
      <p:ext uri="{BB962C8B-B14F-4D97-AF65-F5344CB8AC3E}">
        <p14:creationId xmlns:p14="http://schemas.microsoft.com/office/powerpoint/2010/main" val="3791015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0AFE5446-DEBB-46C7-90E4-0CCB452D9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72" y="1584135"/>
            <a:ext cx="7694613" cy="380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1" name="TextBox 3">
            <a:extLst>
              <a:ext uri="{FF2B5EF4-FFF2-40B4-BE49-F238E27FC236}">
                <a16:creationId xmlns:a16="http://schemas.microsoft.com/office/drawing/2014/main" id="{98B5A0DE-6774-4B3C-AEAC-45D6F18F983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32994" y="128778"/>
            <a:ext cx="79375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000" dirty="0">
                <a:solidFill>
                  <a:srgbClr val="FF0000"/>
                </a:solidFill>
              </a:rPr>
              <a:t>Simulink Simulation of PID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2268194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>
            <a:extLst>
              <a:ext uri="{FF2B5EF4-FFF2-40B4-BE49-F238E27FC236}">
                <a16:creationId xmlns:a16="http://schemas.microsoft.com/office/drawing/2014/main" id="{F3815DBB-668F-485A-B4E7-B432A55BD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7" b="7381"/>
          <a:stretch>
            <a:fillRect/>
          </a:stretch>
        </p:blipFill>
        <p:spPr bwMode="auto">
          <a:xfrm>
            <a:off x="326581" y="727075"/>
            <a:ext cx="8661400" cy="546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93227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Text Box 5">
            <a:extLst>
              <a:ext uri="{FF2B5EF4-FFF2-40B4-BE49-F238E27FC236}">
                <a16:creationId xmlns:a16="http://schemas.microsoft.com/office/drawing/2014/main" id="{8172AF30-1603-412C-B078-F703C46EE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8153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Over 60 years ago, Ziegler and Nichols (1942) published a classic paper that introduced the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continuous cycling method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 for controller tuning. It is based on the following trial-and-error procedure: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2400" dirty="0"/>
              <a:t>The open loop step response curve of the process is recorded and the steepest tangent to the reaction curve is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+mn-cs"/>
              </a:rPr>
              <a:t>drawn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PID controller tuning- Ziegler-Nichols reaction curve method</a:t>
            </a:r>
            <a:endParaRPr lang="en-US" altLang="en-US" sz="2000" dirty="0">
              <a:solidFill>
                <a:srgbClr val="FF0000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CCD2F6-6668-E10A-718E-9D3F45AF88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704"/>
          <a:stretch/>
        </p:blipFill>
        <p:spPr>
          <a:xfrm>
            <a:off x="1991880" y="3425268"/>
            <a:ext cx="4219995" cy="32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2621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Text Box 5">
            <a:extLst>
              <a:ext uri="{FF2B5EF4-FFF2-40B4-BE49-F238E27FC236}">
                <a16:creationId xmlns:a16="http://schemas.microsoft.com/office/drawing/2014/main" id="{8172AF30-1603-412C-B078-F703C46EE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8153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/>
              </a:rPr>
              <a:t>The reac</a:t>
            </a:r>
            <a:r>
              <a:rPr lang="en-US" sz="2400" dirty="0"/>
              <a:t>tion curve is characterized by two parameters: 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- Ƭ intercept of the steepest tangent with the time axis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- a modulus of the intercept of the steepest tangent with the time axis.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dirty="0"/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Note that Ƭ is an approximation of the time delay of the system and Ƭ/a is the steepest slope of the step response.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PID controller tuning- Ziegler-Nichols reaction curve method</a:t>
            </a:r>
            <a:endParaRPr lang="en-US" altLang="en-US" sz="2000" dirty="0">
              <a:solidFill>
                <a:srgbClr val="FF0000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697337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Text Box 5">
            <a:extLst>
              <a:ext uri="{FF2B5EF4-FFF2-40B4-BE49-F238E27FC236}">
                <a16:creationId xmlns:a16="http://schemas.microsoft.com/office/drawing/2014/main" id="{8172AF30-1603-412C-B078-F703C46EE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Table shows the PID tuning rules based on the two reaction curve parameters. The table also shows an estimate of the period of oscillation </a:t>
            </a:r>
            <a:r>
              <a:rPr lang="en-US" sz="2400" dirty="0" err="1"/>
              <a:t>Tp</a:t>
            </a:r>
            <a:r>
              <a:rPr lang="en-US" sz="2400" dirty="0"/>
              <a:t> of underdamped step response the closed loop system.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PID controller tuning- Ziegler-Nichols reaction curve method</a:t>
            </a:r>
            <a:endParaRPr lang="en-US" altLang="en-US" sz="2000" dirty="0">
              <a:solidFill>
                <a:srgbClr val="FF0000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151EF-EE82-B020-3765-992F66D54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0" t="2710"/>
          <a:stretch/>
        </p:blipFill>
        <p:spPr>
          <a:xfrm>
            <a:off x="1472185" y="3694175"/>
            <a:ext cx="5687023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94950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Text Box 5">
            <a:extLst>
              <a:ext uri="{FF2B5EF4-FFF2-40B4-BE49-F238E27FC236}">
                <a16:creationId xmlns:a16="http://schemas.microsoft.com/office/drawing/2014/main" id="{8172AF30-1603-412C-B078-F703C46EE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81534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Also known as the Ziegler-Nichols frequency response (ZNFR) method.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With the system under proportional-only control, a unit step input is applied to the closed-loop system and the proportional gain is increased until the response is a sustained oscillation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PID controller tuning- Ziegler-Nichols ultimate gain method</a:t>
            </a:r>
            <a:endParaRPr lang="en-US" altLang="en-US" sz="2000" dirty="0">
              <a:solidFill>
                <a:srgbClr val="FF0000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6A79E-C34D-31FC-5445-F4B297BE5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3" y="3850230"/>
            <a:ext cx="7297274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5482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Text Box 5">
            <a:extLst>
              <a:ext uri="{FF2B5EF4-FFF2-40B4-BE49-F238E27FC236}">
                <a16:creationId xmlns:a16="http://schemas.microsoft.com/office/drawing/2014/main" id="{8172AF30-1603-412C-B078-F703C46EE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An alternative way to obtain the sustained oscillation required for the Ziegler–Nichols ultimate gain tuning method is to connect the process in a feedback loop with a nonlinear element having a square wave relay function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PID controller tuning- Ziegler-Nichols ultimate gain method</a:t>
            </a:r>
            <a:endParaRPr lang="en-US" altLang="en-US" sz="2000" dirty="0">
              <a:solidFill>
                <a:srgbClr val="FF0000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BDE8CD-4EC9-78CE-1D00-53F137462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49" y="2857920"/>
            <a:ext cx="8240619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0637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PID controller tuning- Ziegler-Nichols ultimate gain method</a:t>
            </a:r>
            <a:endParaRPr lang="en-US" altLang="en-US" sz="2000" dirty="0">
              <a:solidFill>
                <a:srgbClr val="FF0000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pic>
        <p:nvPicPr>
          <p:cNvPr id="4" name="Picture 3" descr="A white text with black text&#10;&#10;Description automatically generated">
            <a:extLst>
              <a:ext uri="{FF2B5EF4-FFF2-40B4-BE49-F238E27FC236}">
                <a16:creationId xmlns:a16="http://schemas.microsoft.com/office/drawing/2014/main" id="{BE92BE43-0B1B-59A4-16D9-3B173865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46" y="824399"/>
            <a:ext cx="844269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50909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D62255A-507C-4169-BA58-637B43326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0BE47-E5B9-4B43-9E78-649ADD51B99B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51FA3-77B2-4579-8F48-BB157B34FC93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old" panose="020B0704020202020204" pitchFamily="34" charset="0"/>
                <a:ea typeface="ＭＳ Ｐゴシック" charset="-128"/>
                <a:cs typeface="Arial Bold" panose="020B0704020202020204" pitchFamily="34" charset="0"/>
              </a:rPr>
              <a:t>Ziegler-Nichols Table of Settings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8091D8-6F89-4F7A-B35E-310F592D0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640766"/>
              </p:ext>
            </p:extLst>
          </p:nvPr>
        </p:nvGraphicFramePr>
        <p:xfrm>
          <a:off x="677418" y="1600200"/>
          <a:ext cx="7886700" cy="3657600"/>
        </p:xfrm>
        <a:graphic>
          <a:graphicData uri="http://schemas.openxmlformats.org/drawingml/2006/table">
            <a:tbl>
              <a:tblPr/>
              <a:tblGrid>
                <a:gridCol w="1988566">
                  <a:extLst>
                    <a:ext uri="{9D8B030D-6E8A-4147-A177-3AD203B41FA5}">
                      <a16:colId xmlns:a16="http://schemas.microsoft.com/office/drawing/2014/main" val="287783606"/>
                    </a:ext>
                  </a:extLst>
                </a:gridCol>
                <a:gridCol w="1954784">
                  <a:extLst>
                    <a:ext uri="{9D8B030D-6E8A-4147-A177-3AD203B41FA5}">
                      <a16:colId xmlns:a16="http://schemas.microsoft.com/office/drawing/2014/main" val="152024978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71428074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13631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GB" dirty="0">
                        <a:effectLst/>
                      </a:endParaRPr>
                    </a:p>
                    <a:p>
                      <a:pPr algn="ctr"/>
                      <a:r>
                        <a:rPr lang="en-GB" dirty="0">
                          <a:effectLst/>
                        </a:rPr>
                        <a:t>Control Type</a:t>
                      </a:r>
                    </a:p>
                    <a:p>
                      <a:pPr algn="ctr"/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K</a:t>
                      </a:r>
                      <a:r>
                        <a:rPr lang="en-GB" baseline="-25000" dirty="0">
                          <a:effectLst/>
                        </a:rPr>
                        <a:t>P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K</a:t>
                      </a:r>
                      <a:r>
                        <a:rPr lang="en-GB" baseline="-25000" dirty="0">
                          <a:effectLst/>
                        </a:rPr>
                        <a:t>I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K</a:t>
                      </a:r>
                      <a:r>
                        <a:rPr lang="en-GB" baseline="-25000" dirty="0">
                          <a:effectLst/>
                        </a:rPr>
                        <a:t>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2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i="1">
                          <a:effectLst/>
                        </a:rPr>
                        <a:t>P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effectLst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0.50K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endParaRPr lang="en-GB" dirty="0">
                        <a:effectLst/>
                      </a:endParaRPr>
                    </a:p>
                    <a:p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—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—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47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i="1">
                          <a:effectLst/>
                        </a:rPr>
                        <a:t>PI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0.45K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effectLst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0.54K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r>
                        <a:rPr lang="en-GB" dirty="0">
                          <a:effectLst/>
                        </a:rPr>
                        <a:t>/T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endParaRPr lang="en-GB" dirty="0">
                        <a:effectLst/>
                      </a:endParaRPr>
                    </a:p>
                    <a:p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—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i="1" dirty="0">
                        <a:effectLst/>
                      </a:endParaRPr>
                    </a:p>
                    <a:p>
                      <a:pPr algn="ctr"/>
                      <a:r>
                        <a:rPr lang="en-GB" i="1" dirty="0">
                          <a:effectLst/>
                        </a:rPr>
                        <a:t>PID</a:t>
                      </a:r>
                    </a:p>
                    <a:p>
                      <a:pPr algn="ctr"/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0.60K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1.2K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r>
                        <a:rPr lang="en-GB" dirty="0">
                          <a:effectLst/>
                        </a:rPr>
                        <a:t>/T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3K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r>
                        <a:rPr lang="en-GB" dirty="0">
                          <a:effectLst/>
                        </a:rPr>
                        <a:t>T</a:t>
                      </a:r>
                      <a:r>
                        <a:rPr lang="en-GB" baseline="-25000" dirty="0">
                          <a:effectLst/>
                        </a:rPr>
                        <a:t>U</a:t>
                      </a:r>
                      <a:r>
                        <a:rPr lang="en-GB" baseline="0" dirty="0">
                          <a:effectLst/>
                        </a:rPr>
                        <a:t>/40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33301"/>
                  </a:ext>
                </a:extLst>
              </a:tr>
            </a:tbl>
          </a:graphicData>
        </a:graphic>
      </p:graphicFrame>
      <p:sp>
        <p:nvSpPr>
          <p:cNvPr id="4" name="AutoShape 5" descr="K_{p}">
            <a:extLst>
              <a:ext uri="{FF2B5EF4-FFF2-40B4-BE49-F238E27FC236}">
                <a16:creationId xmlns:a16="http://schemas.microsoft.com/office/drawing/2014/main" id="{F7C1684B-56CB-40B9-9B77-D81B12999C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2450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K_{i}">
            <a:extLst>
              <a:ext uri="{FF2B5EF4-FFF2-40B4-BE49-F238E27FC236}">
                <a16:creationId xmlns:a16="http://schemas.microsoft.com/office/drawing/2014/main" id="{853C81BD-25E9-4B15-91AF-6B25E651E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89325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7" descr="K_{d}">
            <a:extLst>
              <a:ext uri="{FF2B5EF4-FFF2-40B4-BE49-F238E27FC236}">
                <a16:creationId xmlns:a16="http://schemas.microsoft.com/office/drawing/2014/main" id="{13AB7C88-0F49-4E97-9FA5-EF80AB648F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8" descr="0.50{K_{u}}">
            <a:extLst>
              <a:ext uri="{FF2B5EF4-FFF2-40B4-BE49-F238E27FC236}">
                <a16:creationId xmlns:a16="http://schemas.microsoft.com/office/drawing/2014/main" id="{F770919A-C5F8-495E-8147-DB18F8C52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3075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9" descr="0.45{K_{u}}">
            <a:extLst>
              <a:ext uri="{FF2B5EF4-FFF2-40B4-BE49-F238E27FC236}">
                <a16:creationId xmlns:a16="http://schemas.microsoft.com/office/drawing/2014/main" id="{7DD3244F-DECC-4108-AF38-FAD25B9166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79950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{\displaystyle 0.54{K_{u}}/T_{u}}">
            <a:extLst>
              <a:ext uri="{FF2B5EF4-FFF2-40B4-BE49-F238E27FC236}">
                <a16:creationId xmlns:a16="http://schemas.microsoft.com/office/drawing/2014/main" id="{2DE3414D-8CA9-454D-9760-667E1CBF2A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76825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1" descr="0.60{K_{u}}">
            <a:extLst>
              <a:ext uri="{FF2B5EF4-FFF2-40B4-BE49-F238E27FC236}">
                <a16:creationId xmlns:a16="http://schemas.microsoft.com/office/drawing/2014/main" id="{DDCC75C8-90F0-4E69-B9B7-9B0901A02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73700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2" descr="{\displaystyle 1.2{K_{u}}/T_{u}}">
            <a:extLst>
              <a:ext uri="{FF2B5EF4-FFF2-40B4-BE49-F238E27FC236}">
                <a16:creationId xmlns:a16="http://schemas.microsoft.com/office/drawing/2014/main" id="{1D7BFFC5-318F-43E4-B16A-4796ADF83D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0575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AutoShape 13" descr="{\displaystyle 3{K_{u}}{T_{u}}/40}">
            <a:extLst>
              <a:ext uri="{FF2B5EF4-FFF2-40B4-BE49-F238E27FC236}">
                <a16:creationId xmlns:a16="http://schemas.microsoft.com/office/drawing/2014/main" id="{D56FCAF5-4554-46C6-B5EB-CBB76F399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7450" y="2301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745049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>
            <a:extLst>
              <a:ext uri="{FF2B5EF4-FFF2-40B4-BE49-F238E27FC236}">
                <a16:creationId xmlns:a16="http://schemas.microsoft.com/office/drawing/2014/main" id="{E60F8271-D09F-462B-8495-D21210E5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B9C7FC-1897-4EAC-9E00-BE63AEF0EE9C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428197-6CD2-46EE-9E27-5DAB83954782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Relay Auto Tuning</a:t>
            </a:r>
          </a:p>
        </p:txBody>
      </p:sp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CD740DB9-177C-4538-9691-D1CE7C81FF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570173"/>
              </p:ext>
            </p:extLst>
          </p:nvPr>
        </p:nvGraphicFramePr>
        <p:xfrm>
          <a:off x="1610125" y="2359226"/>
          <a:ext cx="5595531" cy="2139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48175" imgH="1700022" progId="Visio.Drawing.11">
                  <p:embed/>
                </p:oleObj>
              </mc:Choice>
              <mc:Fallback>
                <p:oleObj name="Visio" r:id="rId2" imgW="4448175" imgH="1700022" progId="Visio.Drawing.11">
                  <p:embed/>
                  <p:pic>
                    <p:nvPicPr>
                      <p:cNvPr id="54279" name="Object 13">
                        <a:extLst>
                          <a:ext uri="{FF2B5EF4-FFF2-40B4-BE49-F238E27FC236}">
                            <a16:creationId xmlns:a16="http://schemas.microsoft.com/office/drawing/2014/main" id="{67A7DC0C-6C28-48D2-A546-120E6578F0F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125" y="2359226"/>
                        <a:ext cx="5595531" cy="2139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2944072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1CA09678-AC83-4B43-9B07-664FCB3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8B5192-26C8-4950-AF5B-92A4F20BCEE0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0664F1AC-BA6D-476F-A9FB-CF69618EB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216" y="1248760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With more capable processors the auto tuning process could consist of: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284A4CD2-D0E3-4C79-A337-F1A004284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664" y="2517902"/>
            <a:ext cx="74199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6289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30861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5433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40005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Trying a small impulse signal and calculating tuning parameters from the response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D14D363A-2C20-4074-9D8B-30BAFB531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665" y="3411537"/>
            <a:ext cx="74199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6289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30861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5433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40005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Looking at historical process data to derive the tuning parameters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Starting with the Z-N values and trying small changes to look for improvements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Basing the parameter on an entirely mathematical model of the process.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EBC899-300F-4610-AFBC-8BFAD9C94492}"/>
              </a:ext>
            </a:extLst>
          </p:cNvPr>
          <p:cNvSpPr txBox="1">
            <a:spLocks/>
          </p:cNvSpPr>
          <p:nvPr/>
        </p:nvSpPr>
        <p:spPr bwMode="auto">
          <a:xfrm>
            <a:off x="319991" y="107949"/>
            <a:ext cx="8175801" cy="53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>
                <a:solidFill>
                  <a:srgbClr val="FF0000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Modern Auto Tuning</a:t>
            </a:r>
          </a:p>
        </p:txBody>
      </p:sp>
    </p:spTree>
    <p:extLst>
      <p:ext uri="{BB962C8B-B14F-4D97-AF65-F5344CB8AC3E}">
        <p14:creationId xmlns:p14="http://schemas.microsoft.com/office/powerpoint/2010/main" val="6194873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UoS template_no_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UoS template_with 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UoS template_no_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UoS template_no_logo_white</Template>
  <TotalTime>4272</TotalTime>
  <Words>1852</Words>
  <Application>Microsoft Office PowerPoint</Application>
  <PresentationFormat>On-screen Show (4:3)</PresentationFormat>
  <Paragraphs>313</Paragraphs>
  <Slides>59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Arial</vt:lpstr>
      <vt:lpstr>Arial Bold</vt:lpstr>
      <vt:lpstr>Bookman Old Style</vt:lpstr>
      <vt:lpstr>Calibri</vt:lpstr>
      <vt:lpstr>Cambria Math</vt:lpstr>
      <vt:lpstr>UoS template_no_logo_white</vt:lpstr>
      <vt:lpstr>UoS template_with logo_white</vt:lpstr>
      <vt:lpstr>1_UoS template_no_logo_white</vt:lpstr>
      <vt:lpstr>Equation</vt:lpstr>
      <vt:lpstr>Visio</vt:lpstr>
      <vt:lpstr>BEng (Hons) Control and Automation</vt:lpstr>
      <vt:lpstr>Lecture Content:      Second Order Systems  and  PID controllers</vt:lpstr>
      <vt:lpstr>Introduction</vt:lpstr>
      <vt:lpstr>Introduction</vt:lpstr>
      <vt:lpstr>Introduction</vt:lpstr>
      <vt:lpstr>Example</vt:lpstr>
      <vt:lpstr>Introduction</vt:lpstr>
      <vt:lpstr>Introduction</vt:lpstr>
      <vt:lpstr>Introduction</vt:lpstr>
      <vt:lpstr>Introduction</vt:lpstr>
      <vt:lpstr>Introduction</vt:lpstr>
      <vt:lpstr>Time-Domain Specification</vt:lpstr>
      <vt:lpstr>Time-Domain Specification</vt:lpstr>
      <vt:lpstr>Time-Domain Specification</vt:lpstr>
      <vt:lpstr>Time-Domain Specification</vt:lpstr>
      <vt:lpstr>Time-Domain Specification</vt:lpstr>
      <vt:lpstr>Time-Domain Specification</vt:lpstr>
      <vt:lpstr>Using the S-Plane</vt:lpstr>
      <vt:lpstr>Using the S-Plane</vt:lpstr>
      <vt:lpstr>Using the S-Plane</vt:lpstr>
      <vt:lpstr>Using the S-Plane</vt:lpstr>
      <vt:lpstr>Using the S-Plane</vt:lpstr>
      <vt:lpstr>Using the S-Plane</vt:lpstr>
      <vt:lpstr>Using the S-Plane</vt:lpstr>
      <vt:lpstr>Using the S-Plane</vt:lpstr>
      <vt:lpstr>Using the S-Plane</vt:lpstr>
      <vt:lpstr>Using the S-Plane</vt:lpstr>
      <vt:lpstr>Step Response of underdamped System</vt:lpstr>
      <vt:lpstr>Step Response of underdamped System</vt:lpstr>
      <vt:lpstr>Step Response of underdamped System</vt:lpstr>
      <vt:lpstr>Other Step Responses</vt:lpstr>
      <vt:lpstr>Step Responses by Pole Positions</vt:lpstr>
      <vt:lpstr>Time Domain Specifications of Underdamped system</vt:lpstr>
      <vt:lpstr>Time Domain Specifications (Settling Time)</vt:lpstr>
      <vt:lpstr>Time Domain Specifications (Settling Time)</vt:lpstr>
      <vt:lpstr>Summary of Time Domain Specifications</vt:lpstr>
      <vt:lpstr>Example</vt:lpstr>
      <vt:lpstr>Example</vt:lpstr>
      <vt:lpstr>Example</vt:lpstr>
      <vt:lpstr>Example</vt:lpstr>
      <vt:lpstr>      PID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Integral Control of Systems.</vt:lpstr>
      <vt:lpstr>Derivative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Saber Mahboubi Heydarabad</cp:lastModifiedBy>
  <cp:revision>372</cp:revision>
  <cp:lastPrinted>2018-11-07T07:39:35Z</cp:lastPrinted>
  <dcterms:created xsi:type="dcterms:W3CDTF">2011-12-09T09:26:53Z</dcterms:created>
  <dcterms:modified xsi:type="dcterms:W3CDTF">2023-11-08T23:15:45Z</dcterms:modified>
</cp:coreProperties>
</file>