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80" r:id="rId1"/>
  </p:sldMasterIdLst>
  <p:notesMasterIdLst>
    <p:notesMasterId r:id="rId29"/>
  </p:notesMasterIdLst>
  <p:handoutMasterIdLst>
    <p:handoutMasterId r:id="rId30"/>
  </p:handoutMasterIdLst>
  <p:sldIdLst>
    <p:sldId id="1265" r:id="rId2"/>
    <p:sldId id="359" r:id="rId3"/>
    <p:sldId id="267" r:id="rId4"/>
    <p:sldId id="360" r:id="rId5"/>
    <p:sldId id="361" r:id="rId6"/>
    <p:sldId id="268" r:id="rId7"/>
    <p:sldId id="269" r:id="rId8"/>
    <p:sldId id="272" r:id="rId9"/>
    <p:sldId id="270" r:id="rId10"/>
    <p:sldId id="271" r:id="rId11"/>
    <p:sldId id="343" r:id="rId12"/>
    <p:sldId id="273" r:id="rId13"/>
    <p:sldId id="283" r:id="rId14"/>
    <p:sldId id="344" r:id="rId15"/>
    <p:sldId id="284" r:id="rId16"/>
    <p:sldId id="345" r:id="rId17"/>
    <p:sldId id="285" r:id="rId18"/>
    <p:sldId id="346" r:id="rId19"/>
    <p:sldId id="321" r:id="rId20"/>
    <p:sldId id="347" r:id="rId21"/>
    <p:sldId id="275" r:id="rId22"/>
    <p:sldId id="286" r:id="rId23"/>
    <p:sldId id="371" r:id="rId24"/>
    <p:sldId id="339" r:id="rId25"/>
    <p:sldId id="340" r:id="rId26"/>
    <p:sldId id="341" r:id="rId27"/>
    <p:sldId id="342" r:id="rId28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C60C3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93" autoAdjust="0"/>
    <p:restoredTop sz="94617" autoAdjust="0"/>
  </p:normalViewPr>
  <p:slideViewPr>
    <p:cSldViewPr snapToGrid="0" snapToObjects="1">
      <p:cViewPr varScale="1">
        <p:scale>
          <a:sx n="108" d="100"/>
          <a:sy n="108" d="100"/>
        </p:scale>
        <p:origin x="138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 Davis" userId="489c7e30-9955-40ba-b63d-eb5b0bfb876f" providerId="ADAL" clId="{09B9EB49-31A2-4EC6-B37A-A6E1BBCFE707}"/>
    <pc:docChg chg="custSel addSld modSld sldOrd">
      <pc:chgData name="Steve Davis" userId="489c7e30-9955-40ba-b63d-eb5b0bfb876f" providerId="ADAL" clId="{09B9EB49-31A2-4EC6-B37A-A6E1BBCFE707}" dt="2020-08-20T12:27:26.325" v="144" actId="6549"/>
      <pc:docMkLst>
        <pc:docMk/>
      </pc:docMkLst>
      <pc:sldChg chg="modSp add ord">
        <pc:chgData name="Steve Davis" userId="489c7e30-9955-40ba-b63d-eb5b0bfb876f" providerId="ADAL" clId="{09B9EB49-31A2-4EC6-B37A-A6E1BBCFE707}" dt="2020-08-20T12:27:26.325" v="144" actId="6549"/>
        <pc:sldMkLst>
          <pc:docMk/>
          <pc:sldMk cId="0" sldId="1265"/>
        </pc:sldMkLst>
        <pc:spChg chg="mod">
          <ac:chgData name="Steve Davis" userId="489c7e30-9955-40ba-b63d-eb5b0bfb876f" providerId="ADAL" clId="{09B9EB49-31A2-4EC6-B37A-A6E1BBCFE707}" dt="2020-08-20T12:27:26.325" v="144" actId="6549"/>
          <ac:spMkLst>
            <pc:docMk/>
            <pc:sldMk cId="0" sldId="1265"/>
            <ac:spMk id="1024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fld id="{7F1E0E6A-FD6F-40AF-B41E-0FFD1CCEA9C5}" type="datetimeFigureOut">
              <a:rPr lang="en-GB"/>
              <a:pPr>
                <a:defRPr/>
              </a:pPr>
              <a:t>20/08/2020</a:t>
            </a:fld>
            <a:endParaRPr lang="en-GB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fld id="{0F6A9018-88C7-45E8-9DAD-371AA0477B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9120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fld id="{BF05C40F-19C0-48CC-BB19-DD88530CD431}" type="datetimeFigureOut">
              <a:rPr lang="en-GB"/>
              <a:pPr>
                <a:defRPr/>
              </a:pPr>
              <a:t>20/08/2020</a:t>
            </a:fld>
            <a:endParaRPr lang="en-GB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Arial" charset="0"/>
              </a:defRPr>
            </a:lvl1pPr>
          </a:lstStyle>
          <a:p>
            <a:pPr>
              <a:defRPr/>
            </a:pPr>
            <a:fld id="{2D3E0C4C-FBE9-49E9-9D5E-C81F8A6765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6805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6" name="Notes Placeholder 2"/>
          <p:cNvSpPr>
            <a:spLocks noGrp="1"/>
          </p:cNvSpPr>
          <p:nvPr>
            <p:ph type="body" idx="1"/>
          </p:nvPr>
        </p:nvSpPr>
        <p:spPr>
          <a:xfrm>
            <a:off x="947738" y="4860925"/>
            <a:ext cx="5207000" cy="4605338"/>
          </a:xfrm>
          <a:noFill/>
          <a:ln/>
        </p:spPr>
        <p:txBody>
          <a:bodyPr/>
          <a:lstStyle/>
          <a:p>
            <a:pPr eaLnBrk="1" hangingPunct="1"/>
            <a:endParaRPr lang="en-GB"/>
          </a:p>
        </p:txBody>
      </p:sp>
      <p:sp>
        <p:nvSpPr>
          <p:cNvPr id="11267" name="Slide Number Placeholder 3"/>
          <p:cNvSpPr txBox="1">
            <a:spLocks noGrp="1"/>
          </p:cNvSpPr>
          <p:nvPr/>
        </p:nvSpPr>
        <p:spPr bwMode="auto">
          <a:xfrm>
            <a:off x="4024313" y="9723438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9066" tIns="49533" rIns="99066" bIns="49533" anchor="b"/>
          <a:lstStyle/>
          <a:p>
            <a:pPr algn="r" defTabSz="990600"/>
            <a:fld id="{C5C4C360-D859-4C5D-ABE7-2BF3FAB36612}" type="slidenum">
              <a:rPr lang="en-US" sz="1300">
                <a:latin typeface="Times New Roman" pitchFamily="18" charset="0"/>
              </a:rPr>
              <a:pPr algn="r" defTabSz="990600"/>
              <a:t>1</a:t>
            </a:fld>
            <a:endParaRPr lang="en-US" sz="13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049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252413" cy="6858000"/>
          </a:xfrm>
          <a:prstGeom prst="rect">
            <a:avLst/>
          </a:prstGeom>
          <a:solidFill>
            <a:srgbClr val="C60C30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10999" y="434413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2A66-6D1D-46DC-BD09-6A3AB21F08C3}" type="datetime1">
              <a:rPr lang="en-US"/>
              <a:pPr>
                <a:defRPr/>
              </a:pPr>
              <a:t>8/20/2020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E70BF7-D744-4D4B-8FB5-925E538077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365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252413" cy="6858000"/>
          </a:xfrm>
          <a:prstGeom prst="rect">
            <a:avLst/>
          </a:prstGeom>
          <a:solidFill>
            <a:srgbClr val="C60C30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"/>
          </p:nvPr>
        </p:nvSpPr>
        <p:spPr>
          <a:xfrm>
            <a:off x="257174" y="0"/>
            <a:ext cx="888682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181474"/>
            <a:ext cx="2800350" cy="1838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88288-0D3E-4384-A89E-AB287B36F252}" type="datetime1">
              <a:rPr lang="en-US"/>
              <a:pPr>
                <a:defRPr/>
              </a:pPr>
              <a:t>8/20/2020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B46D8-0A3C-4DF0-98DF-3BDF582F51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2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+mn-ea"/>
                <a:cs typeface="+mn-cs"/>
              </a:defRPr>
            </a:lvl1pPr>
          </a:lstStyle>
          <a:p>
            <a:pPr>
              <a:defRPr/>
            </a:pPr>
            <a:fld id="{434E0480-BD58-4286-8828-9134DCEB8AA1}" type="datetime1">
              <a:rPr lang="en-US"/>
              <a:pPr>
                <a:defRPr/>
              </a:pPr>
              <a:t>8/20/2020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+mn-ea"/>
                <a:cs typeface="+mn-cs"/>
              </a:defRPr>
            </a:lvl1pPr>
          </a:lstStyle>
          <a:p>
            <a:pPr>
              <a:defRPr/>
            </a:pPr>
            <a:fld id="{8C9B9D2D-0A43-4DB3-8B90-6C467C17DB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5" r:id="rId1"/>
    <p:sldLayoutId id="2147484306" r:id="rId2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C60C30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solidFill>
            <a:srgbClr val="FFFFFF"/>
          </a:solidFill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buClr>
                <a:schemeClr val="tx1"/>
              </a:buClr>
            </a:pPr>
            <a:r>
              <a:rPr lang="en-GB" dirty="0"/>
              <a:t>Aims of this lecture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252538"/>
            <a:ext cx="8229600" cy="4873625"/>
          </a:xfrm>
          <a:prstGeom prst="rect">
            <a:avLst/>
          </a:prstGeom>
          <a:solidFill>
            <a:srgbClr val="FFFFFF"/>
          </a:solidFill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buClr>
                <a:schemeClr val="tx1"/>
              </a:buClr>
              <a:buFontTx/>
              <a:buChar char="•"/>
            </a:pPr>
            <a:r>
              <a:rPr lang="en-GB" sz="2800" dirty="0"/>
              <a:t>Introduction to robot kinematic </a:t>
            </a:r>
          </a:p>
          <a:p>
            <a:pPr eaLnBrk="1" hangingPunct="1">
              <a:buClr>
                <a:schemeClr val="tx1"/>
              </a:buClr>
              <a:buFontTx/>
              <a:buChar char="•"/>
            </a:pPr>
            <a:r>
              <a:rPr lang="en-GB" sz="2800" dirty="0"/>
              <a:t>Understanding how kinematics are vital to a robot’s operation </a:t>
            </a:r>
          </a:p>
          <a:p>
            <a:pPr eaLnBrk="1" hangingPunct="1">
              <a:buClr>
                <a:schemeClr val="tx1"/>
              </a:buClr>
              <a:buFontTx/>
              <a:buChar char="•"/>
            </a:pPr>
            <a:r>
              <a:rPr lang="en-GB" sz="2800" dirty="0"/>
              <a:t>Understanding robot work volume </a:t>
            </a:r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0999" y="2607733"/>
            <a:ext cx="8175801" cy="3815645"/>
          </a:xfrm>
        </p:spPr>
        <p:txBody>
          <a:bodyPr/>
          <a:lstStyle/>
          <a:p>
            <a:r>
              <a:rPr lang="en-GB" dirty="0"/>
              <a:t>Robot Kinematics</a:t>
            </a:r>
          </a:p>
        </p:txBody>
      </p:sp>
    </p:spTree>
    <p:extLst>
      <p:ext uri="{BB962C8B-B14F-4D97-AF65-F5344CB8AC3E}">
        <p14:creationId xmlns:p14="http://schemas.microsoft.com/office/powerpoint/2010/main" val="384157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Kinematics</a:t>
            </a:r>
            <a:r>
              <a:rPr lang="en-US" altLang="en-US" sz="3200"/>
              <a:t>			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Tx/>
              <a:buChar char="•"/>
            </a:pPr>
            <a:r>
              <a:rPr lang="en-GB" altLang="en-US" sz="2800"/>
              <a:t>Kinematics is the mathematics which describe the position and motion of a robot </a:t>
            </a:r>
          </a:p>
          <a:p>
            <a:pPr marL="457200" indent="-457200">
              <a:buFontTx/>
              <a:buChar char="•"/>
            </a:pPr>
            <a:r>
              <a:rPr lang="en-GB" altLang="en-US" sz="2800"/>
              <a:t>Two types</a:t>
            </a:r>
          </a:p>
          <a:p>
            <a:pPr marL="857250" lvl="1" indent="-457200">
              <a:buFont typeface="Arial" charset="0"/>
              <a:buChar char="•"/>
            </a:pPr>
            <a:r>
              <a:rPr lang="en-GB" altLang="en-US" sz="2400"/>
              <a:t>Forward kinematics</a:t>
            </a:r>
          </a:p>
          <a:p>
            <a:pPr marL="1257300" lvl="2" indent="-457200"/>
            <a:r>
              <a:rPr lang="en-GB" altLang="en-US" sz="2000"/>
              <a:t>Given the joint angles/positions find location of robot end</a:t>
            </a:r>
          </a:p>
          <a:p>
            <a:pPr marL="857250" lvl="1" indent="-457200">
              <a:buFont typeface="Arial" charset="0"/>
              <a:buChar char="•"/>
            </a:pPr>
            <a:r>
              <a:rPr lang="en-GB" altLang="en-US" sz="2400"/>
              <a:t>Inverse kinematics</a:t>
            </a:r>
          </a:p>
          <a:p>
            <a:pPr marL="1257300" lvl="2" indent="-457200"/>
            <a:r>
              <a:rPr lang="en-GB" altLang="en-US" sz="2000"/>
              <a:t>Determine joint angles/positions to achieve a given location</a:t>
            </a:r>
          </a:p>
          <a:p>
            <a:pPr marL="1257300" lvl="2" indent="-457200"/>
            <a:r>
              <a:rPr lang="en-GB" altLang="en-US" sz="2000"/>
              <a:t>Generally much more useful 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Kinematics</a:t>
            </a:r>
            <a:r>
              <a:rPr lang="en-US" altLang="en-US" sz="3200"/>
              <a:t>			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Tx/>
              <a:buChar char="•"/>
            </a:pPr>
            <a:r>
              <a:rPr lang="en-GB" altLang="en-US" sz="2800" dirty="0"/>
              <a:t>When programming robot control does the maths</a:t>
            </a:r>
          </a:p>
          <a:p>
            <a:pPr marL="457200" indent="-457200">
              <a:buFontTx/>
              <a:buChar char="•"/>
            </a:pPr>
            <a:r>
              <a:rPr lang="en-GB" altLang="en-US" sz="2800" dirty="0"/>
              <a:t>If designing a robot or similar need to know the kinematics </a:t>
            </a:r>
            <a:endParaRPr lang="en-GB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2178881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10999" y="2607733"/>
            <a:ext cx="8175801" cy="3815645"/>
          </a:xfrm>
        </p:spPr>
        <p:txBody>
          <a:bodyPr/>
          <a:lstStyle/>
          <a:p>
            <a:r>
              <a:rPr lang="en-GB" dirty="0"/>
              <a:t>Forward Kinematics</a:t>
            </a:r>
          </a:p>
        </p:txBody>
      </p:sp>
    </p:spTree>
    <p:extLst>
      <p:ext uri="{BB962C8B-B14F-4D97-AF65-F5344CB8AC3E}">
        <p14:creationId xmlns:p14="http://schemas.microsoft.com/office/powerpoint/2010/main" val="418698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Forward Kinematics</a:t>
            </a:r>
            <a:r>
              <a:rPr lang="en-US" altLang="en-US" sz="3200"/>
              <a:t>			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Gives Cartesian coordinates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Coordinates relative to origin at base of robot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The kinematics of multi-joint robots working in three dimensions can be very complex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Will only analyse planar robot</a:t>
            </a:r>
          </a:p>
          <a:p>
            <a:pPr marL="857250" lvl="1" indent="-457200">
              <a:buFont typeface="Arial" panose="020B0604020202020204" pitchFamily="34" charset="0"/>
              <a:buChar char="•"/>
              <a:defRPr/>
            </a:pPr>
            <a:r>
              <a:rPr lang="en-GB" sz="2400" dirty="0"/>
              <a:t>Robots that operates in just two dimensions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Will only look at robots whose kinematics can be solved using basic geometry  </a:t>
            </a:r>
          </a:p>
          <a:p>
            <a:pPr marL="0" indent="0">
              <a:defRPr/>
            </a:pPr>
            <a:endParaRPr lang="en-GB" altLang="en-US" sz="24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Forward Kinematics</a:t>
            </a:r>
            <a:r>
              <a:rPr lang="en-US" altLang="en-US" sz="3200"/>
              <a:t>			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z="2000" b="1" dirty="0"/>
              <a:t>1R Manipulator </a:t>
            </a:r>
            <a:endParaRPr lang="en-GB" sz="20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000" dirty="0"/>
              <a:t>Very simple robot with just 1 revolute joint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000" dirty="0"/>
              <a:t>Joint angle is given by Ѳ 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000" dirty="0"/>
              <a:t>Link length given by L (this is fixed)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000" dirty="0"/>
              <a:t>x and y are coordinates of end of robot relative to the origin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000" dirty="0" err="1"/>
              <a:t>Ѳe</a:t>
            </a:r>
            <a:r>
              <a:rPr lang="en-GB" sz="2000" dirty="0"/>
              <a:t> is angle of the end of the robot relative to horizontal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GB" altLang="en-US" sz="2000" dirty="0"/>
          </a:p>
        </p:txBody>
      </p:sp>
      <p:pic>
        <p:nvPicPr>
          <p:cNvPr id="614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213" y="3371850"/>
            <a:ext cx="4090987" cy="394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Forward Kinematics</a:t>
            </a:r>
            <a:r>
              <a:rPr lang="en-US" altLang="en-US" sz="3200"/>
              <a:t>			</a:t>
            </a:r>
          </a:p>
        </p:txBody>
      </p:sp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213" y="935038"/>
            <a:ext cx="4090987" cy="394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255911"/>
                <a:ext cx="8229600" cy="1890008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𝑥</m:t>
                      </m:r>
                      <m:r>
                        <a:rPr lang="en-GB" sz="2400" i="1">
                          <a:latin typeface="Cambria Math"/>
                        </a:rPr>
                        <m:t>=</m:t>
                      </m:r>
                      <m:r>
                        <a:rPr lang="en-GB" sz="2400" i="1">
                          <a:latin typeface="Cambria Math"/>
                        </a:rPr>
                        <m:t>𝐿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sz="240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𝑦</m:t>
                      </m:r>
                      <m:r>
                        <a:rPr lang="en-GB" sz="2400" i="1">
                          <a:latin typeface="Cambria Math"/>
                        </a:rPr>
                        <m:t>=</m:t>
                      </m:r>
                      <m:r>
                        <a:rPr lang="en-GB" sz="2400" i="1">
                          <a:latin typeface="Cambria Math"/>
                        </a:rPr>
                        <m:t>𝐿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sz="240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𝜃</m:t>
                      </m:r>
                      <m:r>
                        <a:rPr lang="en-GB" sz="2400" i="1">
                          <a:latin typeface="Cambria Math"/>
                        </a:rPr>
                        <m:t>𝑒</m:t>
                      </m:r>
                      <m:r>
                        <a:rPr lang="en-GB" sz="2400" i="1">
                          <a:latin typeface="Cambria Math"/>
                        </a:rPr>
                        <m:t>=</m:t>
                      </m:r>
                      <m:r>
                        <a:rPr lang="en-GB" sz="2400" i="1"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lang="en-GB" sz="2400" dirty="0"/>
              </a:p>
              <a:p>
                <a:r>
                  <a:rPr lang="en-GB" sz="2400" dirty="0"/>
                  <a:t>Find the (</a:t>
                </a:r>
                <a:r>
                  <a:rPr lang="en-GB" sz="2400" dirty="0" err="1"/>
                  <a:t>x,y</a:t>
                </a:r>
                <a:r>
                  <a:rPr lang="en-GB" sz="2400" dirty="0"/>
                  <a:t>) position of the end of the robot if L=1.5m and Ѳ=35 degrees</a:t>
                </a:r>
              </a:p>
              <a:p>
                <a:r>
                  <a:rPr lang="en-GB" sz="2400" dirty="0"/>
                  <a:t>x=1.23m y=0.86m</a:t>
                </a: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255911"/>
                <a:ext cx="8229600" cy="1890008"/>
              </a:xfrm>
              <a:blipFill rotWithShape="1">
                <a:blip r:embed="rId3"/>
                <a:stretch>
                  <a:fillRect l="-1111" r="-593" b="-3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Forward Kinematics</a:t>
            </a:r>
            <a:r>
              <a:rPr lang="en-US" altLang="en-US" sz="3200"/>
              <a:t>			</a:t>
            </a:r>
          </a:p>
        </p:txBody>
      </p:sp>
      <p:sp>
        <p:nvSpPr>
          <p:cNvPr id="4099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blipFill rotWithShape="1">
            <a:blip r:embed="rId2"/>
            <a:stretch>
              <a:fillRect l="-1481" t="-1274" b="-128662"/>
            </a:stretch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Forward Kinematics</a:t>
            </a:r>
            <a:r>
              <a:rPr lang="en-US" altLang="en-US" sz="3200"/>
              <a:t>			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4349750"/>
            <a:ext cx="8229600" cy="1776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Tx/>
              <a:buChar char="•"/>
            </a:pPr>
            <a:r>
              <a:rPr lang="en-GB" altLang="en-US" sz="2800" dirty="0"/>
              <a:t>Determine the forward kinematics</a:t>
            </a:r>
          </a:p>
          <a:p>
            <a:pPr marL="1714500" lvl="4" indent="0">
              <a:buNone/>
            </a:pPr>
            <a:r>
              <a:rPr lang="en-GB" altLang="en-US" sz="2400" dirty="0"/>
              <a:t>X=</a:t>
            </a:r>
          </a:p>
          <a:p>
            <a:pPr marL="1714500" lvl="4" indent="0">
              <a:buNone/>
            </a:pPr>
            <a:r>
              <a:rPr lang="en-GB" altLang="en-US" sz="2400" dirty="0"/>
              <a:t>Y=</a:t>
            </a:r>
          </a:p>
          <a:p>
            <a:pPr marL="1714500" lvl="4" indent="0">
              <a:buNone/>
            </a:pPr>
            <a:r>
              <a:rPr lang="en-GB" altLang="en-US" sz="2400" dirty="0" err="1"/>
              <a:t>Ѳe</a:t>
            </a:r>
            <a:r>
              <a:rPr lang="en-GB" altLang="en-US" sz="1600" dirty="0"/>
              <a:t>=</a:t>
            </a:r>
          </a:p>
        </p:txBody>
      </p:sp>
      <p:pic>
        <p:nvPicPr>
          <p:cNvPr id="92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1246188"/>
            <a:ext cx="3436938" cy="310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Forward Kinematics</a:t>
            </a:r>
            <a:r>
              <a:rPr lang="en-US" altLang="en-US" sz="3200"/>
              <a:t>			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4349750"/>
            <a:ext cx="8229600" cy="1776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Tx/>
              <a:buChar char="•"/>
            </a:pPr>
            <a:r>
              <a:rPr lang="en-GB" altLang="en-US" sz="2800" dirty="0"/>
              <a:t>Determine the forward kinematics</a:t>
            </a:r>
          </a:p>
        </p:txBody>
      </p:sp>
      <p:pic>
        <p:nvPicPr>
          <p:cNvPr id="92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1246188"/>
            <a:ext cx="3436938" cy="310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46907" y="5097102"/>
            <a:ext cx="4884344" cy="1200329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0662643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Forward Kinematics</a:t>
            </a:r>
            <a:r>
              <a:rPr lang="en-US" altLang="en-US" sz="3200"/>
              <a:t>			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z="2800" b="1" dirty="0"/>
              <a:t>2R Manipulator 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Another two degree of freedom design </a:t>
            </a:r>
          </a:p>
          <a:p>
            <a:pPr marL="857250" lvl="1" indent="-457200">
              <a:buFont typeface="Arial" panose="020B0604020202020204" pitchFamily="34" charset="0"/>
              <a:buChar char="•"/>
              <a:defRPr/>
            </a:pPr>
            <a:r>
              <a:rPr lang="en-GB" sz="2400" dirty="0"/>
              <a:t>2 fixed link lengths, 2 variable joint angles</a:t>
            </a:r>
          </a:p>
          <a:p>
            <a:pPr>
              <a:defRPr/>
            </a:pPr>
            <a:endParaRPr lang="en-GB" sz="2800" dirty="0"/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>
              <a:defRPr/>
            </a:pPr>
            <a:r>
              <a:rPr lang="en-GB" sz="2800" dirty="0"/>
              <a:t> 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Look how the joint angles are defined</a:t>
            </a:r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725" y="2641600"/>
            <a:ext cx="3836988" cy="369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Forward Kinematics</a:t>
            </a:r>
            <a:r>
              <a:rPr lang="en-US" altLang="en-US" sz="3200"/>
              <a:t>			</a:t>
            </a:r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725" y="903288"/>
            <a:ext cx="3836988" cy="369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4349750"/>
            <a:ext cx="8229600" cy="177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Tx/>
              <a:buChar char="•"/>
            </a:pPr>
            <a:r>
              <a:rPr lang="en-GB" altLang="en-US" sz="2800"/>
              <a:t>Determine the forward kinematics</a:t>
            </a:r>
          </a:p>
          <a:p>
            <a:pPr marL="1714500" lvl="4" indent="0">
              <a:buFont typeface="Arial" charset="0"/>
              <a:buNone/>
            </a:pPr>
            <a:r>
              <a:rPr lang="en-GB" altLang="en-US" sz="2400"/>
              <a:t>X=</a:t>
            </a:r>
          </a:p>
          <a:p>
            <a:pPr marL="1714500" lvl="4" indent="0">
              <a:buFont typeface="Arial" charset="0"/>
              <a:buNone/>
            </a:pPr>
            <a:r>
              <a:rPr lang="en-GB" altLang="en-US" sz="2400"/>
              <a:t>Y=</a:t>
            </a:r>
          </a:p>
          <a:p>
            <a:pPr marL="1714500" lvl="4" indent="0">
              <a:buFont typeface="Arial" charset="0"/>
              <a:buNone/>
            </a:pPr>
            <a:r>
              <a:rPr lang="en-GB" altLang="en-US" sz="2400"/>
              <a:t>Ѳe</a:t>
            </a:r>
            <a:r>
              <a:rPr lang="en-GB" altLang="en-US" sz="1600"/>
              <a:t>=</a:t>
            </a:r>
            <a:endParaRPr lang="en-GB" altLang="en-US" sz="1600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Forward Kinematics</a:t>
            </a:r>
            <a:r>
              <a:rPr lang="en-US" altLang="en-US" sz="3200"/>
              <a:t>			</a:t>
            </a:r>
          </a:p>
        </p:txBody>
      </p:sp>
      <p:sp>
        <p:nvSpPr>
          <p:cNvPr id="4099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 bwMode="auto">
          <a:xfrm>
            <a:off x="457200" y="4381877"/>
            <a:ext cx="8229600" cy="1744286"/>
          </a:xfrm>
          <a:blipFill rotWithShape="1">
            <a:blip r:embed="rId2"/>
            <a:stretch>
              <a:fillRect/>
            </a:stretch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725" y="903288"/>
            <a:ext cx="3836988" cy="369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4865511" y="3206044"/>
            <a:ext cx="15972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rc 3"/>
          <p:cNvSpPr/>
          <p:nvPr/>
        </p:nvSpPr>
        <p:spPr>
          <a:xfrm>
            <a:off x="3996267" y="2257778"/>
            <a:ext cx="1667845" cy="1873955"/>
          </a:xfrm>
          <a:prstGeom prst="arc">
            <a:avLst>
              <a:gd name="adj1" fmla="val 20265249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5791024" y="2848001"/>
            <a:ext cx="1343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Cyrl-AZ" dirty="0">
                <a:solidFill>
                  <a:srgbClr val="C60C30"/>
                </a:solidFill>
              </a:rPr>
              <a:t>Ѳ</a:t>
            </a:r>
            <a:r>
              <a:rPr lang="en-GB" dirty="0">
                <a:solidFill>
                  <a:srgbClr val="C60C3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2949014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Forward Kinematics</a:t>
            </a:r>
            <a:r>
              <a:rPr lang="en-US" altLang="en-US" sz="3200"/>
              <a:t>			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322388"/>
            <a:ext cx="8229600" cy="4803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Tx/>
              <a:buChar char="•"/>
            </a:pPr>
            <a:r>
              <a:rPr lang="en-GB" altLang="en-US" sz="2800" dirty="0"/>
              <a:t>Find the (</a:t>
            </a:r>
            <a:r>
              <a:rPr lang="en-GB" altLang="en-US" sz="2800" dirty="0" err="1"/>
              <a:t>x,y</a:t>
            </a:r>
            <a:r>
              <a:rPr lang="en-GB" altLang="en-US" sz="2800" dirty="0"/>
              <a:t>) position of the end of the robot and its orientation if L1=1.5m, L2=1m Ѳ1=35 and Ѳ2=40 degrees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 dirty="0"/>
              <a:t>Forward Kinematics</a:t>
            </a:r>
            <a:r>
              <a:rPr lang="en-US" altLang="en-US" sz="3200" dirty="0"/>
              <a:t>			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322388"/>
            <a:ext cx="8229600" cy="4803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Tx/>
              <a:buChar char="•"/>
            </a:pPr>
            <a:r>
              <a:rPr lang="en-GB" altLang="en-US" sz="2800" dirty="0"/>
              <a:t>Find the (</a:t>
            </a:r>
            <a:r>
              <a:rPr lang="en-GB" altLang="en-US" sz="2800" dirty="0" err="1"/>
              <a:t>x,y</a:t>
            </a:r>
            <a:r>
              <a:rPr lang="en-GB" altLang="en-US" sz="2800" dirty="0"/>
              <a:t>) position of the end of the robot and its orientation if L1=1.5m, L2=1m Ѳ1=35 and Ѳ2=40 degrees</a:t>
            </a:r>
          </a:p>
          <a:p>
            <a:pPr marL="857250" lvl="1" indent="-457200">
              <a:buFont typeface="Arial" charset="0"/>
              <a:buChar char="•"/>
            </a:pPr>
            <a:r>
              <a:rPr lang="en-GB" altLang="en-US" sz="2400" dirty="0"/>
              <a:t>x=1.49m y=1.83m </a:t>
            </a:r>
            <a:r>
              <a:rPr lang="en-GB" altLang="en-US" sz="2400" dirty="0" err="1"/>
              <a:t>Ѳe</a:t>
            </a:r>
            <a:r>
              <a:rPr lang="en-GB" altLang="en-US" sz="2400" dirty="0"/>
              <a:t>=75˚</a:t>
            </a:r>
          </a:p>
        </p:txBody>
      </p:sp>
    </p:spTree>
    <p:extLst>
      <p:ext uri="{BB962C8B-B14F-4D97-AF65-F5344CB8AC3E}">
        <p14:creationId xmlns:p14="http://schemas.microsoft.com/office/powerpoint/2010/main" val="237765854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Forward Kinematics</a:t>
            </a:r>
            <a:r>
              <a:rPr lang="en-US" altLang="en-US" sz="3200"/>
              <a:t>			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322388"/>
            <a:ext cx="8229600" cy="48037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Find the (</a:t>
            </a:r>
            <a:r>
              <a:rPr lang="en-GB" sz="2800" dirty="0" err="1"/>
              <a:t>x,y</a:t>
            </a:r>
            <a:r>
              <a:rPr lang="en-GB" sz="2800" dirty="0"/>
              <a:t>) position of the end of the robot and its orientation if L1=4.5m, L2=4.5m Ѳ1=0 and Ѳ2=180 degrees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Forward Kinematics</a:t>
            </a:r>
            <a:r>
              <a:rPr lang="en-US" altLang="en-US" sz="3200"/>
              <a:t>			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322388"/>
            <a:ext cx="8229600" cy="48037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Find the (</a:t>
            </a:r>
            <a:r>
              <a:rPr lang="en-GB" sz="2800" dirty="0" err="1"/>
              <a:t>x,y</a:t>
            </a:r>
            <a:r>
              <a:rPr lang="en-GB" sz="2800" dirty="0"/>
              <a:t>) position of the end of the robot and its orientation if L1=4.5m, L2=4.5m Ѳ1=0 and Ѳ2=180 degrees</a:t>
            </a:r>
          </a:p>
          <a:p>
            <a:pPr marL="857250" lvl="1" indent="-457200">
              <a:buFont typeface="Arial" panose="020B0604020202020204" pitchFamily="34" charset="0"/>
              <a:buChar char="•"/>
              <a:defRPr/>
            </a:pPr>
            <a:r>
              <a:rPr lang="en-GB" sz="2400" dirty="0"/>
              <a:t>x=0.0m y=0.0m </a:t>
            </a:r>
            <a:r>
              <a:rPr lang="en-GB" sz="2400" dirty="0" err="1"/>
              <a:t>Ѳe</a:t>
            </a:r>
            <a:r>
              <a:rPr lang="en-GB" sz="2400" dirty="0"/>
              <a:t>=180˚</a:t>
            </a:r>
          </a:p>
          <a:p>
            <a:pPr marL="0" indent="0">
              <a:defRPr/>
            </a:pPr>
            <a:endParaRPr lang="en-GB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8552849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Forward Kinematics</a:t>
            </a:r>
            <a:r>
              <a:rPr lang="en-US" altLang="en-US" sz="3200"/>
              <a:t>			</a:t>
            </a:r>
          </a:p>
        </p:txBody>
      </p:sp>
      <p:pic>
        <p:nvPicPr>
          <p:cNvPr id="1536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75" y="1719263"/>
            <a:ext cx="5688013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53068"/>
                <a:ext cx="8229600" cy="4402666"/>
              </a:xfrm>
            </p:spPr>
            <p:txBody>
              <a:bodyPr/>
              <a:lstStyle/>
              <a:p>
                <a:r>
                  <a:rPr lang="en-GB" dirty="0"/>
                  <a:t>PRP Manipulator 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sz="2000" dirty="0"/>
              </a:p>
              <a:p>
                <a:r>
                  <a:rPr lang="en-GB" sz="2000" dirty="0"/>
                  <a:t>Find the forward kinematics of this robot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0" smtClean="0">
                          <a:latin typeface="Cambria Math"/>
                        </a:rPr>
                        <m:t>x</m:t>
                      </m:r>
                      <m:r>
                        <a:rPr lang="en-GB" sz="2000" i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  <a:p>
                <a:pPr algn="ctr"/>
                <a:r>
                  <a:rPr lang="en-GB" sz="2000" dirty="0"/>
                  <a:t>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i="0">
                        <a:latin typeface="Cambria Math"/>
                      </a:rPr>
                      <m:t>y</m:t>
                    </m:r>
                    <m:r>
                      <a:rPr lang="en-GB" sz="2000" i="0">
                        <a:latin typeface="Cambria Math"/>
                      </a:rPr>
                      <m:t>=</m:t>
                    </m:r>
                  </m:oMath>
                </a14:m>
                <a:endParaRPr lang="en-GB" sz="2000" dirty="0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/>
                      </a:rPr>
                      <m:t>Θ</m:t>
                    </m:r>
                    <m:r>
                      <m:rPr>
                        <m:sty m:val="p"/>
                      </m:rPr>
                      <a:rPr lang="en-GB" sz="2000" i="0">
                        <a:latin typeface="Cambria Math"/>
                      </a:rPr>
                      <m:t>e</m:t>
                    </m:r>
                  </m:oMath>
                </a14:m>
                <a:r>
                  <a:rPr lang="en-GB" sz="2000" dirty="0"/>
                  <a:t>=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53068"/>
                <a:ext cx="8229600" cy="4402666"/>
              </a:xfrm>
              <a:blipFill rotWithShape="1">
                <a:blip r:embed="rId3"/>
                <a:stretch>
                  <a:fillRect l="-1852" t="-1801" b="-224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Forward Kinematics</a:t>
            </a:r>
            <a:r>
              <a:rPr lang="en-US" altLang="en-US" sz="3200"/>
              <a:t>			</a:t>
            </a:r>
          </a:p>
        </p:txBody>
      </p:sp>
      <p:pic>
        <p:nvPicPr>
          <p:cNvPr id="1536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75" y="1719263"/>
            <a:ext cx="5688013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53068"/>
                <a:ext cx="8229600" cy="4402666"/>
              </a:xfrm>
            </p:spPr>
            <p:txBody>
              <a:bodyPr/>
              <a:lstStyle/>
              <a:p>
                <a:r>
                  <a:rPr lang="en-GB" dirty="0"/>
                  <a:t>PRP Manipulator 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sz="2000" dirty="0"/>
              </a:p>
              <a:p>
                <a:r>
                  <a:rPr lang="en-GB" sz="2000" dirty="0"/>
                  <a:t>Find the forward kinematics of this robot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i="0" smtClean="0">
                          <a:latin typeface="Cambria Math"/>
                        </a:rPr>
                        <m:t>x</m:t>
                      </m:r>
                      <m:r>
                        <a:rPr lang="en-GB" sz="200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000" i="0">
                          <a:latin typeface="Cambria Math"/>
                        </a:rPr>
                        <m:t>d</m:t>
                      </m:r>
                      <m:r>
                        <a:rPr lang="en-GB" sz="2000" i="0">
                          <a:latin typeface="Cambria Math"/>
                        </a:rPr>
                        <m:t>1+</m:t>
                      </m:r>
                      <m:r>
                        <m:rPr>
                          <m:sty m:val="p"/>
                        </m:rPr>
                        <a:rPr lang="en-GB" sz="2000" i="0">
                          <a:latin typeface="Cambria Math"/>
                        </a:rPr>
                        <m:t>d</m:t>
                      </m:r>
                      <m:r>
                        <a:rPr lang="en-GB" sz="2000" i="0">
                          <a:latin typeface="Cambria Math"/>
                        </a:rPr>
                        <m:t>2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 i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GB" sz="2000" i="0">
                              <a:latin typeface="Cambria Math"/>
                            </a:rPr>
                            <m:t>θ</m:t>
                          </m:r>
                        </m:e>
                      </m:func>
                    </m:oMath>
                  </m:oMathPara>
                </a14:m>
                <a:endParaRPr lang="en-GB" sz="2000" dirty="0"/>
              </a:p>
              <a:p>
                <a:pPr algn="ctr"/>
                <a:r>
                  <a:rPr lang="en-GB" sz="2000" dirty="0"/>
                  <a:t>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i="0">
                        <a:latin typeface="Cambria Math"/>
                      </a:rPr>
                      <m:t>y</m:t>
                    </m:r>
                    <m:r>
                      <a:rPr lang="en-GB" sz="2000" i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 sz="2000" i="0">
                        <a:latin typeface="Cambria Math"/>
                      </a:rPr>
                      <m:t>d</m:t>
                    </m:r>
                    <m:r>
                      <a:rPr lang="en-GB" sz="2000" i="0">
                        <a:latin typeface="Cambria Math"/>
                      </a:rPr>
                      <m:t>2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 i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GB" sz="2000" i="0">
                            <a:latin typeface="Cambria Math"/>
                          </a:rPr>
                          <m:t>θ</m:t>
                        </m:r>
                      </m:e>
                    </m:func>
                  </m:oMath>
                </a14:m>
                <a:endParaRPr lang="en-GB" sz="2000" dirty="0"/>
              </a:p>
              <a:p>
                <a:pPr algn="ctr"/>
                <a:r>
                  <a:rPr lang="en-GB" sz="2000" dirty="0"/>
                  <a:t>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i="0">
                        <a:latin typeface="Cambria Math"/>
                      </a:rPr>
                      <m:t>θe</m:t>
                    </m:r>
                    <m:r>
                      <a:rPr lang="en-GB" sz="2000" i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GB" sz="2000" i="0">
                        <a:latin typeface="Cambria Math"/>
                      </a:rPr>
                      <m:t>θ</m:t>
                    </m:r>
                  </m:oMath>
                </a14:m>
                <a:endParaRPr lang="en-GB" sz="20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53068"/>
                <a:ext cx="8229600" cy="4402666"/>
              </a:xfrm>
              <a:blipFill rotWithShape="1">
                <a:blip r:embed="rId3"/>
                <a:stretch>
                  <a:fillRect l="-1852" t="-1801" b="-195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764694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Forward Kinematics</a:t>
            </a:r>
            <a:r>
              <a:rPr lang="en-US" altLang="en-US" sz="3200"/>
              <a:t>			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z="2800" b="1" dirty="0"/>
              <a:t>4R Manipulator 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Determine the forward kinematics of this 4R robot.</a:t>
            </a:r>
          </a:p>
        </p:txBody>
      </p:sp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3" y="2286000"/>
            <a:ext cx="5159375" cy="470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 dirty="0"/>
              <a:t>Forward Kinematics</a:t>
            </a:r>
            <a:r>
              <a:rPr lang="en-US" altLang="en-US" sz="3200" dirty="0"/>
              <a:t>			</a:t>
            </a:r>
          </a:p>
        </p:txBody>
      </p:sp>
      <p:sp>
        <p:nvSpPr>
          <p:cNvPr id="4099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blipFill rotWithShape="1">
            <a:blip r:embed="rId2"/>
            <a:stretch>
              <a:fillRect l="-1481" t="-1274"/>
            </a:stretch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336" y="3733006"/>
            <a:ext cx="3738319" cy="3405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/>
              <a:t>Kinematics</a:t>
            </a:r>
            <a:r>
              <a:rPr lang="en-US" altLang="en-US" sz="3200"/>
              <a:t>			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339850"/>
            <a:ext cx="8229600" cy="4786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indent="-457200">
              <a:buFontTx/>
              <a:buChar char="•"/>
            </a:pPr>
            <a:r>
              <a:rPr lang="en-GB" altLang="en-US" sz="2800" dirty="0"/>
              <a:t>What is Kinematics</a:t>
            </a:r>
          </a:p>
          <a:p>
            <a:pPr marL="457200" indent="-457200">
              <a:buFontTx/>
              <a:buChar char="•"/>
            </a:pPr>
            <a:r>
              <a:rPr lang="en-GB" altLang="en-US" sz="2800" dirty="0"/>
              <a:t>What are the two types</a:t>
            </a:r>
          </a:p>
          <a:p>
            <a:pPr marL="457200" indent="-457200">
              <a:buFontTx/>
              <a:buChar char="•"/>
            </a:pPr>
            <a:r>
              <a:rPr lang="en-GB" altLang="en-US" sz="2800" dirty="0"/>
              <a:t>What is a planar manipulators</a:t>
            </a:r>
          </a:p>
        </p:txBody>
      </p:sp>
    </p:spTree>
    <p:extLst>
      <p:ext uri="{BB962C8B-B14F-4D97-AF65-F5344CB8AC3E}">
        <p14:creationId xmlns:p14="http://schemas.microsoft.com/office/powerpoint/2010/main" val="336900426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 dirty="0"/>
              <a:t>Work Volume</a:t>
            </a:r>
            <a:r>
              <a:rPr lang="en-US" altLang="en-US" sz="3200" dirty="0"/>
              <a:t>	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http://www07.abb.com/images/default-source/robotics/irb-4400-wr.jpg?sfvrsn=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065" y="1298751"/>
            <a:ext cx="5240514" cy="5263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95341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 dirty="0"/>
              <a:t>Work Volume</a:t>
            </a:r>
            <a:r>
              <a:rPr lang="en-US" altLang="en-US" sz="3200" dirty="0"/>
              <a:t>	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Work volume of RP manipulator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256256" y="2177927"/>
            <a:ext cx="4551044" cy="4417060"/>
            <a:chOff x="0" y="0"/>
            <a:chExt cx="4551534" cy="4417060"/>
          </a:xfrm>
        </p:grpSpPr>
        <p:sp>
          <p:nvSpPr>
            <p:cNvPr id="6" name="Donut 5"/>
            <p:cNvSpPr/>
            <p:nvPr/>
          </p:nvSpPr>
          <p:spPr>
            <a:xfrm>
              <a:off x="0" y="457200"/>
              <a:ext cx="3959860" cy="3959860"/>
            </a:xfrm>
            <a:prstGeom prst="donut">
              <a:avLst>
                <a:gd name="adj" fmla="val 22140"/>
              </a:avLst>
            </a:prstGeom>
            <a:solidFill>
              <a:srgbClr val="595959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1613140" y="0"/>
              <a:ext cx="2938394" cy="2790466"/>
              <a:chOff x="0" y="-748366"/>
              <a:chExt cx="2939187" cy="2790691"/>
            </a:xfrm>
          </p:grpSpPr>
          <p:cxnSp>
            <p:nvCxnSpPr>
              <p:cNvPr id="10" name="Straight Connector 9"/>
              <p:cNvCxnSpPr/>
              <p:nvPr/>
            </p:nvCxnSpPr>
            <p:spPr>
              <a:xfrm flipH="1">
                <a:off x="359923" y="330740"/>
                <a:ext cx="1438910" cy="1349375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359892" y="-508999"/>
                <a:ext cx="0" cy="2192010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359923" y="1692612"/>
                <a:ext cx="2245550" cy="559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  <p:sp>
            <p:nvSpPr>
              <p:cNvPr id="13" name="Arc 12"/>
              <p:cNvSpPr/>
              <p:nvPr/>
            </p:nvSpPr>
            <p:spPr>
              <a:xfrm>
                <a:off x="1089498" y="301557"/>
                <a:ext cx="718820" cy="718820"/>
              </a:xfrm>
              <a:prstGeom prst="arc">
                <a:avLst>
                  <a:gd name="adj1" fmla="val 19157010"/>
                  <a:gd name="adj2" fmla="val 0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14" name="Straight Connector 13"/>
              <p:cNvCxnSpPr/>
              <p:nvPr/>
            </p:nvCxnSpPr>
            <p:spPr>
              <a:xfrm>
                <a:off x="1449421" y="661480"/>
                <a:ext cx="541655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dash"/>
              </a:ln>
              <a:effectLst/>
            </p:spPr>
          </p:cxnSp>
          <p:sp>
            <p:nvSpPr>
              <p:cNvPr id="15" name="Arc 14"/>
              <p:cNvSpPr/>
              <p:nvPr/>
            </p:nvSpPr>
            <p:spPr>
              <a:xfrm>
                <a:off x="0" y="1322961"/>
                <a:ext cx="719418" cy="719364"/>
              </a:xfrm>
              <a:prstGeom prst="arc">
                <a:avLst>
                  <a:gd name="adj1" fmla="val 19157010"/>
                  <a:gd name="adj2" fmla="val 0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6" name="Text Box 21"/>
              <p:cNvSpPr txBox="1"/>
              <p:nvPr/>
            </p:nvSpPr>
            <p:spPr>
              <a:xfrm>
                <a:off x="758757" y="710119"/>
                <a:ext cx="398780" cy="282575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GB" sz="1100">
                    <a:effectLst/>
                    <a:latin typeface="Calibri"/>
                    <a:ea typeface="Calibri"/>
                    <a:cs typeface="Times New Roman"/>
                  </a:rPr>
                  <a:t>d</a:t>
                </a:r>
              </a:p>
            </p:txBody>
          </p:sp>
          <p:sp>
            <p:nvSpPr>
              <p:cNvPr id="17" name="Text Box 22"/>
              <p:cNvSpPr txBox="1"/>
              <p:nvPr/>
            </p:nvSpPr>
            <p:spPr>
              <a:xfrm>
                <a:off x="622570" y="1400783"/>
                <a:ext cx="399099" cy="282922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GB" sz="1100">
                    <a:effectLst/>
                    <a:latin typeface="Calibri"/>
                    <a:ea typeface="Calibri"/>
                    <a:cs typeface="Times New Roman"/>
                  </a:rPr>
                  <a:t>Ѳ</a:t>
                </a:r>
              </a:p>
            </p:txBody>
          </p:sp>
          <p:sp>
            <p:nvSpPr>
              <p:cNvPr id="18" name="Text Box 23"/>
              <p:cNvSpPr txBox="1"/>
              <p:nvPr/>
            </p:nvSpPr>
            <p:spPr>
              <a:xfrm>
                <a:off x="1712068" y="398834"/>
                <a:ext cx="398780" cy="282575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GB" sz="1100">
                    <a:effectLst/>
                    <a:latin typeface="Calibri"/>
                    <a:ea typeface="Calibri"/>
                    <a:cs typeface="Times New Roman"/>
                  </a:rPr>
                  <a:t>Ѳe</a:t>
                </a:r>
              </a:p>
            </p:txBody>
          </p:sp>
          <p:sp>
            <p:nvSpPr>
              <p:cNvPr id="19" name="Text Box 24"/>
              <p:cNvSpPr txBox="1"/>
              <p:nvPr/>
            </p:nvSpPr>
            <p:spPr>
              <a:xfrm>
                <a:off x="2540427" y="1536972"/>
                <a:ext cx="398760" cy="282539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GB" sz="1100">
                    <a:effectLst/>
                    <a:latin typeface="Calibri"/>
                    <a:ea typeface="Calibri"/>
                    <a:cs typeface="Times New Roman"/>
                  </a:rPr>
                  <a:t>x</a:t>
                </a:r>
              </a:p>
            </p:txBody>
          </p:sp>
          <p:sp>
            <p:nvSpPr>
              <p:cNvPr id="20" name="Text Box 25"/>
              <p:cNvSpPr txBox="1"/>
              <p:nvPr/>
            </p:nvSpPr>
            <p:spPr>
              <a:xfrm>
                <a:off x="249695" y="-748366"/>
                <a:ext cx="398760" cy="282539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GB" sz="1100">
                    <a:effectLst/>
                    <a:latin typeface="Calibri"/>
                    <a:ea typeface="Calibri"/>
                    <a:cs typeface="Times New Roman"/>
                  </a:rPr>
                  <a:t>y</a:t>
                </a:r>
              </a:p>
            </p:txBody>
          </p:sp>
          <p:sp>
            <p:nvSpPr>
              <p:cNvPr id="21" name="Text Box 26"/>
              <p:cNvSpPr txBox="1"/>
              <p:nvPr/>
            </p:nvSpPr>
            <p:spPr>
              <a:xfrm>
                <a:off x="1780161" y="155642"/>
                <a:ext cx="473075" cy="282575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GB" sz="1100">
                    <a:effectLst/>
                    <a:latin typeface="Calibri"/>
                    <a:ea typeface="Calibri"/>
                    <a:cs typeface="Times New Roman"/>
                  </a:rPr>
                  <a:t>(x,y)</a:t>
                </a:r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 rot="18900000">
                <a:off x="690663" y="924127"/>
                <a:ext cx="788400" cy="183600"/>
                <a:chOff x="0" y="0"/>
                <a:chExt cx="787940" cy="184150"/>
              </a:xfrm>
            </p:grpSpPr>
            <p:sp>
              <p:nvSpPr>
                <p:cNvPr id="23" name="Rectangle 22"/>
                <p:cNvSpPr/>
                <p:nvPr/>
              </p:nvSpPr>
              <p:spPr>
                <a:xfrm>
                  <a:off x="0" y="0"/>
                  <a:ext cx="787940" cy="183326"/>
                </a:xfrm>
                <a:prstGeom prst="rect">
                  <a:avLst/>
                </a:prstGeom>
                <a:solidFill>
                  <a:sysClr val="window" lastClr="FFFFFF"/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24" name="Straight Connector 23"/>
                <p:cNvCxnSpPr/>
                <p:nvPr/>
              </p:nvCxnSpPr>
              <p:spPr>
                <a:xfrm flipH="1">
                  <a:off x="0" y="0"/>
                  <a:ext cx="787157" cy="183799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</p:cxnSp>
            <p:cxnSp>
              <p:nvCxnSpPr>
                <p:cNvPr id="25" name="Straight Connector 24"/>
                <p:cNvCxnSpPr/>
                <p:nvPr/>
              </p:nvCxnSpPr>
              <p:spPr>
                <a:xfrm flipH="1" flipV="1">
                  <a:off x="0" y="0"/>
                  <a:ext cx="786765" cy="18415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</p:cxnSp>
          </p:grpSp>
        </p:grpSp>
        <p:sp>
          <p:nvSpPr>
            <p:cNvPr id="8" name="Text Box 4"/>
            <p:cNvSpPr txBox="1"/>
            <p:nvPr/>
          </p:nvSpPr>
          <p:spPr>
            <a:xfrm>
              <a:off x="948906" y="2760453"/>
              <a:ext cx="1584325" cy="405442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GB" sz="1400" b="1">
                  <a:effectLst/>
                  <a:latin typeface="Calibri"/>
                  <a:ea typeface="Calibri"/>
                  <a:cs typeface="Times New Roman"/>
                </a:rPr>
                <a:t>Work Volume</a:t>
              </a:r>
              <a:endParaRPr lang="en-GB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1863306" y="3027872"/>
              <a:ext cx="302483" cy="707366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331357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 dirty="0"/>
              <a:t>Work Volume</a:t>
            </a:r>
            <a:r>
              <a:rPr lang="en-US" altLang="en-US" sz="3200" dirty="0"/>
              <a:t>	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Sketch work volume of RP manipulator if </a:t>
            </a:r>
            <a:r>
              <a:rPr lang="az-Cyrl-AZ" dirty="0"/>
              <a:t>Ѳ</a:t>
            </a:r>
            <a:r>
              <a:rPr lang="en-GB" dirty="0"/>
              <a:t> can move between 0 and 135˚ and d can vary between 1.2m and 2.5m</a:t>
            </a:r>
          </a:p>
        </p:txBody>
      </p:sp>
    </p:spTree>
    <p:extLst>
      <p:ext uri="{BB962C8B-B14F-4D97-AF65-F5344CB8AC3E}">
        <p14:creationId xmlns:p14="http://schemas.microsoft.com/office/powerpoint/2010/main" val="32269611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1175" y="434975"/>
            <a:ext cx="8175625" cy="1476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</a:pPr>
            <a:r>
              <a:rPr lang="en-US" altLang="en-US" sz="4000" dirty="0"/>
              <a:t>Work Volume</a:t>
            </a:r>
            <a:r>
              <a:rPr lang="en-US" altLang="en-US" sz="3200" dirty="0"/>
              <a:t>	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27" name="Group 26"/>
          <p:cNvGrpSpPr>
            <a:grpSpLocks noChangeAspect="1"/>
          </p:cNvGrpSpPr>
          <p:nvPr/>
        </p:nvGrpSpPr>
        <p:grpSpPr>
          <a:xfrm>
            <a:off x="895001" y="1212787"/>
            <a:ext cx="7339447" cy="6964965"/>
            <a:chOff x="0" y="0"/>
            <a:chExt cx="4654801" cy="4417060"/>
          </a:xfrm>
        </p:grpSpPr>
        <p:sp>
          <p:nvSpPr>
            <p:cNvPr id="28" name="Block Arc 27"/>
            <p:cNvSpPr/>
            <p:nvPr/>
          </p:nvSpPr>
          <p:spPr>
            <a:xfrm>
              <a:off x="86264" y="457200"/>
              <a:ext cx="3958590" cy="3959860"/>
            </a:xfrm>
            <a:prstGeom prst="blockArc">
              <a:avLst>
                <a:gd name="adj1" fmla="val 13445493"/>
                <a:gd name="adj2" fmla="val 0"/>
                <a:gd name="adj3" fmla="val 2500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1716656" y="0"/>
              <a:ext cx="2938145" cy="2790190"/>
              <a:chOff x="0" y="-748366"/>
              <a:chExt cx="2939187" cy="2790691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 flipH="1">
                <a:off x="359923" y="330740"/>
                <a:ext cx="1438910" cy="1349375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41" name="Straight Arrow Connector 40"/>
              <p:cNvCxnSpPr/>
              <p:nvPr/>
            </p:nvCxnSpPr>
            <p:spPr>
              <a:xfrm flipV="1">
                <a:off x="359892" y="-508999"/>
                <a:ext cx="0" cy="2192010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  <p:cxnSp>
            <p:nvCxnSpPr>
              <p:cNvPr id="42" name="Straight Arrow Connector 41"/>
              <p:cNvCxnSpPr/>
              <p:nvPr/>
            </p:nvCxnSpPr>
            <p:spPr>
              <a:xfrm>
                <a:off x="359923" y="1692612"/>
                <a:ext cx="2245550" cy="559"/>
              </a:xfrm>
              <a:prstGeom prst="straightConnector1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  <p:sp>
            <p:nvSpPr>
              <p:cNvPr id="43" name="Arc 42"/>
              <p:cNvSpPr/>
              <p:nvPr/>
            </p:nvSpPr>
            <p:spPr>
              <a:xfrm>
                <a:off x="1089498" y="301557"/>
                <a:ext cx="718820" cy="718820"/>
              </a:xfrm>
              <a:prstGeom prst="arc">
                <a:avLst>
                  <a:gd name="adj1" fmla="val 19157010"/>
                  <a:gd name="adj2" fmla="val 0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44" name="Straight Connector 43"/>
              <p:cNvCxnSpPr/>
              <p:nvPr/>
            </p:nvCxnSpPr>
            <p:spPr>
              <a:xfrm>
                <a:off x="1449421" y="661480"/>
                <a:ext cx="541655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dash"/>
              </a:ln>
              <a:effectLst/>
            </p:spPr>
          </p:cxnSp>
          <p:sp>
            <p:nvSpPr>
              <p:cNvPr id="45" name="Arc 44"/>
              <p:cNvSpPr/>
              <p:nvPr/>
            </p:nvSpPr>
            <p:spPr>
              <a:xfrm>
                <a:off x="0" y="1322961"/>
                <a:ext cx="719418" cy="719364"/>
              </a:xfrm>
              <a:prstGeom prst="arc">
                <a:avLst>
                  <a:gd name="adj1" fmla="val 19157010"/>
                  <a:gd name="adj2" fmla="val 0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46" name="Text Box 21"/>
              <p:cNvSpPr txBox="1"/>
              <p:nvPr/>
            </p:nvSpPr>
            <p:spPr>
              <a:xfrm>
                <a:off x="648456" y="614853"/>
                <a:ext cx="509082" cy="377841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GB" sz="1600">
                    <a:effectLst/>
                    <a:latin typeface="Calibri"/>
                    <a:ea typeface="Calibri"/>
                    <a:cs typeface="Times New Roman"/>
                  </a:rPr>
                  <a:t>d</a:t>
                </a:r>
                <a:endParaRPr lang="en-GB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47" name="Text Box 22"/>
              <p:cNvSpPr txBox="1"/>
              <p:nvPr/>
            </p:nvSpPr>
            <p:spPr>
              <a:xfrm>
                <a:off x="500123" y="1458064"/>
                <a:ext cx="399099" cy="282922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GB" sz="1600" dirty="0">
                    <a:effectLst/>
                    <a:latin typeface="Calibri"/>
                    <a:ea typeface="Calibri"/>
                    <a:cs typeface="Times New Roman"/>
                  </a:rPr>
                  <a:t>Ѳ</a:t>
                </a:r>
                <a:endParaRPr lang="en-GB" sz="1100" dirty="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48" name="Text Box 23"/>
              <p:cNvSpPr txBox="1"/>
              <p:nvPr/>
            </p:nvSpPr>
            <p:spPr>
              <a:xfrm>
                <a:off x="1712068" y="364323"/>
                <a:ext cx="616549" cy="405834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GB" sz="1600">
                    <a:effectLst/>
                    <a:latin typeface="Calibri"/>
                    <a:ea typeface="Calibri"/>
                    <a:cs typeface="Times New Roman"/>
                  </a:rPr>
                  <a:t>Ѳe</a:t>
                </a:r>
                <a:endParaRPr lang="en-GB" sz="1100">
                  <a:effectLst/>
                  <a:latin typeface="Calibri"/>
                  <a:ea typeface="Calibri"/>
                  <a:cs typeface="Times New Roman"/>
                </a:endParaRPr>
              </a:p>
            </p:txBody>
          </p:sp>
          <p:sp>
            <p:nvSpPr>
              <p:cNvPr id="49" name="Text Box 24"/>
              <p:cNvSpPr txBox="1"/>
              <p:nvPr/>
            </p:nvSpPr>
            <p:spPr>
              <a:xfrm>
                <a:off x="2540427" y="1536972"/>
                <a:ext cx="398760" cy="282539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GB" sz="1100">
                    <a:effectLst/>
                    <a:latin typeface="Calibri"/>
                    <a:ea typeface="Calibri"/>
                    <a:cs typeface="Times New Roman"/>
                  </a:rPr>
                  <a:t>x</a:t>
                </a:r>
              </a:p>
            </p:txBody>
          </p:sp>
          <p:sp>
            <p:nvSpPr>
              <p:cNvPr id="50" name="Text Box 25"/>
              <p:cNvSpPr txBox="1"/>
              <p:nvPr/>
            </p:nvSpPr>
            <p:spPr>
              <a:xfrm>
                <a:off x="249695" y="-748366"/>
                <a:ext cx="398760" cy="282539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GB" sz="1100">
                    <a:effectLst/>
                    <a:latin typeface="Calibri"/>
                    <a:ea typeface="Calibri"/>
                    <a:cs typeface="Times New Roman"/>
                  </a:rPr>
                  <a:t>y</a:t>
                </a:r>
              </a:p>
            </p:txBody>
          </p:sp>
          <p:grpSp>
            <p:nvGrpSpPr>
              <p:cNvPr id="51" name="Group 50"/>
              <p:cNvGrpSpPr/>
              <p:nvPr/>
            </p:nvGrpSpPr>
            <p:grpSpPr>
              <a:xfrm rot="18900000">
                <a:off x="690663" y="924127"/>
                <a:ext cx="788400" cy="183600"/>
                <a:chOff x="0" y="0"/>
                <a:chExt cx="787940" cy="184150"/>
              </a:xfrm>
            </p:grpSpPr>
            <p:sp>
              <p:nvSpPr>
                <p:cNvPr id="52" name="Rectangle 51"/>
                <p:cNvSpPr/>
                <p:nvPr/>
              </p:nvSpPr>
              <p:spPr>
                <a:xfrm>
                  <a:off x="0" y="0"/>
                  <a:ext cx="787940" cy="183326"/>
                </a:xfrm>
                <a:prstGeom prst="rect">
                  <a:avLst/>
                </a:prstGeom>
                <a:solidFill>
                  <a:sysClr val="window" lastClr="FFFFFF"/>
                </a:solidFill>
                <a:ln w="285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53" name="Straight Connector 52"/>
                <p:cNvCxnSpPr/>
                <p:nvPr/>
              </p:nvCxnSpPr>
              <p:spPr>
                <a:xfrm flipH="1">
                  <a:off x="0" y="0"/>
                  <a:ext cx="787157" cy="183799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</p:cxnSp>
            <p:cxnSp>
              <p:nvCxnSpPr>
                <p:cNvPr id="54" name="Straight Connector 53"/>
                <p:cNvCxnSpPr/>
                <p:nvPr/>
              </p:nvCxnSpPr>
              <p:spPr>
                <a:xfrm flipH="1" flipV="1">
                  <a:off x="0" y="0"/>
                  <a:ext cx="786765" cy="18415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</p:cxnSp>
          </p:grpSp>
        </p:grpSp>
        <p:sp>
          <p:nvSpPr>
            <p:cNvPr id="30" name="Text Box 4"/>
            <p:cNvSpPr txBox="1"/>
            <p:nvPr/>
          </p:nvSpPr>
          <p:spPr>
            <a:xfrm>
              <a:off x="0" y="1802921"/>
              <a:ext cx="1584325" cy="405130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GB" sz="1400" b="1">
                  <a:effectLst/>
                  <a:latin typeface="Calibri"/>
                  <a:ea typeface="Calibri"/>
                  <a:cs typeface="Times New Roman"/>
                </a:rPr>
                <a:t>Work Volume</a:t>
              </a:r>
              <a:endParaRPr lang="en-GB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flipV="1">
              <a:off x="897147" y="1285336"/>
              <a:ext cx="404878" cy="534837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2053087" y="2665562"/>
              <a:ext cx="968375" cy="0"/>
            </a:xfrm>
            <a:prstGeom prst="straightConnector1">
              <a:avLst/>
            </a:prstGeom>
            <a:ln>
              <a:headEnd type="arrow"/>
              <a:tailEnd type="arrow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2053087" y="3122762"/>
              <a:ext cx="1991360" cy="0"/>
            </a:xfrm>
            <a:prstGeom prst="straightConnector1">
              <a:avLst/>
            </a:prstGeom>
            <a:ln>
              <a:headEnd type="arrow"/>
              <a:tailEnd type="arrow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 flipV="1">
              <a:off x="1380226" y="1768415"/>
              <a:ext cx="678973" cy="672674"/>
            </a:xfrm>
            <a:prstGeom prst="line">
              <a:avLst/>
            </a:prstGeom>
            <a:ln>
              <a:prstDash val="dash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Arc 34"/>
            <p:cNvSpPr/>
            <p:nvPr/>
          </p:nvSpPr>
          <p:spPr>
            <a:xfrm>
              <a:off x="1613139" y="1984075"/>
              <a:ext cx="910842" cy="896453"/>
            </a:xfrm>
            <a:prstGeom prst="arc">
              <a:avLst>
                <a:gd name="adj1" fmla="val 13115111"/>
                <a:gd name="adj2" fmla="val 0"/>
              </a:avLst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/>
            </a:p>
          </p:txBody>
        </p:sp>
        <p:sp>
          <p:nvSpPr>
            <p:cNvPr id="36" name="Text Box 12"/>
            <p:cNvSpPr txBox="1"/>
            <p:nvPr/>
          </p:nvSpPr>
          <p:spPr>
            <a:xfrm>
              <a:off x="897147" y="2493034"/>
              <a:ext cx="819150" cy="344805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600">
                  <a:effectLst/>
                  <a:latin typeface="Calibri"/>
                  <a:ea typeface="Calibri"/>
                  <a:cs typeface="Times New Roman"/>
                </a:rPr>
                <a:t>135˚</a:t>
              </a:r>
              <a:endParaRPr lang="en-GB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 flipV="1">
              <a:off x="1380226" y="2104845"/>
              <a:ext cx="586036" cy="459895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 Box 14"/>
            <p:cNvSpPr txBox="1"/>
            <p:nvPr/>
          </p:nvSpPr>
          <p:spPr>
            <a:xfrm>
              <a:off x="2260121" y="2639683"/>
              <a:ext cx="819150" cy="344805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600">
                  <a:effectLst/>
                  <a:latin typeface="Calibri"/>
                  <a:ea typeface="Calibri"/>
                  <a:cs typeface="Times New Roman"/>
                </a:rPr>
                <a:t>1.2m</a:t>
              </a:r>
              <a:endParaRPr lang="en-GB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39" name="Text Box 28"/>
            <p:cNvSpPr txBox="1"/>
            <p:nvPr/>
          </p:nvSpPr>
          <p:spPr>
            <a:xfrm>
              <a:off x="2743200" y="3088257"/>
              <a:ext cx="819150" cy="344805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600">
                  <a:effectLst/>
                  <a:latin typeface="Calibri"/>
                  <a:ea typeface="Calibri"/>
                  <a:cs typeface="Times New Roman"/>
                </a:rPr>
                <a:t>2.5m</a:t>
              </a:r>
              <a:endParaRPr lang="en-GB" sz="1100">
                <a:effectLst/>
                <a:latin typeface="Calibri"/>
                <a:ea typeface="Calibri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791994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0_UoS template_with logo_white">
  <a:themeElements>
    <a:clrScheme name="UoS01">
      <a:dk1>
        <a:sysClr val="windowText" lastClr="000000"/>
      </a:dk1>
      <a:lt1>
        <a:sysClr val="window" lastClr="FFFFFF"/>
      </a:lt1>
      <a:dk2>
        <a:srgbClr val="C60C30"/>
      </a:dk2>
      <a:lt2>
        <a:srgbClr val="FFFFFF"/>
      </a:lt2>
      <a:accent1>
        <a:srgbClr val="C60C30"/>
      </a:accent1>
      <a:accent2>
        <a:srgbClr val="009AA6"/>
      </a:accent2>
      <a:accent3>
        <a:srgbClr val="920075"/>
      </a:accent3>
      <a:accent4>
        <a:srgbClr val="BED600"/>
      </a:accent4>
      <a:accent5>
        <a:srgbClr val="E37222"/>
      </a:accent5>
      <a:accent6>
        <a:srgbClr val="782327"/>
      </a:accent6>
      <a:hlink>
        <a:srgbClr val="002060"/>
      </a:hlink>
      <a:folHlink>
        <a:srgbClr val="C2BDBF"/>
      </a:folHlink>
    </a:clrScheme>
    <a:fontScheme name="10_UoS template_with logo_white">
      <a:majorFont>
        <a:latin typeface="Arial Bold"/>
        <a:ea typeface="ＭＳ Ｐゴシック"/>
        <a:cs typeface="Arial Bold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13751</TotalTime>
  <Words>632</Words>
  <Application>Microsoft Office PowerPoint</Application>
  <PresentationFormat>On-screen Show (4:3)</PresentationFormat>
  <Paragraphs>133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 Bold</vt:lpstr>
      <vt:lpstr>Calibri</vt:lpstr>
      <vt:lpstr>Cambria Math</vt:lpstr>
      <vt:lpstr>Times New Roman</vt:lpstr>
      <vt:lpstr>10_UoS template_with logo_white</vt:lpstr>
      <vt:lpstr>Aims of this lecture</vt:lpstr>
      <vt:lpstr>Robot Kinematics</vt:lpstr>
      <vt:lpstr>Kinematics   </vt:lpstr>
      <vt:lpstr>Kinematics   </vt:lpstr>
      <vt:lpstr>Forward Kinematics</vt:lpstr>
      <vt:lpstr>Forward Kinematics   </vt:lpstr>
      <vt:lpstr>Forward Kinematics   </vt:lpstr>
      <vt:lpstr>Forward Kinematics   </vt:lpstr>
      <vt:lpstr>Forward Kinematics   </vt:lpstr>
      <vt:lpstr>Forward Kinematics   </vt:lpstr>
      <vt:lpstr>Forward Kinematics   </vt:lpstr>
      <vt:lpstr>Forward Kinematics   </vt:lpstr>
      <vt:lpstr>Forward Kinematics   </vt:lpstr>
      <vt:lpstr>Forward Kinematics   </vt:lpstr>
      <vt:lpstr>Forward Kinematics   </vt:lpstr>
      <vt:lpstr>Forward Kinematics   </vt:lpstr>
      <vt:lpstr>Forward Kinematics   </vt:lpstr>
      <vt:lpstr>Forward Kinematics   </vt:lpstr>
      <vt:lpstr>Forward Kinematics   </vt:lpstr>
      <vt:lpstr>Forward Kinematics   </vt:lpstr>
      <vt:lpstr>Forward Kinematics   </vt:lpstr>
      <vt:lpstr>Forward Kinematics   </vt:lpstr>
      <vt:lpstr>Kinematics   </vt:lpstr>
      <vt:lpstr>Work Volume </vt:lpstr>
      <vt:lpstr>Work Volume </vt:lpstr>
      <vt:lpstr>Work Volume </vt:lpstr>
      <vt:lpstr>Work Volume </vt:lpstr>
    </vt:vector>
  </TitlesOfParts>
  <Company>University of Salford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Heading to go here heading to go here</dc:title>
  <dc:creator>Chambers Denis</dc:creator>
  <cp:lastModifiedBy>Steve Davis</cp:lastModifiedBy>
  <cp:revision>116</cp:revision>
  <cp:lastPrinted>2011-07-20T09:45:37Z</cp:lastPrinted>
  <dcterms:created xsi:type="dcterms:W3CDTF">2011-12-09T09:28:12Z</dcterms:created>
  <dcterms:modified xsi:type="dcterms:W3CDTF">2020-08-20T12:27:30Z</dcterms:modified>
</cp:coreProperties>
</file>