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00" r:id="rId2"/>
    <p:sldId id="301" r:id="rId3"/>
    <p:sldId id="393" r:id="rId4"/>
    <p:sldId id="394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26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427" r:id="rId35"/>
  </p:sldIdLst>
  <p:sldSz cx="9144000" cy="6858000" type="screen4x3"/>
  <p:notesSz cx="6797675" cy="99266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60C3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6" autoAdjust="0"/>
    <p:restoredTop sz="94302" autoAdjust="0"/>
  </p:normalViewPr>
  <p:slideViewPr>
    <p:cSldViewPr snapToGrid="0" snapToObjects="1">
      <p:cViewPr varScale="1">
        <p:scale>
          <a:sx n="84" d="100"/>
          <a:sy n="84" d="100"/>
        </p:scale>
        <p:origin x="143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148" y="5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100" y="61913"/>
            <a:ext cx="5699125" cy="66516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1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338124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DF0CDD-250B-44FA-B365-4CE5BD183BFF}" type="datetimeFigureOut">
              <a:rPr lang="en-GB"/>
              <a:pPr>
                <a:defRPr/>
              </a:pPr>
              <a:t>27/08/2023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F8B4681-E8FC-4223-855F-F6D020695078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65648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C7BFCB-54E2-4FAD-ABE5-6D07B5A6197A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04992B-7A2F-4E49-836D-152A541CA74E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93985D-BE51-42BD-9FBB-75085DC9E476}" type="slidenum">
              <a:rPr lang="en-US" altLang="en-US"/>
              <a:pPr/>
              <a:t>3</a:t>
            </a:fld>
            <a:endParaRPr lang="en-US" altLang="en-US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4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5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6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7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8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9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10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11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12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13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93425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14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15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16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17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18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19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20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21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22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23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24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25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26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27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28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29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30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588022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31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862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32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04008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33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83652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3C3E8-6201-4420-B231-4DE3E834C84B}" type="slidenum">
              <a:rPr lang="en-US" altLang="en-US"/>
              <a:pPr/>
              <a:t>34</a:t>
            </a:fld>
            <a:endParaRPr lang="en-US" alt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8194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15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912" y="3600450"/>
            <a:ext cx="4129088" cy="2047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5040F1CA-107E-4C02-9350-2638B13676DD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10AA4DB-3605-4FA3-B073-F6157C791C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9688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" y="2905124"/>
            <a:ext cx="8175801" cy="3221040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260EB70C-1D28-4D0E-9EBF-F8A612BE2157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06146ED-8A61-444D-BED3-FE896BEB6B4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619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A6A77813-D615-4EF5-8121-05F040F7EA32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5B63B96-E220-44D6-A3BE-F55E5488567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321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998" y="2905125"/>
            <a:ext cx="3984801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2905125"/>
            <a:ext cx="3924300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CC8ADA1B-B27B-44DF-94FD-5F80705E82A6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297BDDE-412F-465E-9C0E-4A7A756F42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377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998" y="2911475"/>
            <a:ext cx="3986389" cy="7937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998" y="3705225"/>
            <a:ext cx="3986390" cy="2420937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911475"/>
            <a:ext cx="4041775" cy="782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705225"/>
            <a:ext cx="4041775" cy="24209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E1F0045E-A52B-400C-BA7C-0AB7F1517D1E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9493AE6-02A4-4579-B6A8-67567F8C0CE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6124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998" y="2905125"/>
            <a:ext cx="8175801" cy="1009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510998" y="4533900"/>
            <a:ext cx="8175802" cy="1592262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510998" y="4095750"/>
            <a:ext cx="8175802" cy="43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4A5F766-4D62-4C36-9E71-1230FDE576CE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6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7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F6791AC-4FD0-45C4-BE8D-A0D20F345B3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414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1E88F20-1AAB-4FD3-BF23-27A9452A5CF6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161F95E-9EB3-41D2-AD4C-9F0FE5ADF1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748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49DD050-0C74-48C3-8BCE-E6188004D976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01412CD-2C22-49FD-A854-1BB75DC92DD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8901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257174" y="0"/>
            <a:ext cx="888682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181474"/>
            <a:ext cx="280035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95F7BE7A-A994-4833-8C88-7E73C52F6179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5FFA643-5063-437F-859D-8FD1C6FE381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3823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275"/>
            <a:ext cx="3008313" cy="8382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33475"/>
            <a:ext cx="3008313" cy="4992689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60C30"/>
              </a:buClr>
              <a:buFont typeface="Arial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29FA7F8-151E-40BF-B9EE-6D203BF2458B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4D61F0F-4D0B-4117-9D0C-4C6BC2AAFB9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989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0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90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90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F35BFFA0-2FB4-485B-B508-3C350D2D46BA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2D1AF6-8CCE-453E-A992-4ACAED15295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02916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0074" y="1819276"/>
            <a:ext cx="7956725" cy="4306888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30074" y="342900"/>
            <a:ext cx="7956725" cy="14763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D3D5E2B5-B450-4682-A92A-894F7F2B2141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824A4E3-28B3-405D-957D-37D13CC524A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78112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305550" cy="5851525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5321716-F687-4FF8-9100-52DE8ECBB97A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D9506A1-0073-4CC4-A378-D74D20A87CC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0770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dirty="0">
              <a:solidFill>
                <a:srgbClr val="FFFFFF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0" r:id="rId1"/>
    <p:sldLayoutId id="2147484961" r:id="rId2"/>
    <p:sldLayoutId id="2147484962" r:id="rId3"/>
    <p:sldLayoutId id="2147484963" r:id="rId4"/>
    <p:sldLayoutId id="2147484964" r:id="rId5"/>
    <p:sldLayoutId id="2147484965" r:id="rId6"/>
    <p:sldLayoutId id="2147484966" r:id="rId7"/>
    <p:sldLayoutId id="2147484967" r:id="rId8"/>
    <p:sldLayoutId id="2147484968" r:id="rId9"/>
    <p:sldLayoutId id="2147484969" r:id="rId10"/>
    <p:sldLayoutId id="2147484970" r:id="rId11"/>
    <p:sldLayoutId id="2147484971" r:id="rId12"/>
    <p:sldLayoutId id="2147484972" r:id="rId13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C60C30"/>
          </a:solidFill>
          <a:latin typeface="Arial Bold"/>
          <a:ea typeface="ＭＳ Ｐゴシック" charset="-128"/>
          <a:cs typeface="Arial Bol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defRPr sz="3200" kern="12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 bwMode="auto">
          <a:xfrm>
            <a:off x="819150" y="2047875"/>
            <a:ext cx="8324850" cy="804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600" dirty="0"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BEng (Hons) Control and Automation</a:t>
            </a:r>
            <a:endParaRPr lang="en-US" altLang="en-US" sz="3600" i="1" dirty="0">
              <a:latin typeface="Arial Bold" panose="020B0704020202020204" pitchFamily="34" charset="0"/>
              <a:ea typeface="ＭＳ Ｐゴシック" panose="020B0600070205080204" pitchFamily="34" charset="-128"/>
              <a:cs typeface="Arial Bold" panose="020B0704020202020204" pitchFamily="34" charset="0"/>
            </a:endParaRPr>
          </a:p>
        </p:txBody>
      </p:sp>
      <p:sp>
        <p:nvSpPr>
          <p:cNvPr id="17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819150" y="2944813"/>
            <a:ext cx="7772400" cy="3470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Automation and Robotics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CRN: 50295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 Saber </a:t>
            </a:r>
            <a:r>
              <a:rPr lang="en-US" altLang="en-US" sz="2800" b="1" dirty="0" err="1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Mahboubi</a:t>
            </a:r>
            <a:endParaRPr lang="en-US" altLang="en-US" sz="28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Email:    s.mahboubiheydarabad@salford.ac.uk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511175" y="1066800"/>
            <a:ext cx="8175625" cy="276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Lecture Content: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Sensors in Robotics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746" y="1600200"/>
            <a:ext cx="8534400" cy="782782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Provides an awareness of surroundings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What’s ahead, around, “is it what I am looking for”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altLang="en-US" sz="2000" b="1" dirty="0"/>
              <a:t>Why Do Robots Need Sensors?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8746" y="2539433"/>
            <a:ext cx="57773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buClr>
                <a:prstClr val="black"/>
              </a:buClr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Arial"/>
                <a:ea typeface="ＭＳ Ｐゴシック" charset="-128"/>
                <a:cs typeface="Arial"/>
              </a:rPr>
              <a:t>Allows interaction with environment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–"/>
            </a:pPr>
            <a:r>
              <a:rPr lang="en-US" altLang="en-US" sz="2000" dirty="0">
                <a:solidFill>
                  <a:prstClr val="black"/>
                </a:solidFill>
                <a:latin typeface="Arial"/>
                <a:ea typeface="ＭＳ Ｐゴシック" charset="-128"/>
                <a:cs typeface="Arial"/>
              </a:rPr>
              <a:t>Correct positioning to undertake 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746" y="355249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buClr>
                <a:prstClr val="black"/>
              </a:buClr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Arial"/>
                <a:ea typeface="ＭＳ Ｐゴシック" charset="-128"/>
                <a:cs typeface="Arial"/>
              </a:rPr>
              <a:t>Protection &amp; Self-Preservation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–"/>
            </a:pPr>
            <a:r>
              <a:rPr lang="en-US" altLang="en-US" sz="2000" dirty="0">
                <a:solidFill>
                  <a:prstClr val="black"/>
                </a:solidFill>
                <a:latin typeface="Arial"/>
                <a:ea typeface="ＭＳ Ｐゴシック" charset="-128"/>
                <a:cs typeface="Arial"/>
              </a:rPr>
              <a:t>Safety, Damage Prevention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746" y="4549308"/>
            <a:ext cx="51192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buClr>
                <a:prstClr val="black"/>
              </a:buClr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Arial"/>
                <a:ea typeface="ＭＳ Ｐゴシック" charset="-128"/>
                <a:cs typeface="Arial"/>
              </a:rPr>
              <a:t>Gives the robot capability to goal-seek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–"/>
            </a:pPr>
            <a:r>
              <a:rPr lang="en-US" altLang="en-US" sz="2000" dirty="0">
                <a:solidFill>
                  <a:prstClr val="black"/>
                </a:solidFill>
                <a:latin typeface="Arial"/>
                <a:ea typeface="ＭＳ Ｐゴシック" charset="-128"/>
                <a:cs typeface="Arial"/>
              </a:rPr>
              <a:t>Find specific objects</a:t>
            </a:r>
          </a:p>
        </p:txBody>
      </p:sp>
    </p:spTree>
    <p:extLst>
      <p:ext uri="{BB962C8B-B14F-4D97-AF65-F5344CB8AC3E}">
        <p14:creationId xmlns:p14="http://schemas.microsoft.com/office/powerpoint/2010/main" val="24868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  <p:bldP spid="5" grpId="0"/>
      <p:bldP spid="7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100" y="1186873"/>
            <a:ext cx="8686800" cy="4876800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Light 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Presence, color, intensity, direction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endParaRPr lang="en-US" altLang="en-US" sz="2000" dirty="0"/>
          </a:p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Sound 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Presence, frequency, intensity, direction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endParaRPr lang="en-US" altLang="en-US" sz="2000" dirty="0"/>
          </a:p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Heat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Temperature, wavelength, magnitude, direction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endParaRPr lang="en-US" altLang="en-US" sz="2000" dirty="0"/>
          </a:p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Chemicals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Presence, concentration, identity, etc.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endParaRPr lang="en-US" altLang="en-US" sz="2000" dirty="0"/>
          </a:p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Electromagnetic fields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Presence/absence, magnitude, capacitance, inductance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endParaRPr lang="en-US" altLang="en-US" sz="2000" dirty="0"/>
          </a:p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Physical orientation/attitude/position/contact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altLang="en-US" sz="2000" dirty="0"/>
              <a:t>Force, pitch, roll, yaw, distance</a:t>
            </a:r>
            <a:r>
              <a:rPr lang="en-US" altLang="en-US" sz="2400" dirty="0"/>
              <a:t>.</a:t>
            </a:r>
          </a:p>
          <a:p>
            <a:pPr lvl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altLang="en-US" sz="2000" b="1" dirty="0"/>
              <a:t>What can be sensed?</a:t>
            </a:r>
            <a:endParaRPr sz="2000" b="1" dirty="0">
              <a:latin typeface="+mn-lt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324923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1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1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100" y="1186873"/>
            <a:ext cx="8686800" cy="48768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altLang="en-US" sz="2000" dirty="0"/>
              <a:t>Feelers (Whiskers, Bumpers) – Mechanical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altLang="en-US" sz="2000" dirty="0"/>
              <a:t>Photoelectric (Visible) – Active &amp; Passive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altLang="en-US" sz="2000" dirty="0"/>
              <a:t>Infrared (light) – Active &amp; Passive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altLang="en-US" sz="2000" dirty="0"/>
              <a:t>Ultrasonic (sound) – Active &amp; Passive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altLang="en-US" sz="2000" dirty="0"/>
              <a:t>Sonic – Active &amp; Passive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altLang="en-US" sz="2000" dirty="0"/>
              <a:t>Resistive/Capacitive/Inductive – Active &amp; Passive</a:t>
            </a:r>
          </a:p>
          <a:p>
            <a:pPr>
              <a:buClr>
                <a:schemeClr val="tx1"/>
              </a:buClr>
            </a:pPr>
            <a:r>
              <a:rPr lang="en-US" altLang="en-US" sz="2000" dirty="0"/>
              <a:t>Visual – Cameras &amp; Arrays (Active &amp; Passive)</a:t>
            </a:r>
          </a:p>
          <a:p>
            <a:pPr>
              <a:buClr>
                <a:schemeClr val="tx1"/>
              </a:buClr>
            </a:pPr>
            <a:r>
              <a:rPr lang="en-US" altLang="en-US" sz="2000" dirty="0"/>
              <a:t>Color Sensors (Active &amp; Passive)</a:t>
            </a:r>
          </a:p>
          <a:p>
            <a:pPr>
              <a:buClr>
                <a:schemeClr val="tx1"/>
              </a:buClr>
            </a:pPr>
            <a:r>
              <a:rPr lang="en-US" altLang="en-US" sz="2000" dirty="0"/>
              <a:t>Magnetic (Active &amp; Passive)</a:t>
            </a:r>
          </a:p>
          <a:p>
            <a:pPr>
              <a:buClr>
                <a:schemeClr val="tx1"/>
              </a:buClr>
            </a:pPr>
            <a:r>
              <a:rPr lang="en-US" altLang="en-US" sz="2000" dirty="0"/>
              <a:t>Orientation (Pitch &amp; Roll)</a:t>
            </a:r>
          </a:p>
          <a:p>
            <a:pPr>
              <a:buClr>
                <a:schemeClr val="tx1"/>
              </a:buClr>
            </a:pPr>
            <a:r>
              <a:rPr lang="en-US" altLang="en-US" sz="2000" dirty="0"/>
              <a:t>GPS (location, altitude)</a:t>
            </a:r>
          </a:p>
          <a:p>
            <a:pPr>
              <a:buClr>
                <a:schemeClr val="tx1"/>
              </a:buClr>
            </a:pPr>
            <a:r>
              <a:rPr lang="en-US" altLang="en-US" sz="2000" dirty="0"/>
              <a:t>Compass (orientation, bearing)</a:t>
            </a:r>
          </a:p>
          <a:p>
            <a:pPr>
              <a:buClr>
                <a:schemeClr val="tx1"/>
              </a:buClr>
            </a:pPr>
            <a:r>
              <a:rPr lang="en-US" altLang="en-US" sz="2000" dirty="0"/>
              <a:t>Voltage – Electric Field Sensors</a:t>
            </a:r>
          </a:p>
          <a:p>
            <a:pPr>
              <a:buClr>
                <a:schemeClr val="tx1"/>
              </a:buClr>
            </a:pPr>
            <a:r>
              <a:rPr lang="en-US" altLang="en-US" sz="2000" dirty="0"/>
              <a:t>Current – Magnetic Field Sensors</a:t>
            </a:r>
          </a:p>
          <a:p>
            <a:pPr>
              <a:buClr>
                <a:schemeClr val="tx1"/>
              </a:buClr>
            </a:pPr>
            <a:r>
              <a:rPr lang="en-US" altLang="en-US" sz="2000" dirty="0"/>
              <a:t>Chemical – Smoke Detectors, Gas Sensors 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altLang="en-US" sz="2000" b="1" dirty="0"/>
              <a:t>What types of sensor are available?</a:t>
            </a:r>
            <a:endParaRPr sz="2000" b="1" dirty="0">
              <a:latin typeface="+mn-lt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97980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9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1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altLang="en-US" sz="2000" b="1" dirty="0"/>
              <a:t>Typical jobs robots would require sensors for: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8726" y="1265190"/>
            <a:ext cx="582352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Insertion Monitoring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Assembly Verification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Detection of Reject Parts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Recognition of Part Types/Location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Assembly Test Operations/Diagnostics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Check Gripper/Tool Operation/Orientation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Location &amp; Orientation of Parts/Self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Workspace Intrusion Detection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166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altLang="en-US" sz="2000" b="1" dirty="0"/>
              <a:t>General Sensor Principle: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8726" y="1265190"/>
            <a:ext cx="810491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Most of our control systems are electronic based so to use sensors in controlling robots we need an output from them in electronic form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Sensors are designed to measure a particular parameter, normally a physical quantity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Sensors should give a quantitative measure of that parameter in some electronic form (digital or analogue)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Sensors are often transducers in that they convert one form of energy to another in order to implement the sensing function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200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altLang="en-US" sz="2000" b="1" dirty="0"/>
              <a:t>Sensor Selection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494" y="1179846"/>
            <a:ext cx="8104910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general taxonomy for selecting a sensor for a task should be: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lvl="2" indent="-357188" defTabSz="914400" eaLnBrk="1" hangingPunct="1">
              <a:lnSpc>
                <a:spcPct val="90000"/>
              </a:lnSpc>
              <a:spcBef>
                <a:spcPct val="20000"/>
              </a:spcBef>
              <a:buFontTx/>
              <a:buAutoNum type="arabicPeriod"/>
              <a:defRPr/>
            </a:pPr>
            <a:r>
              <a:rPr lang="en-US" sz="2000" b="1" kern="0" dirty="0">
                <a:solidFill>
                  <a:srgbClr val="FF0000"/>
                </a:solidFill>
                <a:latin typeface="Arial"/>
              </a:rPr>
              <a:t>Specification of task requirements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: slippage detection, size confirmation, inspection, defect testing etc.</a:t>
            </a:r>
          </a:p>
          <a:p>
            <a:pPr marL="357188" lvl="2" indent="-357188" defTabSz="914400" eaLnBrk="1" hangingPunct="1">
              <a:lnSpc>
                <a:spcPct val="90000"/>
              </a:lnSpc>
              <a:spcBef>
                <a:spcPct val="20000"/>
              </a:spcBef>
              <a:buFontTx/>
              <a:buAutoNum type="arabicPeriod"/>
              <a:defRPr/>
            </a:pPr>
            <a:endParaRPr lang="en-US" sz="2000" kern="0" dirty="0">
              <a:solidFill>
                <a:srgbClr val="000000"/>
              </a:solidFill>
              <a:latin typeface="Arial"/>
            </a:endParaRPr>
          </a:p>
          <a:p>
            <a:pPr marL="357188" lvl="2" indent="-357188" defTabSz="914400" eaLnBrk="1" hangingPunct="1">
              <a:lnSpc>
                <a:spcPct val="90000"/>
              </a:lnSpc>
              <a:spcBef>
                <a:spcPct val="20000"/>
              </a:spcBef>
              <a:buFontTx/>
              <a:buAutoNum type="arabicPeriod"/>
              <a:defRPr/>
            </a:pPr>
            <a:r>
              <a:rPr lang="en-US" sz="2000" b="1" kern="0" dirty="0">
                <a:solidFill>
                  <a:srgbClr val="FF0000"/>
                </a:solidFill>
                <a:latin typeface="Arial"/>
              </a:rPr>
              <a:t>Choice of modality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:vision, force, tactile etc. (look for sources of interference)</a:t>
            </a:r>
          </a:p>
          <a:p>
            <a:pPr marL="357188" lvl="2" indent="-357188" defTabSz="914400" eaLnBrk="1" hangingPunct="1">
              <a:lnSpc>
                <a:spcPct val="90000"/>
              </a:lnSpc>
              <a:spcBef>
                <a:spcPct val="20000"/>
              </a:spcBef>
              <a:buFontTx/>
              <a:buAutoNum type="arabicPeriod"/>
              <a:defRPr/>
            </a:pPr>
            <a:endParaRPr lang="en-US" sz="2000" kern="0" dirty="0">
              <a:solidFill>
                <a:srgbClr val="000000"/>
              </a:solidFill>
              <a:latin typeface="Arial"/>
            </a:endParaRPr>
          </a:p>
          <a:p>
            <a:pPr marL="357188" lvl="2" indent="-357188" defTabSz="914400" eaLnBrk="1" hangingPunct="1">
              <a:lnSpc>
                <a:spcPct val="90000"/>
              </a:lnSpc>
              <a:spcBef>
                <a:spcPct val="20000"/>
              </a:spcBef>
              <a:buFontTx/>
              <a:buAutoNum type="arabicPeriod"/>
              <a:defRPr/>
            </a:pPr>
            <a:r>
              <a:rPr lang="en-US" sz="2000" b="1" kern="0" dirty="0">
                <a:solidFill>
                  <a:srgbClr val="FF0000"/>
                </a:solidFill>
                <a:latin typeface="Arial"/>
              </a:rPr>
              <a:t>Specification of sensor attributes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: Binary or continuous, imaging or non-imaging, etc.</a:t>
            </a:r>
          </a:p>
          <a:p>
            <a:pPr marL="357188" lvl="2" indent="-357188" defTabSz="914400" eaLnBrk="1" hangingPunct="1">
              <a:lnSpc>
                <a:spcPct val="90000"/>
              </a:lnSpc>
              <a:spcBef>
                <a:spcPct val="20000"/>
              </a:spcBef>
              <a:buFontTx/>
              <a:buAutoNum type="arabicPeriod"/>
              <a:defRPr/>
            </a:pPr>
            <a:endParaRPr lang="en-US" sz="2000" kern="0" dirty="0">
              <a:solidFill>
                <a:srgbClr val="000000"/>
              </a:solidFill>
              <a:latin typeface="Arial"/>
            </a:endParaRPr>
          </a:p>
          <a:p>
            <a:pPr marL="357188" lvl="2" indent="-357188" defTabSz="914400" eaLnBrk="1" hangingPunct="1">
              <a:lnSpc>
                <a:spcPct val="90000"/>
              </a:lnSpc>
              <a:spcBef>
                <a:spcPct val="20000"/>
              </a:spcBef>
              <a:buFontTx/>
              <a:buAutoNum type="arabicPeriod"/>
              <a:defRPr/>
            </a:pPr>
            <a:r>
              <a:rPr lang="en-US" sz="2000" b="1" kern="0" dirty="0">
                <a:solidFill>
                  <a:srgbClr val="FF0000"/>
                </a:solidFill>
                <a:latin typeface="Arial"/>
              </a:rPr>
              <a:t>Specification of operational parameters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: size, accuracy, cost</a:t>
            </a:r>
          </a:p>
          <a:p>
            <a:pPr marL="357188" lvl="2" indent="-357188" defTabSz="914400" eaLnBrk="1" hangingPunct="1">
              <a:lnSpc>
                <a:spcPct val="90000"/>
              </a:lnSpc>
              <a:spcBef>
                <a:spcPct val="20000"/>
              </a:spcBef>
              <a:buFontTx/>
              <a:buAutoNum type="arabicPeriod"/>
              <a:defRPr/>
            </a:pPr>
            <a:endParaRPr lang="en-US" sz="2000" kern="0" dirty="0">
              <a:solidFill>
                <a:srgbClr val="000000"/>
              </a:solidFill>
              <a:latin typeface="Arial"/>
            </a:endParaRPr>
          </a:p>
          <a:p>
            <a:pPr marL="357188" lvl="2" indent="-357188" defTabSz="914400" eaLnBrk="1" hangingPunct="1">
              <a:lnSpc>
                <a:spcPct val="90000"/>
              </a:lnSpc>
              <a:spcBef>
                <a:spcPct val="20000"/>
              </a:spcBef>
              <a:buFontTx/>
              <a:buAutoNum type="arabicPeriod"/>
              <a:defRPr/>
            </a:pPr>
            <a:r>
              <a:rPr lang="en-US" sz="2000" b="1" kern="0" dirty="0">
                <a:solidFill>
                  <a:srgbClr val="FF0000"/>
                </a:solidFill>
                <a:latin typeface="Arial"/>
              </a:rPr>
              <a:t>Selection of output mechanism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:direct signal, digital value, specific bus protocol, etc.</a:t>
            </a: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258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As we have seen with lectures on kinematics and dynamic to know the positioning of out robot we need to have information about joint positioning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8726" y="1705191"/>
            <a:ext cx="810491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This is known as kinesethic sensing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These are sensors designed to provide feedback for servo control to the joint/link controllers</a:t>
            </a: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There are analogue and digital versions</a:t>
            </a: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We</a:t>
            </a:r>
            <a:r>
              <a:rPr kumimoji="0" lang="en-US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 will look at </a:t>
            </a:r>
            <a:r>
              <a:rPr kumimoji="0" lang="en-US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the 4 </a:t>
            </a:r>
            <a:r>
              <a:rPr kumimoji="0" lang="en-US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commonly used types</a:t>
            </a: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baseline="0" dirty="0">
              <a:solidFill>
                <a:srgbClr val="000000"/>
              </a:solidFill>
              <a:ea typeface="+mn-ea"/>
            </a:endParaRPr>
          </a:p>
          <a:p>
            <a:pPr marL="814388" lvl="1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Potentiometers</a:t>
            </a:r>
          </a:p>
          <a:p>
            <a:pPr marL="814388" lvl="1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814388" lvl="1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R</a:t>
            </a:r>
            <a:r>
              <a:rPr kumimoji="0" lang="en-US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esolvers</a:t>
            </a:r>
          </a:p>
          <a:p>
            <a:pPr marL="814388" lvl="1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814388" lvl="1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kern="0" baseline="0" dirty="0">
                <a:solidFill>
                  <a:srgbClr val="000000"/>
                </a:solidFill>
                <a:ea typeface="+mn-ea"/>
              </a:rPr>
              <a:t>Incremental Encoders</a:t>
            </a:r>
          </a:p>
          <a:p>
            <a:pPr marL="814388" lvl="1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baseline="0" dirty="0">
              <a:solidFill>
                <a:srgbClr val="000000"/>
              </a:solidFill>
              <a:ea typeface="+mn-ea"/>
            </a:endParaRPr>
          </a:p>
          <a:p>
            <a:pPr marL="814388" lvl="1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Absolute Encoders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108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Potentiometer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8726" y="1031015"/>
            <a:ext cx="810491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A basic way of sensing linear or rotary position by connecting the moving element of the joint to the wiper contact of a potentiometer.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The position is proportional to the resistance which can be used to produce a measurable voltage.</a:t>
            </a: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38726" y="2665035"/>
            <a:ext cx="8586221" cy="2283288"/>
            <a:chOff x="438726" y="2608107"/>
            <a:chExt cx="8586221" cy="228328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726" y="2608107"/>
              <a:ext cx="2000250" cy="2000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2566" y="2689358"/>
              <a:ext cx="3374986" cy="2074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7552" y="2721964"/>
              <a:ext cx="3527395" cy="2169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Rectangle 12"/>
          <p:cNvSpPr/>
          <p:nvPr/>
        </p:nvSpPr>
        <p:spPr>
          <a:xfrm>
            <a:off x="362815" y="4684692"/>
            <a:ext cx="810491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Usually made from conducting polymer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Position directly proportional to voltage</a:t>
            </a: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Poor</a:t>
            </a:r>
            <a:r>
              <a:rPr kumimoji="0" lang="en-US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 resolution compared to other methods</a:t>
            </a: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360 degree version has dead zone</a:t>
            </a: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Susceptible</a:t>
            </a:r>
            <a:r>
              <a:rPr kumimoji="0" lang="en-US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 to wear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282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1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Resolvers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8726" y="1031015"/>
            <a:ext cx="81049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Also known as LVDT (Linear Variable Differential Transformer) and RVDT (Rotary Variable Differential Transformer). They use the inductive coupling used by transformers to give a changing signal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37" y="2462176"/>
            <a:ext cx="4812216" cy="2567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9"/>
          <a:stretch/>
        </p:blipFill>
        <p:spPr bwMode="auto">
          <a:xfrm>
            <a:off x="4808035" y="2243127"/>
            <a:ext cx="3321205" cy="2824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629" y="4881676"/>
            <a:ext cx="1632259" cy="163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3" t="55546" r="40926" b="8732"/>
          <a:stretch/>
        </p:blipFill>
        <p:spPr bwMode="auto">
          <a:xfrm>
            <a:off x="1538867" y="5001399"/>
            <a:ext cx="1683835" cy="168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029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Resolvers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169" y="1020630"/>
            <a:ext cx="81049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As the device relies on inductive coupling for its function it must use ac voltages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26" y="1770800"/>
            <a:ext cx="4812216" cy="2567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9"/>
          <a:stretch/>
        </p:blipFill>
        <p:spPr bwMode="auto">
          <a:xfrm>
            <a:off x="4808034" y="1351030"/>
            <a:ext cx="3321205" cy="2824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0" b="11505"/>
          <a:stretch/>
        </p:blipFill>
        <p:spPr bwMode="auto">
          <a:xfrm>
            <a:off x="487169" y="4338392"/>
            <a:ext cx="4320865" cy="223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054600" y="4075692"/>
                <a:ext cx="3759200" cy="5254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Displacement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b="0" i="1" smtClean="0">
                        <a:latin typeface="Cambria Math"/>
                      </a:rPr>
                      <m:t>)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𝐸𝑆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𝐸𝑆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𝐸𝑆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𝐸𝑆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00" y="4075692"/>
                <a:ext cx="3759200" cy="525400"/>
              </a:xfrm>
              <a:prstGeom prst="rect">
                <a:avLst/>
              </a:prstGeom>
              <a:blipFill rotWithShape="1">
                <a:blip r:embed="rId6"/>
                <a:stretch>
                  <a:fillRect l="-12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435" name="Picture 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" t="5253" r="1797" b="1716"/>
          <a:stretch/>
        </p:blipFill>
        <p:spPr bwMode="auto">
          <a:xfrm>
            <a:off x="5459525" y="4970424"/>
            <a:ext cx="2971581" cy="169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5207000" y="4601092"/>
            <a:ext cx="375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M is a calibration scaling factor</a:t>
            </a:r>
          </a:p>
        </p:txBody>
      </p:sp>
    </p:spTree>
    <p:extLst>
      <p:ext uri="{BB962C8B-B14F-4D97-AF65-F5344CB8AC3E}">
        <p14:creationId xmlns:p14="http://schemas.microsoft.com/office/powerpoint/2010/main" val="214849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6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Resolvers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169" y="1020630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A more modern take on the rotary resolver is the magnetic encoder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6028D9-54F8-4ED5-A53A-7929695B7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444519"/>
            <a:ext cx="3694684" cy="3294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648D6B-8569-4EBE-B5EA-81D77A2FD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77" y="1516642"/>
            <a:ext cx="3633651" cy="30065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2440C12-3C97-4ACB-81A6-15B28F385C76}"/>
              </a:ext>
            </a:extLst>
          </p:cNvPr>
          <p:cNvSpPr/>
          <p:nvPr/>
        </p:nvSpPr>
        <p:spPr>
          <a:xfrm>
            <a:off x="589877" y="4596757"/>
            <a:ext cx="810491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orthogonally place hall effect sensor pick up the magnitude of the flux in their plane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This is resolved to give a magnetic vector which rotates with the motor shaft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F223A2-AC3A-4D88-B121-4FB4E68A35AE}"/>
              </a:ext>
            </a:extLst>
          </p:cNvPr>
          <p:cNvSpPr/>
          <p:nvPr/>
        </p:nvSpPr>
        <p:spPr>
          <a:xfrm>
            <a:off x="589877" y="5999216"/>
            <a:ext cx="81049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FF0000"/>
                </a:solidFill>
                <a:ea typeface="+mn-ea"/>
              </a:rPr>
              <a:t>Sensitive to external magnetic fields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776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14" grpId="0" build="p"/>
      <p:bldP spid="1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Incremental Encoders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169" y="1020630"/>
            <a:ext cx="81049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These devices use a number of photoemitter/photodetector pairs through a slotted disk to count the number of slots that pass between the pair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125663"/>
            <a:ext cx="285750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754" y="2051050"/>
            <a:ext cx="4662042" cy="303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585065" y="5377045"/>
            <a:ext cx="81049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Multiple beams are often used to create a quadrature signal and create a ‘zero’ reference point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Magnetic versions exist using a fine multipole magnet ring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456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1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Incremental Encoders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169" y="1020630"/>
            <a:ext cx="81049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quadrature signal can be used to determine the direction in which the joint is moving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22"/>
          <a:stretch/>
        </p:blipFill>
        <p:spPr bwMode="auto">
          <a:xfrm>
            <a:off x="292099" y="1740150"/>
            <a:ext cx="4937561" cy="340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528" y="5404730"/>
            <a:ext cx="3421551" cy="1142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76862" y="5422927"/>
            <a:ext cx="45680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unique signal from each patch of 4 values from A and B can be used to increase the resolution of the encoder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689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Incremental Encoders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169" y="1020630"/>
            <a:ext cx="81049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resolution of the encoder can be obtained simply by using the number of these ‘patches’ on each ring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066800" y="2297902"/>
            <a:ext cx="2984500" cy="1816101"/>
            <a:chOff x="4762500" y="2514599"/>
            <a:chExt cx="2984500" cy="1816101"/>
          </a:xfrm>
        </p:grpSpPr>
        <p:pic>
          <p:nvPicPr>
            <p:cNvPr id="2150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872" t="4929" r="1385" b="5556"/>
            <a:stretch/>
          </p:blipFill>
          <p:spPr bwMode="auto">
            <a:xfrm>
              <a:off x="5346700" y="2514599"/>
              <a:ext cx="2400300" cy="18161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4762500" y="2960983"/>
              <a:ext cx="7366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507318" y="4303455"/>
            <a:ext cx="81049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C</a:t>
            </a:r>
            <a:r>
              <a:rPr lang="en-US" altLang="en-US" sz="2000" kern="0" baseline="-25000" dirty="0">
                <a:solidFill>
                  <a:srgbClr val="000000"/>
                </a:solidFill>
                <a:ea typeface="+mn-ea"/>
              </a:rPr>
              <a:t>patch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= number of slots on either</a:t>
            </a:r>
            <a:r>
              <a:rPr kumimoji="0" lang="en-US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 A or B ring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baseline="0" dirty="0">
                <a:solidFill>
                  <a:srgbClr val="000000"/>
                </a:solidFill>
                <a:ea typeface="+mn-ea"/>
              </a:rPr>
              <a:t>R is the resolution of the encoder on degrees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7318" y="5580727"/>
            <a:ext cx="81049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Incremental encoders are usually cheaper than absolute encoders but need to use the index mark to re-zero them if power is lost or an error occurs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789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10" grpId="0" build="p"/>
      <p:bldP spid="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Absolute Encoders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169" y="1020630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These encoders use a glass disc with a binary pattern on it to give the absolute position using photoemitter/receptor pairs again.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435100" y="1851914"/>
            <a:ext cx="6502400" cy="3823455"/>
            <a:chOff x="800100" y="1991614"/>
            <a:chExt cx="5245100" cy="3189986"/>
          </a:xfrm>
        </p:grpSpPr>
        <p:pic>
          <p:nvPicPr>
            <p:cNvPr id="12" name="Picture 6"/>
            <p:cNvPicPr>
              <a:picLocks noGrp="1" noChangeAspect="1" noChangeArrowheads="1"/>
            </p:cNvPicPr>
            <p:nvPr>
              <p:ph idx="1"/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1" t="3790" r="32166" b="21617"/>
            <a:stretch/>
          </p:blipFill>
          <p:spPr>
            <a:xfrm>
              <a:off x="800100" y="1991614"/>
              <a:ext cx="5054600" cy="2999486"/>
            </a:xfrm>
          </p:spPr>
        </p:pic>
        <p:sp>
          <p:nvSpPr>
            <p:cNvPr id="2" name="Rectangle 1"/>
            <p:cNvSpPr/>
            <p:nvPr/>
          </p:nvSpPr>
          <p:spPr>
            <a:xfrm>
              <a:off x="5130800" y="4241800"/>
              <a:ext cx="914400" cy="939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639569" y="5888504"/>
            <a:ext cx="81049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Each bit in the pattern requires a separate photodetector.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696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1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Absolute Encoders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169" y="1020630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resolution of the encoder depends on the number of bits in the pattern as this determines how many unique codes you can have.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74569" y="5586154"/>
            <a:ext cx="81049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resolution (R) of an encoder is:   R=360/2</a:t>
            </a:r>
            <a:r>
              <a:rPr lang="en-US" altLang="en-US" sz="2000" kern="0" baseline="30000" dirty="0">
                <a:solidFill>
                  <a:srgbClr val="000000"/>
                </a:solidFill>
                <a:ea typeface="+mn-ea"/>
              </a:rPr>
              <a:t>N</a:t>
            </a: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Where n is the number of bits in the binary code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9" name="Picture 5" descr="heidenhain_AbsEnco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16723" y="1906819"/>
            <a:ext cx="6245802" cy="341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72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1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Internal Robot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Absolute Encoders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169" y="1020630"/>
            <a:ext cx="81049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Absolute encoders normally use a binary pattern in Gray Code.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67" y="1526109"/>
            <a:ext cx="4841355" cy="3223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87169" y="4800600"/>
            <a:ext cx="810491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Gray Code has the advantage that only one bit changes at once when moving from one code to the next.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This helps prevent boundary positional errors but requires a decoding process to obtain the original binary to get the actual position</a:t>
            </a: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088" y="1545688"/>
            <a:ext cx="3204112" cy="320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597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Contact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Contact sensors are any sensor that gives some form of response when it has actually made physical contact with an object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169" y="1769930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simplest of these is a contact switch, normally in the form of a micro switch.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7169" y="4914900"/>
            <a:ext cx="267513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These can be connected to whiskers or bumpers to increase their effective area.</a:t>
            </a: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55700" y="2349824"/>
            <a:ext cx="6115050" cy="2178242"/>
            <a:chOff x="1155700" y="2349824"/>
            <a:chExt cx="6115050" cy="2178242"/>
          </a:xfrm>
        </p:grpSpPr>
        <p:pic>
          <p:nvPicPr>
            <p:cNvPr id="9" name="Picture 11" descr="reed_micros86"/>
            <p:cNvPicPr>
              <a:picLocks noGrp="1" noChangeAspect="1" noChangeArrowheads="1"/>
            </p:cNvPicPr>
            <p:nvPr>
              <p:ph sz="quarter" idx="4294967295"/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55700" y="2609850"/>
              <a:ext cx="1495425" cy="1047750"/>
            </a:xfrm>
            <a:prstGeom prst="rect">
              <a:avLst/>
            </a:prstGeom>
            <a:noFill/>
            <a:ln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" name="Picture 8"/>
            <p:cNvPicPr>
              <a:picLocks noGrp="1" noChangeAspect="1" noChangeArrowheads="1"/>
            </p:cNvPicPr>
            <p:nvPr>
              <p:ph sz="half" idx="4294967295"/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37" r="10910"/>
            <a:stretch>
              <a:fillRect/>
            </a:stretch>
          </p:blipFill>
          <p:spPr>
            <a:xfrm>
              <a:off x="3696173" y="3657600"/>
              <a:ext cx="838200" cy="685800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11" name="Picture 14" descr="roller_micros85"/>
            <p:cNvPicPr>
              <a:picLocks noGrp="1" noChangeAspect="1" noChangeArrowheads="1"/>
            </p:cNvPicPr>
            <p:nvPr>
              <p:ph sz="quarter" idx="4294967295"/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715000" y="2349824"/>
              <a:ext cx="1555750" cy="1666875"/>
            </a:xfrm>
            <a:prstGeom prst="rect">
              <a:avLst/>
            </a:prstGeom>
            <a:noFill/>
            <a:ln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1155700" y="3832033"/>
              <a:ext cx="1531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Lever Switch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89300" y="3077980"/>
              <a:ext cx="1531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Reed Switch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14999" y="4158734"/>
              <a:ext cx="1531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Roller Switch</a:t>
              </a:r>
            </a:p>
          </p:txBody>
        </p:sp>
      </p:grpSp>
      <p:pic>
        <p:nvPicPr>
          <p:cNvPr id="15" name="Picture 6" descr="insect_robot_feeler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4707447"/>
            <a:ext cx="3200678" cy="180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KRoss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418" y="4727580"/>
            <a:ext cx="2376580" cy="1782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667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Contact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Force sensors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169" y="1020507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If the force of the contact is important then there is a number of ways of measuring this: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2815" y="1985707"/>
            <a:ext cx="81049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Strain gauge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68" y="2341460"/>
            <a:ext cx="3563093" cy="233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112" y="2076293"/>
            <a:ext cx="4467278" cy="2598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362815" y="4656079"/>
            <a:ext cx="810491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Etched resistance wire that changes resistance when stretched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Will detect small deformation in the surface placed on which will be related to the force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Requires calibration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299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17" grpId="0" build="p"/>
      <p:bldP spid="1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Contact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Force sensors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2815" y="1033418"/>
            <a:ext cx="81049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Piezoelectric sensor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2815" y="4656079"/>
            <a:ext cx="81049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Applied force produces a transient charge proportional to the force applied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Also r</a:t>
            </a:r>
            <a:r>
              <a:rPr kumimoji="0" lang="en-US" altLang="en-US" sz="20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equires calibration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25602" name="Picture 2" descr="Image result for piezoelectric force sens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765857"/>
            <a:ext cx="4120401" cy="412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 descr="piezoelectric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4218" y="1787341"/>
            <a:ext cx="3036888" cy="237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017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 build="p"/>
      <p:bldP spid="1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Contact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Force sensors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2815" y="1033418"/>
            <a:ext cx="81049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Tactile arrays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8715" y="1695137"/>
            <a:ext cx="81049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Both force sensor types can be arrange in arrays if the distribution of force on an object needs to be monitored rather than just the overall force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9" name="Picture 11" descr="tactile_array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2749" y="2844800"/>
            <a:ext cx="3657600" cy="3519488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78715" y="3447737"/>
            <a:ext cx="340908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A similar arrangement can be used if some idea of the shape of the object being held is required by just using simple resistive sensing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580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 build="p"/>
      <p:bldP spid="8" grpId="0" build="p"/>
      <p:bldP spid="1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Proximity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Proximity sensors detect the presence of an object without actually touching it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9015" y="1345276"/>
            <a:ext cx="81049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Reflective photo sensors are very common using the reflection of a light source to detect an object they can be operated in a number of modes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2815" y="5992552"/>
            <a:ext cx="81049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Modulated light is used to prevent local lighting affecting the sensor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2E3263B-CEB3-4510-BE22-C8123A936370}"/>
              </a:ext>
            </a:extLst>
          </p:cNvPr>
          <p:cNvGrpSpPr/>
          <p:nvPr/>
        </p:nvGrpSpPr>
        <p:grpSpPr>
          <a:xfrm>
            <a:off x="537008" y="2388595"/>
            <a:ext cx="3954462" cy="3317421"/>
            <a:chOff x="537008" y="2383031"/>
            <a:chExt cx="3954462" cy="3317421"/>
          </a:xfrm>
        </p:grpSpPr>
        <p:pic>
          <p:nvPicPr>
            <p:cNvPr id="399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008" y="2383031"/>
              <a:ext cx="3954462" cy="3317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B31C520-9FF6-4329-915E-688CFAAC6706}"/>
                </a:ext>
              </a:extLst>
            </p:cNvPr>
            <p:cNvGrpSpPr/>
            <p:nvPr/>
          </p:nvGrpSpPr>
          <p:grpSpPr>
            <a:xfrm>
              <a:off x="1672864" y="2678176"/>
              <a:ext cx="1326368" cy="2699931"/>
              <a:chOff x="1672864" y="2678176"/>
              <a:chExt cx="1326368" cy="2699931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26D767-579A-4A4B-9321-7F0ADA19D1A4}"/>
                  </a:ext>
                </a:extLst>
              </p:cNvPr>
              <p:cNvSpPr/>
              <p:nvPr/>
            </p:nvSpPr>
            <p:spPr>
              <a:xfrm>
                <a:off x="1792224" y="2678176"/>
                <a:ext cx="1207008" cy="2641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C118A7B-21F4-4916-BA2E-CD7B072FC347}"/>
                  </a:ext>
                </a:extLst>
              </p:cNvPr>
              <p:cNvSpPr/>
              <p:nvPr/>
            </p:nvSpPr>
            <p:spPr>
              <a:xfrm>
                <a:off x="2070608" y="3838702"/>
                <a:ext cx="841375" cy="5016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A4B7432-B08D-4F65-8895-F51B28323AA3}"/>
                  </a:ext>
                </a:extLst>
              </p:cNvPr>
              <p:cNvSpPr/>
              <p:nvPr/>
            </p:nvSpPr>
            <p:spPr>
              <a:xfrm>
                <a:off x="1672864" y="4876457"/>
                <a:ext cx="841375" cy="50165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983" y="3470157"/>
            <a:ext cx="5631942" cy="239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337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1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Proximity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Inductive Proximity Sensors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9015" y="1091276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Inductive sensors generate magnetic fields and then use a second coil to sense inductive coupling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3815" y="4952064"/>
            <a:ext cx="81049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AC oscillation is required to generate a field that will induce coupling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This can vary from 3Khz to 1MHz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5" y="1990257"/>
            <a:ext cx="5667375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533542" y="1942249"/>
            <a:ext cx="3070225" cy="2568534"/>
            <a:chOff x="533542" y="1942249"/>
            <a:chExt cx="3070225" cy="2568534"/>
          </a:xfrm>
        </p:grpSpPr>
        <p:pic>
          <p:nvPicPr>
            <p:cNvPr id="4198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542" y="1942249"/>
              <a:ext cx="3070225" cy="1676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88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91415" y="3120627"/>
              <a:ext cx="1501774" cy="1390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6644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1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Proximity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Capacitive Proximity Sensors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9015" y="1091276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Capacitive proximity sensors are very similar but detect changes in electric field coupling by the presence of a dielectric material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3815" y="4952064"/>
            <a:ext cx="810491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The oscillator circuit has its capacitance changed by the dielectric object by the plate which changes the frequency of the internal oscillator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Most objects are dielectrics</a:t>
            </a: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, particularly polar liquids (i.e. Water)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612900" y="2119312"/>
            <a:ext cx="7046913" cy="2619375"/>
            <a:chOff x="1612900" y="2119312"/>
            <a:chExt cx="7046913" cy="2619375"/>
          </a:xfrm>
        </p:grpSpPr>
        <p:pic>
          <p:nvPicPr>
            <p:cNvPr id="4301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5188" y="2119312"/>
              <a:ext cx="6524625" cy="2619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1612900" y="2119312"/>
              <a:ext cx="2374900" cy="1017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39938" y="2119312"/>
              <a:ext cx="1998662" cy="852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39" y="2034875"/>
            <a:ext cx="2405430" cy="118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1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10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Proximity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Pyroelectric Proximity Sensors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9015" y="1091276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Pyroelectric</a:t>
            </a: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 proximity sensors detect the presence of object emitting infra red light (heat)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7062" y="4416806"/>
            <a:ext cx="810491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Uses a crystal that</a:t>
            </a: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 produces an electric charge when exposed to IR radiation</a:t>
            </a: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Can be selected for particular</a:t>
            </a:r>
            <a:r>
              <a:rPr kumimoji="0" lang="en-US" altLang="en-US" sz="2000" b="0" i="0" u="none" strike="noStrike" kern="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 wavelengths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baseline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Can </a:t>
            </a: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measure</a:t>
            </a:r>
            <a:r>
              <a:rPr kumimoji="0" lang="en-US" altLang="en-US" sz="2000" b="0" i="0" u="none" strike="noStrike" kern="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 temperature with calibration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15" y="1811531"/>
            <a:ext cx="3636097" cy="250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320" y="2256955"/>
            <a:ext cx="4849652" cy="1876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41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10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Range Finding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Range finding sensors tend to use light or sound to detect the range of an object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9015" y="1358906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Ultrasonic range finding is the cheapest implementation but can have a number of drawbacks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7062" y="4321556"/>
            <a:ext cx="810491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Uses a timer to detect the round trip </a:t>
            </a:r>
            <a:r>
              <a:rPr lang="en-US" altLang="en-US" sz="2000" kern="0" noProof="0" dirty="0" err="1">
                <a:solidFill>
                  <a:srgbClr val="000000"/>
                </a:solidFill>
                <a:ea typeface="+mn-ea"/>
              </a:rPr>
              <a:t>tim</a:t>
            </a: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e (t) of a short ‘chirp’</a:t>
            </a: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Speed of sound is 343m/s so distance (d) is d=343 * t/2</a:t>
            </a:r>
            <a:endParaRPr kumimoji="0" lang="en-US" altLang="en-US" sz="2000" b="0" i="0" u="none" strike="noStrike" kern="0" cap="none" spc="0" normalizeH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baseline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Can have emitter and sensor as same unit but then has a short dead time while it changes function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234" y="2083181"/>
            <a:ext cx="523875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80" b="22364"/>
          <a:stretch/>
        </p:blipFill>
        <p:spPr bwMode="auto">
          <a:xfrm>
            <a:off x="627062" y="2083181"/>
            <a:ext cx="2143125" cy="115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C227DD0-ED44-4473-BA90-289373FA3974}"/>
              </a:ext>
            </a:extLst>
          </p:cNvPr>
          <p:cNvGrpSpPr/>
          <p:nvPr/>
        </p:nvGrpSpPr>
        <p:grpSpPr>
          <a:xfrm>
            <a:off x="743581" y="3237357"/>
            <a:ext cx="2168846" cy="1034264"/>
            <a:chOff x="853309" y="3148783"/>
            <a:chExt cx="2168846" cy="103426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C8745DC-122E-4317-A740-8A6760568E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309" y="3195802"/>
              <a:ext cx="1410339" cy="94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hirp's tiny millimeter-sized ultrasonic Time-of-Flight sensor is 1/1000 the size of conventional sensors Chirp Microsystems">
              <a:extLst>
                <a:ext uri="{FF2B5EF4-FFF2-40B4-BE49-F238E27FC236}">
                  <a16:creationId xmlns:a16="http://schemas.microsoft.com/office/drawing/2014/main" id="{CA588436-12D9-47AF-A1B4-117DBBF44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3393" y="3148783"/>
              <a:ext cx="1028762" cy="1034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6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10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Range Finding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Ultrasonic rangefinder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9015" y="1091277"/>
            <a:ext cx="81049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Ultrasonic sound does place limitations on this sensor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9015" y="4914768"/>
            <a:ext cx="862845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Diffuse objects tend to absorb the sound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Ultrasonic wavelength</a:t>
            </a:r>
            <a:r>
              <a:rPr kumimoji="0" lang="en-US" altLang="en-US" sz="2000" b="0" i="0" u="none" strike="noStrike" kern="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 are rapidly attenuated in air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baseline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The wavelength used is very long so most objects are good reflectors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891" y="1612396"/>
            <a:ext cx="6483157" cy="3251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141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10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Range Finding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/>
              <a:t>Laser rangefinder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9015" y="1091277"/>
            <a:ext cx="81049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Laser rangefinders can also use a time of flight method to accuracies of about 2mm but this does not work </a:t>
            </a: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over </a:t>
            </a:r>
            <a:r>
              <a:rPr lang="en-US" altLang="en-US" sz="2000" kern="0" dirty="0" err="1">
                <a:solidFill>
                  <a:srgbClr val="000000"/>
                </a:solidFill>
                <a:ea typeface="+mn-ea"/>
              </a:rPr>
              <a:t>ve</a:t>
            </a:r>
            <a:r>
              <a:rPr lang="en-US" altLang="en-US" sz="2000" kern="0" noProof="0" dirty="0" err="1">
                <a:solidFill>
                  <a:srgbClr val="000000"/>
                </a:solidFill>
                <a:ea typeface="+mn-ea"/>
              </a:rPr>
              <a:t>ry</a:t>
            </a: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 short distances due to the high velocity of light. </a:t>
            </a: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A</a:t>
            </a:r>
            <a:r>
              <a:rPr lang="en-US" altLang="en-US" sz="2000" kern="0" noProof="0" dirty="0" err="1">
                <a:solidFill>
                  <a:srgbClr val="000000"/>
                </a:solidFill>
                <a:ea typeface="+mn-ea"/>
              </a:rPr>
              <a:t>nother</a:t>
            </a: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 method using phase shifts can also </a:t>
            </a:r>
            <a:r>
              <a:rPr lang="en-US" altLang="en-US" sz="2000" kern="0" noProof="0">
                <a:solidFill>
                  <a:srgbClr val="000000"/>
                </a:solidFill>
                <a:ea typeface="+mn-ea"/>
              </a:rPr>
              <a:t>be used.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2100" y="4719696"/>
            <a:ext cx="920892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light is modulated a high frequency (f) (in MHz region)</a:t>
            </a: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phase difference in the returning light is measured</a:t>
            </a:r>
            <a:endParaRPr kumimoji="0" lang="en-US" altLang="en-US" sz="2000" b="0" i="0" u="none" strike="noStrike" kern="0" cap="none" spc="0" normalizeH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baseline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distance is given by d= c</a:t>
            </a:r>
            <a:r>
              <a:rPr lang="el-GR" altLang="en-US" sz="2000" kern="0" dirty="0">
                <a:solidFill>
                  <a:srgbClr val="000000"/>
                </a:solidFill>
                <a:ea typeface="+mn-ea"/>
              </a:rPr>
              <a:t>θ</a:t>
            </a:r>
            <a:r>
              <a:rPr lang="en-GB" altLang="en-US" sz="2000" kern="0" dirty="0">
                <a:solidFill>
                  <a:srgbClr val="000000"/>
                </a:solidFill>
                <a:ea typeface="+mn-ea"/>
              </a:rPr>
              <a:t>/4</a:t>
            </a:r>
            <a:r>
              <a:rPr lang="az-Cyrl-AZ" altLang="en-US" sz="2000" kern="0" dirty="0">
                <a:solidFill>
                  <a:srgbClr val="000000"/>
                </a:solidFill>
                <a:ea typeface="+mn-ea"/>
              </a:rPr>
              <a:t>п</a:t>
            </a: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f: c is speed of light, </a:t>
            </a:r>
            <a:r>
              <a:rPr lang="el-GR" altLang="en-US" sz="2000" kern="0" dirty="0">
                <a:solidFill>
                  <a:srgbClr val="000000"/>
                </a:solidFill>
                <a:ea typeface="+mn-ea"/>
              </a:rPr>
              <a:t>θ</a:t>
            </a:r>
            <a:r>
              <a:rPr lang="en-GB" altLang="en-US" sz="2000" kern="0" dirty="0">
                <a:solidFill>
                  <a:srgbClr val="000000"/>
                </a:solidFill>
                <a:ea typeface="+mn-ea"/>
              </a:rPr>
              <a:t> is phase shift (rad)</a:t>
            </a: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E32621-E937-44A8-B2EB-D37494B03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984" y="2588245"/>
            <a:ext cx="4108850" cy="17976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AE1D16-D2B8-4B8E-935D-59619FEB2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" y="2588245"/>
            <a:ext cx="2199132" cy="196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1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10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Motion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>
                <a:latin typeface="+mn-lt"/>
                <a:cs typeface="SimSun"/>
              </a:rPr>
              <a:t>It is also possible to measure linear and angular accelerations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9015" y="1091277"/>
            <a:ext cx="81049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Some robot companies use independent gyroscopes and accelerometers to detect vibrations in high speed robot and counter the effect during movement. These devices are now created with MEMS technology.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A94763-0C78-4126-B488-42C3B0B6AC37}"/>
              </a:ext>
            </a:extLst>
          </p:cNvPr>
          <p:cNvGrpSpPr/>
          <p:nvPr/>
        </p:nvGrpSpPr>
        <p:grpSpPr>
          <a:xfrm>
            <a:off x="647509" y="2808943"/>
            <a:ext cx="3802361" cy="2727765"/>
            <a:chOff x="647509" y="2808943"/>
            <a:chExt cx="3802361" cy="272776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0B4229E-5A7D-4A8D-B6CA-4BBDDDF56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509" y="2808943"/>
              <a:ext cx="3802361" cy="228931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18062B-74FF-41A7-A941-A132247772D2}"/>
                </a:ext>
              </a:extLst>
            </p:cNvPr>
            <p:cNvSpPr txBox="1"/>
            <p:nvPr/>
          </p:nvSpPr>
          <p:spPr>
            <a:xfrm>
              <a:off x="1898511" y="5167376"/>
              <a:ext cx="1300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Gyroscope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A1604B-5301-4A82-BC01-D6279C1E5DF3}"/>
              </a:ext>
            </a:extLst>
          </p:cNvPr>
          <p:cNvGrpSpPr/>
          <p:nvPr/>
        </p:nvGrpSpPr>
        <p:grpSpPr>
          <a:xfrm>
            <a:off x="4865624" y="2808943"/>
            <a:ext cx="3351784" cy="2744021"/>
            <a:chOff x="4865624" y="2808943"/>
            <a:chExt cx="3351784" cy="274402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4F870A4-6924-4B5D-AA61-795F8F00B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5624" y="2808943"/>
              <a:ext cx="3351784" cy="227970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A8A1790-DAD4-49C3-9326-DA8712959335}"/>
                </a:ext>
              </a:extLst>
            </p:cNvPr>
            <p:cNvSpPr txBox="1"/>
            <p:nvPr/>
          </p:nvSpPr>
          <p:spPr>
            <a:xfrm>
              <a:off x="5781040" y="5183632"/>
              <a:ext cx="17235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Accelerometer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FF2C756-772B-44DE-B006-54B9DCD6A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835" y="5352042"/>
            <a:ext cx="1291146" cy="121848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CC624C-18B9-4A36-A1EB-ED344CAB274E}"/>
              </a:ext>
            </a:extLst>
          </p:cNvPr>
          <p:cNvSpPr/>
          <p:nvPr/>
        </p:nvSpPr>
        <p:spPr>
          <a:xfrm>
            <a:off x="439015" y="5864423"/>
            <a:ext cx="81049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One device is needed per axis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167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1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Motion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>
                <a:latin typeface="+mn-lt"/>
                <a:cs typeface="SimSun"/>
              </a:rPr>
              <a:t>MEMS Gyroscope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9015" y="1091277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This utilises the fact that if an object free to vibrate is rotated then that place of vibration tries to remain the same.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45E07D-B0C7-4345-ABE4-E195ABA50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962" y="1842621"/>
            <a:ext cx="5905500" cy="2990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A9D1DB8-2F3F-4A3E-83C3-AA6C5C1A5F5A}"/>
              </a:ext>
            </a:extLst>
          </p:cNvPr>
          <p:cNvSpPr/>
          <p:nvPr/>
        </p:nvSpPr>
        <p:spPr>
          <a:xfrm>
            <a:off x="395327" y="4864898"/>
            <a:ext cx="810491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The central mass is driven to vibrate by the driving electrodes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If the device rotates the plane of vibration tries to remain the same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This is detected as capacitance changes by the sensing electrodes and gives a measure of the angular acceleration </a:t>
            </a: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713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1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Motion Sensors</a:t>
            </a:r>
            <a:endParaRPr lang="en-GB" sz="2400" dirty="0"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sz="2000" b="1" dirty="0">
                <a:latin typeface="+mn-lt"/>
                <a:cs typeface="SimSun"/>
              </a:rPr>
              <a:t>MEMS Accelerometer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9015" y="1091277"/>
            <a:ext cx="8104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This utilises the fact that a free mass will try to stay in place if the mass around it is accelerated.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D1DB8-2F3F-4A3E-83C3-AA6C5C1A5F5A}"/>
              </a:ext>
            </a:extLst>
          </p:cNvPr>
          <p:cNvSpPr/>
          <p:nvPr/>
        </p:nvSpPr>
        <p:spPr>
          <a:xfrm>
            <a:off x="439015" y="4772822"/>
            <a:ext cx="810491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The proof mass move when the device is accelerated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 movement of the finger with respect to the fixed fingers changes capacitance</a:t>
            </a: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This is detected and gives a measure of the linear acceleration </a:t>
            </a: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1026" name="Picture 2" descr="Image result for MEMS accelerometer">
            <a:extLst>
              <a:ext uri="{FF2B5EF4-FFF2-40B4-BE49-F238E27FC236}">
                <a16:creationId xmlns:a16="http://schemas.microsoft.com/office/drawing/2014/main" id="{FE7B3921-9930-4B58-ADC9-12930A4EE36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912" y="1689698"/>
            <a:ext cx="3322332" cy="308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F1ACC7-80CB-45C0-AD82-C673CEB1E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20" y="2153920"/>
            <a:ext cx="3809029" cy="212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9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1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Conclusions</a:t>
            </a:r>
            <a:endParaRPr lang="en-GB" sz="2400" dirty="0"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D1DB8-2F3F-4A3E-83C3-AA6C5C1A5F5A}"/>
              </a:ext>
            </a:extLst>
          </p:cNvPr>
          <p:cNvSpPr/>
          <p:nvPr/>
        </p:nvSpPr>
        <p:spPr>
          <a:xfrm>
            <a:off x="487783" y="721014"/>
            <a:ext cx="810491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Sensors are crucial to most automation processes and essential in robotics</a:t>
            </a: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They form the vital feedback link in the control processes we have discussed</a:t>
            </a: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noProof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Careful selection with consideration of the environment is required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kern="0" dirty="0">
                <a:solidFill>
                  <a:srgbClr val="000000"/>
                </a:solidFill>
                <a:ea typeface="+mn-ea"/>
              </a:rPr>
              <a:t>A sensor is often only as good as its calibration!!! </a:t>
            </a:r>
            <a:r>
              <a:rPr lang="en-US" altLang="en-US" sz="2000" kern="0" noProof="0" dirty="0">
                <a:solidFill>
                  <a:srgbClr val="000000"/>
                </a:solidFill>
                <a:ea typeface="+mn-ea"/>
              </a:rPr>
              <a:t>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kern="0" dirty="0">
              <a:solidFill>
                <a:srgbClr val="000000"/>
              </a:solidFill>
              <a:ea typeface="+mn-ea"/>
            </a:endParaRPr>
          </a:p>
          <a:p>
            <a:pPr marL="357188" indent="-357188" defTabSz="9144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961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theme/theme1.xml><?xml version="1.0" encoding="utf-8"?>
<a:theme xmlns:a="http://schemas.openxmlformats.org/drawingml/2006/main" name="UoS template_no_logo_white">
  <a:themeElements>
    <a:clrScheme name="UoS01">
      <a:dk1>
        <a:sysClr val="windowText" lastClr="000000"/>
      </a:dk1>
      <a:lt1>
        <a:sysClr val="window" lastClr="FFFFFF"/>
      </a:lt1>
      <a:dk2>
        <a:srgbClr val="C60C30"/>
      </a:dk2>
      <a:lt2>
        <a:srgbClr val="FFFFFF"/>
      </a:lt2>
      <a:accent1>
        <a:srgbClr val="C60C30"/>
      </a:accent1>
      <a:accent2>
        <a:srgbClr val="009AA6"/>
      </a:accent2>
      <a:accent3>
        <a:srgbClr val="920075"/>
      </a:accent3>
      <a:accent4>
        <a:srgbClr val="BED600"/>
      </a:accent4>
      <a:accent5>
        <a:srgbClr val="E37222"/>
      </a:accent5>
      <a:accent6>
        <a:srgbClr val="782327"/>
      </a:accent6>
      <a:hlink>
        <a:srgbClr val="002060"/>
      </a:hlink>
      <a:folHlink>
        <a:srgbClr val="C2BDB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UoS template_no_logo_white</Template>
  <TotalTime>5373</TotalTime>
  <Words>1950</Words>
  <Application>Microsoft Office PowerPoint</Application>
  <PresentationFormat>On-screen Show (4:3)</PresentationFormat>
  <Paragraphs>473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Arial Bold</vt:lpstr>
      <vt:lpstr>Calibri</vt:lpstr>
      <vt:lpstr>Cambria Math</vt:lpstr>
      <vt:lpstr>Times New Roman</vt:lpstr>
      <vt:lpstr>UoS template_no_logo_white</vt:lpstr>
      <vt:lpstr>BEng (Hons) Control and Automation</vt:lpstr>
      <vt:lpstr>Lecture Content:    Sensors in Robotics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Salford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to go here heading to go here</dc:title>
  <dc:creator>Chambers Denis</dc:creator>
  <cp:lastModifiedBy>Saber Mahboubi Heydarabad</cp:lastModifiedBy>
  <cp:revision>483</cp:revision>
  <cp:lastPrinted>2018-11-15T07:49:34Z</cp:lastPrinted>
  <dcterms:created xsi:type="dcterms:W3CDTF">2011-12-09T09:26:53Z</dcterms:created>
  <dcterms:modified xsi:type="dcterms:W3CDTF">2023-08-27T14:35:44Z</dcterms:modified>
</cp:coreProperties>
</file>