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300" r:id="rId2"/>
    <p:sldId id="301" r:id="rId3"/>
    <p:sldId id="273" r:id="rId4"/>
    <p:sldId id="521" r:id="rId5"/>
    <p:sldId id="522" r:id="rId6"/>
    <p:sldId id="525" r:id="rId7"/>
    <p:sldId id="526" r:id="rId8"/>
    <p:sldId id="527" r:id="rId9"/>
    <p:sldId id="529" r:id="rId10"/>
    <p:sldId id="369" r:id="rId11"/>
    <p:sldId id="518" r:id="rId12"/>
    <p:sldId id="519" r:id="rId13"/>
    <p:sldId id="520" r:id="rId14"/>
    <p:sldId id="381" r:id="rId15"/>
    <p:sldId id="530" r:id="rId16"/>
    <p:sldId id="542" r:id="rId17"/>
    <p:sldId id="350" r:id="rId18"/>
    <p:sldId id="383" r:id="rId19"/>
    <p:sldId id="352" r:id="rId20"/>
    <p:sldId id="342" r:id="rId21"/>
    <p:sldId id="353" r:id="rId22"/>
    <p:sldId id="346" r:id="rId23"/>
    <p:sldId id="355" r:id="rId24"/>
    <p:sldId id="357" r:id="rId25"/>
    <p:sldId id="354" r:id="rId26"/>
    <p:sldId id="388" r:id="rId27"/>
    <p:sldId id="390" r:id="rId28"/>
    <p:sldId id="391" r:id="rId29"/>
    <p:sldId id="392" r:id="rId30"/>
    <p:sldId id="393" r:id="rId31"/>
    <p:sldId id="394" r:id="rId32"/>
    <p:sldId id="395" r:id="rId33"/>
    <p:sldId id="396" r:id="rId34"/>
    <p:sldId id="397" r:id="rId35"/>
    <p:sldId id="398" r:id="rId36"/>
    <p:sldId id="399" r:id="rId37"/>
    <p:sldId id="400" r:id="rId38"/>
    <p:sldId id="401" r:id="rId39"/>
    <p:sldId id="531" r:id="rId40"/>
    <p:sldId id="405" r:id="rId41"/>
    <p:sldId id="532" r:id="rId42"/>
    <p:sldId id="535" r:id="rId43"/>
    <p:sldId id="409" r:id="rId44"/>
    <p:sldId id="533" r:id="rId45"/>
    <p:sldId id="534" r:id="rId46"/>
    <p:sldId id="408" r:id="rId47"/>
    <p:sldId id="536" r:id="rId48"/>
    <p:sldId id="537" r:id="rId49"/>
    <p:sldId id="538" r:id="rId50"/>
    <p:sldId id="539" r:id="rId51"/>
    <p:sldId id="540" r:id="rId52"/>
    <p:sldId id="541" r:id="rId53"/>
  </p:sldIdLst>
  <p:sldSz cx="9144000" cy="6858000" type="screen4x3"/>
  <p:notesSz cx="6797675" cy="9926638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C60C3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6" autoAdjust="0"/>
    <p:restoredTop sz="94302" autoAdjust="0"/>
  </p:normalViewPr>
  <p:slideViewPr>
    <p:cSldViewPr snapToGrid="0" snapToObjects="1">
      <p:cViewPr varScale="1">
        <p:scale>
          <a:sx n="84" d="100"/>
          <a:sy n="84" d="100"/>
        </p:scale>
        <p:origin x="143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6" d="100"/>
          <a:sy n="76" d="100"/>
        </p:scale>
        <p:origin x="-2166" y="-96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100" y="61913"/>
            <a:ext cx="5699125" cy="66516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1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r>
              <a:rPr lang="en-GB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38124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DF0CDD-250B-44FA-B365-4CE5BD183BFF}" type="datetimeFigureOut">
              <a:rPr lang="en-GB"/>
              <a:pPr>
                <a:defRPr/>
              </a:pPr>
              <a:t>27/08/2023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F8B4681-E8FC-4223-855F-F6D02069507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5648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C7BFCB-54E2-4FAD-ABE5-6D07B5A6197A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04992B-7A2F-4E49-836D-152A541CA74E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232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905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16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537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0767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173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8046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072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20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9475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3124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183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23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157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24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914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44DC95-C5F5-4BF2-BDDB-C9377C2018B3}" type="slidenum">
              <a:rPr lang="en-GB" altLang="en-US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25</a:t>
            </a:fld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066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8875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9317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8342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1425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4501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9B5A4E-08A9-457D-89E6-C51BF6DBFCFA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84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15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3912" y="3600450"/>
            <a:ext cx="4129088" cy="204787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5040F1CA-107E-4C02-9350-2638B13676DD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10AA4DB-3605-4FA3-B073-F6157C791C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688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" y="2905124"/>
            <a:ext cx="8175801" cy="3221040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260EB70C-1D28-4D0E-9EBF-F8A612BE2157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06146ED-8A61-444D-BED3-FE896BEB6B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619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MASTER_Salford logo_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8" y="261938"/>
            <a:ext cx="2024062" cy="151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A6A77813-D615-4EF5-8121-05F040F7EA32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5B63B96-E220-44D6-A3BE-F55E548856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321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998" y="2905125"/>
            <a:ext cx="3984801" cy="32210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2905125"/>
            <a:ext cx="3924300" cy="32210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CC8ADA1B-B27B-44DF-94FD-5F80705E82A6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297BDDE-412F-465E-9C0E-4A7A756F42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77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998" y="2911475"/>
            <a:ext cx="3986389" cy="7937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998" y="3705225"/>
            <a:ext cx="3986390" cy="2420937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911475"/>
            <a:ext cx="4041775" cy="7826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705225"/>
            <a:ext cx="4041775" cy="2420938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E1F0045E-A52B-400C-BA7C-0AB7F1517D1E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9493AE6-02A4-4579-B6A8-67567F8C0C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6124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998" y="2905125"/>
            <a:ext cx="8175801" cy="10096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3"/>
          </p:nvPr>
        </p:nvSpPr>
        <p:spPr>
          <a:xfrm>
            <a:off x="510998" y="4533900"/>
            <a:ext cx="8175802" cy="1592262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400"/>
            </a:lvl1pPr>
            <a:lvl2pPr>
              <a:buClr>
                <a:srgbClr val="C60C30"/>
              </a:buClr>
              <a:defRPr sz="2000"/>
            </a:lvl2pPr>
            <a:lvl3pPr>
              <a:buClr>
                <a:srgbClr val="C60C30"/>
              </a:buClr>
              <a:defRPr sz="1800"/>
            </a:lvl3pPr>
            <a:lvl4pPr>
              <a:buClr>
                <a:srgbClr val="C60C30"/>
              </a:buClr>
              <a:defRPr sz="1600"/>
            </a:lvl4pPr>
            <a:lvl5pPr>
              <a:buClr>
                <a:srgbClr val="C60C30"/>
              </a:buCl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510998" y="4095750"/>
            <a:ext cx="8175802" cy="43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4A5F766-4D62-4C36-9E71-1230FDE576CE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6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7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F6791AC-4FD0-45C4-BE8D-A0D20F345B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4149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10999" y="1428749"/>
            <a:ext cx="8175801" cy="1476375"/>
          </a:xfrm>
          <a:prstGeom prst="rect">
            <a:avLst/>
          </a:prstGeo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1E88F20-1AAB-4FD3-BF23-27A9452A5CF6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161F95E-9EB3-41D2-AD4C-9F0FE5ADF1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7487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49DD050-0C74-48C3-8BCE-E6188004D976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01412CD-2C22-49FD-A854-1BB75DC92D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9010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>
          <a:xfrm>
            <a:off x="257174" y="0"/>
            <a:ext cx="888682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181474"/>
            <a:ext cx="2800350" cy="1838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95F7BE7A-A994-4833-8C88-7E73C52F6179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5FFA643-5063-437F-859D-8FD1C6FE38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823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275"/>
            <a:ext cx="3008313" cy="8382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buClr>
                <a:srgbClr val="C60C30"/>
              </a:buClr>
              <a:buFont typeface="Arial" pitchFamily="34" charset="0"/>
              <a:buChar char="•"/>
              <a:defRPr sz="2800"/>
            </a:lvl1pPr>
            <a:lvl2pPr>
              <a:buClr>
                <a:srgbClr val="C60C30"/>
              </a:buClr>
              <a:defRPr sz="2400"/>
            </a:lvl2pPr>
            <a:lvl3pPr>
              <a:buClr>
                <a:srgbClr val="C60C30"/>
              </a:buClr>
              <a:defRPr sz="2000"/>
            </a:lvl3pPr>
            <a:lvl4pPr>
              <a:buClr>
                <a:srgbClr val="C60C30"/>
              </a:buClr>
              <a:defRPr sz="1800"/>
            </a:lvl4pPr>
            <a:lvl5pPr>
              <a:buClr>
                <a:srgbClr val="C60C30"/>
              </a:buCl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33475"/>
            <a:ext cx="3008313" cy="4992689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C60C30"/>
              </a:buClr>
              <a:buFont typeface="Arial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329FA7F8-151E-40BF-B9EE-6D203BF2458B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4D61F0F-4D0B-4117-9D0C-4C6BC2AAFB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89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90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90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90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F35BFFA0-2FB4-485B-B508-3C350D2D46BA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72D1AF6-8CCE-453E-A992-4ACAED1529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2916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0074" y="1819276"/>
            <a:ext cx="7956725" cy="4306888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30074" y="342900"/>
            <a:ext cx="7956725" cy="14763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D3D5E2B5-B450-4682-A92A-894F7F2B2141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824A4E3-28B3-405D-957D-37D13CC524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8112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305550" cy="5851525"/>
          </a:xfrm>
          <a:prstGeom prst="rect">
            <a:avLst/>
          </a:prstGeom>
        </p:spPr>
        <p:txBody>
          <a:bodyPr vert="eaVert"/>
          <a:lstStyle>
            <a:lvl1pPr>
              <a:buClr>
                <a:srgbClr val="C60C30"/>
              </a:buClr>
              <a:buFont typeface="Arial" pitchFamily="34" charset="0"/>
              <a:buChar char="•"/>
              <a:defRPr/>
            </a:lvl1pPr>
            <a:lvl2pPr>
              <a:buClr>
                <a:srgbClr val="C60C30"/>
              </a:buClr>
              <a:defRPr/>
            </a:lvl2pPr>
            <a:lvl3pPr>
              <a:buClr>
                <a:srgbClr val="C60C30"/>
              </a:buClr>
              <a:defRPr/>
            </a:lvl3pPr>
            <a:lvl4pPr>
              <a:buClr>
                <a:srgbClr val="C60C30"/>
              </a:buClr>
              <a:defRPr/>
            </a:lvl4pPr>
            <a:lvl5pPr>
              <a:buClr>
                <a:srgbClr val="C60C3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fld id="{B5321716-F687-4FF8-9100-52DE8ECBB97A}" type="datetime1">
              <a:rPr lang="en-US"/>
              <a:pPr>
                <a:defRPr/>
              </a:pPr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D9506A1-0073-4CC4-A378-D74D20A87C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70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/>
          <p:cNvSpPr>
            <a:spLocks noChangeArrowheads="1"/>
          </p:cNvSpPr>
          <p:nvPr/>
        </p:nvSpPr>
        <p:spPr bwMode="auto">
          <a:xfrm>
            <a:off x="0" y="0"/>
            <a:ext cx="252413" cy="6858000"/>
          </a:xfrm>
          <a:prstGeom prst="rect">
            <a:avLst/>
          </a:prstGeom>
          <a:solidFill>
            <a:srgbClr val="C60C3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>
              <a:solidFill>
                <a:srgbClr val="FFFFFF"/>
              </a:solidFill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60" r:id="rId1"/>
    <p:sldLayoutId id="2147484961" r:id="rId2"/>
    <p:sldLayoutId id="2147484962" r:id="rId3"/>
    <p:sldLayoutId id="2147484963" r:id="rId4"/>
    <p:sldLayoutId id="2147484964" r:id="rId5"/>
    <p:sldLayoutId id="2147484965" r:id="rId6"/>
    <p:sldLayoutId id="2147484966" r:id="rId7"/>
    <p:sldLayoutId id="2147484967" r:id="rId8"/>
    <p:sldLayoutId id="2147484968" r:id="rId9"/>
    <p:sldLayoutId id="2147484969" r:id="rId10"/>
    <p:sldLayoutId id="2147484970" r:id="rId11"/>
    <p:sldLayoutId id="2147484971" r:id="rId12"/>
    <p:sldLayoutId id="2147484972" r:id="rId13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C60C30"/>
          </a:solidFill>
          <a:latin typeface="Arial Bold"/>
          <a:ea typeface="ＭＳ Ｐゴシック" charset="-128"/>
          <a:cs typeface="Arial Bold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  <a:cs typeface="Arial Bold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C60C30"/>
          </a:solidFill>
          <a:latin typeface="Arial Bold" charset="0"/>
          <a:ea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defRPr sz="3200" kern="1200">
          <a:solidFill>
            <a:schemeClr val="tx1"/>
          </a:solidFill>
          <a:latin typeface="Arial"/>
          <a:ea typeface="ＭＳ Ｐゴシック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25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8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36.wmf"/><Relationship Id="rId17" Type="http://schemas.openxmlformats.org/officeDocument/2006/relationships/image" Target="../media/image28.png"/><Relationship Id="rId2" Type="http://schemas.openxmlformats.org/officeDocument/2006/relationships/image" Target="../media/image29.png"/><Relationship Id="rId16" Type="http://schemas.openxmlformats.org/officeDocument/2006/relationships/image" Target="../media/image3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35.wmf"/><Relationship Id="rId19" Type="http://schemas.openxmlformats.org/officeDocument/2006/relationships/image" Target="../media/image39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3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40.wmf"/><Relationship Id="rId7" Type="http://schemas.openxmlformats.org/officeDocument/2006/relationships/oleObject" Target="../embeddings/oleObject10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11" Type="http://schemas.openxmlformats.org/officeDocument/2006/relationships/image" Target="../media/image42.png"/><Relationship Id="rId5" Type="http://schemas.openxmlformats.org/officeDocument/2006/relationships/oleObject" Target="../embeddings/oleObject910.bin"/><Relationship Id="rId10" Type="http://schemas.openxmlformats.org/officeDocument/2006/relationships/image" Target="../media/image41.wmf"/><Relationship Id="rId9" Type="http://schemas.openxmlformats.org/officeDocument/2006/relationships/oleObject" Target="../embeddings/oleObject10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19.bin"/><Relationship Id="rId3" Type="http://schemas.openxmlformats.org/officeDocument/2006/relationships/image" Target="../media/image48.wmf"/><Relationship Id="rId21" Type="http://schemas.openxmlformats.org/officeDocument/2006/relationships/image" Target="../media/image57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55.wmf"/><Relationship Id="rId2" Type="http://schemas.openxmlformats.org/officeDocument/2006/relationships/oleObject" Target="../embeddings/oleObject11.bin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5" Type="http://schemas.openxmlformats.org/officeDocument/2006/relationships/image" Target="../media/image54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56.w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17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7" Type="http://schemas.openxmlformats.org/officeDocument/2006/relationships/image" Target="../media/image61.png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image" Target="../media/image61.wmf"/><Relationship Id="rId7" Type="http://schemas.openxmlformats.org/officeDocument/2006/relationships/image" Target="../media/image63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62.wmf"/><Relationship Id="rId10" Type="http://schemas.openxmlformats.org/officeDocument/2006/relationships/image" Target="../media/image66.png"/><Relationship Id="rId4" Type="http://schemas.openxmlformats.org/officeDocument/2006/relationships/oleObject" Target="../embeddings/oleObject2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png"/><Relationship Id="rId5" Type="http://schemas.openxmlformats.org/officeDocument/2006/relationships/image" Target="../media/image76.png"/><Relationship Id="rId10" Type="http://schemas.openxmlformats.org/officeDocument/2006/relationships/image" Target="../media/image75.png"/><Relationship Id="rId4" Type="http://schemas.openxmlformats.org/officeDocument/2006/relationships/image" Target="../media/image10.png"/><Relationship Id="rId9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79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n.wikipedia.org/wiki/Image:Impulse.png" TargetMode="External"/><Relationship Id="rId4" Type="http://schemas.openxmlformats.org/officeDocument/2006/relationships/hyperlink" Target="http://en.wikipedia.org/wiki/User:Iain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91.wmf"/><Relationship Id="rId18" Type="http://schemas.openxmlformats.org/officeDocument/2006/relationships/oleObject" Target="../embeddings/oleObject39.bin"/><Relationship Id="rId3" Type="http://schemas.openxmlformats.org/officeDocument/2006/relationships/image" Target="../media/image86.wmf"/><Relationship Id="rId21" Type="http://schemas.openxmlformats.org/officeDocument/2006/relationships/image" Target="../media/image95.wmf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93.wmf"/><Relationship Id="rId2" Type="http://schemas.openxmlformats.org/officeDocument/2006/relationships/oleObject" Target="../embeddings/oleObject31.bin"/><Relationship Id="rId16" Type="http://schemas.openxmlformats.org/officeDocument/2006/relationships/oleObject" Target="../embeddings/oleObject38.bin"/><Relationship Id="rId20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90.wmf"/><Relationship Id="rId5" Type="http://schemas.openxmlformats.org/officeDocument/2006/relationships/image" Target="../media/image87.wmf"/><Relationship Id="rId15" Type="http://schemas.openxmlformats.org/officeDocument/2006/relationships/image" Target="../media/image92.wmf"/><Relationship Id="rId10" Type="http://schemas.openxmlformats.org/officeDocument/2006/relationships/oleObject" Target="../embeddings/oleObject35.bin"/><Relationship Id="rId19" Type="http://schemas.openxmlformats.org/officeDocument/2006/relationships/image" Target="../media/image94.w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89.wmf"/><Relationship Id="rId14" Type="http://schemas.openxmlformats.org/officeDocument/2006/relationships/oleObject" Target="../embeddings/oleObject3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image" Target="../media/image96.wmf"/><Relationship Id="rId7" Type="http://schemas.openxmlformats.org/officeDocument/2006/relationships/image" Target="../media/image87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97.w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98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image" Target="../media/image99.wmf"/><Relationship Id="rId7" Type="http://schemas.openxmlformats.org/officeDocument/2006/relationships/image" Target="../media/image100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88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89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gif"/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3" Type="http://schemas.openxmlformats.org/officeDocument/2006/relationships/image" Target="../media/image104.wmf"/><Relationship Id="rId7" Type="http://schemas.openxmlformats.org/officeDocument/2006/relationships/image" Target="../media/image106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1.bin"/><Relationship Id="rId5" Type="http://schemas.openxmlformats.org/officeDocument/2006/relationships/image" Target="../media/image105.w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107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113.wmf"/><Relationship Id="rId3" Type="http://schemas.openxmlformats.org/officeDocument/2006/relationships/image" Target="../media/image108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115.wmf"/><Relationship Id="rId2" Type="http://schemas.openxmlformats.org/officeDocument/2006/relationships/oleObject" Target="../embeddings/oleObject53.bin"/><Relationship Id="rId16" Type="http://schemas.openxmlformats.org/officeDocument/2006/relationships/oleObject" Target="../embeddings/oleObject6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112.wmf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4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59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120.wmf"/><Relationship Id="rId18" Type="http://schemas.openxmlformats.org/officeDocument/2006/relationships/oleObject" Target="../embeddings/oleObject70.bin"/><Relationship Id="rId3" Type="http://schemas.openxmlformats.org/officeDocument/2006/relationships/image" Target="../media/image108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122.wmf"/><Relationship Id="rId2" Type="http://schemas.openxmlformats.org/officeDocument/2006/relationships/oleObject" Target="../embeddings/oleObject62.bin"/><Relationship Id="rId16" Type="http://schemas.openxmlformats.org/officeDocument/2006/relationships/oleObject" Target="../embeddings/oleObject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119.wmf"/><Relationship Id="rId5" Type="http://schemas.openxmlformats.org/officeDocument/2006/relationships/image" Target="../media/image109.wmf"/><Relationship Id="rId15" Type="http://schemas.openxmlformats.org/officeDocument/2006/relationships/image" Target="../media/image121.wmf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123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118.wmf"/><Relationship Id="rId14" Type="http://schemas.openxmlformats.org/officeDocument/2006/relationships/oleObject" Target="../embeddings/oleObject68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24.wmf"/><Relationship Id="rId7" Type="http://schemas.openxmlformats.org/officeDocument/2006/relationships/oleObject" Target="../embeddings/oleObject73.bin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125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133.wmf"/><Relationship Id="rId3" Type="http://schemas.openxmlformats.org/officeDocument/2006/relationships/image" Target="../media/image108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81.bin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132.wmf"/><Relationship Id="rId5" Type="http://schemas.openxmlformats.org/officeDocument/2006/relationships/image" Target="../media/image109.wmf"/><Relationship Id="rId15" Type="http://schemas.openxmlformats.org/officeDocument/2006/relationships/image" Target="../media/image134.w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131.wmf"/><Relationship Id="rId14" Type="http://schemas.openxmlformats.org/officeDocument/2006/relationships/oleObject" Target="../embeddings/oleObject82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6.wmf"/><Relationship Id="rId4" Type="http://schemas.openxmlformats.org/officeDocument/2006/relationships/oleObject" Target="../embeddings/oleObject84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6.wmf"/><Relationship Id="rId4" Type="http://schemas.openxmlformats.org/officeDocument/2006/relationships/oleObject" Target="../embeddings/oleObject86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7" Type="http://schemas.openxmlformats.org/officeDocument/2006/relationships/image" Target="../media/image139.wmf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9.bin"/><Relationship Id="rId5" Type="http://schemas.openxmlformats.org/officeDocument/2006/relationships/image" Target="../media/image138.wmf"/><Relationship Id="rId4" Type="http://schemas.openxmlformats.org/officeDocument/2006/relationships/oleObject" Target="../embeddings/oleObject88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image" Target="../media/image140.wmf"/><Relationship Id="rId7" Type="http://schemas.openxmlformats.org/officeDocument/2006/relationships/image" Target="../media/image142.wmf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2.bin"/><Relationship Id="rId5" Type="http://schemas.openxmlformats.org/officeDocument/2006/relationships/image" Target="../media/image141.w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143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3" Type="http://schemas.openxmlformats.org/officeDocument/2006/relationships/image" Target="../media/image140.wmf"/><Relationship Id="rId7" Type="http://schemas.openxmlformats.org/officeDocument/2006/relationships/image" Target="../media/image145.wmf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6.bin"/><Relationship Id="rId5" Type="http://schemas.openxmlformats.org/officeDocument/2006/relationships/image" Target="../media/image144.wmf"/><Relationship Id="rId4" Type="http://schemas.openxmlformats.org/officeDocument/2006/relationships/oleObject" Target="../embeddings/oleObject95.bin"/><Relationship Id="rId9" Type="http://schemas.openxmlformats.org/officeDocument/2006/relationships/image" Target="../media/image146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7" Type="http://schemas.openxmlformats.org/officeDocument/2006/relationships/image" Target="../media/image150.e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emf"/><Relationship Id="rId5" Type="http://schemas.openxmlformats.org/officeDocument/2006/relationships/image" Target="../media/image148.wmf"/><Relationship Id="rId4" Type="http://schemas.openxmlformats.org/officeDocument/2006/relationships/oleObject" Target="../embeddings/oleObject9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 bwMode="auto">
          <a:xfrm>
            <a:off x="819150" y="2047875"/>
            <a:ext cx="8324850" cy="8048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3600" dirty="0"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BEng (Hons) Control and Automation</a:t>
            </a:r>
            <a:endParaRPr lang="en-US" altLang="en-US" sz="3600" i="1" dirty="0">
              <a:latin typeface="Arial Bold" panose="020B0704020202020204" pitchFamily="34" charset="0"/>
              <a:ea typeface="ＭＳ Ｐゴシック" panose="020B0600070205080204" pitchFamily="34" charset="-128"/>
              <a:cs typeface="Arial Bold" panose="020B0704020202020204" pitchFamily="34" charset="0"/>
            </a:endParaRPr>
          </a:p>
        </p:txBody>
      </p:sp>
      <p:sp>
        <p:nvSpPr>
          <p:cNvPr id="17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819150" y="2944813"/>
            <a:ext cx="7772400" cy="34702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Automation and Robotics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4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CRN: 50295</a:t>
            </a:r>
          </a:p>
          <a:p>
            <a:pPr eaLnBrk="1" hangingPunct="1">
              <a:spcBef>
                <a:spcPct val="0"/>
              </a:spcBef>
            </a:pPr>
            <a:endParaRPr lang="en-US" altLang="en-US" sz="240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en-US" sz="2400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800" b="1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 Saber </a:t>
            </a:r>
            <a:r>
              <a:rPr lang="en-US" altLang="en-US" sz="2800" b="1" dirty="0" err="1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Mahboubi</a:t>
            </a:r>
            <a:endParaRPr lang="en-US" altLang="en-US" sz="2800" b="1" dirty="0"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1800" dirty="0"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Email:    s.mahboubiheydarabad@salford.ac.uk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 bwMode="auto">
          <a:xfrm>
            <a:off x="511175" y="1066800"/>
            <a:ext cx="8175625" cy="276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Lecture Content: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		</a:t>
            </a:r>
            <a:b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</a:br>
            <a:r>
              <a:rPr lang="en-GB" altLang="en-US" dirty="0">
                <a:solidFill>
                  <a:schemeClr val="tx1"/>
                </a:solidFill>
                <a:latin typeface="Arial Bold" panose="020B0704020202020204" pitchFamily="34" charset="0"/>
                <a:ea typeface="ＭＳ Ｐゴシック" panose="020B0600070205080204" pitchFamily="34" charset="-128"/>
                <a:cs typeface="Arial Bold" panose="020B0704020202020204" pitchFamily="34" charset="0"/>
              </a:rPr>
              <a:t>		Transfer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Transfer Functions</a:t>
            </a:r>
            <a:endParaRPr lang="en-GB" sz="2400" dirty="0">
              <a:cs typeface="Arial"/>
            </a:endParaRPr>
          </a:p>
        </p:txBody>
      </p:sp>
      <p:sp>
        <p:nvSpPr>
          <p:cNvPr id="22" name="object 3">
            <a:extLst>
              <a:ext uri="{FF2B5EF4-FFF2-40B4-BE49-F238E27FC236}">
                <a16:creationId xmlns:a16="http://schemas.microsoft.com/office/drawing/2014/main" id="{477275A3-243E-4204-A5EB-AE5D49DC0F3B}"/>
              </a:ext>
            </a:extLst>
          </p:cNvPr>
          <p:cNvSpPr txBox="1"/>
          <p:nvPr/>
        </p:nvSpPr>
        <p:spPr>
          <a:xfrm>
            <a:off x="406253" y="569468"/>
            <a:ext cx="855662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  <a:tabLst>
                <a:tab pos="355600" algn="l"/>
              </a:tabLst>
            </a:pPr>
            <a:r>
              <a:rPr lang="en-GB" sz="2000" spc="-45" dirty="0">
                <a:latin typeface="+mn-lt"/>
                <a:cs typeface="Calibri"/>
              </a:rPr>
              <a:t>The </a:t>
            </a:r>
            <a:r>
              <a:rPr sz="2000" spc="-45" dirty="0">
                <a:latin typeface="+mn-lt"/>
                <a:cs typeface="Calibri"/>
              </a:rPr>
              <a:t>Transfer </a:t>
            </a:r>
            <a:r>
              <a:rPr sz="2000" spc="-5" dirty="0">
                <a:latin typeface="+mn-lt"/>
                <a:cs typeface="Calibri"/>
              </a:rPr>
              <a:t>Function </a:t>
            </a:r>
            <a:r>
              <a:rPr sz="2000" spc="-10" dirty="0">
                <a:latin typeface="+mn-lt"/>
                <a:cs typeface="Calibri"/>
              </a:rPr>
              <a:t>is </a:t>
            </a:r>
            <a:r>
              <a:rPr sz="2000" spc="-5" dirty="0">
                <a:latin typeface="+mn-lt"/>
                <a:cs typeface="Calibri"/>
              </a:rPr>
              <a:t>the </a:t>
            </a:r>
            <a:r>
              <a:rPr sz="2000" spc="-20" dirty="0">
                <a:latin typeface="+mn-lt"/>
                <a:cs typeface="Calibri"/>
              </a:rPr>
              <a:t>ratio </a:t>
            </a:r>
            <a:r>
              <a:rPr sz="2000" spc="-5" dirty="0">
                <a:latin typeface="+mn-lt"/>
                <a:cs typeface="Calibri"/>
              </a:rPr>
              <a:t>of </a:t>
            </a:r>
            <a:r>
              <a:rPr sz="2000" spc="-10" dirty="0">
                <a:latin typeface="+mn-lt"/>
                <a:cs typeface="Calibri"/>
              </a:rPr>
              <a:t>Laplace </a:t>
            </a:r>
            <a:r>
              <a:rPr sz="2000" spc="-25" dirty="0">
                <a:latin typeface="+mn-lt"/>
                <a:cs typeface="Calibri"/>
              </a:rPr>
              <a:t>transform </a:t>
            </a:r>
            <a:r>
              <a:rPr sz="2000" spc="-5" dirty="0">
                <a:latin typeface="+mn-lt"/>
                <a:cs typeface="Calibri"/>
              </a:rPr>
              <a:t>of the  </a:t>
            </a:r>
            <a:r>
              <a:rPr sz="2000" spc="-10" dirty="0">
                <a:latin typeface="+mn-lt"/>
                <a:cs typeface="Calibri"/>
              </a:rPr>
              <a:t>output to </a:t>
            </a:r>
            <a:r>
              <a:rPr sz="2000" spc="-5" dirty="0">
                <a:latin typeface="+mn-lt"/>
                <a:cs typeface="Calibri"/>
              </a:rPr>
              <a:t>the Laplace </a:t>
            </a:r>
            <a:r>
              <a:rPr sz="2000" spc="-25" dirty="0">
                <a:latin typeface="+mn-lt"/>
                <a:cs typeface="Calibri"/>
              </a:rPr>
              <a:t>transform </a:t>
            </a:r>
            <a:r>
              <a:rPr sz="2000" spc="-5" dirty="0">
                <a:latin typeface="+mn-lt"/>
                <a:cs typeface="Calibri"/>
              </a:rPr>
              <a:t>of the input.  </a:t>
            </a:r>
            <a:r>
              <a:rPr sz="2000" spc="-10" dirty="0">
                <a:latin typeface="+mn-lt"/>
                <a:cs typeface="Calibri"/>
              </a:rPr>
              <a:t>Considering </a:t>
            </a:r>
            <a:r>
              <a:rPr sz="2000" spc="-5" dirty="0">
                <a:latin typeface="+mn-lt"/>
                <a:cs typeface="Calibri"/>
              </a:rPr>
              <a:t>all </a:t>
            </a:r>
            <a:r>
              <a:rPr sz="2000" spc="-10" dirty="0">
                <a:latin typeface="+mn-lt"/>
                <a:cs typeface="Calibri"/>
              </a:rPr>
              <a:t>initial conditions </a:t>
            </a:r>
            <a:r>
              <a:rPr sz="2000" spc="-15" dirty="0">
                <a:latin typeface="+mn-lt"/>
                <a:cs typeface="Calibri"/>
              </a:rPr>
              <a:t>to</a:t>
            </a:r>
            <a:r>
              <a:rPr sz="2000" spc="110" dirty="0">
                <a:latin typeface="+mn-lt"/>
                <a:cs typeface="Calibri"/>
              </a:rPr>
              <a:t> </a:t>
            </a:r>
            <a:r>
              <a:rPr sz="2000" spc="-30" dirty="0">
                <a:latin typeface="+mn-lt"/>
                <a:cs typeface="Calibri"/>
              </a:rPr>
              <a:t>zero.</a:t>
            </a:r>
            <a:endParaRPr sz="2000" dirty="0">
              <a:latin typeface="+mn-lt"/>
              <a:cs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656565-80D5-417C-B126-1D37070DBE9A}"/>
              </a:ext>
            </a:extLst>
          </p:cNvPr>
          <p:cNvGrpSpPr/>
          <p:nvPr/>
        </p:nvGrpSpPr>
        <p:grpSpPr>
          <a:xfrm>
            <a:off x="2896444" y="1300998"/>
            <a:ext cx="3253105" cy="1106423"/>
            <a:chOff x="2896444" y="1582011"/>
            <a:chExt cx="3253105" cy="1106423"/>
          </a:xfrm>
        </p:grpSpPr>
        <p:sp>
          <p:nvSpPr>
            <p:cNvPr id="23" name="object 4">
              <a:extLst>
                <a:ext uri="{FF2B5EF4-FFF2-40B4-BE49-F238E27FC236}">
                  <a16:creationId xmlns:a16="http://schemas.microsoft.com/office/drawing/2014/main" id="{EA0883BD-81A4-46DD-9505-6326C337F046}"/>
                </a:ext>
              </a:extLst>
            </p:cNvPr>
            <p:cNvSpPr/>
            <p:nvPr/>
          </p:nvSpPr>
          <p:spPr>
            <a:xfrm>
              <a:off x="5070049" y="1962121"/>
              <a:ext cx="720090" cy="103505"/>
            </a:xfrm>
            <a:custGeom>
              <a:avLst/>
              <a:gdLst/>
              <a:ahLst/>
              <a:cxnLst/>
              <a:rect l="l" t="t" r="r" b="b"/>
              <a:pathLst>
                <a:path w="720089" h="103505">
                  <a:moveTo>
                    <a:pt x="694853" y="51689"/>
                  </a:moveTo>
                  <a:lnTo>
                    <a:pt x="624967" y="92456"/>
                  </a:lnTo>
                  <a:lnTo>
                    <a:pt x="623951" y="96393"/>
                  </a:lnTo>
                  <a:lnTo>
                    <a:pt x="625729" y="99314"/>
                  </a:lnTo>
                  <a:lnTo>
                    <a:pt x="627507" y="102362"/>
                  </a:lnTo>
                  <a:lnTo>
                    <a:pt x="631444" y="103378"/>
                  </a:lnTo>
                  <a:lnTo>
                    <a:pt x="709199" y="58039"/>
                  </a:lnTo>
                  <a:lnTo>
                    <a:pt x="707517" y="58039"/>
                  </a:lnTo>
                  <a:lnTo>
                    <a:pt x="707517" y="57150"/>
                  </a:lnTo>
                  <a:lnTo>
                    <a:pt x="704214" y="57150"/>
                  </a:lnTo>
                  <a:lnTo>
                    <a:pt x="694853" y="51689"/>
                  </a:lnTo>
                  <a:close/>
                </a:path>
                <a:path w="720089" h="103505">
                  <a:moveTo>
                    <a:pt x="683967" y="45339"/>
                  </a:moveTo>
                  <a:lnTo>
                    <a:pt x="0" y="45339"/>
                  </a:lnTo>
                  <a:lnTo>
                    <a:pt x="0" y="58039"/>
                  </a:lnTo>
                  <a:lnTo>
                    <a:pt x="683967" y="58039"/>
                  </a:lnTo>
                  <a:lnTo>
                    <a:pt x="694853" y="51689"/>
                  </a:lnTo>
                  <a:lnTo>
                    <a:pt x="683967" y="45339"/>
                  </a:lnTo>
                  <a:close/>
                </a:path>
                <a:path w="720089" h="103505">
                  <a:moveTo>
                    <a:pt x="709199" y="45339"/>
                  </a:moveTo>
                  <a:lnTo>
                    <a:pt x="707517" y="45339"/>
                  </a:lnTo>
                  <a:lnTo>
                    <a:pt x="707517" y="58039"/>
                  </a:lnTo>
                  <a:lnTo>
                    <a:pt x="709199" y="58039"/>
                  </a:lnTo>
                  <a:lnTo>
                    <a:pt x="720089" y="51689"/>
                  </a:lnTo>
                  <a:lnTo>
                    <a:pt x="709199" y="45339"/>
                  </a:lnTo>
                  <a:close/>
                </a:path>
                <a:path w="720089" h="103505">
                  <a:moveTo>
                    <a:pt x="704214" y="46228"/>
                  </a:moveTo>
                  <a:lnTo>
                    <a:pt x="694853" y="51689"/>
                  </a:lnTo>
                  <a:lnTo>
                    <a:pt x="704214" y="57150"/>
                  </a:lnTo>
                  <a:lnTo>
                    <a:pt x="704214" y="46228"/>
                  </a:lnTo>
                  <a:close/>
                </a:path>
                <a:path w="720089" h="103505">
                  <a:moveTo>
                    <a:pt x="707517" y="46228"/>
                  </a:moveTo>
                  <a:lnTo>
                    <a:pt x="704214" y="46228"/>
                  </a:lnTo>
                  <a:lnTo>
                    <a:pt x="704214" y="57150"/>
                  </a:lnTo>
                  <a:lnTo>
                    <a:pt x="707517" y="57150"/>
                  </a:lnTo>
                  <a:lnTo>
                    <a:pt x="707517" y="46228"/>
                  </a:lnTo>
                  <a:close/>
                </a:path>
                <a:path w="720089" h="103505">
                  <a:moveTo>
                    <a:pt x="631444" y="0"/>
                  </a:moveTo>
                  <a:lnTo>
                    <a:pt x="627507" y="1016"/>
                  </a:lnTo>
                  <a:lnTo>
                    <a:pt x="623951" y="7112"/>
                  </a:lnTo>
                  <a:lnTo>
                    <a:pt x="624967" y="10922"/>
                  </a:lnTo>
                  <a:lnTo>
                    <a:pt x="694853" y="51689"/>
                  </a:lnTo>
                  <a:lnTo>
                    <a:pt x="704214" y="46228"/>
                  </a:lnTo>
                  <a:lnTo>
                    <a:pt x="707517" y="46228"/>
                  </a:lnTo>
                  <a:lnTo>
                    <a:pt x="707517" y="45339"/>
                  </a:lnTo>
                  <a:lnTo>
                    <a:pt x="709199" y="45339"/>
                  </a:lnTo>
                  <a:lnTo>
                    <a:pt x="631444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5">
              <a:extLst>
                <a:ext uri="{FF2B5EF4-FFF2-40B4-BE49-F238E27FC236}">
                  <a16:creationId xmlns:a16="http://schemas.microsoft.com/office/drawing/2014/main" id="{1000B1F0-5B4B-4D2C-AA99-D70ADE2D7562}"/>
                </a:ext>
              </a:extLst>
            </p:cNvPr>
            <p:cNvSpPr/>
            <p:nvPr/>
          </p:nvSpPr>
          <p:spPr>
            <a:xfrm>
              <a:off x="4013409" y="1582011"/>
              <a:ext cx="1178052" cy="11064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6">
              <a:extLst>
                <a:ext uri="{FF2B5EF4-FFF2-40B4-BE49-F238E27FC236}">
                  <a16:creationId xmlns:a16="http://schemas.microsoft.com/office/drawing/2014/main" id="{4088C647-EF04-4555-B5D2-F122290221C5}"/>
                </a:ext>
              </a:extLst>
            </p:cNvPr>
            <p:cNvSpPr/>
            <p:nvPr/>
          </p:nvSpPr>
          <p:spPr>
            <a:xfrm>
              <a:off x="4061923" y="1610598"/>
              <a:ext cx="1080122" cy="100811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7">
              <a:extLst>
                <a:ext uri="{FF2B5EF4-FFF2-40B4-BE49-F238E27FC236}">
                  <a16:creationId xmlns:a16="http://schemas.microsoft.com/office/drawing/2014/main" id="{521DED54-5CE4-456E-971B-0C4A2039C75B}"/>
                </a:ext>
              </a:extLst>
            </p:cNvPr>
            <p:cNvSpPr txBox="1"/>
            <p:nvPr/>
          </p:nvSpPr>
          <p:spPr>
            <a:xfrm>
              <a:off x="4061923" y="1610598"/>
              <a:ext cx="1080135" cy="1008380"/>
            </a:xfrm>
            <a:prstGeom prst="rect">
              <a:avLst/>
            </a:prstGeom>
            <a:ln w="12700">
              <a:solidFill>
                <a:srgbClr val="497DBA"/>
              </a:solidFill>
            </a:ln>
          </p:spPr>
          <p:txBody>
            <a:bodyPr vert="horz" wrap="square" lIns="0" tIns="190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5"/>
                </a:spcBef>
              </a:pPr>
              <a:endParaRPr sz="2400" dirty="0">
                <a:latin typeface="Times New Roman"/>
                <a:cs typeface="Times New Roman"/>
              </a:endParaRPr>
            </a:p>
            <a:p>
              <a:pPr marL="303530">
                <a:lnSpc>
                  <a:spcPct val="100000"/>
                </a:lnSpc>
              </a:pPr>
              <a:r>
                <a:rPr sz="1800" spc="-5" dirty="0">
                  <a:latin typeface="Calibri"/>
                  <a:cs typeface="Calibri"/>
                </a:rPr>
                <a:t>Plant</a:t>
              </a:r>
              <a:endParaRPr sz="1800" dirty="0">
                <a:latin typeface="Calibri"/>
                <a:cs typeface="Calibri"/>
              </a:endParaRPr>
            </a:p>
          </p:txBody>
        </p:sp>
        <p:sp>
          <p:nvSpPr>
            <p:cNvPr id="27" name="object 8">
              <a:extLst>
                <a:ext uri="{FF2B5EF4-FFF2-40B4-BE49-F238E27FC236}">
                  <a16:creationId xmlns:a16="http://schemas.microsoft.com/office/drawing/2014/main" id="{97C41E84-58BA-4AA4-B3D7-CE2890BDF218}"/>
                </a:ext>
              </a:extLst>
            </p:cNvPr>
            <p:cNvSpPr/>
            <p:nvPr/>
          </p:nvSpPr>
          <p:spPr>
            <a:xfrm>
              <a:off x="3327736" y="1964408"/>
              <a:ext cx="720090" cy="103505"/>
            </a:xfrm>
            <a:custGeom>
              <a:avLst/>
              <a:gdLst/>
              <a:ahLst/>
              <a:cxnLst/>
              <a:rect l="l" t="t" r="r" b="b"/>
              <a:pathLst>
                <a:path w="720089" h="103505">
                  <a:moveTo>
                    <a:pt x="694871" y="51752"/>
                  </a:moveTo>
                  <a:lnTo>
                    <a:pt x="625094" y="92456"/>
                  </a:lnTo>
                  <a:lnTo>
                    <a:pt x="624077" y="96393"/>
                  </a:lnTo>
                  <a:lnTo>
                    <a:pt x="627634" y="102488"/>
                  </a:lnTo>
                  <a:lnTo>
                    <a:pt x="631444" y="103505"/>
                  </a:lnTo>
                  <a:lnTo>
                    <a:pt x="709199" y="58166"/>
                  </a:lnTo>
                  <a:lnTo>
                    <a:pt x="707517" y="58166"/>
                  </a:lnTo>
                  <a:lnTo>
                    <a:pt x="707517" y="57276"/>
                  </a:lnTo>
                  <a:lnTo>
                    <a:pt x="704342" y="57276"/>
                  </a:lnTo>
                  <a:lnTo>
                    <a:pt x="694871" y="51752"/>
                  </a:lnTo>
                  <a:close/>
                </a:path>
                <a:path w="720089" h="103505">
                  <a:moveTo>
                    <a:pt x="684094" y="45466"/>
                  </a:moveTo>
                  <a:lnTo>
                    <a:pt x="0" y="45466"/>
                  </a:lnTo>
                  <a:lnTo>
                    <a:pt x="0" y="58166"/>
                  </a:lnTo>
                  <a:lnTo>
                    <a:pt x="683876" y="58166"/>
                  </a:lnTo>
                  <a:lnTo>
                    <a:pt x="694871" y="51752"/>
                  </a:lnTo>
                  <a:lnTo>
                    <a:pt x="684094" y="45466"/>
                  </a:lnTo>
                  <a:close/>
                </a:path>
                <a:path w="720089" h="103505">
                  <a:moveTo>
                    <a:pt x="709227" y="45466"/>
                  </a:moveTo>
                  <a:lnTo>
                    <a:pt x="707517" y="45466"/>
                  </a:lnTo>
                  <a:lnTo>
                    <a:pt x="707517" y="58166"/>
                  </a:lnTo>
                  <a:lnTo>
                    <a:pt x="709199" y="58166"/>
                  </a:lnTo>
                  <a:lnTo>
                    <a:pt x="720089" y="51816"/>
                  </a:lnTo>
                  <a:lnTo>
                    <a:pt x="709227" y="45466"/>
                  </a:lnTo>
                  <a:close/>
                </a:path>
                <a:path w="720089" h="103505">
                  <a:moveTo>
                    <a:pt x="704342" y="46228"/>
                  </a:moveTo>
                  <a:lnTo>
                    <a:pt x="694871" y="51752"/>
                  </a:lnTo>
                  <a:lnTo>
                    <a:pt x="704342" y="57276"/>
                  </a:lnTo>
                  <a:lnTo>
                    <a:pt x="704342" y="46228"/>
                  </a:lnTo>
                  <a:close/>
                </a:path>
                <a:path w="720089" h="103505">
                  <a:moveTo>
                    <a:pt x="707517" y="46228"/>
                  </a:moveTo>
                  <a:lnTo>
                    <a:pt x="704342" y="46228"/>
                  </a:lnTo>
                  <a:lnTo>
                    <a:pt x="704342" y="57276"/>
                  </a:lnTo>
                  <a:lnTo>
                    <a:pt x="707517" y="57276"/>
                  </a:lnTo>
                  <a:lnTo>
                    <a:pt x="707517" y="46228"/>
                  </a:lnTo>
                  <a:close/>
                </a:path>
                <a:path w="720089" h="103505">
                  <a:moveTo>
                    <a:pt x="631444" y="0"/>
                  </a:moveTo>
                  <a:lnTo>
                    <a:pt x="627634" y="1143"/>
                  </a:lnTo>
                  <a:lnTo>
                    <a:pt x="625856" y="4063"/>
                  </a:lnTo>
                  <a:lnTo>
                    <a:pt x="624077" y="7112"/>
                  </a:lnTo>
                  <a:lnTo>
                    <a:pt x="625094" y="11049"/>
                  </a:lnTo>
                  <a:lnTo>
                    <a:pt x="694871" y="51752"/>
                  </a:lnTo>
                  <a:lnTo>
                    <a:pt x="704342" y="46228"/>
                  </a:lnTo>
                  <a:lnTo>
                    <a:pt x="707517" y="46228"/>
                  </a:lnTo>
                  <a:lnTo>
                    <a:pt x="707517" y="45466"/>
                  </a:lnTo>
                  <a:lnTo>
                    <a:pt x="709227" y="45466"/>
                  </a:lnTo>
                  <a:lnTo>
                    <a:pt x="631444" y="0"/>
                  </a:lnTo>
                  <a:close/>
                </a:path>
              </a:pathLst>
            </a:custGeom>
            <a:solidFill>
              <a:srgbClr val="497D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9">
              <a:extLst>
                <a:ext uri="{FF2B5EF4-FFF2-40B4-BE49-F238E27FC236}">
                  <a16:creationId xmlns:a16="http://schemas.microsoft.com/office/drawing/2014/main" id="{A667F8EC-D9F7-412A-B105-A406AAD27697}"/>
                </a:ext>
              </a:extLst>
            </p:cNvPr>
            <p:cNvSpPr txBox="1"/>
            <p:nvPr/>
          </p:nvSpPr>
          <p:spPr>
            <a:xfrm>
              <a:off x="5805379" y="1729661"/>
              <a:ext cx="344170" cy="30035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Calibri"/>
                  <a:cs typeface="Calibri"/>
                </a:rPr>
                <a:t>y</a:t>
              </a:r>
              <a:r>
                <a:rPr sz="1800" spc="-10" dirty="0">
                  <a:latin typeface="Calibri"/>
                  <a:cs typeface="Calibri"/>
                </a:rPr>
                <a:t>(</a:t>
              </a:r>
              <a:r>
                <a:rPr sz="1800" dirty="0">
                  <a:latin typeface="Calibri"/>
                  <a:cs typeface="Calibri"/>
                </a:rPr>
                <a:t>t)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29" name="object 10">
              <a:extLst>
                <a:ext uri="{FF2B5EF4-FFF2-40B4-BE49-F238E27FC236}">
                  <a16:creationId xmlns:a16="http://schemas.microsoft.com/office/drawing/2014/main" id="{3B3E02AC-B804-4F20-A423-F1591327B4C2}"/>
                </a:ext>
              </a:extLst>
            </p:cNvPr>
            <p:cNvSpPr txBox="1"/>
            <p:nvPr/>
          </p:nvSpPr>
          <p:spPr>
            <a:xfrm>
              <a:off x="2896444" y="1817722"/>
              <a:ext cx="35750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i="1" spc="-5" dirty="0">
                  <a:latin typeface="Calibri"/>
                  <a:cs typeface="Calibri"/>
                </a:rPr>
                <a:t>u</a:t>
              </a:r>
              <a:r>
                <a:rPr sz="1800" i="1" spc="-10" dirty="0">
                  <a:latin typeface="Calibri"/>
                  <a:cs typeface="Calibri"/>
                </a:rPr>
                <a:t>(</a:t>
              </a:r>
              <a:r>
                <a:rPr sz="1800" i="1" dirty="0">
                  <a:latin typeface="Calibri"/>
                  <a:cs typeface="Calibri"/>
                </a:rPr>
                <a:t>t)</a:t>
              </a:r>
              <a:endParaRPr sz="1800" dirty="0">
                <a:latin typeface="Calibri"/>
                <a:cs typeface="Calibri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49776" y="4165528"/>
            <a:ext cx="8559800" cy="1781777"/>
            <a:chOff x="349776" y="4165528"/>
            <a:chExt cx="8559800" cy="1781777"/>
          </a:xfrm>
        </p:grpSpPr>
        <p:sp>
          <p:nvSpPr>
            <p:cNvPr id="20" name="object 3">
              <a:extLst>
                <a:ext uri="{FF2B5EF4-FFF2-40B4-BE49-F238E27FC236}">
                  <a16:creationId xmlns:a16="http://schemas.microsoft.com/office/drawing/2014/main" id="{EDC7DCE5-7BCE-4BAE-90C1-E9B97A02FC83}"/>
                </a:ext>
              </a:extLst>
            </p:cNvPr>
            <p:cNvSpPr txBox="1"/>
            <p:nvPr/>
          </p:nvSpPr>
          <p:spPr>
            <a:xfrm>
              <a:off x="349776" y="4165528"/>
              <a:ext cx="8559800" cy="3206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55600" marR="5080" indent="-342900">
                <a:lnSpc>
                  <a:spcPct val="100000"/>
                </a:lnSpc>
                <a:spcBef>
                  <a:spcPts val="100"/>
                </a:spcBef>
                <a:buFont typeface="Arial"/>
                <a:buChar char="•"/>
                <a:tabLst>
                  <a:tab pos="354965" algn="l"/>
                  <a:tab pos="355600" algn="l"/>
                </a:tabLst>
              </a:pPr>
              <a:r>
                <a:rPr sz="2000" spc="-5" dirty="0">
                  <a:latin typeface="+mn-lt"/>
                  <a:cs typeface="Calibri"/>
                </a:rPr>
                <a:t>Then </a:t>
              </a:r>
              <a:r>
                <a:rPr sz="2000" dirty="0">
                  <a:latin typeface="+mn-lt"/>
                  <a:cs typeface="Calibri"/>
                </a:rPr>
                <a:t>the </a:t>
              </a:r>
              <a:r>
                <a:rPr sz="2000" spc="-25" dirty="0">
                  <a:latin typeface="+mn-lt"/>
                  <a:cs typeface="Calibri"/>
                </a:rPr>
                <a:t>transfer </a:t>
              </a:r>
              <a:r>
                <a:rPr sz="2000" spc="-10" dirty="0">
                  <a:latin typeface="+mn-lt"/>
                  <a:cs typeface="Calibri"/>
                </a:rPr>
                <a:t>function </a:t>
              </a:r>
              <a:r>
                <a:rPr sz="2000" dirty="0">
                  <a:solidFill>
                    <a:srgbClr val="FF0000"/>
                  </a:solidFill>
                  <a:latin typeface="+mn-lt"/>
                  <a:cs typeface="Calibri"/>
                </a:rPr>
                <a:t>G(S) </a:t>
              </a:r>
              <a:r>
                <a:rPr sz="2000" dirty="0">
                  <a:latin typeface="+mn-lt"/>
                  <a:cs typeface="Calibri"/>
                </a:rPr>
                <a:t>of the </a:t>
              </a:r>
              <a:r>
                <a:rPr sz="2000" spc="-10" dirty="0">
                  <a:latin typeface="+mn-lt"/>
                  <a:cs typeface="Calibri"/>
                </a:rPr>
                <a:t>plant </a:t>
              </a:r>
              <a:r>
                <a:rPr sz="2000" spc="-5" dirty="0">
                  <a:latin typeface="+mn-lt"/>
                  <a:cs typeface="Calibri"/>
                </a:rPr>
                <a:t>is </a:t>
              </a:r>
              <a:r>
                <a:rPr sz="2000" spc="-10" dirty="0">
                  <a:latin typeface="+mn-lt"/>
                  <a:cs typeface="Calibri"/>
                </a:rPr>
                <a:t>given  </a:t>
              </a:r>
              <a:r>
                <a:rPr sz="2000" dirty="0">
                  <a:latin typeface="+mn-lt"/>
                  <a:cs typeface="Calibri"/>
                </a:rPr>
                <a:t>as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4B8A77F-87A1-4678-9DB6-6FA95FE61D0A}"/>
                </a:ext>
              </a:extLst>
            </p:cNvPr>
            <p:cNvGrpSpPr/>
            <p:nvPr/>
          </p:nvGrpSpPr>
          <p:grpSpPr>
            <a:xfrm>
              <a:off x="1622952" y="4984137"/>
              <a:ext cx="5978154" cy="963168"/>
              <a:chOff x="1622952" y="4984137"/>
              <a:chExt cx="5978154" cy="963168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F779697-CC3E-4A89-909D-0E351C711435}"/>
                  </a:ext>
                </a:extLst>
              </p:cNvPr>
              <p:cNvGrpSpPr/>
              <p:nvPr/>
            </p:nvGrpSpPr>
            <p:grpSpPr>
              <a:xfrm>
                <a:off x="4312694" y="4984137"/>
                <a:ext cx="3288412" cy="963168"/>
                <a:chOff x="3018896" y="5987356"/>
                <a:chExt cx="3288412" cy="963168"/>
              </a:xfrm>
            </p:grpSpPr>
            <p:sp>
              <p:nvSpPr>
                <p:cNvPr id="21" name="object 4">
                  <a:extLst>
                    <a:ext uri="{FF2B5EF4-FFF2-40B4-BE49-F238E27FC236}">
                      <a16:creationId xmlns:a16="http://schemas.microsoft.com/office/drawing/2014/main" id="{E55F3C57-8A1E-4BDB-B84A-6DB74E13808B}"/>
                    </a:ext>
                  </a:extLst>
                </p:cNvPr>
                <p:cNvSpPr/>
                <p:nvPr/>
              </p:nvSpPr>
              <p:spPr>
                <a:xfrm>
                  <a:off x="5192247" y="6397057"/>
                  <a:ext cx="720090" cy="103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089" h="103504">
                      <a:moveTo>
                        <a:pt x="694980" y="51688"/>
                      </a:moveTo>
                      <a:lnTo>
                        <a:pt x="625093" y="92456"/>
                      </a:lnTo>
                      <a:lnTo>
                        <a:pt x="624077" y="96265"/>
                      </a:lnTo>
                      <a:lnTo>
                        <a:pt x="627634" y="102362"/>
                      </a:lnTo>
                      <a:lnTo>
                        <a:pt x="631443" y="103377"/>
                      </a:lnTo>
                      <a:lnTo>
                        <a:pt x="709199" y="58038"/>
                      </a:lnTo>
                      <a:lnTo>
                        <a:pt x="707516" y="58038"/>
                      </a:lnTo>
                      <a:lnTo>
                        <a:pt x="707516" y="57150"/>
                      </a:lnTo>
                      <a:lnTo>
                        <a:pt x="704341" y="57150"/>
                      </a:lnTo>
                      <a:lnTo>
                        <a:pt x="694980" y="51688"/>
                      </a:lnTo>
                      <a:close/>
                    </a:path>
                    <a:path w="720089" h="103504">
                      <a:moveTo>
                        <a:pt x="684094" y="45338"/>
                      </a:moveTo>
                      <a:lnTo>
                        <a:pt x="0" y="45338"/>
                      </a:lnTo>
                      <a:lnTo>
                        <a:pt x="0" y="58038"/>
                      </a:lnTo>
                      <a:lnTo>
                        <a:pt x="684094" y="58038"/>
                      </a:lnTo>
                      <a:lnTo>
                        <a:pt x="694980" y="51688"/>
                      </a:lnTo>
                      <a:lnTo>
                        <a:pt x="684094" y="45338"/>
                      </a:lnTo>
                      <a:close/>
                    </a:path>
                    <a:path w="720089" h="103504">
                      <a:moveTo>
                        <a:pt x="709199" y="45338"/>
                      </a:moveTo>
                      <a:lnTo>
                        <a:pt x="707516" y="45338"/>
                      </a:lnTo>
                      <a:lnTo>
                        <a:pt x="707516" y="58038"/>
                      </a:lnTo>
                      <a:lnTo>
                        <a:pt x="709199" y="58038"/>
                      </a:lnTo>
                      <a:lnTo>
                        <a:pt x="720089" y="51688"/>
                      </a:lnTo>
                      <a:lnTo>
                        <a:pt x="709199" y="45338"/>
                      </a:lnTo>
                      <a:close/>
                    </a:path>
                    <a:path w="720089" h="103504">
                      <a:moveTo>
                        <a:pt x="704341" y="46227"/>
                      </a:moveTo>
                      <a:lnTo>
                        <a:pt x="694980" y="51688"/>
                      </a:lnTo>
                      <a:lnTo>
                        <a:pt x="704341" y="57150"/>
                      </a:lnTo>
                      <a:lnTo>
                        <a:pt x="704341" y="46227"/>
                      </a:lnTo>
                      <a:close/>
                    </a:path>
                    <a:path w="720089" h="103504">
                      <a:moveTo>
                        <a:pt x="707516" y="46227"/>
                      </a:moveTo>
                      <a:lnTo>
                        <a:pt x="704341" y="46227"/>
                      </a:lnTo>
                      <a:lnTo>
                        <a:pt x="704341" y="57150"/>
                      </a:lnTo>
                      <a:lnTo>
                        <a:pt x="707516" y="57150"/>
                      </a:lnTo>
                      <a:lnTo>
                        <a:pt x="707516" y="46227"/>
                      </a:lnTo>
                      <a:close/>
                    </a:path>
                    <a:path w="720089" h="103504">
                      <a:moveTo>
                        <a:pt x="631443" y="0"/>
                      </a:moveTo>
                      <a:lnTo>
                        <a:pt x="627634" y="1015"/>
                      </a:lnTo>
                      <a:lnTo>
                        <a:pt x="624077" y="7112"/>
                      </a:lnTo>
                      <a:lnTo>
                        <a:pt x="625093" y="10921"/>
                      </a:lnTo>
                      <a:lnTo>
                        <a:pt x="694980" y="51688"/>
                      </a:lnTo>
                      <a:lnTo>
                        <a:pt x="704341" y="46227"/>
                      </a:lnTo>
                      <a:lnTo>
                        <a:pt x="707516" y="46227"/>
                      </a:lnTo>
                      <a:lnTo>
                        <a:pt x="707516" y="45338"/>
                      </a:lnTo>
                      <a:lnTo>
                        <a:pt x="709199" y="45338"/>
                      </a:lnTo>
                      <a:lnTo>
                        <a:pt x="631443" y="0"/>
                      </a:lnTo>
                      <a:close/>
                    </a:path>
                  </a:pathLst>
                </a:custGeom>
                <a:solidFill>
                  <a:srgbClr val="497DBA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6" name="object 5">
                  <a:extLst>
                    <a:ext uri="{FF2B5EF4-FFF2-40B4-BE49-F238E27FC236}">
                      <a16:creationId xmlns:a16="http://schemas.microsoft.com/office/drawing/2014/main" id="{C3C4CE10-0807-4592-B275-FB71B0EA3466}"/>
                    </a:ext>
                  </a:extLst>
                </p:cNvPr>
                <p:cNvSpPr/>
                <p:nvPr/>
              </p:nvSpPr>
              <p:spPr>
                <a:xfrm>
                  <a:off x="4135861" y="5987356"/>
                  <a:ext cx="1178052" cy="963168"/>
                </a:xfrm>
                <a:prstGeom prst="rect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7" name="object 6">
                  <a:extLst>
                    <a:ext uri="{FF2B5EF4-FFF2-40B4-BE49-F238E27FC236}">
                      <a16:creationId xmlns:a16="http://schemas.microsoft.com/office/drawing/2014/main" id="{84C283CC-19DB-4E79-88B6-8EFD0D25E58C}"/>
                    </a:ext>
                  </a:extLst>
                </p:cNvPr>
                <p:cNvSpPr/>
                <p:nvPr/>
              </p:nvSpPr>
              <p:spPr>
                <a:xfrm>
                  <a:off x="4184122" y="6016705"/>
                  <a:ext cx="1080122" cy="864095"/>
                </a:xfrm>
                <a:prstGeom prst="rect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8" name="object 7">
                  <a:extLst>
                    <a:ext uri="{FF2B5EF4-FFF2-40B4-BE49-F238E27FC236}">
                      <a16:creationId xmlns:a16="http://schemas.microsoft.com/office/drawing/2014/main" id="{0ABE8EAD-5DFA-4F64-9D2D-361890E524C3}"/>
                    </a:ext>
                  </a:extLst>
                </p:cNvPr>
                <p:cNvSpPr txBox="1"/>
                <p:nvPr/>
              </p:nvSpPr>
              <p:spPr>
                <a:xfrm>
                  <a:off x="4184122" y="6016705"/>
                  <a:ext cx="1080135" cy="864235"/>
                </a:xfrm>
                <a:prstGeom prst="rect">
                  <a:avLst/>
                </a:prstGeom>
                <a:ln w="12700">
                  <a:solidFill>
                    <a:srgbClr val="497DBA"/>
                  </a:solidFill>
                </a:ln>
              </p:spPr>
              <p:txBody>
                <a:bodyPr vert="horz" wrap="square" lIns="0" tIns="2540" rIns="0" bIns="0" rtlCol="0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ts val="20"/>
                    </a:spcBef>
                  </a:pPr>
                  <a:endParaRPr sz="1900" dirty="0">
                    <a:latin typeface="Times New Roman"/>
                    <a:cs typeface="Times New Roman"/>
                  </a:endParaRPr>
                </a:p>
                <a:p>
                  <a:pPr marL="346710">
                    <a:lnSpc>
                      <a:spcPct val="100000"/>
                    </a:lnSpc>
                  </a:pPr>
                  <a:r>
                    <a:rPr sz="1800" spc="-5" dirty="0">
                      <a:latin typeface="Calibri"/>
                      <a:cs typeface="Calibri"/>
                    </a:rPr>
                    <a:t>G(S)</a:t>
                  </a:r>
                  <a:endParaRPr sz="1800" dirty="0">
                    <a:latin typeface="Calibri"/>
                    <a:cs typeface="Calibri"/>
                  </a:endParaRPr>
                </a:p>
              </p:txBody>
            </p:sp>
            <p:sp>
              <p:nvSpPr>
                <p:cNvPr id="39" name="object 8">
                  <a:extLst>
                    <a:ext uri="{FF2B5EF4-FFF2-40B4-BE49-F238E27FC236}">
                      <a16:creationId xmlns:a16="http://schemas.microsoft.com/office/drawing/2014/main" id="{992F5B9A-42CA-4736-8AA6-6E764DE0D645}"/>
                    </a:ext>
                  </a:extLst>
                </p:cNvPr>
                <p:cNvSpPr/>
                <p:nvPr/>
              </p:nvSpPr>
              <p:spPr>
                <a:xfrm>
                  <a:off x="3449934" y="6398708"/>
                  <a:ext cx="720725" cy="1035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0725" h="103504">
                      <a:moveTo>
                        <a:pt x="694980" y="51688"/>
                      </a:moveTo>
                      <a:lnTo>
                        <a:pt x="625093" y="92456"/>
                      </a:lnTo>
                      <a:lnTo>
                        <a:pt x="624077" y="96265"/>
                      </a:lnTo>
                      <a:lnTo>
                        <a:pt x="627633" y="102362"/>
                      </a:lnTo>
                      <a:lnTo>
                        <a:pt x="631570" y="103377"/>
                      </a:lnTo>
                      <a:lnTo>
                        <a:pt x="634491" y="101600"/>
                      </a:lnTo>
                      <a:lnTo>
                        <a:pt x="709310" y="58038"/>
                      </a:lnTo>
                      <a:lnTo>
                        <a:pt x="707516" y="58038"/>
                      </a:lnTo>
                      <a:lnTo>
                        <a:pt x="707516" y="57150"/>
                      </a:lnTo>
                      <a:lnTo>
                        <a:pt x="704341" y="57150"/>
                      </a:lnTo>
                      <a:lnTo>
                        <a:pt x="694980" y="51688"/>
                      </a:lnTo>
                      <a:close/>
                    </a:path>
                    <a:path w="720725" h="103504">
                      <a:moveTo>
                        <a:pt x="684094" y="45338"/>
                      </a:moveTo>
                      <a:lnTo>
                        <a:pt x="0" y="45338"/>
                      </a:lnTo>
                      <a:lnTo>
                        <a:pt x="0" y="58038"/>
                      </a:lnTo>
                      <a:lnTo>
                        <a:pt x="684094" y="58038"/>
                      </a:lnTo>
                      <a:lnTo>
                        <a:pt x="694980" y="51688"/>
                      </a:lnTo>
                      <a:lnTo>
                        <a:pt x="684094" y="45338"/>
                      </a:lnTo>
                      <a:close/>
                    </a:path>
                    <a:path w="720725" h="103504">
                      <a:moveTo>
                        <a:pt x="709310" y="45338"/>
                      </a:moveTo>
                      <a:lnTo>
                        <a:pt x="707516" y="45338"/>
                      </a:lnTo>
                      <a:lnTo>
                        <a:pt x="707516" y="58038"/>
                      </a:lnTo>
                      <a:lnTo>
                        <a:pt x="709310" y="58038"/>
                      </a:lnTo>
                      <a:lnTo>
                        <a:pt x="720216" y="51688"/>
                      </a:lnTo>
                      <a:lnTo>
                        <a:pt x="709310" y="45338"/>
                      </a:lnTo>
                      <a:close/>
                    </a:path>
                    <a:path w="720725" h="103504">
                      <a:moveTo>
                        <a:pt x="704341" y="46227"/>
                      </a:moveTo>
                      <a:lnTo>
                        <a:pt x="694980" y="51688"/>
                      </a:lnTo>
                      <a:lnTo>
                        <a:pt x="704341" y="57150"/>
                      </a:lnTo>
                      <a:lnTo>
                        <a:pt x="704341" y="46227"/>
                      </a:lnTo>
                      <a:close/>
                    </a:path>
                    <a:path w="720725" h="103504">
                      <a:moveTo>
                        <a:pt x="707516" y="46227"/>
                      </a:moveTo>
                      <a:lnTo>
                        <a:pt x="704341" y="46227"/>
                      </a:lnTo>
                      <a:lnTo>
                        <a:pt x="704341" y="57150"/>
                      </a:lnTo>
                      <a:lnTo>
                        <a:pt x="707516" y="57150"/>
                      </a:lnTo>
                      <a:lnTo>
                        <a:pt x="707516" y="46227"/>
                      </a:lnTo>
                      <a:close/>
                    </a:path>
                    <a:path w="720725" h="103504">
                      <a:moveTo>
                        <a:pt x="631570" y="0"/>
                      </a:moveTo>
                      <a:lnTo>
                        <a:pt x="627633" y="1015"/>
                      </a:lnTo>
                      <a:lnTo>
                        <a:pt x="624077" y="7112"/>
                      </a:lnTo>
                      <a:lnTo>
                        <a:pt x="625093" y="10921"/>
                      </a:lnTo>
                      <a:lnTo>
                        <a:pt x="694980" y="51688"/>
                      </a:lnTo>
                      <a:lnTo>
                        <a:pt x="704341" y="46227"/>
                      </a:lnTo>
                      <a:lnTo>
                        <a:pt x="707516" y="46227"/>
                      </a:lnTo>
                      <a:lnTo>
                        <a:pt x="707516" y="45338"/>
                      </a:lnTo>
                      <a:lnTo>
                        <a:pt x="709310" y="45338"/>
                      </a:lnTo>
                      <a:lnTo>
                        <a:pt x="634491" y="1777"/>
                      </a:lnTo>
                      <a:lnTo>
                        <a:pt x="631570" y="0"/>
                      </a:lnTo>
                      <a:close/>
                    </a:path>
                  </a:pathLst>
                </a:custGeom>
                <a:solidFill>
                  <a:srgbClr val="497DBA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0" name="object 9">
                  <a:extLst>
                    <a:ext uri="{FF2B5EF4-FFF2-40B4-BE49-F238E27FC236}">
                      <a16:creationId xmlns:a16="http://schemas.microsoft.com/office/drawing/2014/main" id="{7D261B7D-AA18-4216-B2DA-E709E29B67BC}"/>
                    </a:ext>
                  </a:extLst>
                </p:cNvPr>
                <p:cNvSpPr txBox="1"/>
                <p:nvPr/>
              </p:nvSpPr>
              <p:spPr>
                <a:xfrm>
                  <a:off x="5927578" y="6251389"/>
                  <a:ext cx="379730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sz="1800" spc="-5" dirty="0">
                      <a:latin typeface="Calibri"/>
                      <a:cs typeface="Calibri"/>
                    </a:rPr>
                    <a:t>Y</a:t>
                  </a:r>
                  <a:r>
                    <a:rPr sz="1800" spc="-10" dirty="0">
                      <a:latin typeface="Calibri"/>
                      <a:cs typeface="Calibri"/>
                    </a:rPr>
                    <a:t>(</a:t>
                  </a:r>
                  <a:r>
                    <a:rPr sz="1800" spc="-5" dirty="0">
                      <a:latin typeface="Calibri"/>
                      <a:cs typeface="Calibri"/>
                    </a:rPr>
                    <a:t>S)</a:t>
                  </a:r>
                  <a:endParaRPr sz="1800">
                    <a:latin typeface="Calibri"/>
                    <a:cs typeface="Calibri"/>
                  </a:endParaRPr>
                </a:p>
              </p:txBody>
            </p:sp>
            <p:sp>
              <p:nvSpPr>
                <p:cNvPr id="41" name="object 10">
                  <a:extLst>
                    <a:ext uri="{FF2B5EF4-FFF2-40B4-BE49-F238E27FC236}">
                      <a16:creationId xmlns:a16="http://schemas.microsoft.com/office/drawing/2014/main" id="{4F466F33-8F80-49BB-A2B0-364E0840517F}"/>
                    </a:ext>
                  </a:extLst>
                </p:cNvPr>
                <p:cNvSpPr txBox="1"/>
                <p:nvPr/>
              </p:nvSpPr>
              <p:spPr>
                <a:xfrm>
                  <a:off x="3018896" y="6285805"/>
                  <a:ext cx="413384" cy="29972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sz="1800" i="1" dirty="0">
                      <a:latin typeface="Calibri"/>
                      <a:cs typeface="Calibri"/>
                    </a:rPr>
                    <a:t>U</a:t>
                  </a:r>
                  <a:r>
                    <a:rPr sz="1800" i="1" spc="-10" dirty="0">
                      <a:latin typeface="Calibri"/>
                      <a:cs typeface="Calibri"/>
                    </a:rPr>
                    <a:t>(</a:t>
                  </a:r>
                  <a:r>
                    <a:rPr sz="1800" i="1" spc="-5" dirty="0">
                      <a:latin typeface="Calibri"/>
                      <a:cs typeface="Calibri"/>
                    </a:rPr>
                    <a:t>S)</a:t>
                  </a:r>
                  <a:endParaRPr sz="1800">
                    <a:latin typeface="Calibri"/>
                    <a:cs typeface="Calibri"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27140FA-9C12-47D2-9C8E-5CF0FE2B2E33}"/>
                  </a:ext>
                </a:extLst>
              </p:cNvPr>
              <p:cNvGrpSpPr/>
              <p:nvPr/>
            </p:nvGrpSpPr>
            <p:grpSpPr>
              <a:xfrm>
                <a:off x="1622952" y="5042942"/>
                <a:ext cx="1672648" cy="845557"/>
                <a:chOff x="3549288" y="4583452"/>
                <a:chExt cx="1672648" cy="845557"/>
              </a:xfrm>
            </p:grpSpPr>
            <p:sp>
              <p:nvSpPr>
                <p:cNvPr id="42" name="object 11">
                  <a:extLst>
                    <a:ext uri="{FF2B5EF4-FFF2-40B4-BE49-F238E27FC236}">
                      <a16:creationId xmlns:a16="http://schemas.microsoft.com/office/drawing/2014/main" id="{4129D142-D44B-4308-936A-9166D199908A}"/>
                    </a:ext>
                  </a:extLst>
                </p:cNvPr>
                <p:cNvSpPr/>
                <p:nvPr/>
              </p:nvSpPr>
              <p:spPr>
                <a:xfrm>
                  <a:off x="4538512" y="5029388"/>
                  <a:ext cx="67437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370">
                      <a:moveTo>
                        <a:pt x="0" y="0"/>
                      </a:moveTo>
                      <a:lnTo>
                        <a:pt x="674201" y="0"/>
                      </a:lnTo>
                    </a:path>
                  </a:pathLst>
                </a:custGeom>
                <a:ln w="14538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3" name="object 12">
                  <a:extLst>
                    <a:ext uri="{FF2B5EF4-FFF2-40B4-BE49-F238E27FC236}">
                      <a16:creationId xmlns:a16="http://schemas.microsoft.com/office/drawing/2014/main" id="{50C97CB4-0F35-4F2F-8759-D64267FA71D7}"/>
                    </a:ext>
                  </a:extLst>
                </p:cNvPr>
                <p:cNvSpPr txBox="1"/>
                <p:nvPr/>
              </p:nvSpPr>
              <p:spPr>
                <a:xfrm>
                  <a:off x="4522801" y="5028324"/>
                  <a:ext cx="699135" cy="400685"/>
                </a:xfrm>
                <a:prstGeom prst="rect">
                  <a:avLst/>
                </a:prstGeom>
              </p:spPr>
              <p:txBody>
                <a:bodyPr vert="horz" wrap="square" lIns="0" tIns="1397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10"/>
                    </a:spcBef>
                  </a:pPr>
                  <a:r>
                    <a:rPr sz="2450" i="1" spc="125" dirty="0">
                      <a:latin typeface="Times New Roman"/>
                      <a:cs typeface="Times New Roman"/>
                    </a:rPr>
                    <a:t>U</a:t>
                  </a:r>
                  <a:r>
                    <a:rPr sz="2450" spc="125" dirty="0">
                      <a:latin typeface="Century"/>
                      <a:cs typeface="Century"/>
                    </a:rPr>
                    <a:t>(</a:t>
                  </a:r>
                  <a:r>
                    <a:rPr sz="2450" i="1" spc="125" dirty="0">
                      <a:latin typeface="Times New Roman"/>
                      <a:cs typeface="Times New Roman"/>
                    </a:rPr>
                    <a:t>S</a:t>
                  </a:r>
                  <a:r>
                    <a:rPr sz="2450" i="1" spc="-434" dirty="0">
                      <a:latin typeface="Times New Roman"/>
                      <a:cs typeface="Times New Roman"/>
                    </a:rPr>
                    <a:t> </a:t>
                  </a:r>
                  <a:r>
                    <a:rPr sz="2450" spc="25" dirty="0">
                      <a:latin typeface="Century"/>
                      <a:cs typeface="Century"/>
                    </a:rPr>
                    <a:t>)</a:t>
                  </a:r>
                  <a:endParaRPr sz="2450" dirty="0">
                    <a:latin typeface="Century"/>
                    <a:cs typeface="Century"/>
                  </a:endParaRPr>
                </a:p>
              </p:txBody>
            </p:sp>
            <p:sp>
              <p:nvSpPr>
                <p:cNvPr id="44" name="object 13">
                  <a:extLst>
                    <a:ext uri="{FF2B5EF4-FFF2-40B4-BE49-F238E27FC236}">
                      <a16:creationId xmlns:a16="http://schemas.microsoft.com/office/drawing/2014/main" id="{A503B8B6-01FD-4744-BE21-B6A690248D1E}"/>
                    </a:ext>
                  </a:extLst>
                </p:cNvPr>
                <p:cNvSpPr txBox="1"/>
                <p:nvPr/>
              </p:nvSpPr>
              <p:spPr>
                <a:xfrm>
                  <a:off x="4553486" y="4583452"/>
                  <a:ext cx="646430" cy="400685"/>
                </a:xfrm>
                <a:prstGeom prst="rect">
                  <a:avLst/>
                </a:prstGeom>
              </p:spPr>
              <p:txBody>
                <a:bodyPr vert="horz" wrap="square" lIns="0" tIns="1397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10"/>
                    </a:spcBef>
                  </a:pPr>
                  <a:r>
                    <a:rPr sz="2450" i="1" spc="125" dirty="0">
                      <a:latin typeface="Times New Roman"/>
                      <a:cs typeface="Times New Roman"/>
                    </a:rPr>
                    <a:t>Y</a:t>
                  </a:r>
                  <a:r>
                    <a:rPr sz="2450" spc="125" dirty="0">
                      <a:latin typeface="Century"/>
                      <a:cs typeface="Century"/>
                    </a:rPr>
                    <a:t>(</a:t>
                  </a:r>
                  <a:r>
                    <a:rPr sz="2450" i="1" spc="125" dirty="0">
                      <a:latin typeface="Times New Roman"/>
                      <a:cs typeface="Times New Roman"/>
                    </a:rPr>
                    <a:t>S</a:t>
                  </a:r>
                  <a:r>
                    <a:rPr sz="2450" i="1" spc="-445" dirty="0">
                      <a:latin typeface="Times New Roman"/>
                      <a:cs typeface="Times New Roman"/>
                    </a:rPr>
                    <a:t> </a:t>
                  </a:r>
                  <a:r>
                    <a:rPr sz="2450" spc="25" dirty="0">
                      <a:latin typeface="Century"/>
                      <a:cs typeface="Century"/>
                    </a:rPr>
                    <a:t>)</a:t>
                  </a:r>
                  <a:endParaRPr sz="2450" dirty="0">
                    <a:latin typeface="Century"/>
                    <a:cs typeface="Century"/>
                  </a:endParaRPr>
                </a:p>
              </p:txBody>
            </p:sp>
            <p:sp>
              <p:nvSpPr>
                <p:cNvPr id="45" name="object 14">
                  <a:extLst>
                    <a:ext uri="{FF2B5EF4-FFF2-40B4-BE49-F238E27FC236}">
                      <a16:creationId xmlns:a16="http://schemas.microsoft.com/office/drawing/2014/main" id="{61AD5F70-0181-454A-8C9D-FFDCE63E55E4}"/>
                    </a:ext>
                  </a:extLst>
                </p:cNvPr>
                <p:cNvSpPr txBox="1"/>
                <p:nvPr/>
              </p:nvSpPr>
              <p:spPr>
                <a:xfrm>
                  <a:off x="3549288" y="4782625"/>
                  <a:ext cx="671195" cy="400685"/>
                </a:xfrm>
                <a:prstGeom prst="rect">
                  <a:avLst/>
                </a:prstGeom>
              </p:spPr>
              <p:txBody>
                <a:bodyPr vert="horz" wrap="square" lIns="0" tIns="1397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10"/>
                    </a:spcBef>
                  </a:pPr>
                  <a:r>
                    <a:rPr sz="2450" i="1" spc="55" dirty="0">
                      <a:latin typeface="Times New Roman"/>
                      <a:cs typeface="Times New Roman"/>
                    </a:rPr>
                    <a:t>G</a:t>
                  </a:r>
                  <a:r>
                    <a:rPr sz="2450" spc="55" dirty="0">
                      <a:latin typeface="Century"/>
                      <a:cs typeface="Century"/>
                    </a:rPr>
                    <a:t>(</a:t>
                  </a:r>
                  <a:r>
                    <a:rPr sz="2450" i="1" spc="55" dirty="0">
                      <a:latin typeface="Times New Roman"/>
                      <a:cs typeface="Times New Roman"/>
                    </a:rPr>
                    <a:t>S</a:t>
                  </a:r>
                  <a:r>
                    <a:rPr sz="2450" i="1" spc="-445" dirty="0">
                      <a:latin typeface="Times New Roman"/>
                      <a:cs typeface="Times New Roman"/>
                    </a:rPr>
                    <a:t> </a:t>
                  </a:r>
                  <a:r>
                    <a:rPr sz="2450" spc="25" dirty="0">
                      <a:latin typeface="Century"/>
                      <a:cs typeface="Century"/>
                    </a:rPr>
                    <a:t>)</a:t>
                  </a:r>
                  <a:endParaRPr sz="2450">
                    <a:latin typeface="Century"/>
                    <a:cs typeface="Century"/>
                  </a:endParaRPr>
                </a:p>
              </p:txBody>
            </p:sp>
            <p:sp>
              <p:nvSpPr>
                <p:cNvPr id="46" name="object 15">
                  <a:extLst>
                    <a:ext uri="{FF2B5EF4-FFF2-40B4-BE49-F238E27FC236}">
                      <a16:creationId xmlns:a16="http://schemas.microsoft.com/office/drawing/2014/main" id="{8A2FE9CB-AD41-4158-9692-CEA29CA03669}"/>
                    </a:ext>
                  </a:extLst>
                </p:cNvPr>
                <p:cNvSpPr/>
                <p:nvPr/>
              </p:nvSpPr>
              <p:spPr>
                <a:xfrm>
                  <a:off x="4278836" y="4793136"/>
                  <a:ext cx="324753" cy="383102"/>
                </a:xfrm>
                <a:prstGeom prst="rect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</p:grpSp>
      </p:grpSp>
      <p:grpSp>
        <p:nvGrpSpPr>
          <p:cNvPr id="8" name="Group 7"/>
          <p:cNvGrpSpPr/>
          <p:nvPr/>
        </p:nvGrpSpPr>
        <p:grpSpPr>
          <a:xfrm>
            <a:off x="3075196" y="2337965"/>
            <a:ext cx="5093335" cy="1189102"/>
            <a:chOff x="3075196" y="2337965"/>
            <a:chExt cx="5093335" cy="1189102"/>
          </a:xfrm>
        </p:grpSpPr>
        <p:sp>
          <p:nvSpPr>
            <p:cNvPr id="48" name="object 15">
              <a:extLst>
                <a:ext uri="{FF2B5EF4-FFF2-40B4-BE49-F238E27FC236}">
                  <a16:creationId xmlns:a16="http://schemas.microsoft.com/office/drawing/2014/main" id="{CDA857A4-4F20-4E62-B100-4A21AAABB869}"/>
                </a:ext>
              </a:extLst>
            </p:cNvPr>
            <p:cNvSpPr txBox="1"/>
            <p:nvPr/>
          </p:nvSpPr>
          <p:spPr>
            <a:xfrm>
              <a:off x="3075196" y="2421266"/>
              <a:ext cx="5093335" cy="965649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  <a:tabLst>
                  <a:tab pos="354965" algn="l"/>
                  <a:tab pos="355600" algn="l"/>
                </a:tabLst>
              </a:pPr>
              <a:r>
                <a:rPr lang="en-GB" sz="2000" dirty="0">
                  <a:latin typeface="+mn-lt"/>
                  <a:cs typeface="Calibri"/>
                </a:rPr>
                <a:t>If           </a:t>
              </a:r>
              <a:r>
                <a:rPr lang="en-GB" sz="2000" b="1" dirty="0">
                  <a:latin typeface="+mn-lt"/>
                  <a:cs typeface="Calibri"/>
                </a:rPr>
                <a:t>u(t)=U(S)</a:t>
              </a:r>
            </a:p>
            <a:p>
              <a:pPr marL="12700">
                <a:lnSpc>
                  <a:spcPct val="100000"/>
                </a:lnSpc>
                <a:spcBef>
                  <a:spcPts val="130"/>
                </a:spcBef>
                <a:tabLst>
                  <a:tab pos="354965" algn="l"/>
                  <a:tab pos="355600" algn="l"/>
                </a:tabLst>
              </a:pPr>
              <a:r>
                <a:rPr lang="en-GB" sz="2000" dirty="0">
                  <a:latin typeface="+mn-lt"/>
                  <a:cs typeface="Calibri"/>
                </a:rPr>
                <a:t>and</a:t>
              </a:r>
            </a:p>
            <a:p>
              <a:pPr marL="12700">
                <a:lnSpc>
                  <a:spcPct val="100000"/>
                </a:lnSpc>
                <a:spcBef>
                  <a:spcPts val="130"/>
                </a:spcBef>
                <a:tabLst>
                  <a:tab pos="354965" algn="l"/>
                  <a:tab pos="355600" algn="l"/>
                </a:tabLst>
              </a:pPr>
              <a:r>
                <a:rPr lang="en-GB" sz="2000" b="1" dirty="0">
                  <a:latin typeface="+mn-lt"/>
                  <a:cs typeface="Calibri"/>
                </a:rPr>
                <a:t>             y(t)=Y(S)</a:t>
              </a:r>
              <a:endParaRPr sz="2000" b="1" dirty="0">
                <a:latin typeface="+mn-lt"/>
                <a:cs typeface="Calibri"/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3807034" y="2337965"/>
              <a:ext cx="206375" cy="1189102"/>
              <a:chOff x="3807034" y="2337965"/>
              <a:chExt cx="206375" cy="1189102"/>
            </a:xfrm>
          </p:grpSpPr>
          <p:sp>
            <p:nvSpPr>
              <p:cNvPr id="31" name="object 10">
                <a:extLst>
                  <a:ext uri="{FF2B5EF4-FFF2-40B4-BE49-F238E27FC236}">
                    <a16:creationId xmlns:a16="http://schemas.microsoft.com/office/drawing/2014/main" id="{8E9C431C-2194-4FC2-B4A0-E19381E09B63}"/>
                  </a:ext>
                </a:extLst>
              </p:cNvPr>
              <p:cNvSpPr txBox="1"/>
              <p:nvPr/>
            </p:nvSpPr>
            <p:spPr>
              <a:xfrm>
                <a:off x="3807034" y="2337965"/>
                <a:ext cx="206375" cy="50545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3150" spc="50" dirty="0">
                    <a:latin typeface="MT Extra"/>
                    <a:cs typeface="MT Extra"/>
                  </a:rPr>
                  <a:t></a:t>
                </a:r>
                <a:endParaRPr sz="3150" dirty="0">
                  <a:latin typeface="MT Extra"/>
                  <a:cs typeface="MT Extra"/>
                </a:endParaRPr>
              </a:p>
            </p:txBody>
          </p:sp>
          <p:sp>
            <p:nvSpPr>
              <p:cNvPr id="32" name="object 10">
                <a:extLst>
                  <a:ext uri="{FF2B5EF4-FFF2-40B4-BE49-F238E27FC236}">
                    <a16:creationId xmlns:a16="http://schemas.microsoft.com/office/drawing/2014/main" id="{8E9C431C-2194-4FC2-B4A0-E19381E09B63}"/>
                  </a:ext>
                </a:extLst>
              </p:cNvPr>
              <p:cNvSpPr txBox="1"/>
              <p:nvPr/>
            </p:nvSpPr>
            <p:spPr>
              <a:xfrm>
                <a:off x="3807034" y="3021608"/>
                <a:ext cx="206375" cy="50545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3150" spc="50" dirty="0">
                    <a:latin typeface="MT Extra"/>
                    <a:cs typeface="MT Extra"/>
                  </a:rPr>
                  <a:t></a:t>
                </a:r>
                <a:endParaRPr sz="3150" dirty="0">
                  <a:latin typeface="MT Extra"/>
                  <a:cs typeface="MT Extra"/>
                </a:endParaRP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336324" y="3660069"/>
            <a:ext cx="5093335" cy="505459"/>
            <a:chOff x="336324" y="3660069"/>
            <a:chExt cx="5093335" cy="505459"/>
          </a:xfrm>
        </p:grpSpPr>
        <p:sp>
          <p:nvSpPr>
            <p:cNvPr id="35" name="object 15">
              <a:extLst>
                <a:ext uri="{FF2B5EF4-FFF2-40B4-BE49-F238E27FC236}">
                  <a16:creationId xmlns:a16="http://schemas.microsoft.com/office/drawing/2014/main" id="{CDA857A4-4F20-4E62-B100-4A21AAABB869}"/>
                </a:ext>
              </a:extLst>
            </p:cNvPr>
            <p:cNvSpPr txBox="1"/>
            <p:nvPr/>
          </p:nvSpPr>
          <p:spPr>
            <a:xfrm>
              <a:off x="336324" y="3746708"/>
              <a:ext cx="5093335" cy="324448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355600" indent="-342900">
                <a:lnSpc>
                  <a:spcPct val="100000"/>
                </a:lnSpc>
                <a:spcBef>
                  <a:spcPts val="130"/>
                </a:spcBef>
                <a:buFont typeface="Arial"/>
                <a:buChar char="•"/>
                <a:tabLst>
                  <a:tab pos="354965" algn="l"/>
                  <a:tab pos="355600" algn="l"/>
                </a:tabLst>
              </a:pPr>
              <a:r>
                <a:rPr sz="2000" dirty="0">
                  <a:latin typeface="+mn-lt"/>
                  <a:cs typeface="Calibri"/>
                </a:rPr>
                <a:t>Where</a:t>
              </a:r>
              <a:r>
                <a:rPr lang="en-GB" sz="2000" baseline="-2314" dirty="0">
                  <a:latin typeface="+mn-lt"/>
                  <a:cs typeface="Calibri"/>
                </a:rPr>
                <a:t> </a:t>
              </a:r>
              <a:r>
                <a:rPr lang="en-GB" sz="2000" dirty="0">
                  <a:cs typeface="Calibri"/>
                </a:rPr>
                <a:t>    </a:t>
              </a:r>
              <a:r>
                <a:rPr sz="2000" spc="-10" dirty="0">
                  <a:latin typeface="+mn-lt"/>
                  <a:cs typeface="Calibri"/>
                </a:rPr>
                <a:t>is </a:t>
              </a:r>
              <a:r>
                <a:rPr sz="2000" spc="-5" dirty="0">
                  <a:latin typeface="+mn-lt"/>
                  <a:cs typeface="Calibri"/>
                </a:rPr>
                <a:t>the </a:t>
              </a:r>
              <a:r>
                <a:rPr sz="2000" spc="-10" dirty="0">
                  <a:latin typeface="+mn-lt"/>
                  <a:cs typeface="Calibri"/>
                </a:rPr>
                <a:t>Laplace</a:t>
              </a:r>
              <a:r>
                <a:rPr sz="2000" spc="300" dirty="0">
                  <a:latin typeface="+mn-lt"/>
                  <a:cs typeface="Calibri"/>
                </a:rPr>
                <a:t> </a:t>
              </a:r>
              <a:r>
                <a:rPr sz="2000" i="1" spc="-50" dirty="0">
                  <a:latin typeface="+mn-lt"/>
                  <a:cs typeface="Calibri"/>
                </a:rPr>
                <a:t>operator</a:t>
              </a:r>
              <a:r>
                <a:rPr sz="2000" spc="-50" dirty="0">
                  <a:latin typeface="+mn-lt"/>
                  <a:cs typeface="Calibri"/>
                </a:rPr>
                <a:t>.</a:t>
              </a:r>
              <a:endParaRPr sz="2000" dirty="0">
                <a:latin typeface="+mn-lt"/>
                <a:cs typeface="Calibri"/>
              </a:endParaRPr>
            </a:p>
          </p:txBody>
        </p:sp>
        <p:sp>
          <p:nvSpPr>
            <p:cNvPr id="47" name="object 10">
              <a:extLst>
                <a:ext uri="{FF2B5EF4-FFF2-40B4-BE49-F238E27FC236}">
                  <a16:creationId xmlns:a16="http://schemas.microsoft.com/office/drawing/2014/main" id="{8E9C431C-2194-4FC2-B4A0-E19381E09B63}"/>
                </a:ext>
              </a:extLst>
            </p:cNvPr>
            <p:cNvSpPr txBox="1"/>
            <p:nvPr/>
          </p:nvSpPr>
          <p:spPr>
            <a:xfrm>
              <a:off x="1519764" y="3660069"/>
              <a:ext cx="206375" cy="50545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3150" spc="50" dirty="0">
                  <a:latin typeface="MT Extra"/>
                  <a:cs typeface="MT Extra"/>
                </a:rPr>
                <a:t></a:t>
              </a:r>
              <a:endParaRPr sz="3150" dirty="0">
                <a:latin typeface="MT Extra"/>
                <a:cs typeface="MT Extr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Laplace Transforms</a:t>
            </a:r>
            <a:endParaRPr lang="en-GB" sz="2400" dirty="0">
              <a:cs typeface="Arial"/>
            </a:endParaRPr>
          </a:p>
        </p:txBody>
      </p:sp>
      <p:sp>
        <p:nvSpPr>
          <p:cNvPr id="29" name="object 3">
            <a:extLst>
              <a:ext uri="{FF2B5EF4-FFF2-40B4-BE49-F238E27FC236}">
                <a16:creationId xmlns:a16="http://schemas.microsoft.com/office/drawing/2014/main" id="{DFBB2F03-2163-4A4C-A647-C337469BF120}"/>
              </a:ext>
            </a:extLst>
          </p:cNvPr>
          <p:cNvSpPr txBox="1"/>
          <p:nvPr/>
        </p:nvSpPr>
        <p:spPr>
          <a:xfrm>
            <a:off x="425872" y="496940"/>
            <a:ext cx="7826226" cy="12689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54965" algn="l"/>
                <a:tab pos="355600" algn="l"/>
                <a:tab pos="918844" algn="l"/>
              </a:tabLst>
            </a:pPr>
            <a:r>
              <a:rPr sz="2000" spc="-30" dirty="0">
                <a:latin typeface="+mn-lt"/>
                <a:cs typeface="Calibri"/>
              </a:rPr>
              <a:t>B</a:t>
            </a:r>
            <a:r>
              <a:rPr sz="2000" spc="-5" dirty="0">
                <a:latin typeface="+mn-lt"/>
                <a:cs typeface="Calibri"/>
              </a:rPr>
              <a:t>y</a:t>
            </a:r>
            <a:r>
              <a:rPr lang="en-GB" sz="2000" spc="-5" dirty="0">
                <a:latin typeface="+mn-lt"/>
                <a:cs typeface="Calibri"/>
              </a:rPr>
              <a:t> the </a:t>
            </a:r>
            <a:r>
              <a:rPr sz="2000" spc="-10" dirty="0">
                <a:latin typeface="+mn-lt"/>
                <a:cs typeface="Calibri"/>
              </a:rPr>
              <a:t>use</a:t>
            </a:r>
            <a:r>
              <a:rPr lang="en-GB" sz="2000" spc="-10" dirty="0">
                <a:latin typeface="+mn-lt"/>
                <a:cs typeface="Calibri"/>
              </a:rPr>
              <a:t> </a:t>
            </a:r>
            <a:r>
              <a:rPr lang="en-GB" sz="2000" spc="-5" dirty="0">
                <a:latin typeface="+mn-lt"/>
                <a:cs typeface="Calibri"/>
              </a:rPr>
              <a:t>of </a:t>
            </a:r>
            <a:r>
              <a:rPr lang="en-GB" sz="2000" spc="-10" dirty="0">
                <a:latin typeface="+mn-lt"/>
                <a:cs typeface="Calibri"/>
              </a:rPr>
              <a:t>Laplac</a:t>
            </a:r>
            <a:r>
              <a:rPr lang="en-GB" sz="2000" spc="-5" dirty="0">
                <a:latin typeface="+mn-lt"/>
                <a:cs typeface="Calibri"/>
              </a:rPr>
              <a:t>e t</a:t>
            </a:r>
            <a:r>
              <a:rPr lang="en-GB" sz="2000" spc="-70" dirty="0">
                <a:latin typeface="+mn-lt"/>
                <a:cs typeface="Calibri"/>
              </a:rPr>
              <a:t>r</a:t>
            </a:r>
            <a:r>
              <a:rPr lang="en-GB" sz="2000" spc="-10" dirty="0">
                <a:latin typeface="+mn-lt"/>
                <a:cs typeface="Calibri"/>
              </a:rPr>
              <a:t>a</a:t>
            </a:r>
            <a:r>
              <a:rPr lang="en-GB" sz="2000" dirty="0">
                <a:latin typeface="+mn-lt"/>
                <a:cs typeface="Calibri"/>
              </a:rPr>
              <a:t>n</a:t>
            </a:r>
            <a:r>
              <a:rPr lang="en-GB" sz="2000" spc="-35" dirty="0">
                <a:latin typeface="+mn-lt"/>
                <a:cs typeface="Calibri"/>
              </a:rPr>
              <a:t>s</a:t>
            </a:r>
            <a:r>
              <a:rPr lang="en-GB" sz="2000" spc="-70" dirty="0">
                <a:latin typeface="+mn-lt"/>
                <a:cs typeface="Calibri"/>
              </a:rPr>
              <a:t>f</a:t>
            </a:r>
            <a:r>
              <a:rPr lang="en-GB" sz="2000" spc="-10" dirty="0">
                <a:latin typeface="+mn-lt"/>
                <a:cs typeface="Calibri"/>
              </a:rPr>
              <a:t>o</a:t>
            </a:r>
            <a:r>
              <a:rPr lang="en-GB" sz="2000" dirty="0">
                <a:latin typeface="+mn-lt"/>
                <a:cs typeface="Calibri"/>
              </a:rPr>
              <a:t>r</a:t>
            </a:r>
            <a:r>
              <a:rPr lang="en-GB" sz="2000" spc="-5" dirty="0">
                <a:latin typeface="+mn-lt"/>
                <a:cs typeface="Calibri"/>
              </a:rPr>
              <a:t>ms </a:t>
            </a:r>
            <a:r>
              <a:rPr lang="en-GB" sz="2000" spc="-25" dirty="0">
                <a:latin typeface="+mn-lt"/>
                <a:cs typeface="Calibri"/>
              </a:rPr>
              <a:t>w</a:t>
            </a:r>
            <a:r>
              <a:rPr lang="en-GB" sz="2000" spc="-5" dirty="0">
                <a:latin typeface="+mn-lt"/>
                <a:cs typeface="Calibri"/>
              </a:rPr>
              <a:t>e </a:t>
            </a:r>
            <a:r>
              <a:rPr lang="en-GB" sz="2000" spc="-25" dirty="0">
                <a:latin typeface="+mn-lt"/>
                <a:cs typeface="Calibri"/>
              </a:rPr>
              <a:t>c</a:t>
            </a:r>
            <a:r>
              <a:rPr lang="en-GB" sz="2000" spc="-10" dirty="0">
                <a:latin typeface="+mn-lt"/>
                <a:cs typeface="Calibri"/>
              </a:rPr>
              <a:t>a</a:t>
            </a:r>
            <a:r>
              <a:rPr lang="en-GB" sz="2000" spc="-5" dirty="0">
                <a:latin typeface="+mn-lt"/>
                <a:cs typeface="Calibri"/>
              </a:rPr>
              <a:t>n </a:t>
            </a:r>
            <a:r>
              <a:rPr lang="en-GB" sz="2000" spc="-25" dirty="0">
                <a:latin typeface="+mn-lt"/>
                <a:cs typeface="Calibri"/>
              </a:rPr>
              <a:t>c</a:t>
            </a:r>
            <a:r>
              <a:rPr lang="en-GB" sz="2000" dirty="0">
                <a:latin typeface="+mn-lt"/>
                <a:cs typeface="Calibri"/>
              </a:rPr>
              <a:t>o</a:t>
            </a:r>
            <a:r>
              <a:rPr lang="en-GB" sz="2000" spc="-60" dirty="0">
                <a:latin typeface="+mn-lt"/>
                <a:cs typeface="Calibri"/>
              </a:rPr>
              <a:t>n</a:t>
            </a:r>
            <a:r>
              <a:rPr lang="en-GB" sz="2000" spc="-35" dirty="0">
                <a:latin typeface="+mn-lt"/>
                <a:cs typeface="Calibri"/>
              </a:rPr>
              <a:t>v</a:t>
            </a:r>
            <a:r>
              <a:rPr lang="en-GB" sz="2000" spc="-5" dirty="0">
                <a:latin typeface="+mn-lt"/>
                <a:cs typeface="Calibri"/>
              </a:rPr>
              <a:t>ert ma</a:t>
            </a:r>
            <a:r>
              <a:rPr lang="en-GB" sz="2000" spc="-55" dirty="0">
                <a:latin typeface="+mn-lt"/>
                <a:cs typeface="Calibri"/>
              </a:rPr>
              <a:t>n</a:t>
            </a:r>
            <a:r>
              <a:rPr lang="en-GB" sz="2000" spc="-5" dirty="0">
                <a:latin typeface="+mn-lt"/>
                <a:cs typeface="Calibri"/>
              </a:rPr>
              <a:t>y </a:t>
            </a:r>
            <a:r>
              <a:rPr lang="en-GB" sz="2000" spc="-25" dirty="0">
                <a:latin typeface="+mn-lt"/>
                <a:cs typeface="Calibri"/>
              </a:rPr>
              <a:t>c</a:t>
            </a:r>
            <a:r>
              <a:rPr lang="en-GB" sz="2000" spc="-10" dirty="0">
                <a:latin typeface="+mn-lt"/>
                <a:cs typeface="Calibri"/>
              </a:rPr>
              <a:t>ommo</a:t>
            </a:r>
            <a:r>
              <a:rPr lang="en-GB" sz="2000" spc="-5" dirty="0">
                <a:latin typeface="+mn-lt"/>
                <a:cs typeface="Calibri"/>
              </a:rPr>
              <a:t>n </a:t>
            </a:r>
            <a:r>
              <a:rPr lang="en-GB" sz="2000" dirty="0">
                <a:latin typeface="+mn-lt"/>
                <a:cs typeface="Calibri"/>
              </a:rPr>
              <a:t>f</a:t>
            </a:r>
            <a:r>
              <a:rPr lang="en-GB" sz="2000" spc="-10" dirty="0">
                <a:latin typeface="+mn-lt"/>
                <a:cs typeface="Calibri"/>
              </a:rPr>
              <a:t>uncti</a:t>
            </a:r>
            <a:r>
              <a:rPr lang="en-GB" sz="2000" dirty="0">
                <a:latin typeface="+mn-lt"/>
                <a:cs typeface="Calibri"/>
              </a:rPr>
              <a:t>o</a:t>
            </a:r>
            <a:r>
              <a:rPr lang="en-GB" sz="2000" spc="-10" dirty="0">
                <a:latin typeface="+mn-lt"/>
                <a:cs typeface="Calibri"/>
              </a:rPr>
              <a:t>n</a:t>
            </a:r>
            <a:r>
              <a:rPr lang="en-GB" sz="2000" spc="-5" dirty="0">
                <a:latin typeface="+mn-lt"/>
                <a:cs typeface="Calibri"/>
              </a:rPr>
              <a:t>s</a:t>
            </a:r>
            <a:r>
              <a:rPr lang="en-GB" sz="2000" dirty="0">
                <a:latin typeface="+mn-lt"/>
                <a:cs typeface="Calibri"/>
              </a:rPr>
              <a:t> </a:t>
            </a:r>
            <a:r>
              <a:rPr lang="en-GB" sz="2000" spc="-5" dirty="0">
                <a:latin typeface="+mn-lt"/>
                <a:cs typeface="Calibri"/>
              </a:rPr>
              <a:t>i</a:t>
            </a:r>
            <a:r>
              <a:rPr lang="en-GB" sz="2000" spc="-30" dirty="0">
                <a:latin typeface="+mn-lt"/>
                <a:cs typeface="Calibri"/>
              </a:rPr>
              <a:t>n</a:t>
            </a:r>
            <a:r>
              <a:rPr lang="en-GB" sz="2000" spc="-35" dirty="0">
                <a:latin typeface="+mn-lt"/>
                <a:cs typeface="Calibri"/>
              </a:rPr>
              <a:t>t</a:t>
            </a:r>
            <a:r>
              <a:rPr lang="en-GB" sz="2000" spc="-5" dirty="0">
                <a:latin typeface="+mn-lt"/>
                <a:cs typeface="Calibri"/>
              </a:rPr>
              <a:t>o an </a:t>
            </a:r>
            <a:r>
              <a:rPr lang="en-GB" sz="2000" spc="-10" dirty="0">
                <a:latin typeface="+mn-lt"/>
                <a:cs typeface="Calibri"/>
              </a:rPr>
              <a:t>al</a:t>
            </a:r>
            <a:r>
              <a:rPr lang="en-GB" sz="2000" spc="-35" dirty="0">
                <a:latin typeface="+mn-lt"/>
                <a:cs typeface="Calibri"/>
              </a:rPr>
              <a:t>g</a:t>
            </a:r>
            <a:r>
              <a:rPr lang="en-GB" sz="2000" spc="-5" dirty="0">
                <a:latin typeface="+mn-lt"/>
                <a:cs typeface="Calibri"/>
              </a:rPr>
              <a:t>eb</a:t>
            </a:r>
            <a:r>
              <a:rPr lang="en-GB" sz="2000" spc="-65" dirty="0">
                <a:latin typeface="+mn-lt"/>
                <a:cs typeface="Calibri"/>
              </a:rPr>
              <a:t>r</a:t>
            </a:r>
            <a:r>
              <a:rPr lang="en-GB" sz="2000" spc="-10" dirty="0">
                <a:latin typeface="+mn-lt"/>
                <a:cs typeface="Calibri"/>
              </a:rPr>
              <a:t>ai</a:t>
            </a:r>
            <a:r>
              <a:rPr lang="en-GB" sz="2000" spc="-5" dirty="0">
                <a:latin typeface="+mn-lt"/>
                <a:cs typeface="Calibri"/>
              </a:rPr>
              <a:t>c </a:t>
            </a:r>
            <a:r>
              <a:rPr lang="en-GB" sz="2000" spc="-10" dirty="0">
                <a:latin typeface="+mn-lt"/>
                <a:cs typeface="Calibri"/>
              </a:rPr>
              <a:t>fu</a:t>
            </a:r>
            <a:r>
              <a:rPr lang="en-GB" sz="2000" spc="-20" dirty="0">
                <a:latin typeface="+mn-lt"/>
                <a:cs typeface="Calibri"/>
              </a:rPr>
              <a:t>n</a:t>
            </a:r>
            <a:r>
              <a:rPr lang="en-GB" sz="2000" dirty="0">
                <a:latin typeface="+mn-lt"/>
                <a:cs typeface="Calibri"/>
              </a:rPr>
              <a:t>c</a:t>
            </a:r>
            <a:r>
              <a:rPr lang="en-GB" sz="2000" spc="-5" dirty="0">
                <a:latin typeface="+mn-lt"/>
                <a:cs typeface="Calibri"/>
              </a:rPr>
              <a:t>tion of </a:t>
            </a:r>
            <a:r>
              <a:rPr lang="en-GB" sz="2000" dirty="0">
                <a:latin typeface="+mn-lt"/>
                <a:cs typeface="Calibri"/>
              </a:rPr>
              <a:t>the </a:t>
            </a:r>
            <a:r>
              <a:rPr lang="en-GB" sz="2000" spc="-25" dirty="0">
                <a:latin typeface="+mn-lt"/>
                <a:cs typeface="Calibri"/>
              </a:rPr>
              <a:t>c</a:t>
            </a:r>
            <a:r>
              <a:rPr lang="en-GB" sz="2000" dirty="0">
                <a:latin typeface="+mn-lt"/>
                <a:cs typeface="Calibri"/>
              </a:rPr>
              <a:t>o</a:t>
            </a:r>
            <a:r>
              <a:rPr lang="en-GB" sz="2000" spc="-5" dirty="0">
                <a:latin typeface="+mn-lt"/>
                <a:cs typeface="Calibri"/>
              </a:rPr>
              <a:t>m</a:t>
            </a:r>
            <a:r>
              <a:rPr lang="en-GB" sz="2000" spc="-15" dirty="0">
                <a:latin typeface="+mn-lt"/>
                <a:cs typeface="Calibri"/>
              </a:rPr>
              <a:t>p</a:t>
            </a:r>
            <a:r>
              <a:rPr lang="en-GB" sz="2000" spc="-5" dirty="0">
                <a:latin typeface="+mn-lt"/>
                <a:cs typeface="Calibri"/>
              </a:rPr>
              <a:t>l</a:t>
            </a:r>
            <a:r>
              <a:rPr lang="en-GB" sz="2000" spc="-50" dirty="0">
                <a:latin typeface="+mn-lt"/>
                <a:cs typeface="Calibri"/>
              </a:rPr>
              <a:t>e</a:t>
            </a:r>
            <a:r>
              <a:rPr lang="en-GB" sz="2000" spc="-5" dirty="0">
                <a:latin typeface="+mn-lt"/>
                <a:cs typeface="Calibri"/>
              </a:rPr>
              <a:t>x  </a:t>
            </a:r>
            <a:r>
              <a:rPr lang="en-GB" sz="2000" spc="-15" dirty="0">
                <a:latin typeface="+mn-lt"/>
                <a:cs typeface="Calibri"/>
              </a:rPr>
              <a:t>variable</a:t>
            </a:r>
            <a:r>
              <a:rPr lang="en-GB" sz="2000" spc="-10" dirty="0">
                <a:latin typeface="+mn-lt"/>
                <a:cs typeface="Calibri"/>
              </a:rPr>
              <a:t> </a:t>
            </a:r>
            <a:r>
              <a:rPr lang="en-GB" sz="2000" i="1" spc="-5" dirty="0">
                <a:solidFill>
                  <a:srgbClr val="FF0000"/>
                </a:solidFill>
                <a:latin typeface="+mn-lt"/>
                <a:cs typeface="Calibri"/>
              </a:rPr>
              <a:t>s</a:t>
            </a:r>
            <a:r>
              <a:rPr lang="en-GB" sz="2000" spc="-5" dirty="0">
                <a:latin typeface="+mn-lt"/>
                <a:cs typeface="Calibri"/>
              </a:rPr>
              <a:t>.</a:t>
            </a:r>
            <a:endParaRPr lang="en-GB" sz="2000" dirty="0">
              <a:latin typeface="+mn-lt"/>
              <a:cs typeface="Calibri"/>
            </a:endParaRPr>
          </a:p>
          <a:p>
            <a:pPr marL="355600" indent="-342900"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  <a:tab pos="918844" algn="l"/>
              </a:tabLst>
            </a:pPr>
            <a:endParaRPr lang="en-GB" sz="2000" dirty="0">
              <a:latin typeface="+mn-lt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  <a:tab pos="918844" algn="l"/>
              </a:tabLst>
            </a:pPr>
            <a:endParaRPr sz="2000" dirty="0">
              <a:latin typeface="+mn-lt"/>
              <a:cs typeface="Calibri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36307" y="1348695"/>
            <a:ext cx="8556625" cy="2703273"/>
            <a:chOff x="436307" y="1348695"/>
            <a:chExt cx="8556625" cy="2703273"/>
          </a:xfrm>
        </p:grpSpPr>
        <p:sp>
          <p:nvSpPr>
            <p:cNvPr id="31" name="object 5">
              <a:extLst>
                <a:ext uri="{FF2B5EF4-FFF2-40B4-BE49-F238E27FC236}">
                  <a16:creationId xmlns:a16="http://schemas.microsoft.com/office/drawing/2014/main" id="{027BACF9-1172-4839-9BCC-8E46E1FCC87C}"/>
                </a:ext>
              </a:extLst>
            </p:cNvPr>
            <p:cNvSpPr txBox="1"/>
            <p:nvPr/>
          </p:nvSpPr>
          <p:spPr>
            <a:xfrm>
              <a:off x="436307" y="1348695"/>
              <a:ext cx="8556625" cy="369332"/>
            </a:xfrm>
            <a:prstGeom prst="rect">
              <a:avLst/>
            </a:prstGeom>
          </p:spPr>
          <p:txBody>
            <a:bodyPr vert="horz" wrap="square" lIns="0" tIns="60960" rIns="0" bIns="0" rtlCol="0">
              <a:spAutoFit/>
            </a:bodyPr>
            <a:lstStyle/>
            <a:p>
              <a:pPr marL="355600" indent="-342900">
                <a:lnSpc>
                  <a:spcPct val="100000"/>
                </a:lnSpc>
                <a:spcBef>
                  <a:spcPts val="295"/>
                </a:spcBef>
                <a:buFont typeface="Arial"/>
                <a:buChar char="•"/>
                <a:tabLst>
                  <a:tab pos="354965" algn="l"/>
                  <a:tab pos="355600" algn="l"/>
                </a:tabLst>
              </a:pPr>
              <a:r>
                <a:rPr sz="2000" spc="-20" dirty="0">
                  <a:latin typeface="+mn-lt"/>
                  <a:cs typeface="Calibri"/>
                </a:rPr>
                <a:t>For</a:t>
              </a:r>
              <a:r>
                <a:rPr sz="2000" spc="-15" dirty="0">
                  <a:latin typeface="+mn-lt"/>
                  <a:cs typeface="Calibri"/>
                </a:rPr>
                <a:t> </a:t>
              </a:r>
              <a:r>
                <a:rPr sz="2000" spc="-20" dirty="0">
                  <a:latin typeface="+mn-lt"/>
                  <a:cs typeface="Calibri"/>
                </a:rPr>
                <a:t>example</a:t>
              </a:r>
              <a:endParaRPr sz="2000" dirty="0">
                <a:latin typeface="+mn-lt"/>
                <a:cs typeface="Calibri"/>
              </a:endParaRPr>
            </a:p>
          </p:txBody>
        </p:sp>
        <p:sp>
          <p:nvSpPr>
            <p:cNvPr id="32" name="object 6">
              <a:extLst>
                <a:ext uri="{FF2B5EF4-FFF2-40B4-BE49-F238E27FC236}">
                  <a16:creationId xmlns:a16="http://schemas.microsoft.com/office/drawing/2014/main" id="{E4887687-3906-4738-9599-2CB0C4EA9E9F}"/>
                </a:ext>
              </a:extLst>
            </p:cNvPr>
            <p:cNvSpPr txBox="1"/>
            <p:nvPr/>
          </p:nvSpPr>
          <p:spPr>
            <a:xfrm>
              <a:off x="500910" y="2626567"/>
              <a:ext cx="383540" cy="45212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800" spc="-10" dirty="0">
                  <a:latin typeface="Calibri"/>
                  <a:cs typeface="Calibri"/>
                </a:rPr>
                <a:t>Or</a:t>
              </a:r>
              <a:endParaRPr sz="2800">
                <a:latin typeface="Calibri"/>
                <a:cs typeface="Calibri"/>
              </a:endParaRPr>
            </a:p>
          </p:txBody>
        </p:sp>
        <p:sp>
          <p:nvSpPr>
            <p:cNvPr id="33" name="object 7">
              <a:extLst>
                <a:ext uri="{FF2B5EF4-FFF2-40B4-BE49-F238E27FC236}">
                  <a16:creationId xmlns:a16="http://schemas.microsoft.com/office/drawing/2014/main" id="{A22ADEE1-89AC-408B-82D0-CDD1D4A735AA}"/>
                </a:ext>
              </a:extLst>
            </p:cNvPr>
            <p:cNvSpPr/>
            <p:nvPr/>
          </p:nvSpPr>
          <p:spPr>
            <a:xfrm>
              <a:off x="4839453" y="2245850"/>
              <a:ext cx="1310005" cy="0"/>
            </a:xfrm>
            <a:custGeom>
              <a:avLst/>
              <a:gdLst/>
              <a:ahLst/>
              <a:cxnLst/>
              <a:rect l="l" t="t" r="r" b="b"/>
              <a:pathLst>
                <a:path w="1310004">
                  <a:moveTo>
                    <a:pt x="0" y="0"/>
                  </a:moveTo>
                  <a:lnTo>
                    <a:pt x="1309988" y="0"/>
                  </a:lnTo>
                </a:path>
              </a:pathLst>
            </a:custGeom>
            <a:ln w="18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8">
              <a:extLst>
                <a:ext uri="{FF2B5EF4-FFF2-40B4-BE49-F238E27FC236}">
                  <a16:creationId xmlns:a16="http://schemas.microsoft.com/office/drawing/2014/main" id="{2584FD55-ED45-4477-877E-8158AD604E3C}"/>
                </a:ext>
              </a:extLst>
            </p:cNvPr>
            <p:cNvSpPr/>
            <p:nvPr/>
          </p:nvSpPr>
          <p:spPr>
            <a:xfrm>
              <a:off x="5620811" y="2300948"/>
              <a:ext cx="563492" cy="4874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9">
              <a:extLst>
                <a:ext uri="{FF2B5EF4-FFF2-40B4-BE49-F238E27FC236}">
                  <a16:creationId xmlns:a16="http://schemas.microsoft.com/office/drawing/2014/main" id="{5BA3BA04-186E-4F08-B7EE-3D6372E5018A}"/>
                </a:ext>
              </a:extLst>
            </p:cNvPr>
            <p:cNvSpPr/>
            <p:nvPr/>
          </p:nvSpPr>
          <p:spPr>
            <a:xfrm>
              <a:off x="5339045" y="1691161"/>
              <a:ext cx="563492" cy="4874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0">
              <a:extLst>
                <a:ext uri="{FF2B5EF4-FFF2-40B4-BE49-F238E27FC236}">
                  <a16:creationId xmlns:a16="http://schemas.microsoft.com/office/drawing/2014/main" id="{96B71DDA-364D-45E6-8B05-6EAD8B812BE7}"/>
                </a:ext>
              </a:extLst>
            </p:cNvPr>
            <p:cNvSpPr/>
            <p:nvPr/>
          </p:nvSpPr>
          <p:spPr>
            <a:xfrm>
              <a:off x="3983571" y="1944217"/>
              <a:ext cx="563492" cy="4874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11">
              <a:extLst>
                <a:ext uri="{FF2B5EF4-FFF2-40B4-BE49-F238E27FC236}">
                  <a16:creationId xmlns:a16="http://schemas.microsoft.com/office/drawing/2014/main" id="{F12549A5-7D4A-466F-BDA6-6B874EF5D236}"/>
                </a:ext>
              </a:extLst>
            </p:cNvPr>
            <p:cNvSpPr/>
            <p:nvPr/>
          </p:nvSpPr>
          <p:spPr>
            <a:xfrm>
              <a:off x="5337117" y="2300948"/>
              <a:ext cx="422117" cy="48743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2">
              <a:extLst>
                <a:ext uri="{FF2B5EF4-FFF2-40B4-BE49-F238E27FC236}">
                  <a16:creationId xmlns:a16="http://schemas.microsoft.com/office/drawing/2014/main" id="{C2188EAE-16C7-44A2-90B6-10C30B588F76}"/>
                </a:ext>
              </a:extLst>
            </p:cNvPr>
            <p:cNvSpPr/>
            <p:nvPr/>
          </p:nvSpPr>
          <p:spPr>
            <a:xfrm>
              <a:off x="4501578" y="1944217"/>
              <a:ext cx="422117" cy="48743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13">
              <a:extLst>
                <a:ext uri="{FF2B5EF4-FFF2-40B4-BE49-F238E27FC236}">
                  <a16:creationId xmlns:a16="http://schemas.microsoft.com/office/drawing/2014/main" id="{6059E362-9BB6-4065-84DA-6950BCFAA958}"/>
                </a:ext>
              </a:extLst>
            </p:cNvPr>
            <p:cNvSpPr txBox="1"/>
            <p:nvPr/>
          </p:nvSpPr>
          <p:spPr>
            <a:xfrm>
              <a:off x="4866454" y="2111745"/>
              <a:ext cx="1231265" cy="50292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  <a:tabLst>
                  <a:tab pos="1073785" algn="l"/>
                </a:tabLst>
              </a:pPr>
              <a:r>
                <a:rPr sz="4650" i="1" spc="419" baseline="-25089" dirty="0">
                  <a:latin typeface="Times New Roman"/>
                  <a:cs typeface="Times New Roman"/>
                </a:rPr>
                <a:t>s</a:t>
              </a:r>
              <a:r>
                <a:rPr sz="2200" spc="30" dirty="0">
                  <a:latin typeface="Times New Roman"/>
                  <a:cs typeface="Times New Roman"/>
                </a:rPr>
                <a:t>2</a:t>
              </a:r>
              <a:r>
                <a:rPr sz="2200" dirty="0">
                  <a:latin typeface="Times New Roman"/>
                  <a:cs typeface="Times New Roman"/>
                </a:rPr>
                <a:t>	</a:t>
              </a:r>
              <a:r>
                <a:rPr sz="2200" spc="30" dirty="0">
                  <a:latin typeface="Times New Roman"/>
                  <a:cs typeface="Times New Roman"/>
                </a:rPr>
                <a:t>2</a:t>
              </a:r>
              <a:endParaRPr sz="2200">
                <a:latin typeface="Times New Roman"/>
                <a:cs typeface="Times New Roman"/>
              </a:endParaRPr>
            </a:p>
          </p:txBody>
        </p:sp>
        <p:sp>
          <p:nvSpPr>
            <p:cNvPr id="40" name="object 14">
              <a:extLst>
                <a:ext uri="{FF2B5EF4-FFF2-40B4-BE49-F238E27FC236}">
                  <a16:creationId xmlns:a16="http://schemas.microsoft.com/office/drawing/2014/main" id="{FAEF0E67-A342-4E5D-BAE3-BFE5858B5A01}"/>
                </a:ext>
              </a:extLst>
            </p:cNvPr>
            <p:cNvSpPr txBox="1"/>
            <p:nvPr/>
          </p:nvSpPr>
          <p:spPr>
            <a:xfrm>
              <a:off x="3165346" y="1934325"/>
              <a:ext cx="1218565" cy="50292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  <a:tabLst>
                  <a:tab pos="1090930" algn="l"/>
                </a:tabLst>
              </a:pPr>
              <a:r>
                <a:rPr sz="3100" spc="55" dirty="0">
                  <a:latin typeface="MT Extra"/>
                  <a:cs typeface="MT Extra"/>
                </a:rPr>
                <a:t></a:t>
              </a:r>
              <a:r>
                <a:rPr sz="3100" spc="-480" dirty="0">
                  <a:latin typeface="Times New Roman"/>
                  <a:cs typeface="Times New Roman"/>
                </a:rPr>
                <a:t> </a:t>
              </a:r>
              <a:r>
                <a:rPr sz="3100" spc="-40" dirty="0">
                  <a:latin typeface="Century"/>
                  <a:cs typeface="Century"/>
                </a:rPr>
                <a:t>s</a:t>
              </a:r>
              <a:r>
                <a:rPr sz="3100" spc="-135" dirty="0">
                  <a:latin typeface="Century"/>
                  <a:cs typeface="Century"/>
                </a:rPr>
                <a:t>i</a:t>
              </a:r>
              <a:r>
                <a:rPr sz="3100" spc="85" dirty="0">
                  <a:latin typeface="Century"/>
                  <a:cs typeface="Century"/>
                </a:rPr>
                <a:t>n</a:t>
              </a:r>
              <a:r>
                <a:rPr sz="3100" dirty="0">
                  <a:latin typeface="Century"/>
                  <a:cs typeface="Century"/>
                </a:rPr>
                <a:t>	</a:t>
              </a:r>
              <a:r>
                <a:rPr sz="3100" i="1" spc="35" dirty="0">
                  <a:latin typeface="Times New Roman"/>
                  <a:cs typeface="Times New Roman"/>
                </a:rPr>
                <a:t>t</a:t>
              </a:r>
              <a:endParaRPr sz="3100" dirty="0">
                <a:latin typeface="Times New Roman"/>
                <a:cs typeface="Times New Roman"/>
              </a:endParaRPr>
            </a:p>
          </p:txBody>
        </p:sp>
        <p:sp>
          <p:nvSpPr>
            <p:cNvPr id="41" name="object 15">
              <a:extLst>
                <a:ext uri="{FF2B5EF4-FFF2-40B4-BE49-F238E27FC236}">
                  <a16:creationId xmlns:a16="http://schemas.microsoft.com/office/drawing/2014/main" id="{199D3465-ABAA-44CB-85D7-BD6FD294974D}"/>
                </a:ext>
              </a:extLst>
            </p:cNvPr>
            <p:cNvSpPr/>
            <p:nvPr/>
          </p:nvSpPr>
          <p:spPr>
            <a:xfrm>
              <a:off x="5146371" y="3544321"/>
              <a:ext cx="823594" cy="0"/>
            </a:xfrm>
            <a:custGeom>
              <a:avLst/>
              <a:gdLst/>
              <a:ahLst/>
              <a:cxnLst/>
              <a:rect l="l" t="t" r="r" b="b"/>
              <a:pathLst>
                <a:path w="823595">
                  <a:moveTo>
                    <a:pt x="0" y="0"/>
                  </a:moveTo>
                  <a:lnTo>
                    <a:pt x="823085" y="0"/>
                  </a:lnTo>
                </a:path>
              </a:pathLst>
            </a:custGeom>
            <a:ln w="18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16">
              <a:extLst>
                <a:ext uri="{FF2B5EF4-FFF2-40B4-BE49-F238E27FC236}">
                  <a16:creationId xmlns:a16="http://schemas.microsoft.com/office/drawing/2014/main" id="{0EB073DE-BE46-4CEA-A606-3E61CFDC6139}"/>
                </a:ext>
              </a:extLst>
            </p:cNvPr>
            <p:cNvSpPr txBox="1"/>
            <p:nvPr/>
          </p:nvSpPr>
          <p:spPr>
            <a:xfrm>
              <a:off x="5173247" y="3546509"/>
              <a:ext cx="786130" cy="50545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565150" algn="l"/>
                </a:tabLst>
              </a:pPr>
              <a:r>
                <a:rPr sz="3150" i="1" spc="40" dirty="0">
                  <a:latin typeface="Times New Roman"/>
                  <a:cs typeface="Times New Roman"/>
                </a:rPr>
                <a:t>s	</a:t>
              </a:r>
              <a:r>
                <a:rPr sz="3150" i="1" spc="55" dirty="0">
                  <a:latin typeface="Times New Roman"/>
                  <a:cs typeface="Times New Roman"/>
                </a:rPr>
                <a:t>a</a:t>
              </a:r>
              <a:endParaRPr sz="3150">
                <a:latin typeface="Times New Roman"/>
                <a:cs typeface="Times New Roman"/>
              </a:endParaRPr>
            </a:p>
          </p:txBody>
        </p:sp>
        <p:sp>
          <p:nvSpPr>
            <p:cNvPr id="43" name="object 17">
              <a:extLst>
                <a:ext uri="{FF2B5EF4-FFF2-40B4-BE49-F238E27FC236}">
                  <a16:creationId xmlns:a16="http://schemas.microsoft.com/office/drawing/2014/main" id="{450D41E8-663A-424C-8F25-2A4CEF821ABF}"/>
                </a:ext>
              </a:extLst>
            </p:cNvPr>
            <p:cNvSpPr txBox="1"/>
            <p:nvPr/>
          </p:nvSpPr>
          <p:spPr>
            <a:xfrm>
              <a:off x="4406188" y="3171711"/>
              <a:ext cx="243204" cy="361950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200" i="1" spc="-5" dirty="0">
                  <a:latin typeface="Times New Roman"/>
                  <a:cs typeface="Times New Roman"/>
                </a:rPr>
                <a:t>at</a:t>
              </a:r>
              <a:endParaRPr sz="2200">
                <a:latin typeface="Times New Roman"/>
                <a:cs typeface="Times New Roman"/>
              </a:endParaRPr>
            </a:p>
          </p:txBody>
        </p:sp>
        <p:sp>
          <p:nvSpPr>
            <p:cNvPr id="44" name="object 18">
              <a:extLst>
                <a:ext uri="{FF2B5EF4-FFF2-40B4-BE49-F238E27FC236}">
                  <a16:creationId xmlns:a16="http://schemas.microsoft.com/office/drawing/2014/main" id="{11A6C456-79BA-4B7F-AA25-E74831160B52}"/>
                </a:ext>
              </a:extLst>
            </p:cNvPr>
            <p:cNvSpPr/>
            <p:nvPr/>
          </p:nvSpPr>
          <p:spPr>
            <a:xfrm>
              <a:off x="5431334" y="3556410"/>
              <a:ext cx="421201" cy="49013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19">
              <a:extLst>
                <a:ext uri="{FF2B5EF4-FFF2-40B4-BE49-F238E27FC236}">
                  <a16:creationId xmlns:a16="http://schemas.microsoft.com/office/drawing/2014/main" id="{025D3C1E-3A5B-482D-9B5C-5D886FAE9900}"/>
                </a:ext>
              </a:extLst>
            </p:cNvPr>
            <p:cNvSpPr/>
            <p:nvPr/>
          </p:nvSpPr>
          <p:spPr>
            <a:xfrm>
              <a:off x="4809190" y="3242065"/>
              <a:ext cx="421201" cy="49013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20">
              <a:extLst>
                <a:ext uri="{FF2B5EF4-FFF2-40B4-BE49-F238E27FC236}">
                  <a16:creationId xmlns:a16="http://schemas.microsoft.com/office/drawing/2014/main" id="{DC329FE7-9EF7-4867-9ED5-520E371216D9}"/>
                </a:ext>
              </a:extLst>
            </p:cNvPr>
            <p:cNvSpPr/>
            <p:nvPr/>
          </p:nvSpPr>
          <p:spPr>
            <a:xfrm>
              <a:off x="4250769" y="3183497"/>
              <a:ext cx="282096" cy="34317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21">
              <a:extLst>
                <a:ext uri="{FF2B5EF4-FFF2-40B4-BE49-F238E27FC236}">
                  <a16:creationId xmlns:a16="http://schemas.microsoft.com/office/drawing/2014/main" id="{1ACE134D-61BE-481E-A94E-C49E11068DED}"/>
                </a:ext>
              </a:extLst>
            </p:cNvPr>
            <p:cNvSpPr txBox="1"/>
            <p:nvPr/>
          </p:nvSpPr>
          <p:spPr>
            <a:xfrm>
              <a:off x="5445686" y="2977347"/>
              <a:ext cx="233679" cy="50545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3150" spc="55" dirty="0">
                  <a:latin typeface="Times New Roman"/>
                  <a:cs typeface="Times New Roman"/>
                </a:rPr>
                <a:t>1</a:t>
              </a:r>
              <a:endParaRPr sz="3150">
                <a:latin typeface="Times New Roman"/>
                <a:cs typeface="Times New Roman"/>
              </a:endParaRPr>
            </a:p>
          </p:txBody>
        </p:sp>
        <p:sp>
          <p:nvSpPr>
            <p:cNvPr id="48" name="object 22">
              <a:extLst>
                <a:ext uri="{FF2B5EF4-FFF2-40B4-BE49-F238E27FC236}">
                  <a16:creationId xmlns:a16="http://schemas.microsoft.com/office/drawing/2014/main" id="{29161CAB-87A1-449F-86B9-3A5F7DBEA248}"/>
                </a:ext>
              </a:extLst>
            </p:cNvPr>
            <p:cNvSpPr txBox="1"/>
            <p:nvPr/>
          </p:nvSpPr>
          <p:spPr>
            <a:xfrm>
              <a:off x="4001006" y="3357866"/>
              <a:ext cx="382905" cy="50545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3150" spc="-10" dirty="0">
                  <a:latin typeface="MT Extra"/>
                  <a:cs typeface="MT Extra"/>
                </a:rPr>
                <a:t></a:t>
              </a:r>
              <a:r>
                <a:rPr sz="3150" i="1" spc="50" dirty="0">
                  <a:latin typeface="Times New Roman"/>
                  <a:cs typeface="Times New Roman"/>
                </a:rPr>
                <a:t>e</a:t>
              </a:r>
              <a:endParaRPr sz="315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AD3055-A7B7-449D-9D77-0A15C2C52C89}"/>
              </a:ext>
            </a:extLst>
          </p:cNvPr>
          <p:cNvGrpSpPr/>
          <p:nvPr/>
        </p:nvGrpSpPr>
        <p:grpSpPr>
          <a:xfrm>
            <a:off x="448078" y="4993131"/>
            <a:ext cx="8555990" cy="960897"/>
            <a:chOff x="448078" y="4993131"/>
            <a:chExt cx="8555990" cy="960897"/>
          </a:xfrm>
        </p:grpSpPr>
        <p:sp>
          <p:nvSpPr>
            <p:cNvPr id="49" name="object 23">
              <a:extLst>
                <a:ext uri="{FF2B5EF4-FFF2-40B4-BE49-F238E27FC236}">
                  <a16:creationId xmlns:a16="http://schemas.microsoft.com/office/drawing/2014/main" id="{B9561415-7CD7-48DB-B3E3-2EEA6F1E4AD6}"/>
                </a:ext>
              </a:extLst>
            </p:cNvPr>
            <p:cNvSpPr/>
            <p:nvPr/>
          </p:nvSpPr>
          <p:spPr>
            <a:xfrm>
              <a:off x="5684198" y="5511438"/>
              <a:ext cx="373282" cy="44259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4">
              <a:extLst>
                <a:ext uri="{FF2B5EF4-FFF2-40B4-BE49-F238E27FC236}">
                  <a16:creationId xmlns:a16="http://schemas.microsoft.com/office/drawing/2014/main" id="{92066B74-41DB-4E42-A122-AB7EC0225A5B}"/>
                </a:ext>
              </a:extLst>
            </p:cNvPr>
            <p:cNvSpPr/>
            <p:nvPr/>
          </p:nvSpPr>
          <p:spPr>
            <a:xfrm>
              <a:off x="4689344" y="5485465"/>
              <a:ext cx="423330" cy="44259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25">
              <a:extLst>
                <a:ext uri="{FF2B5EF4-FFF2-40B4-BE49-F238E27FC236}">
                  <a16:creationId xmlns:a16="http://schemas.microsoft.com/office/drawing/2014/main" id="{12CF46AE-A248-4050-98AC-03625D9FE8DA}"/>
                </a:ext>
              </a:extLst>
            </p:cNvPr>
            <p:cNvSpPr txBox="1"/>
            <p:nvPr/>
          </p:nvSpPr>
          <p:spPr>
            <a:xfrm>
              <a:off x="448078" y="4993131"/>
              <a:ext cx="8555990" cy="948978"/>
            </a:xfrm>
            <a:prstGeom prst="rect">
              <a:avLst/>
            </a:prstGeom>
          </p:spPr>
          <p:txBody>
            <a:bodyPr vert="horz" wrap="square" lIns="0" tIns="60960" rIns="0" bIns="0" rtlCol="0">
              <a:spAutoFit/>
            </a:bodyPr>
            <a:lstStyle/>
            <a:p>
              <a:pPr marL="355600" marR="5080" indent="-342900">
                <a:lnSpc>
                  <a:spcPts val="3020"/>
                </a:lnSpc>
                <a:spcBef>
                  <a:spcPts val="480"/>
                </a:spcBef>
                <a:buFont typeface="Arial"/>
                <a:buChar char="•"/>
                <a:tabLst>
                  <a:tab pos="354965" algn="l"/>
                  <a:tab pos="355600" algn="l"/>
                </a:tabLst>
              </a:pPr>
              <a:r>
                <a:rPr sz="2000" spc="-15" dirty="0">
                  <a:latin typeface="+mn-lt"/>
                  <a:cs typeface="Calibri"/>
                </a:rPr>
                <a:t>Where </a:t>
              </a:r>
              <a:r>
                <a:rPr sz="2000" i="1" spc="-5" dirty="0">
                  <a:solidFill>
                    <a:srgbClr val="FF0000"/>
                  </a:solidFill>
                  <a:latin typeface="+mn-lt"/>
                  <a:cs typeface="Calibri"/>
                </a:rPr>
                <a:t>s </a:t>
              </a:r>
              <a:r>
                <a:rPr sz="2000" spc="-10" dirty="0">
                  <a:latin typeface="+mn-lt"/>
                  <a:cs typeface="Calibri"/>
                </a:rPr>
                <a:t>is </a:t>
              </a:r>
              <a:r>
                <a:rPr sz="2000" spc="-5" dirty="0">
                  <a:latin typeface="+mn-lt"/>
                  <a:cs typeface="Calibri"/>
                </a:rPr>
                <a:t>a </a:t>
              </a:r>
              <a:r>
                <a:rPr sz="2000" spc="-15" dirty="0">
                  <a:latin typeface="+mn-lt"/>
                  <a:cs typeface="Calibri"/>
                </a:rPr>
                <a:t>complex variable (complex </a:t>
              </a:r>
              <a:r>
                <a:rPr sz="2000" spc="-10" dirty="0">
                  <a:latin typeface="+mn-lt"/>
                  <a:cs typeface="Calibri"/>
                </a:rPr>
                <a:t>frequency) and  is given</a:t>
              </a:r>
              <a:r>
                <a:rPr sz="2000" spc="0" dirty="0">
                  <a:latin typeface="+mn-lt"/>
                  <a:cs typeface="Calibri"/>
                </a:rPr>
                <a:t> </a:t>
              </a:r>
              <a:r>
                <a:rPr sz="2000" spc="-5" dirty="0">
                  <a:latin typeface="+mn-lt"/>
                  <a:cs typeface="Calibri"/>
                </a:rPr>
                <a:t>as</a:t>
              </a:r>
              <a:endParaRPr sz="2000" dirty="0">
                <a:latin typeface="+mn-lt"/>
                <a:cs typeface="Calibri"/>
              </a:endParaRPr>
            </a:p>
            <a:p>
              <a:pPr marL="461009" algn="ctr">
                <a:lnSpc>
                  <a:spcPct val="100000"/>
                </a:lnSpc>
                <a:spcBef>
                  <a:spcPts val="225"/>
                </a:spcBef>
                <a:tabLst>
                  <a:tab pos="1802130" algn="l"/>
                </a:tabLst>
              </a:pPr>
              <a:r>
                <a:rPr sz="3100" i="1" spc="90" dirty="0">
                  <a:latin typeface="Times New Roman"/>
                  <a:cs typeface="Times New Roman"/>
                </a:rPr>
                <a:t>s	</a:t>
              </a:r>
              <a:r>
                <a:rPr sz="3100" i="1" spc="65" dirty="0">
                  <a:latin typeface="Times New Roman"/>
                  <a:cs typeface="Times New Roman"/>
                </a:rPr>
                <a:t>j</a:t>
              </a:r>
              <a:endParaRPr sz="3100" dirty="0">
                <a:latin typeface="Times New Roman"/>
                <a:cs typeface="Times New Roman"/>
              </a:endParaRPr>
            </a:p>
          </p:txBody>
        </p:sp>
        <p:sp>
          <p:nvSpPr>
            <p:cNvPr id="52" name="object 26">
              <a:extLst>
                <a:ext uri="{FF2B5EF4-FFF2-40B4-BE49-F238E27FC236}">
                  <a16:creationId xmlns:a16="http://schemas.microsoft.com/office/drawing/2014/main" id="{FDB85E74-182B-4CAA-968E-C8E8801A249C}"/>
                </a:ext>
              </a:extLst>
            </p:cNvPr>
            <p:cNvSpPr/>
            <p:nvPr/>
          </p:nvSpPr>
          <p:spPr>
            <a:xfrm>
              <a:off x="5127380" y="5499519"/>
              <a:ext cx="423330" cy="44259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27">
              <a:extLst>
                <a:ext uri="{FF2B5EF4-FFF2-40B4-BE49-F238E27FC236}">
                  <a16:creationId xmlns:a16="http://schemas.microsoft.com/office/drawing/2014/main" id="{01E46AB9-4888-4E98-803F-371735CC5618}"/>
                </a:ext>
              </a:extLst>
            </p:cNvPr>
            <p:cNvSpPr/>
            <p:nvPr/>
          </p:nvSpPr>
          <p:spPr>
            <a:xfrm>
              <a:off x="4446808" y="5494354"/>
              <a:ext cx="423330" cy="4425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453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Laplace Transform of Derivatives</a:t>
            </a:r>
            <a:endParaRPr lang="en-GB" sz="2400" dirty="0"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00036AF-4845-42B7-9FE9-DB465B4AADF6}"/>
              </a:ext>
            </a:extLst>
          </p:cNvPr>
          <p:cNvSpPr txBox="1"/>
          <p:nvPr/>
        </p:nvSpPr>
        <p:spPr>
          <a:xfrm>
            <a:off x="400465" y="569469"/>
            <a:ext cx="855853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2000" dirty="0">
                <a:latin typeface="+mn-lt"/>
                <a:cs typeface="Calibri"/>
              </a:rPr>
              <a:t>Not </a:t>
            </a:r>
            <a:r>
              <a:rPr sz="2000" spc="-5" dirty="0">
                <a:latin typeface="+mn-lt"/>
                <a:cs typeface="Calibri"/>
              </a:rPr>
              <a:t>only </a:t>
            </a:r>
            <a:r>
              <a:rPr sz="2000" spc="-10" dirty="0">
                <a:latin typeface="+mn-lt"/>
                <a:cs typeface="Calibri"/>
              </a:rPr>
              <a:t>common </a:t>
            </a:r>
            <a:r>
              <a:rPr sz="2000" spc="-5" dirty="0">
                <a:latin typeface="+mn-lt"/>
                <a:cs typeface="Calibri"/>
              </a:rPr>
              <a:t>function </a:t>
            </a:r>
            <a:r>
              <a:rPr sz="2000" spc="-10" dirty="0">
                <a:latin typeface="+mn-lt"/>
                <a:cs typeface="Calibri"/>
              </a:rPr>
              <a:t>can </a:t>
            </a:r>
            <a:r>
              <a:rPr sz="2000" spc="-5" dirty="0">
                <a:latin typeface="+mn-lt"/>
                <a:cs typeface="Calibri"/>
              </a:rPr>
              <a:t>be </a:t>
            </a:r>
            <a:r>
              <a:rPr sz="2000" spc="-20" dirty="0">
                <a:latin typeface="+mn-lt"/>
                <a:cs typeface="Calibri"/>
              </a:rPr>
              <a:t>converted into  </a:t>
            </a:r>
            <a:r>
              <a:rPr sz="2000" spc="-10" dirty="0">
                <a:latin typeface="+mn-lt"/>
                <a:cs typeface="Calibri"/>
              </a:rPr>
              <a:t>simple </a:t>
            </a:r>
            <a:r>
              <a:rPr sz="2000" spc="-15" dirty="0">
                <a:latin typeface="+mn-lt"/>
                <a:cs typeface="Calibri"/>
              </a:rPr>
              <a:t>algebraic expressions </a:t>
            </a:r>
            <a:r>
              <a:rPr sz="2000" spc="-10" dirty="0">
                <a:latin typeface="+mn-lt"/>
                <a:cs typeface="Calibri"/>
              </a:rPr>
              <a:t>but calculus operations  can </a:t>
            </a:r>
            <a:r>
              <a:rPr sz="2000" spc="-5" dirty="0">
                <a:latin typeface="+mn-lt"/>
                <a:cs typeface="Calibri"/>
              </a:rPr>
              <a:t>also be </a:t>
            </a:r>
            <a:r>
              <a:rPr sz="2000" spc="-20" dirty="0">
                <a:latin typeface="+mn-lt"/>
                <a:cs typeface="Calibri"/>
              </a:rPr>
              <a:t>converted </a:t>
            </a:r>
            <a:r>
              <a:rPr sz="2000" spc="-15" dirty="0">
                <a:latin typeface="+mn-lt"/>
                <a:cs typeface="Calibri"/>
              </a:rPr>
              <a:t>into algebraic</a:t>
            </a:r>
            <a:r>
              <a:rPr sz="2000" spc="-25" dirty="0">
                <a:latin typeface="+mn-lt"/>
                <a:cs typeface="Calibri"/>
              </a:rPr>
              <a:t> </a:t>
            </a:r>
            <a:r>
              <a:rPr sz="2000" spc="-15" dirty="0">
                <a:latin typeface="+mn-lt"/>
                <a:cs typeface="Calibri"/>
              </a:rPr>
              <a:t>expressions.</a:t>
            </a:r>
            <a:endParaRPr sz="2000" dirty="0">
              <a:latin typeface="+mn-lt"/>
              <a:cs typeface="Calibri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8A4F2A6-4B2F-4BA3-80BE-1DEB5FB45109}"/>
              </a:ext>
            </a:extLst>
          </p:cNvPr>
          <p:cNvGrpSpPr/>
          <p:nvPr/>
        </p:nvGrpSpPr>
        <p:grpSpPr>
          <a:xfrm>
            <a:off x="2939268" y="1769261"/>
            <a:ext cx="3627563" cy="1074622"/>
            <a:chOff x="2896069" y="2744151"/>
            <a:chExt cx="3627563" cy="1074622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3B42742-CC59-447F-BAAD-E257783E3726}"/>
                </a:ext>
              </a:extLst>
            </p:cNvPr>
            <p:cNvSpPr/>
            <p:nvPr/>
          </p:nvSpPr>
          <p:spPr>
            <a:xfrm>
              <a:off x="3144314" y="3311126"/>
              <a:ext cx="842644" cy="0"/>
            </a:xfrm>
            <a:custGeom>
              <a:avLst/>
              <a:gdLst/>
              <a:ahLst/>
              <a:cxnLst/>
              <a:rect l="l" t="t" r="r" b="b"/>
              <a:pathLst>
                <a:path w="842645">
                  <a:moveTo>
                    <a:pt x="0" y="0"/>
                  </a:moveTo>
                  <a:lnTo>
                    <a:pt x="842328" y="0"/>
                  </a:lnTo>
                </a:path>
              </a:pathLst>
            </a:custGeom>
            <a:ln w="186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721CF07-E962-468F-8285-D1E5A3FDDC26}"/>
                </a:ext>
              </a:extLst>
            </p:cNvPr>
            <p:cNvSpPr txBox="1"/>
            <p:nvPr/>
          </p:nvSpPr>
          <p:spPr>
            <a:xfrm>
              <a:off x="4440197" y="2998971"/>
              <a:ext cx="2083435" cy="50545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1398270" algn="l"/>
                </a:tabLst>
              </a:pPr>
              <a:r>
                <a:rPr sz="3150" i="1" spc="-114" dirty="0">
                  <a:latin typeface="Times New Roman"/>
                  <a:cs typeface="Times New Roman"/>
                </a:rPr>
                <a:t>s</a:t>
              </a:r>
              <a:r>
                <a:rPr sz="3150" i="1" spc="75" dirty="0">
                  <a:latin typeface="Times New Roman"/>
                  <a:cs typeface="Times New Roman"/>
                </a:rPr>
                <a:t>X</a:t>
              </a:r>
              <a:r>
                <a:rPr sz="3150" i="1" spc="-345" dirty="0">
                  <a:latin typeface="Times New Roman"/>
                  <a:cs typeface="Times New Roman"/>
                </a:rPr>
                <a:t> </a:t>
              </a:r>
              <a:r>
                <a:rPr sz="3150" spc="204" dirty="0">
                  <a:latin typeface="Century"/>
                  <a:cs typeface="Century"/>
                </a:rPr>
                <a:t>(</a:t>
              </a:r>
              <a:r>
                <a:rPr sz="3150" i="1" spc="60" dirty="0">
                  <a:latin typeface="Times New Roman"/>
                  <a:cs typeface="Times New Roman"/>
                </a:rPr>
                <a:t>S</a:t>
              </a:r>
              <a:r>
                <a:rPr sz="3150" i="1" spc="-475" dirty="0">
                  <a:latin typeface="Times New Roman"/>
                  <a:cs typeface="Times New Roman"/>
                </a:rPr>
                <a:t> </a:t>
              </a:r>
              <a:r>
                <a:rPr sz="3150" spc="35" dirty="0">
                  <a:latin typeface="Century"/>
                  <a:cs typeface="Century"/>
                </a:rPr>
                <a:t>)</a:t>
              </a:r>
              <a:r>
                <a:rPr sz="3150" dirty="0">
                  <a:latin typeface="Century"/>
                  <a:cs typeface="Century"/>
                </a:rPr>
                <a:t>	</a:t>
              </a:r>
              <a:r>
                <a:rPr sz="3150" i="1" spc="-40" dirty="0">
                  <a:latin typeface="Times New Roman"/>
                  <a:cs typeface="Times New Roman"/>
                </a:rPr>
                <a:t>x</a:t>
              </a:r>
              <a:r>
                <a:rPr sz="3150" spc="114" dirty="0">
                  <a:latin typeface="Century"/>
                  <a:cs typeface="Century"/>
                </a:rPr>
                <a:t>(</a:t>
              </a:r>
              <a:r>
                <a:rPr sz="3150" spc="75" dirty="0">
                  <a:latin typeface="Times New Roman"/>
                  <a:cs typeface="Times New Roman"/>
                </a:rPr>
                <a:t>0</a:t>
              </a:r>
              <a:r>
                <a:rPr sz="3150" spc="35" dirty="0">
                  <a:latin typeface="Century"/>
                  <a:cs typeface="Century"/>
                </a:rPr>
                <a:t>)</a:t>
              </a:r>
              <a:endParaRPr sz="3150">
                <a:latin typeface="Century"/>
                <a:cs typeface="Century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C3BE298-23EF-4DE2-8215-D180C5A44B94}"/>
                </a:ext>
              </a:extLst>
            </p:cNvPr>
            <p:cNvSpPr txBox="1"/>
            <p:nvPr/>
          </p:nvSpPr>
          <p:spPr>
            <a:xfrm>
              <a:off x="3390417" y="3313314"/>
              <a:ext cx="353695" cy="50545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3150" i="1" spc="60" dirty="0">
                  <a:latin typeface="Times New Roman"/>
                  <a:cs typeface="Times New Roman"/>
                </a:rPr>
                <a:t>dt</a:t>
              </a:r>
              <a:endParaRPr sz="3150">
                <a:latin typeface="Times New Roman"/>
                <a:cs typeface="Times New Roman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67498FE-1B25-4563-A40D-CF4B737BA15E}"/>
                </a:ext>
              </a:extLst>
            </p:cNvPr>
            <p:cNvSpPr txBox="1"/>
            <p:nvPr/>
          </p:nvSpPr>
          <p:spPr>
            <a:xfrm>
              <a:off x="3165539" y="2744151"/>
              <a:ext cx="827405" cy="50545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3150" i="1" spc="60" dirty="0">
                  <a:latin typeface="Times New Roman"/>
                  <a:cs typeface="Times New Roman"/>
                </a:rPr>
                <a:t>dx</a:t>
              </a:r>
              <a:r>
                <a:rPr sz="3150" spc="60" dirty="0">
                  <a:latin typeface="Century"/>
                  <a:cs typeface="Century"/>
                </a:rPr>
                <a:t>(</a:t>
              </a:r>
              <a:r>
                <a:rPr sz="3150" i="1" spc="60" dirty="0">
                  <a:latin typeface="Times New Roman"/>
                  <a:cs typeface="Times New Roman"/>
                </a:rPr>
                <a:t>t</a:t>
              </a:r>
              <a:r>
                <a:rPr sz="3150" spc="60" dirty="0">
                  <a:latin typeface="Century"/>
                  <a:cs typeface="Century"/>
                </a:rPr>
                <a:t>)</a:t>
              </a:r>
              <a:endParaRPr sz="3150" dirty="0">
                <a:latin typeface="Century"/>
                <a:cs typeface="Century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FAC3F2F-5539-4083-B5B1-7B71222A04BF}"/>
                </a:ext>
              </a:extLst>
            </p:cNvPr>
            <p:cNvSpPr/>
            <p:nvPr/>
          </p:nvSpPr>
          <p:spPr>
            <a:xfrm>
              <a:off x="5518157" y="3008870"/>
              <a:ext cx="420675" cy="4901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66736A0-284C-42CE-B685-7A5C86335EC5}"/>
                </a:ext>
              </a:extLst>
            </p:cNvPr>
            <p:cNvSpPr/>
            <p:nvPr/>
          </p:nvSpPr>
          <p:spPr>
            <a:xfrm>
              <a:off x="4113606" y="3008870"/>
              <a:ext cx="420675" cy="49013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E9C431C-2194-4FC2-B4A0-E19381E09B63}"/>
                </a:ext>
              </a:extLst>
            </p:cNvPr>
            <p:cNvSpPr txBox="1"/>
            <p:nvPr/>
          </p:nvSpPr>
          <p:spPr>
            <a:xfrm>
              <a:off x="2896069" y="2998971"/>
              <a:ext cx="206375" cy="50545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3150" spc="50" dirty="0">
                  <a:latin typeface="MT Extra"/>
                  <a:cs typeface="MT Extra"/>
                </a:rPr>
                <a:t></a:t>
              </a:r>
              <a:endParaRPr sz="3150" dirty="0">
                <a:latin typeface="MT Extra"/>
                <a:cs typeface="MT Extra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9FF4B3D-31ED-4700-9EB7-18CCC738E4AE}"/>
              </a:ext>
            </a:extLst>
          </p:cNvPr>
          <p:cNvGrpSpPr/>
          <p:nvPr/>
        </p:nvGrpSpPr>
        <p:grpSpPr>
          <a:xfrm>
            <a:off x="2013696" y="2960451"/>
            <a:ext cx="5391212" cy="1112540"/>
            <a:chOff x="2104104" y="4695779"/>
            <a:chExt cx="5391212" cy="111254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DAC4B6E-47E6-44E6-B05D-D18270956809}"/>
                </a:ext>
              </a:extLst>
            </p:cNvPr>
            <p:cNvSpPr/>
            <p:nvPr/>
          </p:nvSpPr>
          <p:spPr>
            <a:xfrm>
              <a:off x="2352823" y="5259802"/>
              <a:ext cx="1092835" cy="0"/>
            </a:xfrm>
            <a:custGeom>
              <a:avLst/>
              <a:gdLst/>
              <a:ahLst/>
              <a:cxnLst/>
              <a:rect l="l" t="t" r="r" b="b"/>
              <a:pathLst>
                <a:path w="1092835">
                  <a:moveTo>
                    <a:pt x="0" y="0"/>
                  </a:moveTo>
                  <a:lnTo>
                    <a:pt x="1092656" y="0"/>
                  </a:lnTo>
                </a:path>
              </a:pathLst>
            </a:custGeom>
            <a:ln w="19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C68A0C46-C269-4CC9-91F7-21A137B6B93F}"/>
                </a:ext>
              </a:extLst>
            </p:cNvPr>
            <p:cNvSpPr/>
            <p:nvPr/>
          </p:nvSpPr>
          <p:spPr>
            <a:xfrm>
              <a:off x="6579595" y="5259802"/>
              <a:ext cx="912494" cy="0"/>
            </a:xfrm>
            <a:custGeom>
              <a:avLst/>
              <a:gdLst/>
              <a:ahLst/>
              <a:cxnLst/>
              <a:rect l="l" t="t" r="r" b="b"/>
              <a:pathLst>
                <a:path w="912495">
                  <a:moveTo>
                    <a:pt x="0" y="0"/>
                  </a:moveTo>
                  <a:lnTo>
                    <a:pt x="912197" y="0"/>
                  </a:lnTo>
                </a:path>
              </a:pathLst>
            </a:custGeom>
            <a:ln w="190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1AAA34C-E27F-408D-9403-1F0ACA2F1E51}"/>
                </a:ext>
              </a:extLst>
            </p:cNvPr>
            <p:cNvSpPr txBox="1"/>
            <p:nvPr/>
          </p:nvSpPr>
          <p:spPr>
            <a:xfrm>
              <a:off x="6862146" y="5262310"/>
              <a:ext cx="358775" cy="50228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3100" i="1" spc="95" dirty="0">
                  <a:latin typeface="Times New Roman"/>
                  <a:cs typeface="Times New Roman"/>
                </a:rPr>
                <a:t>dt</a:t>
              </a:r>
              <a:endParaRPr sz="3100">
                <a:latin typeface="Times New Roman"/>
                <a:cs typeface="Times New Roman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0F6B954-9095-4AFE-B380-4B85F03310FF}"/>
                </a:ext>
              </a:extLst>
            </p:cNvPr>
            <p:cNvSpPr txBox="1"/>
            <p:nvPr/>
          </p:nvSpPr>
          <p:spPr>
            <a:xfrm>
              <a:off x="3899969" y="4949576"/>
              <a:ext cx="1254760" cy="50228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  <a:tabLst>
                  <a:tab pos="398145" algn="l"/>
                </a:tabLst>
              </a:pPr>
              <a:r>
                <a:rPr sz="3100" i="1" spc="30" dirty="0">
                  <a:latin typeface="Times New Roman"/>
                  <a:cs typeface="Times New Roman"/>
                </a:rPr>
                <a:t>s	</a:t>
              </a:r>
              <a:r>
                <a:rPr sz="3100" i="1" spc="50" dirty="0">
                  <a:latin typeface="Times New Roman"/>
                  <a:cs typeface="Times New Roman"/>
                </a:rPr>
                <a:t>X</a:t>
              </a:r>
              <a:r>
                <a:rPr sz="3100" i="1" spc="-425" dirty="0">
                  <a:latin typeface="Times New Roman"/>
                  <a:cs typeface="Times New Roman"/>
                </a:rPr>
                <a:t> </a:t>
              </a:r>
              <a:r>
                <a:rPr sz="3100" spc="135" dirty="0">
                  <a:latin typeface="Century"/>
                  <a:cs typeface="Century"/>
                </a:rPr>
                <a:t>(</a:t>
              </a:r>
              <a:r>
                <a:rPr sz="3100" i="1" spc="135" dirty="0">
                  <a:latin typeface="Times New Roman"/>
                  <a:cs typeface="Times New Roman"/>
                </a:rPr>
                <a:t>S</a:t>
              </a:r>
              <a:r>
                <a:rPr sz="3100" i="1" spc="-459" dirty="0">
                  <a:latin typeface="Times New Roman"/>
                  <a:cs typeface="Times New Roman"/>
                </a:rPr>
                <a:t> </a:t>
              </a:r>
              <a:r>
                <a:rPr sz="3100" spc="25" dirty="0">
                  <a:latin typeface="Century"/>
                  <a:cs typeface="Century"/>
                </a:rPr>
                <a:t>)</a:t>
              </a:r>
              <a:endParaRPr sz="3100">
                <a:latin typeface="Century"/>
                <a:cs typeface="Century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BCEFE48D-86A5-4DDF-9067-91DA9BFD3DF7}"/>
                </a:ext>
              </a:extLst>
            </p:cNvPr>
            <p:cNvSpPr txBox="1"/>
            <p:nvPr/>
          </p:nvSpPr>
          <p:spPr>
            <a:xfrm>
              <a:off x="6601236" y="4695779"/>
              <a:ext cx="894080" cy="50228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3100" i="1" spc="50" dirty="0">
                  <a:latin typeface="Times New Roman"/>
                  <a:cs typeface="Times New Roman"/>
                </a:rPr>
                <a:t>dx</a:t>
              </a:r>
              <a:r>
                <a:rPr sz="3100" spc="50" dirty="0">
                  <a:latin typeface="Century"/>
                  <a:cs typeface="Century"/>
                </a:rPr>
                <a:t>(</a:t>
              </a:r>
              <a:r>
                <a:rPr sz="3100" spc="50" dirty="0">
                  <a:latin typeface="Times New Roman"/>
                  <a:cs typeface="Times New Roman"/>
                </a:rPr>
                <a:t>0</a:t>
              </a:r>
              <a:r>
                <a:rPr sz="3100" spc="50" dirty="0">
                  <a:latin typeface="Century"/>
                  <a:cs typeface="Century"/>
                </a:rPr>
                <a:t>)</a:t>
              </a:r>
              <a:endParaRPr sz="3100">
                <a:latin typeface="Century"/>
                <a:cs typeface="Century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AFDD03BE-8F3C-41AC-A225-7246170ED620}"/>
                </a:ext>
              </a:extLst>
            </p:cNvPr>
            <p:cNvSpPr txBox="1"/>
            <p:nvPr/>
          </p:nvSpPr>
          <p:spPr>
            <a:xfrm>
              <a:off x="5520019" y="4949576"/>
              <a:ext cx="695325" cy="50228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3100" i="1" spc="-10" dirty="0">
                  <a:latin typeface="Times New Roman"/>
                  <a:cs typeface="Times New Roman"/>
                </a:rPr>
                <a:t>x</a:t>
              </a:r>
              <a:r>
                <a:rPr sz="3100" spc="130" dirty="0">
                  <a:latin typeface="Century"/>
                  <a:cs typeface="Century"/>
                </a:rPr>
                <a:t>(</a:t>
              </a:r>
              <a:r>
                <a:rPr sz="3100" spc="105" dirty="0">
                  <a:latin typeface="Times New Roman"/>
                  <a:cs typeface="Times New Roman"/>
                </a:rPr>
                <a:t>0</a:t>
              </a:r>
              <a:r>
                <a:rPr sz="3100" spc="25" dirty="0">
                  <a:latin typeface="Century"/>
                  <a:cs typeface="Century"/>
                </a:rPr>
                <a:t>)</a:t>
              </a:r>
              <a:endParaRPr sz="3100">
                <a:latin typeface="Century"/>
                <a:cs typeface="Century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A19989CB-00BE-478D-9BFE-50F2CE1B696A}"/>
                </a:ext>
              </a:extLst>
            </p:cNvPr>
            <p:cNvSpPr txBox="1"/>
            <p:nvPr/>
          </p:nvSpPr>
          <p:spPr>
            <a:xfrm>
              <a:off x="4090343" y="4889676"/>
              <a:ext cx="168275" cy="36004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2200" spc="15" dirty="0">
                  <a:latin typeface="Times New Roman"/>
                  <a:cs typeface="Times New Roman"/>
                </a:rPr>
                <a:t>2</a:t>
              </a:r>
              <a:endParaRPr sz="2200">
                <a:latin typeface="Times New Roman"/>
                <a:cs typeface="Times New Roman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66626060-CCD5-4C7A-B2AB-4E25F8BBAA08}"/>
                </a:ext>
              </a:extLst>
            </p:cNvPr>
            <p:cNvSpPr txBox="1"/>
            <p:nvPr/>
          </p:nvSpPr>
          <p:spPr>
            <a:xfrm>
              <a:off x="2618866" y="5306035"/>
              <a:ext cx="525145" cy="50228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3100" i="1" spc="105" dirty="0">
                  <a:latin typeface="Times New Roman"/>
                  <a:cs typeface="Times New Roman"/>
                </a:rPr>
                <a:t>d</a:t>
              </a:r>
              <a:r>
                <a:rPr sz="3100" i="1" spc="275" dirty="0">
                  <a:latin typeface="Times New Roman"/>
                  <a:cs typeface="Times New Roman"/>
                </a:rPr>
                <a:t>t</a:t>
              </a:r>
              <a:r>
                <a:rPr sz="3300" spc="22" baseline="35353" dirty="0">
                  <a:latin typeface="Times New Roman"/>
                  <a:cs typeface="Times New Roman"/>
                </a:rPr>
                <a:t>2</a:t>
              </a:r>
              <a:endParaRPr sz="3300" baseline="35353">
                <a:latin typeface="Times New Roman"/>
                <a:cs typeface="Times New Roman"/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C52AC8E-92FC-4A87-AA7D-D19B01804501}"/>
                </a:ext>
              </a:extLst>
            </p:cNvPr>
            <p:cNvSpPr txBox="1"/>
            <p:nvPr/>
          </p:nvSpPr>
          <p:spPr>
            <a:xfrm>
              <a:off x="2374116" y="4695779"/>
              <a:ext cx="1073785" cy="50228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3100" i="1" spc="40" dirty="0">
                  <a:latin typeface="Times New Roman"/>
                  <a:cs typeface="Times New Roman"/>
                </a:rPr>
                <a:t>d</a:t>
              </a:r>
              <a:r>
                <a:rPr sz="3100" i="1" spc="-335" dirty="0">
                  <a:latin typeface="Times New Roman"/>
                  <a:cs typeface="Times New Roman"/>
                </a:rPr>
                <a:t> </a:t>
              </a:r>
              <a:r>
                <a:rPr sz="3300" spc="22" baseline="35353" dirty="0">
                  <a:latin typeface="Times New Roman"/>
                  <a:cs typeface="Times New Roman"/>
                </a:rPr>
                <a:t>2</a:t>
              </a:r>
              <a:r>
                <a:rPr sz="3300" spc="-390" baseline="35353" dirty="0">
                  <a:latin typeface="Times New Roman"/>
                  <a:cs typeface="Times New Roman"/>
                </a:rPr>
                <a:t> </a:t>
              </a:r>
              <a:r>
                <a:rPr sz="3100" i="1" spc="30" dirty="0">
                  <a:latin typeface="Times New Roman"/>
                  <a:cs typeface="Times New Roman"/>
                </a:rPr>
                <a:t>x</a:t>
              </a:r>
              <a:r>
                <a:rPr sz="3100" spc="30" dirty="0">
                  <a:latin typeface="Century"/>
                  <a:cs typeface="Century"/>
                </a:rPr>
                <a:t>(</a:t>
              </a:r>
              <a:r>
                <a:rPr sz="3100" i="1" spc="30" dirty="0">
                  <a:latin typeface="Times New Roman"/>
                  <a:cs typeface="Times New Roman"/>
                </a:rPr>
                <a:t>t</a:t>
              </a:r>
              <a:r>
                <a:rPr sz="3100" i="1" spc="-520" dirty="0">
                  <a:latin typeface="Times New Roman"/>
                  <a:cs typeface="Times New Roman"/>
                </a:rPr>
                <a:t> </a:t>
              </a:r>
              <a:r>
                <a:rPr sz="3100" spc="25" dirty="0">
                  <a:latin typeface="Century"/>
                  <a:cs typeface="Century"/>
                </a:rPr>
                <a:t>)</a:t>
              </a:r>
              <a:endParaRPr sz="3100" dirty="0">
                <a:latin typeface="Century"/>
                <a:cs typeface="Century"/>
              </a:endParaRPr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130914C9-E9B4-445F-833B-5B3312EA841A}"/>
                </a:ext>
              </a:extLst>
            </p:cNvPr>
            <p:cNvSpPr/>
            <p:nvPr/>
          </p:nvSpPr>
          <p:spPr>
            <a:xfrm>
              <a:off x="6270924" y="4959417"/>
              <a:ext cx="423455" cy="48665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375D9807-19D3-4554-9306-962AB6D483F3}"/>
                </a:ext>
              </a:extLst>
            </p:cNvPr>
            <p:cNvSpPr/>
            <p:nvPr/>
          </p:nvSpPr>
          <p:spPr>
            <a:xfrm>
              <a:off x="5210272" y="4959417"/>
              <a:ext cx="423455" cy="48665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EA6FF4E6-8EAC-475F-8510-023E39B8784A}"/>
                </a:ext>
              </a:extLst>
            </p:cNvPr>
            <p:cNvSpPr/>
            <p:nvPr/>
          </p:nvSpPr>
          <p:spPr>
            <a:xfrm>
              <a:off x="3573684" y="4959417"/>
              <a:ext cx="423455" cy="48665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A777133B-D8D4-4796-82D2-01E2D2D04388}"/>
                </a:ext>
              </a:extLst>
            </p:cNvPr>
            <p:cNvSpPr txBox="1"/>
            <p:nvPr/>
          </p:nvSpPr>
          <p:spPr>
            <a:xfrm>
              <a:off x="2104104" y="4949576"/>
              <a:ext cx="201930" cy="50228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3100" spc="35" dirty="0">
                  <a:latin typeface="MT Extra"/>
                  <a:cs typeface="MT Extra"/>
                </a:rPr>
                <a:t></a:t>
              </a:r>
              <a:endParaRPr sz="3100">
                <a:latin typeface="MT Extra"/>
                <a:cs typeface="MT Extra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AC1FC972-D3F4-4D57-8DE5-40B76FCBB8FD}"/>
              </a:ext>
            </a:extLst>
          </p:cNvPr>
          <p:cNvSpPr/>
          <p:nvPr/>
        </p:nvSpPr>
        <p:spPr>
          <a:xfrm>
            <a:off x="353383" y="1625210"/>
            <a:ext cx="19418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GB" sz="2000" spc="-15" dirty="0">
                <a:latin typeface="+mn-lt"/>
                <a:cs typeface="Calibri"/>
              </a:rPr>
              <a:t>For</a:t>
            </a:r>
            <a:r>
              <a:rPr lang="en-GB" sz="2000" spc="-25" dirty="0">
                <a:latin typeface="+mn-lt"/>
                <a:cs typeface="Calibri"/>
              </a:rPr>
              <a:t> </a:t>
            </a:r>
            <a:r>
              <a:rPr lang="en-GB" sz="2000" spc="-20" dirty="0">
                <a:latin typeface="+mn-lt"/>
                <a:cs typeface="Calibri"/>
              </a:rPr>
              <a:t>example</a:t>
            </a:r>
            <a:endParaRPr lang="en-GB" sz="2000" dirty="0">
              <a:latin typeface="+mn-lt"/>
              <a:cs typeface="Calibri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439858" y="4126516"/>
            <a:ext cx="8166842" cy="1888102"/>
            <a:chOff x="439858" y="4126516"/>
            <a:chExt cx="8166842" cy="1888102"/>
          </a:xfrm>
        </p:grpSpPr>
        <p:sp>
          <p:nvSpPr>
            <p:cNvPr id="27" name="object 3">
              <a:extLst>
                <a:ext uri="{FF2B5EF4-FFF2-40B4-BE49-F238E27FC236}">
                  <a16:creationId xmlns:a16="http://schemas.microsoft.com/office/drawing/2014/main" id="{7C536384-7FB5-4375-ABB9-78A024373886}"/>
                </a:ext>
              </a:extLst>
            </p:cNvPr>
            <p:cNvSpPr txBox="1"/>
            <p:nvPr/>
          </p:nvSpPr>
          <p:spPr>
            <a:xfrm>
              <a:off x="439858" y="4126516"/>
              <a:ext cx="1898014" cy="32060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55600" indent="-342900">
                <a:lnSpc>
                  <a:spcPct val="100000"/>
                </a:lnSpc>
                <a:spcBef>
                  <a:spcPts val="100"/>
                </a:spcBef>
                <a:buFont typeface="Arial"/>
                <a:buChar char="•"/>
                <a:tabLst>
                  <a:tab pos="354965" algn="l"/>
                  <a:tab pos="355600" algn="l"/>
                </a:tabLst>
              </a:pPr>
              <a:r>
                <a:rPr sz="2000" dirty="0">
                  <a:latin typeface="+mn-lt"/>
                  <a:cs typeface="Calibri"/>
                </a:rPr>
                <a:t>In</a:t>
              </a:r>
              <a:r>
                <a:rPr sz="2000" spc="-90" dirty="0">
                  <a:latin typeface="+mn-lt"/>
                  <a:cs typeface="Calibri"/>
                </a:rPr>
                <a:t> </a:t>
              </a:r>
              <a:r>
                <a:rPr sz="2000" spc="-20" dirty="0">
                  <a:latin typeface="+mn-lt"/>
                  <a:cs typeface="Calibri"/>
                </a:rPr>
                <a:t>general</a:t>
              </a:r>
              <a:endParaRPr sz="2000" dirty="0">
                <a:latin typeface="+mn-lt"/>
                <a:cs typeface="Calibri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F2AE5DF-CF0D-4E0A-90B5-990FE8FB583A}"/>
                </a:ext>
              </a:extLst>
            </p:cNvPr>
            <p:cNvGrpSpPr/>
            <p:nvPr/>
          </p:nvGrpSpPr>
          <p:grpSpPr>
            <a:xfrm>
              <a:off x="658498" y="4482975"/>
              <a:ext cx="7948202" cy="1163073"/>
              <a:chOff x="495938" y="2626849"/>
              <a:chExt cx="7948202" cy="116307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EA1006D-3364-4F03-827D-4F1E26A850B3}"/>
                  </a:ext>
                </a:extLst>
              </p:cNvPr>
              <p:cNvGrpSpPr/>
              <p:nvPr/>
            </p:nvGrpSpPr>
            <p:grpSpPr>
              <a:xfrm>
                <a:off x="1458591" y="2626849"/>
                <a:ext cx="6985549" cy="882367"/>
                <a:chOff x="1458591" y="2626849"/>
                <a:chExt cx="6985549" cy="882367"/>
              </a:xfrm>
            </p:grpSpPr>
            <p:sp>
              <p:nvSpPr>
                <p:cNvPr id="46" name="object 4">
                  <a:extLst>
                    <a:ext uri="{FF2B5EF4-FFF2-40B4-BE49-F238E27FC236}">
                      <a16:creationId xmlns:a16="http://schemas.microsoft.com/office/drawing/2014/main" id="{CD2F02BC-A267-4F0F-A367-C73EF3D44B0B}"/>
                    </a:ext>
                  </a:extLst>
                </p:cNvPr>
                <p:cNvSpPr/>
                <p:nvPr/>
              </p:nvSpPr>
              <p:spPr>
                <a:xfrm>
                  <a:off x="1706802" y="3190872"/>
                  <a:ext cx="109728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0">
                      <a:moveTo>
                        <a:pt x="0" y="0"/>
                      </a:moveTo>
                      <a:lnTo>
                        <a:pt x="1096769" y="0"/>
                      </a:lnTo>
                    </a:path>
                  </a:pathLst>
                </a:custGeom>
                <a:ln w="1901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7" name="object 5">
                  <a:extLst>
                    <a:ext uri="{FF2B5EF4-FFF2-40B4-BE49-F238E27FC236}">
                      <a16:creationId xmlns:a16="http://schemas.microsoft.com/office/drawing/2014/main" id="{60F12D88-B9EE-436D-9625-DE0FEE4C54D6}"/>
                    </a:ext>
                  </a:extLst>
                </p:cNvPr>
                <p:cNvSpPr/>
                <p:nvPr/>
              </p:nvSpPr>
              <p:spPr>
                <a:xfrm>
                  <a:off x="7666450" y="2832501"/>
                  <a:ext cx="280273" cy="340292"/>
                </a:xfrm>
                <a:prstGeom prst="rect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8" name="object 6">
                  <a:extLst>
                    <a:ext uri="{FF2B5EF4-FFF2-40B4-BE49-F238E27FC236}">
                      <a16:creationId xmlns:a16="http://schemas.microsoft.com/office/drawing/2014/main" id="{0B13D8B5-B9E1-44AA-B4F9-C34F92B08910}"/>
                    </a:ext>
                  </a:extLst>
                </p:cNvPr>
                <p:cNvSpPr/>
                <p:nvPr/>
              </p:nvSpPr>
              <p:spPr>
                <a:xfrm>
                  <a:off x="5225796" y="2832501"/>
                  <a:ext cx="280273" cy="340292"/>
                </a:xfrm>
                <a:prstGeom prst="rect">
                  <a:avLst/>
                </a:prstGeom>
                <a:blipFill>
                  <a:blip r:embed="rId7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9" name="object 7">
                  <a:extLst>
                    <a:ext uri="{FF2B5EF4-FFF2-40B4-BE49-F238E27FC236}">
                      <a16:creationId xmlns:a16="http://schemas.microsoft.com/office/drawing/2014/main" id="{90B56645-E10F-49DF-B8F1-7D1B32587BC6}"/>
                    </a:ext>
                  </a:extLst>
                </p:cNvPr>
                <p:cNvSpPr/>
                <p:nvPr/>
              </p:nvSpPr>
              <p:spPr>
                <a:xfrm>
                  <a:off x="6980262" y="2890488"/>
                  <a:ext cx="422351" cy="486656"/>
                </a:xfrm>
                <a:prstGeom prst="rect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0" name="object 8">
                  <a:extLst>
                    <a:ext uri="{FF2B5EF4-FFF2-40B4-BE49-F238E27FC236}">
                      <a16:creationId xmlns:a16="http://schemas.microsoft.com/office/drawing/2014/main" id="{C66150C7-9B67-4EFE-8EF2-4924D705F403}"/>
                    </a:ext>
                  </a:extLst>
                </p:cNvPr>
                <p:cNvSpPr/>
                <p:nvPr/>
              </p:nvSpPr>
              <p:spPr>
                <a:xfrm>
                  <a:off x="6262039" y="2890488"/>
                  <a:ext cx="422351" cy="486656"/>
                </a:xfrm>
                <a:prstGeom prst="rect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1" name="object 9">
                  <a:extLst>
                    <a:ext uri="{FF2B5EF4-FFF2-40B4-BE49-F238E27FC236}">
                      <a16:creationId xmlns:a16="http://schemas.microsoft.com/office/drawing/2014/main" id="{74E135A2-EEB8-4703-BA1F-17A99C67C3E7}"/>
                    </a:ext>
                  </a:extLst>
                </p:cNvPr>
                <p:cNvSpPr/>
                <p:nvPr/>
              </p:nvSpPr>
              <p:spPr>
                <a:xfrm>
                  <a:off x="4570852" y="2890488"/>
                  <a:ext cx="486537" cy="486656"/>
                </a:xfrm>
                <a:prstGeom prst="rect">
                  <a:avLst/>
                </a:prstGeom>
                <a:blipFill>
                  <a:blip r:embed="rId5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2" name="object 10">
                  <a:extLst>
                    <a:ext uri="{FF2B5EF4-FFF2-40B4-BE49-F238E27FC236}">
                      <a16:creationId xmlns:a16="http://schemas.microsoft.com/office/drawing/2014/main" id="{04793814-18C0-4D81-B777-F9D157F4E99F}"/>
                    </a:ext>
                  </a:extLst>
                </p:cNvPr>
                <p:cNvSpPr/>
                <p:nvPr/>
              </p:nvSpPr>
              <p:spPr>
                <a:xfrm>
                  <a:off x="2931041" y="2890488"/>
                  <a:ext cx="422351" cy="486656"/>
                </a:xfrm>
                <a:prstGeom prst="rect">
                  <a:avLst/>
                </a:prstGeom>
                <a:blipFill>
                  <a:blip r:embed="rId6" cstate="print"/>
                  <a:stretch>
                    <a:fillRect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53" name="object 11">
                  <a:extLst>
                    <a:ext uri="{FF2B5EF4-FFF2-40B4-BE49-F238E27FC236}">
                      <a16:creationId xmlns:a16="http://schemas.microsoft.com/office/drawing/2014/main" id="{40A0B852-137A-4E07-8D11-98E3F8AC2519}"/>
                    </a:ext>
                  </a:extLst>
                </p:cNvPr>
                <p:cNvSpPr txBox="1"/>
                <p:nvPr/>
              </p:nvSpPr>
              <p:spPr>
                <a:xfrm>
                  <a:off x="7497134" y="2820747"/>
                  <a:ext cx="463550" cy="360045"/>
                </a:xfrm>
                <a:prstGeom prst="rect">
                  <a:avLst/>
                </a:prstGeom>
              </p:spPr>
              <p:txBody>
                <a:bodyPr vert="horz" wrap="square" lIns="0" tIns="1143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90"/>
                    </a:spcBef>
                    <a:tabLst>
                      <a:tab pos="307340" algn="l"/>
                    </a:tabLst>
                  </a:pPr>
                  <a:r>
                    <a:rPr sz="2200" i="1" spc="15" dirty="0">
                      <a:latin typeface="Times New Roman"/>
                      <a:cs typeface="Times New Roman"/>
                    </a:rPr>
                    <a:t>n	</a:t>
                  </a:r>
                  <a:r>
                    <a:rPr sz="2200" spc="15" dirty="0">
                      <a:latin typeface="Times New Roman"/>
                      <a:cs typeface="Times New Roman"/>
                    </a:rPr>
                    <a:t>1</a:t>
                  </a:r>
                  <a:endParaRPr sz="2200"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54" name="object 12">
                  <a:extLst>
                    <a:ext uri="{FF2B5EF4-FFF2-40B4-BE49-F238E27FC236}">
                      <a16:creationId xmlns:a16="http://schemas.microsoft.com/office/drawing/2014/main" id="{9FC54C6C-8EDB-48A0-97EB-58E6AE7BF45F}"/>
                    </a:ext>
                  </a:extLst>
                </p:cNvPr>
                <p:cNvSpPr txBox="1"/>
                <p:nvPr/>
              </p:nvSpPr>
              <p:spPr>
                <a:xfrm>
                  <a:off x="5057389" y="2820747"/>
                  <a:ext cx="462280" cy="360045"/>
                </a:xfrm>
                <a:prstGeom prst="rect">
                  <a:avLst/>
                </a:prstGeom>
              </p:spPr>
              <p:txBody>
                <a:bodyPr vert="horz" wrap="square" lIns="0" tIns="1143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90"/>
                    </a:spcBef>
                    <a:tabLst>
                      <a:tab pos="306070" algn="l"/>
                    </a:tabLst>
                  </a:pPr>
                  <a:r>
                    <a:rPr sz="2200" i="1" spc="15" dirty="0">
                      <a:latin typeface="Times New Roman"/>
                      <a:cs typeface="Times New Roman"/>
                    </a:rPr>
                    <a:t>n	</a:t>
                  </a:r>
                  <a:r>
                    <a:rPr sz="2200" spc="15" dirty="0">
                      <a:latin typeface="Times New Roman"/>
                      <a:cs typeface="Times New Roman"/>
                    </a:rPr>
                    <a:t>1</a:t>
                  </a:r>
                  <a:endParaRPr sz="2200"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55" name="object 13">
                  <a:extLst>
                    <a:ext uri="{FF2B5EF4-FFF2-40B4-BE49-F238E27FC236}">
                      <a16:creationId xmlns:a16="http://schemas.microsoft.com/office/drawing/2014/main" id="{40ACF67D-78E6-460B-8040-015DC1EDE55A}"/>
                    </a:ext>
                  </a:extLst>
                </p:cNvPr>
                <p:cNvSpPr txBox="1"/>
                <p:nvPr/>
              </p:nvSpPr>
              <p:spPr>
                <a:xfrm>
                  <a:off x="3446804" y="2820747"/>
                  <a:ext cx="168275" cy="360045"/>
                </a:xfrm>
                <a:prstGeom prst="rect">
                  <a:avLst/>
                </a:prstGeom>
              </p:spPr>
              <p:txBody>
                <a:bodyPr vert="horz" wrap="square" lIns="0" tIns="1143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90"/>
                    </a:spcBef>
                  </a:pPr>
                  <a:r>
                    <a:rPr sz="2200" i="1" spc="15" dirty="0">
                      <a:latin typeface="Times New Roman"/>
                      <a:cs typeface="Times New Roman"/>
                    </a:rPr>
                    <a:t>n</a:t>
                  </a:r>
                  <a:endParaRPr sz="2200"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56" name="object 14">
                  <a:extLst>
                    <a:ext uri="{FF2B5EF4-FFF2-40B4-BE49-F238E27FC236}">
                      <a16:creationId xmlns:a16="http://schemas.microsoft.com/office/drawing/2014/main" id="{6DA367FC-82BD-4A51-B432-8A86BDC96F3E}"/>
                    </a:ext>
                  </a:extLst>
                </p:cNvPr>
                <p:cNvSpPr txBox="1"/>
                <p:nvPr/>
              </p:nvSpPr>
              <p:spPr>
                <a:xfrm>
                  <a:off x="3257005" y="2880646"/>
                  <a:ext cx="1259205" cy="502284"/>
                </a:xfrm>
                <a:prstGeom prst="rect">
                  <a:avLst/>
                </a:prstGeom>
              </p:spPr>
              <p:txBody>
                <a:bodyPr vert="horz" wrap="square" lIns="0" tIns="1587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25"/>
                    </a:spcBef>
                    <a:tabLst>
                      <a:tab pos="402590" algn="l"/>
                    </a:tabLst>
                  </a:pPr>
                  <a:r>
                    <a:rPr sz="3100" i="1" spc="30" dirty="0">
                      <a:latin typeface="Times New Roman"/>
                      <a:cs typeface="Times New Roman"/>
                    </a:rPr>
                    <a:t>s	</a:t>
                  </a:r>
                  <a:r>
                    <a:rPr sz="3100" i="1" spc="55" dirty="0">
                      <a:latin typeface="Times New Roman"/>
                      <a:cs typeface="Times New Roman"/>
                    </a:rPr>
                    <a:t>X</a:t>
                  </a:r>
                  <a:r>
                    <a:rPr sz="3100" i="1" spc="-430" dirty="0">
                      <a:latin typeface="Times New Roman"/>
                      <a:cs typeface="Times New Roman"/>
                    </a:rPr>
                    <a:t> </a:t>
                  </a:r>
                  <a:r>
                    <a:rPr sz="3100" spc="135" dirty="0">
                      <a:latin typeface="Century"/>
                      <a:cs typeface="Century"/>
                    </a:rPr>
                    <a:t>(</a:t>
                  </a:r>
                  <a:r>
                    <a:rPr sz="3100" i="1" spc="135" dirty="0">
                      <a:latin typeface="Times New Roman"/>
                      <a:cs typeface="Times New Roman"/>
                    </a:rPr>
                    <a:t>S</a:t>
                  </a:r>
                  <a:r>
                    <a:rPr sz="3100" i="1" spc="-459" dirty="0">
                      <a:latin typeface="Times New Roman"/>
                      <a:cs typeface="Times New Roman"/>
                    </a:rPr>
                    <a:t> </a:t>
                  </a:r>
                  <a:r>
                    <a:rPr sz="3100" spc="25" dirty="0">
                      <a:latin typeface="Century"/>
                      <a:cs typeface="Century"/>
                    </a:rPr>
                    <a:t>)</a:t>
                  </a:r>
                  <a:endParaRPr sz="3100">
                    <a:latin typeface="Century"/>
                    <a:cs typeface="Century"/>
                  </a:endParaRPr>
                </a:p>
              </p:txBody>
            </p:sp>
            <p:sp>
              <p:nvSpPr>
                <p:cNvPr id="57" name="object 15">
                  <a:extLst>
                    <a:ext uri="{FF2B5EF4-FFF2-40B4-BE49-F238E27FC236}">
                      <a16:creationId xmlns:a16="http://schemas.microsoft.com/office/drawing/2014/main" id="{97F06B98-C0B8-4984-9CDE-ECCC1D5CEF74}"/>
                    </a:ext>
                  </a:extLst>
                </p:cNvPr>
                <p:cNvSpPr txBox="1"/>
                <p:nvPr/>
              </p:nvSpPr>
              <p:spPr>
                <a:xfrm>
                  <a:off x="1728162" y="2626849"/>
                  <a:ext cx="1077595" cy="502284"/>
                </a:xfrm>
                <a:prstGeom prst="rect">
                  <a:avLst/>
                </a:prstGeom>
              </p:spPr>
              <p:txBody>
                <a:bodyPr vert="horz" wrap="square" lIns="0" tIns="1587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25"/>
                    </a:spcBef>
                  </a:pPr>
                  <a:r>
                    <a:rPr sz="3100" i="1" spc="50" dirty="0">
                      <a:latin typeface="Times New Roman"/>
                      <a:cs typeface="Times New Roman"/>
                    </a:rPr>
                    <a:t>d</a:t>
                  </a:r>
                  <a:r>
                    <a:rPr sz="3100" i="1" spc="-335" dirty="0">
                      <a:latin typeface="Times New Roman"/>
                      <a:cs typeface="Times New Roman"/>
                    </a:rPr>
                    <a:t> </a:t>
                  </a:r>
                  <a:r>
                    <a:rPr sz="3300" i="1" spc="22" baseline="35353" dirty="0">
                      <a:latin typeface="Times New Roman"/>
                      <a:cs typeface="Times New Roman"/>
                    </a:rPr>
                    <a:t>n</a:t>
                  </a:r>
                  <a:r>
                    <a:rPr sz="3300" i="1" spc="-337" baseline="35353" dirty="0">
                      <a:latin typeface="Times New Roman"/>
                      <a:cs typeface="Times New Roman"/>
                    </a:rPr>
                    <a:t> </a:t>
                  </a:r>
                  <a:r>
                    <a:rPr sz="3100" i="1" spc="30" dirty="0">
                      <a:latin typeface="Times New Roman"/>
                      <a:cs typeface="Times New Roman"/>
                    </a:rPr>
                    <a:t>x</a:t>
                  </a:r>
                  <a:r>
                    <a:rPr sz="3100" spc="30" dirty="0">
                      <a:latin typeface="Century"/>
                      <a:cs typeface="Century"/>
                    </a:rPr>
                    <a:t>(</a:t>
                  </a:r>
                  <a:r>
                    <a:rPr sz="3100" i="1" spc="30" dirty="0">
                      <a:latin typeface="Times New Roman"/>
                      <a:cs typeface="Times New Roman"/>
                    </a:rPr>
                    <a:t>t</a:t>
                  </a:r>
                  <a:r>
                    <a:rPr sz="3100" i="1" spc="-520" dirty="0">
                      <a:latin typeface="Times New Roman"/>
                      <a:cs typeface="Times New Roman"/>
                    </a:rPr>
                    <a:t> </a:t>
                  </a:r>
                  <a:r>
                    <a:rPr sz="3100" spc="25" dirty="0">
                      <a:latin typeface="Century"/>
                      <a:cs typeface="Century"/>
                    </a:rPr>
                    <a:t>)</a:t>
                  </a:r>
                  <a:endParaRPr sz="3100" dirty="0">
                    <a:latin typeface="Century"/>
                    <a:cs typeface="Century"/>
                  </a:endParaRPr>
                </a:p>
              </p:txBody>
            </p:sp>
            <p:sp>
              <p:nvSpPr>
                <p:cNvPr id="58" name="object 16">
                  <a:extLst>
                    <a:ext uri="{FF2B5EF4-FFF2-40B4-BE49-F238E27FC236}">
                      <a16:creationId xmlns:a16="http://schemas.microsoft.com/office/drawing/2014/main" id="{01864841-0E48-4F80-99E9-6DADC6838832}"/>
                    </a:ext>
                  </a:extLst>
                </p:cNvPr>
                <p:cNvSpPr txBox="1"/>
                <p:nvPr/>
              </p:nvSpPr>
              <p:spPr>
                <a:xfrm>
                  <a:off x="4843055" y="3006932"/>
                  <a:ext cx="3601085" cy="502284"/>
                </a:xfrm>
                <a:prstGeom prst="rect">
                  <a:avLst/>
                </a:prstGeom>
              </p:spPr>
              <p:txBody>
                <a:bodyPr vert="horz" wrap="square" lIns="0" tIns="1587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25"/>
                    </a:spcBef>
                    <a:tabLst>
                      <a:tab pos="658495" algn="l"/>
                      <a:tab pos="1660525" algn="l"/>
                      <a:tab pos="2434590" algn="l"/>
                      <a:tab pos="3092450" algn="l"/>
                    </a:tabLst>
                  </a:pPr>
                  <a:r>
                    <a:rPr sz="3100" i="1" spc="30" dirty="0">
                      <a:latin typeface="Times New Roman"/>
                      <a:cs typeface="Times New Roman"/>
                    </a:rPr>
                    <a:t>s	</a:t>
                  </a:r>
                  <a:r>
                    <a:rPr sz="3100" i="1" spc="-15" dirty="0">
                      <a:latin typeface="Times New Roman"/>
                      <a:cs typeface="Times New Roman"/>
                    </a:rPr>
                    <a:t>x</a:t>
                  </a:r>
                  <a:r>
                    <a:rPr sz="3100" spc="125" dirty="0">
                      <a:latin typeface="Century"/>
                      <a:cs typeface="Century"/>
                    </a:rPr>
                    <a:t>(</a:t>
                  </a:r>
                  <a:r>
                    <a:rPr sz="3100" spc="105" dirty="0">
                      <a:latin typeface="Times New Roman"/>
                      <a:cs typeface="Times New Roman"/>
                    </a:rPr>
                    <a:t>0</a:t>
                  </a:r>
                  <a:r>
                    <a:rPr sz="3100" spc="25" dirty="0">
                      <a:latin typeface="Century"/>
                      <a:cs typeface="Century"/>
                    </a:rPr>
                    <a:t>)</a:t>
                  </a:r>
                  <a:r>
                    <a:rPr sz="3100" dirty="0">
                      <a:latin typeface="Century"/>
                      <a:cs typeface="Century"/>
                    </a:rPr>
                    <a:t>	</a:t>
                  </a:r>
                  <a:r>
                    <a:rPr lang="en-GB" sz="3100" dirty="0">
                      <a:latin typeface="Century"/>
                      <a:cs typeface="Century"/>
                    </a:rPr>
                    <a:t>…</a:t>
                  </a:r>
                  <a:r>
                    <a:rPr sz="3100" dirty="0">
                      <a:latin typeface="Times New Roman"/>
                      <a:cs typeface="Times New Roman"/>
                    </a:rPr>
                    <a:t>	</a:t>
                  </a:r>
                  <a:r>
                    <a:rPr sz="3100" i="1" spc="40" dirty="0">
                      <a:latin typeface="Times New Roman"/>
                      <a:cs typeface="Times New Roman"/>
                    </a:rPr>
                    <a:t>x</a:t>
                  </a:r>
                  <a:r>
                    <a:rPr sz="3100" i="1" dirty="0">
                      <a:latin typeface="Times New Roman"/>
                      <a:cs typeface="Times New Roman"/>
                    </a:rPr>
                    <a:t>	</a:t>
                  </a:r>
                  <a:r>
                    <a:rPr sz="3100" spc="125" dirty="0">
                      <a:latin typeface="Century"/>
                      <a:cs typeface="Century"/>
                    </a:rPr>
                    <a:t>(</a:t>
                  </a:r>
                  <a:r>
                    <a:rPr sz="3100" spc="105" dirty="0">
                      <a:latin typeface="Times New Roman"/>
                      <a:cs typeface="Times New Roman"/>
                    </a:rPr>
                    <a:t>0</a:t>
                  </a:r>
                  <a:r>
                    <a:rPr sz="3100" spc="25" dirty="0">
                      <a:latin typeface="Century"/>
                      <a:cs typeface="Century"/>
                    </a:rPr>
                    <a:t>)</a:t>
                  </a:r>
                  <a:endParaRPr sz="3100" dirty="0">
                    <a:latin typeface="Century"/>
                    <a:cs typeface="Century"/>
                  </a:endParaRPr>
                </a:p>
              </p:txBody>
            </p:sp>
            <p:sp>
              <p:nvSpPr>
                <p:cNvPr id="59" name="object 17">
                  <a:extLst>
                    <a:ext uri="{FF2B5EF4-FFF2-40B4-BE49-F238E27FC236}">
                      <a16:creationId xmlns:a16="http://schemas.microsoft.com/office/drawing/2014/main" id="{140E92D4-39EB-46D8-B06D-E4EB422DB0F8}"/>
                    </a:ext>
                  </a:extLst>
                </p:cNvPr>
                <p:cNvSpPr txBox="1"/>
                <p:nvPr/>
              </p:nvSpPr>
              <p:spPr>
                <a:xfrm>
                  <a:off x="1458591" y="2880646"/>
                  <a:ext cx="202565" cy="502284"/>
                </a:xfrm>
                <a:prstGeom prst="rect">
                  <a:avLst/>
                </a:prstGeom>
              </p:spPr>
              <p:txBody>
                <a:bodyPr vert="horz" wrap="square" lIns="0" tIns="15875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25"/>
                    </a:spcBef>
                  </a:pPr>
                  <a:r>
                    <a:rPr sz="3100" spc="35" dirty="0">
                      <a:latin typeface="MT Extra"/>
                      <a:cs typeface="MT Extra"/>
                    </a:rPr>
                    <a:t></a:t>
                  </a:r>
                  <a:endParaRPr sz="3100">
                    <a:latin typeface="MT Extra"/>
                    <a:cs typeface="MT Extra"/>
                  </a:endParaRPr>
                </a:p>
              </p:txBody>
            </p:sp>
          </p:grp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15B93A5-A7F8-445C-9582-AEE7EF3468DF}"/>
                  </a:ext>
                </a:extLst>
              </p:cNvPr>
              <p:cNvSpPr/>
              <p:nvPr/>
            </p:nvSpPr>
            <p:spPr>
              <a:xfrm>
                <a:off x="495938" y="3205147"/>
                <a:ext cx="212686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423035">
                  <a:lnSpc>
                    <a:spcPct val="100000"/>
                  </a:lnSpc>
                  <a:spcBef>
                    <a:spcPts val="125"/>
                  </a:spcBef>
                </a:pPr>
                <a:r>
                  <a:rPr lang="en-GB" sz="3200" i="1" spc="130" dirty="0" err="1">
                    <a:latin typeface="Times New Roman"/>
                    <a:cs typeface="Times New Roman"/>
                  </a:rPr>
                  <a:t>dt</a:t>
                </a:r>
                <a:r>
                  <a:rPr lang="en-GB" sz="3200" i="1" spc="195" baseline="35353" dirty="0" err="1">
                    <a:latin typeface="Times New Roman"/>
                    <a:cs typeface="Times New Roman"/>
                  </a:rPr>
                  <a:t>n</a:t>
                </a:r>
                <a:endParaRPr lang="en-GB" sz="3200" baseline="35353" dirty="0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60" name="object 18">
              <a:extLst>
                <a:ext uri="{FF2B5EF4-FFF2-40B4-BE49-F238E27FC236}">
                  <a16:creationId xmlns:a16="http://schemas.microsoft.com/office/drawing/2014/main" id="{18E09DC3-9997-4005-9F36-B66800C72167}"/>
                </a:ext>
              </a:extLst>
            </p:cNvPr>
            <p:cNvSpPr txBox="1"/>
            <p:nvPr/>
          </p:nvSpPr>
          <p:spPr>
            <a:xfrm>
              <a:off x="490854" y="5690811"/>
              <a:ext cx="7778115" cy="323807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355600" indent="-342900">
                <a:lnSpc>
                  <a:spcPct val="100000"/>
                </a:lnSpc>
                <a:spcBef>
                  <a:spcPts val="5"/>
                </a:spcBef>
                <a:buFont typeface="Arial"/>
                <a:buChar char="•"/>
                <a:tabLst>
                  <a:tab pos="354965" algn="l"/>
                  <a:tab pos="355600" algn="l"/>
                </a:tabLst>
              </a:pPr>
              <a:r>
                <a:rPr sz="2000" spc="-15" dirty="0">
                  <a:latin typeface="+mn-lt"/>
                  <a:cs typeface="Calibri"/>
                </a:rPr>
                <a:t>Where </a:t>
              </a:r>
              <a:r>
                <a:rPr sz="2000" i="1" spc="89" baseline="4444" dirty="0">
                  <a:latin typeface="+mn-lt"/>
                  <a:cs typeface="Times New Roman"/>
                </a:rPr>
                <a:t>x</a:t>
              </a:r>
              <a:r>
                <a:rPr sz="2000" spc="89" baseline="4444" dirty="0">
                  <a:latin typeface="+mn-lt"/>
                  <a:cs typeface="Century"/>
                </a:rPr>
                <a:t>(</a:t>
              </a:r>
              <a:r>
                <a:rPr sz="2000" spc="89" baseline="4444" dirty="0">
                  <a:latin typeface="+mn-lt"/>
                  <a:cs typeface="Times New Roman"/>
                </a:rPr>
                <a:t>0</a:t>
              </a:r>
              <a:r>
                <a:rPr sz="2000" spc="89" baseline="4444" dirty="0">
                  <a:latin typeface="+mn-lt"/>
                  <a:cs typeface="Century"/>
                </a:rPr>
                <a:t>) </a:t>
              </a:r>
              <a:r>
                <a:rPr sz="2000" spc="-5" dirty="0">
                  <a:latin typeface="+mn-lt"/>
                  <a:cs typeface="Calibri"/>
                </a:rPr>
                <a:t>is </a:t>
              </a:r>
              <a:r>
                <a:rPr sz="2000" dirty="0">
                  <a:latin typeface="+mn-lt"/>
                  <a:cs typeface="Calibri"/>
                </a:rPr>
                <a:t>the </a:t>
              </a:r>
              <a:r>
                <a:rPr sz="2000" spc="-5" dirty="0">
                  <a:latin typeface="+mn-lt"/>
                  <a:cs typeface="Calibri"/>
                </a:rPr>
                <a:t>initial </a:t>
              </a:r>
              <a:r>
                <a:rPr sz="2000" spc="-10" dirty="0">
                  <a:latin typeface="+mn-lt"/>
                  <a:cs typeface="Calibri"/>
                </a:rPr>
                <a:t>condition </a:t>
              </a:r>
              <a:r>
                <a:rPr sz="2000" dirty="0">
                  <a:latin typeface="+mn-lt"/>
                  <a:cs typeface="Calibri"/>
                </a:rPr>
                <a:t>of the</a:t>
              </a:r>
              <a:r>
                <a:rPr sz="2000" spc="-155" dirty="0">
                  <a:latin typeface="+mn-lt"/>
                  <a:cs typeface="Calibri"/>
                </a:rPr>
                <a:t> </a:t>
              </a:r>
              <a:r>
                <a:rPr sz="2000" spc="-25" dirty="0">
                  <a:latin typeface="+mn-lt"/>
                  <a:cs typeface="Calibri"/>
                </a:rPr>
                <a:t>system.</a:t>
              </a:r>
              <a:endParaRPr sz="2000" dirty="0">
                <a:latin typeface="+mn-lt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23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Laplace Transform of Integrals</a:t>
            </a:r>
            <a:endParaRPr lang="en-GB" sz="2400" dirty="0">
              <a:cs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2EEECAB-C565-466E-9A84-61DD956F0880}"/>
              </a:ext>
            </a:extLst>
          </p:cNvPr>
          <p:cNvGrpSpPr/>
          <p:nvPr/>
        </p:nvGrpSpPr>
        <p:grpSpPr>
          <a:xfrm>
            <a:off x="2785554" y="1112097"/>
            <a:ext cx="2968625" cy="821000"/>
            <a:chOff x="3114738" y="1929261"/>
            <a:chExt cx="2968625" cy="82100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F3ABADEB-329B-45F2-8DDE-28B36D1B7F65}"/>
                </a:ext>
              </a:extLst>
            </p:cNvPr>
            <p:cNvSpPr/>
            <p:nvPr/>
          </p:nvSpPr>
          <p:spPr>
            <a:xfrm>
              <a:off x="4894472" y="2496236"/>
              <a:ext cx="229235" cy="0"/>
            </a:xfrm>
            <a:custGeom>
              <a:avLst/>
              <a:gdLst/>
              <a:ahLst/>
              <a:cxnLst/>
              <a:rect l="l" t="t" r="r" b="b"/>
              <a:pathLst>
                <a:path w="229235">
                  <a:moveTo>
                    <a:pt x="0" y="0"/>
                  </a:moveTo>
                  <a:lnTo>
                    <a:pt x="228984" y="0"/>
                  </a:lnTo>
                </a:path>
              </a:pathLst>
            </a:custGeom>
            <a:ln w="195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B4448AE-7AE3-4B1C-BA56-EEB037EC6174}"/>
                </a:ext>
              </a:extLst>
            </p:cNvPr>
            <p:cNvSpPr txBox="1"/>
            <p:nvPr/>
          </p:nvSpPr>
          <p:spPr>
            <a:xfrm>
              <a:off x="4896260" y="1929261"/>
              <a:ext cx="233679" cy="50545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3150" spc="55" dirty="0">
                  <a:latin typeface="Times New Roman"/>
                  <a:cs typeface="Times New Roman"/>
                </a:rPr>
                <a:t>1</a:t>
              </a:r>
              <a:endParaRPr sz="3150">
                <a:latin typeface="Times New Roman"/>
                <a:cs typeface="Times New Roman"/>
              </a:endParaRPr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630F744-41C4-4EE8-B8A0-9B5EBA975E43}"/>
                </a:ext>
              </a:extLst>
            </p:cNvPr>
            <p:cNvSpPr/>
            <p:nvPr/>
          </p:nvSpPr>
          <p:spPr>
            <a:xfrm>
              <a:off x="4555394" y="2193980"/>
              <a:ext cx="423181" cy="4901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A47C202-B572-4948-9DF3-8D3BDC57C574}"/>
                </a:ext>
              </a:extLst>
            </p:cNvPr>
            <p:cNvSpPr/>
            <p:nvPr/>
          </p:nvSpPr>
          <p:spPr>
            <a:xfrm>
              <a:off x="3319699" y="2256290"/>
              <a:ext cx="210616" cy="49013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59BFABC2-C3C1-4742-BFA7-DB8E8FAEE98F}"/>
                </a:ext>
              </a:extLst>
            </p:cNvPr>
            <p:cNvSpPr txBox="1"/>
            <p:nvPr/>
          </p:nvSpPr>
          <p:spPr>
            <a:xfrm>
              <a:off x="3114738" y="2184080"/>
              <a:ext cx="2968625" cy="56618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397510" algn="l"/>
                  <a:tab pos="1819275" algn="l"/>
                </a:tabLst>
              </a:pPr>
              <a:r>
                <a:rPr sz="3150" spc="50" dirty="0">
                  <a:latin typeface="MT Extra"/>
                  <a:cs typeface="MT Extra"/>
                </a:rPr>
                <a:t></a:t>
              </a:r>
              <a:r>
                <a:rPr sz="3600" spc="50" dirty="0">
                  <a:latin typeface="Times New Roman"/>
                  <a:cs typeface="Times New Roman"/>
                </a:rPr>
                <a:t>	</a:t>
              </a:r>
              <a:r>
                <a:rPr sz="3150" i="1" spc="65" dirty="0">
                  <a:latin typeface="Times New Roman"/>
                  <a:cs typeface="Times New Roman"/>
                </a:rPr>
                <a:t>x</a:t>
              </a:r>
              <a:r>
                <a:rPr sz="3150" spc="65" dirty="0">
                  <a:latin typeface="Century"/>
                  <a:cs typeface="Century"/>
                </a:rPr>
                <a:t>(</a:t>
              </a:r>
              <a:r>
                <a:rPr sz="3150" i="1" spc="65" dirty="0">
                  <a:latin typeface="Times New Roman"/>
                  <a:cs typeface="Times New Roman"/>
                </a:rPr>
                <a:t>t</a:t>
              </a:r>
              <a:r>
                <a:rPr sz="3150" spc="65" dirty="0">
                  <a:latin typeface="Century"/>
                  <a:cs typeface="Century"/>
                </a:rPr>
                <a:t>)</a:t>
              </a:r>
              <a:r>
                <a:rPr sz="3150" i="1" spc="65" dirty="0">
                  <a:latin typeface="Times New Roman"/>
                  <a:cs typeface="Times New Roman"/>
                </a:rPr>
                <a:t>dt	</a:t>
              </a:r>
              <a:r>
                <a:rPr sz="4725" i="1" spc="60" baseline="-44091" dirty="0">
                  <a:latin typeface="Times New Roman"/>
                  <a:cs typeface="Times New Roman"/>
                </a:rPr>
                <a:t>s</a:t>
              </a:r>
              <a:r>
                <a:rPr sz="4725" i="1" spc="232" baseline="-44091" dirty="0">
                  <a:latin typeface="Times New Roman"/>
                  <a:cs typeface="Times New Roman"/>
                </a:rPr>
                <a:t> </a:t>
              </a:r>
              <a:r>
                <a:rPr sz="3150" i="1" spc="65" dirty="0">
                  <a:latin typeface="Times New Roman"/>
                  <a:cs typeface="Times New Roman"/>
                </a:rPr>
                <a:t>X</a:t>
              </a:r>
              <a:r>
                <a:rPr sz="3150" i="1" spc="-459" dirty="0">
                  <a:latin typeface="Times New Roman"/>
                  <a:cs typeface="Times New Roman"/>
                </a:rPr>
                <a:t> </a:t>
              </a:r>
              <a:r>
                <a:rPr sz="3150" spc="130" dirty="0">
                  <a:latin typeface="Century"/>
                  <a:cs typeface="Century"/>
                </a:rPr>
                <a:t>(</a:t>
              </a:r>
              <a:r>
                <a:rPr sz="3150" i="1" spc="130" dirty="0">
                  <a:latin typeface="Times New Roman"/>
                  <a:cs typeface="Times New Roman"/>
                </a:rPr>
                <a:t>S</a:t>
              </a:r>
              <a:r>
                <a:rPr sz="3150" i="1" spc="-480" dirty="0">
                  <a:latin typeface="Times New Roman"/>
                  <a:cs typeface="Times New Roman"/>
                </a:rPr>
                <a:t> </a:t>
              </a:r>
              <a:r>
                <a:rPr sz="3150" spc="35" dirty="0">
                  <a:latin typeface="Century"/>
                  <a:cs typeface="Century"/>
                </a:rPr>
                <a:t>)</a:t>
              </a:r>
              <a:endParaRPr sz="3150" dirty="0">
                <a:latin typeface="Century"/>
                <a:cs typeface="Century"/>
              </a:endParaRPr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41A68FB-974A-4CA7-A6E9-BB5797DF53C1}"/>
              </a:ext>
            </a:extLst>
          </p:cNvPr>
          <p:cNvSpPr txBox="1"/>
          <p:nvPr/>
        </p:nvSpPr>
        <p:spPr>
          <a:xfrm>
            <a:off x="525145" y="545206"/>
            <a:ext cx="794258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354965" algn="l"/>
                <a:tab pos="355600" algn="l"/>
              </a:tabLst>
            </a:pPr>
            <a:r>
              <a:rPr sz="2000" spc="-5" dirty="0">
                <a:latin typeface="+mn-lt"/>
                <a:cs typeface="Calibri"/>
              </a:rPr>
              <a:t>The time domain </a:t>
            </a:r>
            <a:r>
              <a:rPr sz="2000" spc="-20" dirty="0">
                <a:latin typeface="+mn-lt"/>
                <a:cs typeface="Calibri"/>
              </a:rPr>
              <a:t>integral </a:t>
            </a:r>
            <a:r>
              <a:rPr sz="2000" spc="-5" dirty="0">
                <a:latin typeface="+mn-lt"/>
                <a:cs typeface="Calibri"/>
              </a:rPr>
              <a:t>becomes division </a:t>
            </a:r>
            <a:r>
              <a:rPr sz="2000" spc="-10" dirty="0">
                <a:latin typeface="+mn-lt"/>
                <a:cs typeface="Calibri"/>
              </a:rPr>
              <a:t>by </a:t>
            </a:r>
            <a:r>
              <a:rPr sz="2000" spc="-10" dirty="0">
                <a:solidFill>
                  <a:srgbClr val="C00000"/>
                </a:solidFill>
                <a:latin typeface="+mn-lt"/>
                <a:cs typeface="Calibri"/>
              </a:rPr>
              <a:t> </a:t>
            </a:r>
            <a:r>
              <a:rPr sz="2000" dirty="0">
                <a:solidFill>
                  <a:srgbClr val="C00000"/>
                </a:solidFill>
                <a:latin typeface="+mn-lt"/>
                <a:cs typeface="Calibri"/>
              </a:rPr>
              <a:t>s </a:t>
            </a:r>
            <a:r>
              <a:rPr sz="2000" dirty="0">
                <a:latin typeface="+mn-lt"/>
                <a:cs typeface="Calibri"/>
              </a:rPr>
              <a:t>in </a:t>
            </a:r>
            <a:r>
              <a:rPr sz="2000" spc="-5" dirty="0">
                <a:latin typeface="+mn-lt"/>
                <a:cs typeface="Calibri"/>
              </a:rPr>
              <a:t>frequency</a:t>
            </a:r>
            <a:r>
              <a:rPr sz="2000" spc="-20" dirty="0">
                <a:latin typeface="+mn-lt"/>
                <a:cs typeface="Calibri"/>
              </a:rPr>
              <a:t> </a:t>
            </a:r>
            <a:r>
              <a:rPr sz="2000" spc="-5" dirty="0">
                <a:latin typeface="+mn-lt"/>
                <a:cs typeface="Calibri"/>
              </a:rPr>
              <a:t>domain.</a:t>
            </a:r>
            <a:endParaRPr sz="2000" dirty="0"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139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Calculation of the Transfer Function</a:t>
            </a:r>
            <a:endParaRPr lang="en-GB" sz="2400" dirty="0">
              <a:cs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D2AC77-31C9-43FF-8025-D20726341558}"/>
              </a:ext>
            </a:extLst>
          </p:cNvPr>
          <p:cNvGrpSpPr/>
          <p:nvPr/>
        </p:nvGrpSpPr>
        <p:grpSpPr>
          <a:xfrm>
            <a:off x="2554976" y="1115320"/>
            <a:ext cx="4267749" cy="1022845"/>
            <a:chOff x="2661323" y="1769517"/>
            <a:chExt cx="4267749" cy="102284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0A2EDDD-440F-4AA7-A659-B858F9DAB1F8}"/>
                </a:ext>
              </a:extLst>
            </p:cNvPr>
            <p:cNvSpPr/>
            <p:nvPr/>
          </p:nvSpPr>
          <p:spPr>
            <a:xfrm>
              <a:off x="2944344" y="2288074"/>
              <a:ext cx="1010285" cy="0"/>
            </a:xfrm>
            <a:custGeom>
              <a:avLst/>
              <a:gdLst/>
              <a:ahLst/>
              <a:cxnLst/>
              <a:rect l="l" t="t" r="r" b="b"/>
              <a:pathLst>
                <a:path w="1010285">
                  <a:moveTo>
                    <a:pt x="0" y="0"/>
                  </a:moveTo>
                  <a:lnTo>
                    <a:pt x="1009963" y="0"/>
                  </a:lnTo>
                </a:path>
              </a:pathLst>
            </a:custGeom>
            <a:ln w="18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E0C215E-141A-447F-9173-F8422AF70081}"/>
                </a:ext>
              </a:extLst>
            </p:cNvPr>
            <p:cNvSpPr/>
            <p:nvPr/>
          </p:nvSpPr>
          <p:spPr>
            <a:xfrm>
              <a:off x="4690342" y="2288074"/>
              <a:ext cx="786130" cy="0"/>
            </a:xfrm>
            <a:custGeom>
              <a:avLst/>
              <a:gdLst/>
              <a:ahLst/>
              <a:cxnLst/>
              <a:rect l="l" t="t" r="r" b="b"/>
              <a:pathLst>
                <a:path w="786129">
                  <a:moveTo>
                    <a:pt x="0" y="0"/>
                  </a:moveTo>
                  <a:lnTo>
                    <a:pt x="785998" y="0"/>
                  </a:lnTo>
                </a:path>
              </a:pathLst>
            </a:custGeom>
            <a:ln w="18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D8B3ECC-D363-493C-9947-67D247F548F3}"/>
                </a:ext>
              </a:extLst>
            </p:cNvPr>
            <p:cNvSpPr/>
            <p:nvPr/>
          </p:nvSpPr>
          <p:spPr>
            <a:xfrm>
              <a:off x="6145480" y="2288074"/>
              <a:ext cx="781050" cy="0"/>
            </a:xfrm>
            <a:custGeom>
              <a:avLst/>
              <a:gdLst/>
              <a:ahLst/>
              <a:cxnLst/>
              <a:rect l="l" t="t" r="r" b="b"/>
              <a:pathLst>
                <a:path w="781050">
                  <a:moveTo>
                    <a:pt x="0" y="0"/>
                  </a:moveTo>
                  <a:lnTo>
                    <a:pt x="780596" y="0"/>
                  </a:lnTo>
                </a:path>
              </a:pathLst>
            </a:custGeom>
            <a:ln w="1831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9912BE3-0B18-4FE0-8984-5C7B759D1EE3}"/>
                </a:ext>
              </a:extLst>
            </p:cNvPr>
            <p:cNvSpPr txBox="1"/>
            <p:nvPr/>
          </p:nvSpPr>
          <p:spPr>
            <a:xfrm>
              <a:off x="4921187" y="2289328"/>
              <a:ext cx="1785620" cy="46291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  <a:tabLst>
                  <a:tab pos="1464945" algn="l"/>
                </a:tabLst>
              </a:pPr>
              <a:r>
                <a:rPr sz="2850" i="1" spc="105" dirty="0">
                  <a:latin typeface="Times New Roman"/>
                  <a:cs typeface="Times New Roman"/>
                </a:rPr>
                <a:t>d</a:t>
              </a:r>
              <a:r>
                <a:rPr sz="2850" i="1" spc="15" dirty="0">
                  <a:latin typeface="Times New Roman"/>
                  <a:cs typeface="Times New Roman"/>
                </a:rPr>
                <a:t>t</a:t>
              </a:r>
              <a:r>
                <a:rPr sz="2850" i="1" dirty="0">
                  <a:latin typeface="Times New Roman"/>
                  <a:cs typeface="Times New Roman"/>
                </a:rPr>
                <a:t>	</a:t>
              </a:r>
              <a:r>
                <a:rPr sz="2850" i="1" spc="95" dirty="0">
                  <a:latin typeface="Times New Roman"/>
                  <a:cs typeface="Times New Roman"/>
                </a:rPr>
                <a:t>dt</a:t>
              </a:r>
              <a:endParaRPr sz="2850">
                <a:latin typeface="Times New Roman"/>
                <a:cs typeface="Times New Roman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B5AFF69-ACDD-4F53-97A8-DC159134003C}"/>
                </a:ext>
              </a:extLst>
            </p:cNvPr>
            <p:cNvSpPr txBox="1"/>
            <p:nvPr/>
          </p:nvSpPr>
          <p:spPr>
            <a:xfrm>
              <a:off x="2661323" y="2002384"/>
              <a:ext cx="3438525" cy="46291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  <a:tabLst>
                  <a:tab pos="1706245" algn="l"/>
                  <a:tab pos="3197225" algn="l"/>
                </a:tabLst>
              </a:pPr>
              <a:r>
                <a:rPr sz="2850" i="1" spc="50" dirty="0">
                  <a:latin typeface="Times New Roman"/>
                  <a:cs typeface="Times New Roman"/>
                </a:rPr>
                <a:t>A	C	B</a:t>
              </a:r>
              <a:endParaRPr sz="2850" dirty="0">
                <a:latin typeface="Times New Roman"/>
                <a:cs typeface="Times New Roman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6E3B583-A06B-47EF-A661-E690800FF864}"/>
                </a:ext>
              </a:extLst>
            </p:cNvPr>
            <p:cNvSpPr/>
            <p:nvPr/>
          </p:nvSpPr>
          <p:spPr>
            <a:xfrm>
              <a:off x="5566442" y="2012461"/>
              <a:ext cx="390787" cy="4465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4169112-C889-48B9-A3B5-70B9294DC224}"/>
                </a:ext>
              </a:extLst>
            </p:cNvPr>
            <p:cNvSpPr/>
            <p:nvPr/>
          </p:nvSpPr>
          <p:spPr>
            <a:xfrm>
              <a:off x="4072073" y="2012461"/>
              <a:ext cx="390787" cy="4465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28CCF75-095B-41A4-85AD-043182130BED}"/>
                </a:ext>
              </a:extLst>
            </p:cNvPr>
            <p:cNvSpPr txBox="1"/>
            <p:nvPr/>
          </p:nvSpPr>
          <p:spPr>
            <a:xfrm>
              <a:off x="3188603" y="2329447"/>
              <a:ext cx="487680" cy="46291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</a:pPr>
              <a:r>
                <a:rPr sz="2850" i="1" spc="60" dirty="0">
                  <a:latin typeface="Times New Roman"/>
                  <a:cs typeface="Times New Roman"/>
                </a:rPr>
                <a:t>dt</a:t>
              </a:r>
              <a:r>
                <a:rPr sz="2850" i="1" spc="-530" dirty="0">
                  <a:latin typeface="Times New Roman"/>
                  <a:cs typeface="Times New Roman"/>
                </a:rPr>
                <a:t> </a:t>
              </a:r>
              <a:r>
                <a:rPr sz="3000" spc="37" baseline="36111" dirty="0">
                  <a:latin typeface="Times New Roman"/>
                  <a:cs typeface="Times New Roman"/>
                </a:rPr>
                <a:t>2</a:t>
              </a:r>
              <a:endParaRPr sz="3000" baseline="36111">
                <a:latin typeface="Times New Roman"/>
                <a:cs typeface="Times New Roman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7607B84C-C8AD-47C9-9F3E-3B75E11C066E}"/>
                </a:ext>
              </a:extLst>
            </p:cNvPr>
            <p:cNvSpPr txBox="1"/>
            <p:nvPr/>
          </p:nvSpPr>
          <p:spPr>
            <a:xfrm>
              <a:off x="2962862" y="1769517"/>
              <a:ext cx="3966210" cy="462915"/>
            </a:xfrm>
            <a:prstGeom prst="rect">
              <a:avLst/>
            </a:prstGeom>
          </p:spPr>
          <p:txBody>
            <a:bodyPr vert="horz" wrap="square" lIns="0" tIns="1524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0"/>
                </a:spcBef>
                <a:tabLst>
                  <a:tab pos="1758314" algn="l"/>
                  <a:tab pos="3213735" algn="l"/>
                </a:tabLst>
              </a:pPr>
              <a:r>
                <a:rPr sz="2850" i="1" spc="35" dirty="0">
                  <a:latin typeface="Times New Roman"/>
                  <a:cs typeface="Times New Roman"/>
                </a:rPr>
                <a:t>d</a:t>
              </a:r>
              <a:r>
                <a:rPr sz="2850" i="1" spc="-490" dirty="0">
                  <a:latin typeface="Times New Roman"/>
                  <a:cs typeface="Times New Roman"/>
                </a:rPr>
                <a:t> </a:t>
              </a:r>
              <a:r>
                <a:rPr sz="3000" spc="37" baseline="36111" dirty="0">
                  <a:latin typeface="Times New Roman"/>
                  <a:cs typeface="Times New Roman"/>
                </a:rPr>
                <a:t>2 </a:t>
              </a:r>
              <a:r>
                <a:rPr sz="2850" i="1" spc="30" dirty="0">
                  <a:latin typeface="Times New Roman"/>
                  <a:cs typeface="Times New Roman"/>
                </a:rPr>
                <a:t>x</a:t>
              </a:r>
              <a:r>
                <a:rPr sz="2850" spc="30" dirty="0">
                  <a:latin typeface="Century"/>
                  <a:cs typeface="Century"/>
                </a:rPr>
                <a:t>(</a:t>
              </a:r>
              <a:r>
                <a:rPr sz="2850" i="1" spc="30" dirty="0">
                  <a:latin typeface="Times New Roman"/>
                  <a:cs typeface="Times New Roman"/>
                </a:rPr>
                <a:t>t</a:t>
              </a:r>
              <a:r>
                <a:rPr sz="2850" i="1" spc="-440" dirty="0">
                  <a:latin typeface="Times New Roman"/>
                  <a:cs typeface="Times New Roman"/>
                </a:rPr>
                <a:t> </a:t>
              </a:r>
              <a:r>
                <a:rPr sz="2850" spc="25" dirty="0">
                  <a:latin typeface="Century"/>
                  <a:cs typeface="Century"/>
                </a:rPr>
                <a:t>)	</a:t>
              </a:r>
              <a:r>
                <a:rPr sz="2850" i="1" spc="35" dirty="0">
                  <a:latin typeface="Times New Roman"/>
                  <a:cs typeface="Times New Roman"/>
                </a:rPr>
                <a:t>dy</a:t>
              </a:r>
              <a:r>
                <a:rPr sz="2850" spc="35" dirty="0">
                  <a:latin typeface="Century"/>
                  <a:cs typeface="Century"/>
                </a:rPr>
                <a:t>(</a:t>
              </a:r>
              <a:r>
                <a:rPr sz="2850" i="1" spc="35" dirty="0">
                  <a:latin typeface="Times New Roman"/>
                  <a:cs typeface="Times New Roman"/>
                </a:rPr>
                <a:t>t</a:t>
              </a:r>
              <a:r>
                <a:rPr sz="2850" i="1" spc="-450" dirty="0">
                  <a:latin typeface="Times New Roman"/>
                  <a:cs typeface="Times New Roman"/>
                </a:rPr>
                <a:t> </a:t>
              </a:r>
              <a:r>
                <a:rPr sz="2850" spc="25" dirty="0">
                  <a:latin typeface="Century"/>
                  <a:cs typeface="Century"/>
                </a:rPr>
                <a:t>)	</a:t>
              </a:r>
              <a:r>
                <a:rPr sz="2850" i="1" spc="25" dirty="0">
                  <a:latin typeface="Times New Roman"/>
                  <a:cs typeface="Times New Roman"/>
                </a:rPr>
                <a:t>dx</a:t>
              </a:r>
              <a:r>
                <a:rPr sz="2850" spc="25" dirty="0">
                  <a:latin typeface="Century"/>
                  <a:cs typeface="Century"/>
                </a:rPr>
                <a:t>(</a:t>
              </a:r>
              <a:r>
                <a:rPr sz="2850" i="1" spc="25" dirty="0">
                  <a:latin typeface="Times New Roman"/>
                  <a:cs typeface="Times New Roman"/>
                </a:rPr>
                <a:t>t</a:t>
              </a:r>
              <a:r>
                <a:rPr sz="2850" i="1" spc="-509" dirty="0">
                  <a:latin typeface="Times New Roman"/>
                  <a:cs typeface="Times New Roman"/>
                </a:rPr>
                <a:t> </a:t>
              </a:r>
              <a:r>
                <a:rPr sz="2850" spc="25" dirty="0">
                  <a:latin typeface="Century"/>
                  <a:cs typeface="Century"/>
                </a:rPr>
                <a:t>)</a:t>
              </a:r>
              <a:endParaRPr sz="2850" dirty="0">
                <a:latin typeface="Century"/>
                <a:cs typeface="Century"/>
              </a:endParaRPr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F7E795B5-93CF-49E0-B098-51DFE78DA8CE}"/>
              </a:ext>
            </a:extLst>
          </p:cNvPr>
          <p:cNvSpPr txBox="1"/>
          <p:nvPr/>
        </p:nvSpPr>
        <p:spPr>
          <a:xfrm>
            <a:off x="408877" y="549190"/>
            <a:ext cx="902462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354965" algn="l"/>
                <a:tab pos="355600" algn="l"/>
              </a:tabLst>
            </a:pPr>
            <a:r>
              <a:rPr sz="2000" spc="-5" dirty="0">
                <a:latin typeface="Calibri"/>
                <a:cs typeface="Calibri"/>
              </a:rPr>
              <a:t>Consider </a:t>
            </a:r>
            <a:r>
              <a:rPr sz="2000" spc="-10" dirty="0">
                <a:latin typeface="Calibri"/>
                <a:cs typeface="Calibri"/>
              </a:rPr>
              <a:t>the following </a:t>
            </a:r>
            <a:r>
              <a:rPr sz="2000" dirty="0">
                <a:latin typeface="Calibri"/>
                <a:cs typeface="Calibri"/>
              </a:rPr>
              <a:t>ODE </a:t>
            </a:r>
            <a:r>
              <a:rPr sz="2000" spc="-15" dirty="0">
                <a:latin typeface="Calibri"/>
                <a:cs typeface="Calibri"/>
              </a:rPr>
              <a:t>where </a:t>
            </a:r>
            <a:r>
              <a:rPr sz="2000" i="1" spc="-5" dirty="0">
                <a:solidFill>
                  <a:srgbClr val="C00000"/>
                </a:solidFill>
                <a:latin typeface="Calibri"/>
                <a:cs typeface="Calibri"/>
              </a:rPr>
              <a:t>y(t) </a:t>
            </a:r>
            <a:r>
              <a:rPr sz="2000" dirty="0">
                <a:latin typeface="Calibri"/>
                <a:cs typeface="Calibri"/>
              </a:rPr>
              <a:t>is </a:t>
            </a:r>
            <a:r>
              <a:rPr sz="2000" spc="-5" dirty="0">
                <a:latin typeface="Calibri"/>
                <a:cs typeface="Calibri"/>
              </a:rPr>
              <a:t>input of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25" dirty="0">
                <a:latin typeface="Calibri"/>
                <a:cs typeface="Calibri"/>
              </a:rPr>
              <a:t>system</a:t>
            </a:r>
            <a:r>
              <a:rPr lang="en-GB"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C00000"/>
                </a:solidFill>
                <a:latin typeface="Calibri"/>
                <a:cs typeface="Calibri"/>
              </a:rPr>
              <a:t>x(t) </a:t>
            </a:r>
            <a:r>
              <a:rPr sz="2000" dirty="0">
                <a:latin typeface="Calibri"/>
                <a:cs typeface="Calibri"/>
              </a:rPr>
              <a:t>is 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output.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43B2C46-B33D-41E2-812E-DD863DBDF4EB}"/>
              </a:ext>
            </a:extLst>
          </p:cNvPr>
          <p:cNvGrpSpPr/>
          <p:nvPr/>
        </p:nvGrpSpPr>
        <p:grpSpPr>
          <a:xfrm>
            <a:off x="472896" y="2162396"/>
            <a:ext cx="6789144" cy="975789"/>
            <a:chOff x="472896" y="2162396"/>
            <a:chExt cx="6789144" cy="975789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A6A9CC63-5A89-42D4-B623-AE4E7F733A15}"/>
                </a:ext>
              </a:extLst>
            </p:cNvPr>
            <p:cNvSpPr txBox="1"/>
            <p:nvPr/>
          </p:nvSpPr>
          <p:spPr>
            <a:xfrm>
              <a:off x="472896" y="2162396"/>
              <a:ext cx="680085" cy="31995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355600" indent="-342900">
                <a:lnSpc>
                  <a:spcPct val="100000"/>
                </a:lnSpc>
                <a:spcBef>
                  <a:spcPts val="95"/>
                </a:spcBef>
                <a:buFont typeface="Arial"/>
                <a:buChar char="•"/>
                <a:tabLst>
                  <a:tab pos="354965" algn="l"/>
                  <a:tab pos="355600" algn="l"/>
                </a:tabLst>
              </a:pPr>
              <a:r>
                <a:rPr sz="2000" spc="-5" dirty="0">
                  <a:latin typeface="+mn-lt"/>
                  <a:cs typeface="Calibri"/>
                </a:rPr>
                <a:t>or</a:t>
              </a:r>
              <a:endParaRPr sz="2000" dirty="0">
                <a:latin typeface="+mn-lt"/>
                <a:cs typeface="Calibri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A3820CD-B929-4A33-A20B-215ACE750554}"/>
                </a:ext>
              </a:extLst>
            </p:cNvPr>
            <p:cNvSpPr txBox="1"/>
            <p:nvPr/>
          </p:nvSpPr>
          <p:spPr>
            <a:xfrm>
              <a:off x="544375" y="2680511"/>
              <a:ext cx="6717665" cy="453329"/>
            </a:xfrm>
            <a:prstGeom prst="rect">
              <a:avLst/>
            </a:prstGeom>
          </p:spPr>
          <p:txBody>
            <a:bodyPr vert="horz" wrap="square" lIns="0" tIns="14605" rIns="0" bIns="0" rtlCol="0">
              <a:spAutoFit/>
            </a:bodyPr>
            <a:lstStyle/>
            <a:p>
              <a:pPr marL="2325370">
                <a:lnSpc>
                  <a:spcPct val="100000"/>
                </a:lnSpc>
                <a:spcBef>
                  <a:spcPts val="115"/>
                </a:spcBef>
                <a:tabLst>
                  <a:tab pos="3693795" algn="l"/>
                  <a:tab pos="4956810" algn="l"/>
                </a:tabLst>
              </a:pPr>
              <a:r>
                <a:rPr sz="2850" i="1" spc="114" dirty="0">
                  <a:latin typeface="Times New Roman"/>
                  <a:cs typeface="Times New Roman"/>
                </a:rPr>
                <a:t>Ax</a:t>
              </a:r>
              <a:r>
                <a:rPr sz="2850" spc="114" dirty="0">
                  <a:latin typeface="Century"/>
                  <a:cs typeface="Century"/>
                </a:rPr>
                <a:t>''(</a:t>
              </a:r>
              <a:r>
                <a:rPr sz="2850" i="1" spc="114" dirty="0">
                  <a:latin typeface="Times New Roman"/>
                  <a:cs typeface="Times New Roman"/>
                </a:rPr>
                <a:t>t</a:t>
              </a:r>
              <a:r>
                <a:rPr sz="2850" spc="114" dirty="0">
                  <a:latin typeface="Century"/>
                  <a:cs typeface="Century"/>
                </a:rPr>
                <a:t>)	</a:t>
              </a:r>
              <a:r>
                <a:rPr sz="2850" i="1" spc="110" dirty="0">
                  <a:latin typeface="Times New Roman"/>
                  <a:cs typeface="Times New Roman"/>
                </a:rPr>
                <a:t>Cy</a:t>
              </a:r>
              <a:r>
                <a:rPr sz="2850" spc="110" dirty="0">
                  <a:latin typeface="Century"/>
                  <a:cs typeface="Century"/>
                </a:rPr>
                <a:t>'(</a:t>
              </a:r>
              <a:r>
                <a:rPr sz="2850" i="1" spc="110" dirty="0">
                  <a:latin typeface="Times New Roman"/>
                  <a:cs typeface="Times New Roman"/>
                </a:rPr>
                <a:t>t</a:t>
              </a:r>
              <a:r>
                <a:rPr sz="2850" spc="110" dirty="0">
                  <a:latin typeface="Century"/>
                  <a:cs typeface="Century"/>
                </a:rPr>
                <a:t>)	</a:t>
              </a:r>
              <a:r>
                <a:rPr sz="2850" i="1" spc="100" dirty="0">
                  <a:latin typeface="Times New Roman"/>
                  <a:cs typeface="Times New Roman"/>
                </a:rPr>
                <a:t>Bx</a:t>
              </a:r>
              <a:r>
                <a:rPr sz="2850" spc="100" dirty="0">
                  <a:latin typeface="Century"/>
                  <a:cs typeface="Century"/>
                </a:rPr>
                <a:t>'(</a:t>
              </a:r>
              <a:r>
                <a:rPr sz="2850" i="1" spc="100" dirty="0">
                  <a:latin typeface="Times New Roman"/>
                  <a:cs typeface="Times New Roman"/>
                </a:rPr>
                <a:t>t</a:t>
              </a:r>
              <a:r>
                <a:rPr sz="2850" spc="100" dirty="0">
                  <a:latin typeface="Century"/>
                  <a:cs typeface="Century"/>
                </a:rPr>
                <a:t>)</a:t>
              </a:r>
              <a:endParaRPr sz="2850" dirty="0">
                <a:latin typeface="Century"/>
                <a:cs typeface="Century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260CF34-BD07-4B5F-8EBA-63EB62B68968}"/>
                </a:ext>
              </a:extLst>
            </p:cNvPr>
            <p:cNvSpPr/>
            <p:nvPr/>
          </p:nvSpPr>
          <p:spPr>
            <a:xfrm>
              <a:off x="5211098" y="2690629"/>
              <a:ext cx="388561" cy="44755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A0895B6C-E146-49D7-829F-6028144D3CEE}"/>
                </a:ext>
              </a:extLst>
            </p:cNvPr>
            <p:cNvSpPr/>
            <p:nvPr/>
          </p:nvSpPr>
          <p:spPr>
            <a:xfrm>
              <a:off x="3943782" y="2690629"/>
              <a:ext cx="388561" cy="44755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504" name="Group 21503">
            <a:extLst>
              <a:ext uri="{FF2B5EF4-FFF2-40B4-BE49-F238E27FC236}">
                <a16:creationId xmlns:a16="http://schemas.microsoft.com/office/drawing/2014/main" id="{9D16540A-0851-4DE2-815F-BDD11FEC5B1A}"/>
              </a:ext>
            </a:extLst>
          </p:cNvPr>
          <p:cNvGrpSpPr/>
          <p:nvPr/>
        </p:nvGrpSpPr>
        <p:grpSpPr>
          <a:xfrm>
            <a:off x="619281" y="4772794"/>
            <a:ext cx="8139140" cy="408305"/>
            <a:chOff x="942146" y="5105981"/>
            <a:chExt cx="8139140" cy="408305"/>
          </a:xfrm>
        </p:grpSpPr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88A9547-375F-45D9-8F68-1DA14B1DC2DD}"/>
                </a:ext>
              </a:extLst>
            </p:cNvPr>
            <p:cNvSpPr txBox="1"/>
            <p:nvPr/>
          </p:nvSpPr>
          <p:spPr>
            <a:xfrm>
              <a:off x="8382786" y="5105981"/>
              <a:ext cx="698500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75" dirty="0">
                  <a:latin typeface="Times New Roman"/>
                  <a:cs typeface="Times New Roman"/>
                </a:rPr>
                <a:t>x</a:t>
              </a:r>
              <a:r>
                <a:rPr sz="2500" spc="75" dirty="0">
                  <a:latin typeface="Century"/>
                  <a:cs typeface="Century"/>
                </a:rPr>
                <a:t>(</a:t>
              </a:r>
              <a:r>
                <a:rPr sz="2500" spc="75" dirty="0">
                  <a:latin typeface="Times New Roman"/>
                  <a:cs typeface="Times New Roman"/>
                </a:rPr>
                <a:t>0</a:t>
              </a:r>
              <a:r>
                <a:rPr sz="2500" spc="75" dirty="0">
                  <a:latin typeface="Century"/>
                  <a:cs typeface="Century"/>
                </a:rPr>
                <a:t>)]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DDE6B8E-5D4B-49D1-AB67-E19B63C1B281}"/>
                </a:ext>
              </a:extLst>
            </p:cNvPr>
            <p:cNvSpPr txBox="1"/>
            <p:nvPr/>
          </p:nvSpPr>
          <p:spPr>
            <a:xfrm>
              <a:off x="6979719" y="5105981"/>
              <a:ext cx="1109345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35" dirty="0">
                  <a:latin typeface="Times New Roman"/>
                  <a:cs typeface="Times New Roman"/>
                </a:rPr>
                <a:t>B</a:t>
              </a:r>
              <a:r>
                <a:rPr sz="2500" spc="35" dirty="0">
                  <a:latin typeface="Century"/>
                  <a:cs typeface="Century"/>
                </a:rPr>
                <a:t>[</a:t>
              </a:r>
              <a:r>
                <a:rPr sz="2500" i="1" spc="35" dirty="0">
                  <a:latin typeface="Times New Roman"/>
                  <a:cs typeface="Times New Roman"/>
                </a:rPr>
                <a:t>sX</a:t>
              </a:r>
              <a:r>
                <a:rPr sz="2500" i="1" spc="-290" dirty="0">
                  <a:latin typeface="Times New Roman"/>
                  <a:cs typeface="Times New Roman"/>
                </a:rPr>
                <a:t> </a:t>
              </a:r>
              <a:r>
                <a:rPr sz="2500" spc="140" dirty="0">
                  <a:latin typeface="Century"/>
                  <a:cs typeface="Century"/>
                </a:rPr>
                <a:t>(</a:t>
              </a:r>
              <a:r>
                <a:rPr sz="2500" i="1" spc="140" dirty="0">
                  <a:latin typeface="Times New Roman"/>
                  <a:cs typeface="Times New Roman"/>
                </a:rPr>
                <a:t>s</a:t>
              </a:r>
              <a:r>
                <a:rPr sz="2500" spc="140" dirty="0">
                  <a:latin typeface="Century"/>
                  <a:cs typeface="Century"/>
                </a:rPr>
                <a:t>)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B4520A3-2C7B-4222-917D-65706141DDF4}"/>
                </a:ext>
              </a:extLst>
            </p:cNvPr>
            <p:cNvSpPr txBox="1"/>
            <p:nvPr/>
          </p:nvSpPr>
          <p:spPr>
            <a:xfrm>
              <a:off x="6010880" y="5105981"/>
              <a:ext cx="703580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50" dirty="0">
                  <a:latin typeface="Times New Roman"/>
                  <a:cs typeface="Times New Roman"/>
                </a:rPr>
                <a:t>y</a:t>
              </a:r>
              <a:r>
                <a:rPr sz="2500" spc="125" dirty="0">
                  <a:latin typeface="Century"/>
                  <a:cs typeface="Century"/>
                </a:rPr>
                <a:t>(</a:t>
              </a:r>
              <a:r>
                <a:rPr sz="2500" spc="110" dirty="0">
                  <a:latin typeface="Times New Roman"/>
                  <a:cs typeface="Times New Roman"/>
                </a:rPr>
                <a:t>0</a:t>
              </a:r>
              <a:r>
                <a:rPr sz="2500" spc="75" dirty="0">
                  <a:latin typeface="Century"/>
                  <a:cs typeface="Century"/>
                </a:rPr>
                <a:t>)]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B68A5A2-6718-45EE-8902-1166E5C0CCA9}"/>
                </a:ext>
              </a:extLst>
            </p:cNvPr>
            <p:cNvSpPr txBox="1"/>
            <p:nvPr/>
          </p:nvSpPr>
          <p:spPr>
            <a:xfrm>
              <a:off x="4592445" y="5105981"/>
              <a:ext cx="1108710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55" dirty="0">
                  <a:latin typeface="Times New Roman"/>
                  <a:cs typeface="Times New Roman"/>
                </a:rPr>
                <a:t>C</a:t>
              </a:r>
              <a:r>
                <a:rPr sz="2500" spc="55" dirty="0">
                  <a:latin typeface="Century"/>
                  <a:cs typeface="Century"/>
                </a:rPr>
                <a:t>[</a:t>
              </a:r>
              <a:r>
                <a:rPr sz="2500" i="1" spc="55" dirty="0">
                  <a:latin typeface="Times New Roman"/>
                  <a:cs typeface="Times New Roman"/>
                </a:rPr>
                <a:t>sY</a:t>
              </a:r>
              <a:r>
                <a:rPr sz="2500" i="1" spc="-380" dirty="0">
                  <a:latin typeface="Times New Roman"/>
                  <a:cs typeface="Times New Roman"/>
                </a:rPr>
                <a:t> </a:t>
              </a:r>
              <a:r>
                <a:rPr sz="2500" spc="140" dirty="0">
                  <a:latin typeface="Century"/>
                  <a:cs typeface="Century"/>
                </a:rPr>
                <a:t>(</a:t>
              </a:r>
              <a:r>
                <a:rPr sz="2500" i="1" spc="140" dirty="0">
                  <a:latin typeface="Times New Roman"/>
                  <a:cs typeface="Times New Roman"/>
                </a:rPr>
                <a:t>s</a:t>
              </a:r>
              <a:r>
                <a:rPr sz="2500" spc="140" dirty="0">
                  <a:latin typeface="Century"/>
                  <a:cs typeface="Century"/>
                </a:rPr>
                <a:t>)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B8DF95B9-F552-4185-9335-124992ECC8E9}"/>
                </a:ext>
              </a:extLst>
            </p:cNvPr>
            <p:cNvSpPr txBox="1"/>
            <p:nvPr/>
          </p:nvSpPr>
          <p:spPr>
            <a:xfrm>
              <a:off x="3507921" y="5105981"/>
              <a:ext cx="790575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100" dirty="0">
                  <a:latin typeface="Times New Roman"/>
                  <a:cs typeface="Times New Roman"/>
                </a:rPr>
                <a:t>x</a:t>
              </a:r>
              <a:r>
                <a:rPr sz="2500" spc="100" dirty="0">
                  <a:latin typeface="Century"/>
                  <a:cs typeface="Century"/>
                </a:rPr>
                <a:t>'(</a:t>
              </a:r>
              <a:r>
                <a:rPr sz="2500" spc="100" dirty="0">
                  <a:latin typeface="Times New Roman"/>
                  <a:cs typeface="Times New Roman"/>
                </a:rPr>
                <a:t>0</a:t>
              </a:r>
              <a:r>
                <a:rPr sz="2500" spc="100" dirty="0">
                  <a:latin typeface="Century"/>
                  <a:cs typeface="Century"/>
                </a:rPr>
                <a:t>)]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5B9FF450-D421-40DD-A64D-69F02A3E9287}"/>
                </a:ext>
              </a:extLst>
            </p:cNvPr>
            <p:cNvSpPr txBox="1"/>
            <p:nvPr/>
          </p:nvSpPr>
          <p:spPr>
            <a:xfrm>
              <a:off x="2508640" y="5105981"/>
              <a:ext cx="705485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-60" dirty="0">
                  <a:latin typeface="Times New Roman"/>
                  <a:cs typeface="Times New Roman"/>
                </a:rPr>
                <a:t>s</a:t>
              </a:r>
              <a:r>
                <a:rPr sz="2500" i="1" spc="90" dirty="0">
                  <a:latin typeface="Times New Roman"/>
                  <a:cs typeface="Times New Roman"/>
                </a:rPr>
                <a:t>x</a:t>
              </a:r>
              <a:r>
                <a:rPr sz="2500" spc="125" dirty="0">
                  <a:latin typeface="Century"/>
                  <a:cs typeface="Century"/>
                </a:rPr>
                <a:t>(</a:t>
              </a:r>
              <a:r>
                <a:rPr sz="2500" spc="110" dirty="0">
                  <a:latin typeface="Times New Roman"/>
                  <a:cs typeface="Times New Roman"/>
                </a:rPr>
                <a:t>0</a:t>
              </a:r>
              <a:r>
                <a:rPr sz="2500" spc="50" dirty="0">
                  <a:latin typeface="Century"/>
                  <a:cs typeface="Century"/>
                </a:rPr>
                <a:t>)</a:t>
              </a:r>
              <a:endParaRPr sz="2500" dirty="0">
                <a:latin typeface="Century"/>
                <a:cs typeface="Century"/>
              </a:endParaRPr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407E146A-5307-414D-92CF-15330E9774FD}"/>
                </a:ext>
              </a:extLst>
            </p:cNvPr>
            <p:cNvSpPr txBox="1"/>
            <p:nvPr/>
          </p:nvSpPr>
          <p:spPr>
            <a:xfrm>
              <a:off x="942146" y="5105981"/>
              <a:ext cx="1282065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75" dirty="0">
                  <a:latin typeface="Times New Roman"/>
                  <a:cs typeface="Times New Roman"/>
                </a:rPr>
                <a:t>A</a:t>
              </a:r>
              <a:r>
                <a:rPr sz="2500" spc="75" dirty="0">
                  <a:latin typeface="Century"/>
                  <a:cs typeface="Century"/>
                </a:rPr>
                <a:t>[</a:t>
              </a:r>
              <a:r>
                <a:rPr sz="2500" i="1" spc="75" dirty="0">
                  <a:latin typeface="Times New Roman"/>
                  <a:cs typeface="Times New Roman"/>
                </a:rPr>
                <a:t>s</a:t>
              </a:r>
              <a:r>
                <a:rPr sz="2625" spc="112" baseline="36507" dirty="0">
                  <a:latin typeface="Times New Roman"/>
                  <a:cs typeface="Times New Roman"/>
                </a:rPr>
                <a:t>2</a:t>
              </a:r>
              <a:r>
                <a:rPr sz="2625" spc="-202" baseline="36507" dirty="0">
                  <a:latin typeface="Times New Roman"/>
                  <a:cs typeface="Times New Roman"/>
                </a:rPr>
                <a:t> </a:t>
              </a:r>
              <a:r>
                <a:rPr sz="2500" i="1" spc="90" dirty="0">
                  <a:latin typeface="Times New Roman"/>
                  <a:cs typeface="Times New Roman"/>
                </a:rPr>
                <a:t>X</a:t>
              </a:r>
              <a:r>
                <a:rPr sz="2500" i="1" spc="-345" dirty="0">
                  <a:latin typeface="Times New Roman"/>
                  <a:cs typeface="Times New Roman"/>
                </a:rPr>
                <a:t> </a:t>
              </a:r>
              <a:r>
                <a:rPr sz="2500" spc="140" dirty="0">
                  <a:latin typeface="Century"/>
                  <a:cs typeface="Century"/>
                </a:rPr>
                <a:t>(</a:t>
              </a:r>
              <a:r>
                <a:rPr sz="2500" i="1" spc="140" dirty="0">
                  <a:latin typeface="Times New Roman"/>
                  <a:cs typeface="Times New Roman"/>
                </a:rPr>
                <a:t>s</a:t>
              </a:r>
              <a:r>
                <a:rPr sz="2500" spc="140" dirty="0">
                  <a:latin typeface="Century"/>
                  <a:cs typeface="Century"/>
                </a:rPr>
                <a:t>)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680F6D0F-596D-48AC-8E2F-7A247EE22F5F}"/>
                </a:ext>
              </a:extLst>
            </p:cNvPr>
            <p:cNvSpPr/>
            <p:nvPr/>
          </p:nvSpPr>
          <p:spPr>
            <a:xfrm>
              <a:off x="8130960" y="5117165"/>
              <a:ext cx="347578" cy="3898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39820EC2-2236-4737-9758-95CDEF6A794E}"/>
                </a:ext>
              </a:extLst>
            </p:cNvPr>
            <p:cNvSpPr/>
            <p:nvPr/>
          </p:nvSpPr>
          <p:spPr>
            <a:xfrm>
              <a:off x="6732471" y="5117165"/>
              <a:ext cx="347578" cy="3898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316AA6B6-C795-426D-BDDE-6A1D40979A3C}"/>
                </a:ext>
              </a:extLst>
            </p:cNvPr>
            <p:cNvSpPr/>
            <p:nvPr/>
          </p:nvSpPr>
          <p:spPr>
            <a:xfrm>
              <a:off x="5743686" y="5117165"/>
              <a:ext cx="347578" cy="3898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32AB9CAC-DDD7-4E42-AA3D-A6F04C5022AE}"/>
                </a:ext>
              </a:extLst>
            </p:cNvPr>
            <p:cNvSpPr/>
            <p:nvPr/>
          </p:nvSpPr>
          <p:spPr>
            <a:xfrm>
              <a:off x="4341273" y="5117165"/>
              <a:ext cx="347578" cy="38986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A782C4AB-4A0B-43F1-81FA-EDF598198920}"/>
                </a:ext>
              </a:extLst>
            </p:cNvPr>
            <p:cNvSpPr/>
            <p:nvPr/>
          </p:nvSpPr>
          <p:spPr>
            <a:xfrm>
              <a:off x="3255932" y="5117165"/>
              <a:ext cx="347578" cy="3898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E9491E3F-E161-40C2-BCE6-0BC37509FF2A}"/>
                </a:ext>
              </a:extLst>
            </p:cNvPr>
            <p:cNvSpPr/>
            <p:nvPr/>
          </p:nvSpPr>
          <p:spPr>
            <a:xfrm>
              <a:off x="2267114" y="5117165"/>
              <a:ext cx="347578" cy="3898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5997C037-A49C-4B07-9A72-25ADFC176562}"/>
              </a:ext>
            </a:extLst>
          </p:cNvPr>
          <p:cNvSpPr/>
          <p:nvPr/>
        </p:nvSpPr>
        <p:spPr>
          <a:xfrm>
            <a:off x="379904" y="3614866"/>
            <a:ext cx="54929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25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GB" sz="2000" spc="-45" dirty="0">
                <a:latin typeface="+mn-lt"/>
                <a:cs typeface="Calibri"/>
              </a:rPr>
              <a:t>Taking </a:t>
            </a:r>
            <a:r>
              <a:rPr lang="en-GB" sz="2000" spc="-5" dirty="0">
                <a:latin typeface="+mn-lt"/>
                <a:cs typeface="Calibri"/>
              </a:rPr>
              <a:t>the </a:t>
            </a:r>
            <a:r>
              <a:rPr lang="en-GB" sz="2000" spc="-10" dirty="0">
                <a:latin typeface="+mn-lt"/>
                <a:cs typeface="Calibri"/>
              </a:rPr>
              <a:t>Laplace </a:t>
            </a:r>
            <a:r>
              <a:rPr lang="en-GB" sz="2000" spc="-25" dirty="0">
                <a:latin typeface="+mn-lt"/>
                <a:cs typeface="Calibri"/>
              </a:rPr>
              <a:t>transform </a:t>
            </a:r>
            <a:r>
              <a:rPr lang="en-GB" sz="2000" spc="-5" dirty="0">
                <a:latin typeface="+mn-lt"/>
                <a:cs typeface="Calibri"/>
              </a:rPr>
              <a:t>on either</a:t>
            </a:r>
            <a:r>
              <a:rPr lang="en-GB" sz="2000" spc="150" dirty="0">
                <a:latin typeface="+mn-lt"/>
                <a:cs typeface="Calibri"/>
              </a:rPr>
              <a:t> </a:t>
            </a:r>
            <a:r>
              <a:rPr lang="en-GB" sz="2000" spc="-10" dirty="0">
                <a:latin typeface="+mn-lt"/>
                <a:cs typeface="Calibri"/>
              </a:rPr>
              <a:t>sides</a:t>
            </a:r>
            <a:endParaRPr lang="en-GB" sz="2000" dirty="0"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730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Calculation of the Transfer Function</a:t>
            </a:r>
            <a:endParaRPr lang="en-GB" sz="2400" dirty="0">
              <a:cs typeface="Arial"/>
            </a:endParaRPr>
          </a:p>
        </p:txBody>
      </p:sp>
      <p:grpSp>
        <p:nvGrpSpPr>
          <p:cNvPr id="21504" name="Group 21503">
            <a:extLst>
              <a:ext uri="{FF2B5EF4-FFF2-40B4-BE49-F238E27FC236}">
                <a16:creationId xmlns:a16="http://schemas.microsoft.com/office/drawing/2014/main" id="{0250D919-3B4D-418D-8DD9-BBBF73C8E80A}"/>
              </a:ext>
            </a:extLst>
          </p:cNvPr>
          <p:cNvGrpSpPr/>
          <p:nvPr/>
        </p:nvGrpSpPr>
        <p:grpSpPr>
          <a:xfrm>
            <a:off x="2858305" y="3840798"/>
            <a:ext cx="3797892" cy="2032513"/>
            <a:chOff x="2995063" y="4111811"/>
            <a:chExt cx="3797892" cy="2032513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ACFFC7CA-0693-45AC-A1CA-C2DBA831424D}"/>
                </a:ext>
              </a:extLst>
            </p:cNvPr>
            <p:cNvSpPr txBox="1"/>
            <p:nvPr/>
          </p:nvSpPr>
          <p:spPr>
            <a:xfrm>
              <a:off x="4506320" y="4159213"/>
              <a:ext cx="2286635" cy="41592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  <a:tabLst>
                  <a:tab pos="1320800" algn="l"/>
                </a:tabLst>
              </a:pPr>
              <a:r>
                <a:rPr sz="2550" i="1" spc="-10" dirty="0">
                  <a:latin typeface="Times New Roman"/>
                  <a:cs typeface="Times New Roman"/>
                </a:rPr>
                <a:t>BsX</a:t>
              </a:r>
              <a:r>
                <a:rPr sz="2550" i="1" spc="-229" dirty="0">
                  <a:latin typeface="Times New Roman"/>
                  <a:cs typeface="Times New Roman"/>
                </a:rPr>
                <a:t> </a:t>
              </a:r>
              <a:r>
                <a:rPr sz="2550" spc="125" dirty="0">
                  <a:latin typeface="Century"/>
                  <a:cs typeface="Century"/>
                </a:rPr>
                <a:t>(</a:t>
              </a:r>
              <a:r>
                <a:rPr sz="2550" i="1" spc="125" dirty="0">
                  <a:latin typeface="Times New Roman"/>
                  <a:cs typeface="Times New Roman"/>
                </a:rPr>
                <a:t>s</a:t>
              </a:r>
              <a:r>
                <a:rPr sz="2550" spc="125" dirty="0">
                  <a:latin typeface="Century"/>
                  <a:cs typeface="Century"/>
                </a:rPr>
                <a:t>)	</a:t>
              </a:r>
              <a:r>
                <a:rPr sz="2550" i="1" spc="-55" dirty="0">
                  <a:latin typeface="Times New Roman"/>
                  <a:cs typeface="Times New Roman"/>
                </a:rPr>
                <a:t>CsY</a:t>
              </a:r>
              <a:r>
                <a:rPr sz="2550" i="1" spc="-245" dirty="0">
                  <a:latin typeface="Times New Roman"/>
                  <a:cs typeface="Times New Roman"/>
                </a:rPr>
                <a:t> </a:t>
              </a:r>
              <a:r>
                <a:rPr sz="2550" spc="125" dirty="0">
                  <a:latin typeface="Century"/>
                  <a:cs typeface="Century"/>
                </a:rPr>
                <a:t>(</a:t>
              </a:r>
              <a:r>
                <a:rPr sz="2550" i="1" spc="125" dirty="0">
                  <a:latin typeface="Times New Roman"/>
                  <a:cs typeface="Times New Roman"/>
                </a:rPr>
                <a:t>s</a:t>
              </a:r>
              <a:r>
                <a:rPr sz="2550" spc="125" dirty="0">
                  <a:latin typeface="Century"/>
                  <a:cs typeface="Century"/>
                </a:rPr>
                <a:t>)</a:t>
              </a:r>
              <a:endParaRPr sz="2550">
                <a:latin typeface="Century"/>
                <a:cs typeface="Century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6BBFD6EC-2F91-449C-B903-9595D159BC81}"/>
                </a:ext>
              </a:extLst>
            </p:cNvPr>
            <p:cNvSpPr/>
            <p:nvPr/>
          </p:nvSpPr>
          <p:spPr>
            <a:xfrm>
              <a:off x="5196087" y="4727459"/>
              <a:ext cx="349765" cy="3977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87C5BAA-4ED8-4638-9D61-6ED2E865D26A}"/>
                </a:ext>
              </a:extLst>
            </p:cNvPr>
            <p:cNvSpPr/>
            <p:nvPr/>
          </p:nvSpPr>
          <p:spPr>
            <a:xfrm>
              <a:off x="4407486" y="4727459"/>
              <a:ext cx="349765" cy="39773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C8CAC5CF-32F7-4F92-96C2-04023DC88643}"/>
                </a:ext>
              </a:extLst>
            </p:cNvPr>
            <p:cNvSpPr/>
            <p:nvPr/>
          </p:nvSpPr>
          <p:spPr>
            <a:xfrm>
              <a:off x="5563523" y="4170342"/>
              <a:ext cx="349765" cy="39773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3E2176E5-3C2A-495D-8BA2-3D3941991500}"/>
                </a:ext>
              </a:extLst>
            </p:cNvPr>
            <p:cNvSpPr/>
            <p:nvPr/>
          </p:nvSpPr>
          <p:spPr>
            <a:xfrm>
              <a:off x="4254284" y="4170342"/>
              <a:ext cx="349765" cy="39773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E0CA130-B25F-4F62-BFB4-EB0A3E9BBA4E}"/>
                </a:ext>
              </a:extLst>
            </p:cNvPr>
            <p:cNvSpPr/>
            <p:nvPr/>
          </p:nvSpPr>
          <p:spPr>
            <a:xfrm>
              <a:off x="2995063" y="5702934"/>
              <a:ext cx="675005" cy="0"/>
            </a:xfrm>
            <a:custGeom>
              <a:avLst/>
              <a:gdLst/>
              <a:ahLst/>
              <a:cxnLst/>
              <a:rect l="l" t="t" r="r" b="b"/>
              <a:pathLst>
                <a:path w="675004">
                  <a:moveTo>
                    <a:pt x="0" y="0"/>
                  </a:moveTo>
                  <a:lnTo>
                    <a:pt x="674632" y="0"/>
                  </a:lnTo>
                </a:path>
              </a:pathLst>
            </a:custGeom>
            <a:ln w="14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BE079762-0610-449B-8EF0-D327A0A6DEC5}"/>
                </a:ext>
              </a:extLst>
            </p:cNvPr>
            <p:cNvSpPr/>
            <p:nvPr/>
          </p:nvSpPr>
          <p:spPr>
            <a:xfrm>
              <a:off x="4040948" y="5702934"/>
              <a:ext cx="1205865" cy="0"/>
            </a:xfrm>
            <a:custGeom>
              <a:avLst/>
              <a:gdLst/>
              <a:ahLst/>
              <a:cxnLst/>
              <a:rect l="l" t="t" r="r" b="b"/>
              <a:pathLst>
                <a:path w="1205864">
                  <a:moveTo>
                    <a:pt x="0" y="0"/>
                  </a:moveTo>
                  <a:lnTo>
                    <a:pt x="1205669" y="0"/>
                  </a:lnTo>
                </a:path>
              </a:pathLst>
            </a:custGeom>
            <a:ln w="14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80C2B7E4-A76F-4C87-978F-675D0EF8A084}"/>
                </a:ext>
              </a:extLst>
            </p:cNvPr>
            <p:cNvSpPr/>
            <p:nvPr/>
          </p:nvSpPr>
          <p:spPr>
            <a:xfrm>
              <a:off x="5617117" y="5702934"/>
              <a:ext cx="915035" cy="0"/>
            </a:xfrm>
            <a:custGeom>
              <a:avLst/>
              <a:gdLst/>
              <a:ahLst/>
              <a:cxnLst/>
              <a:rect l="l" t="t" r="r" b="b"/>
              <a:pathLst>
                <a:path w="915035">
                  <a:moveTo>
                    <a:pt x="0" y="0"/>
                  </a:moveTo>
                  <a:lnTo>
                    <a:pt x="914564" y="0"/>
                  </a:lnTo>
                </a:path>
              </a:pathLst>
            </a:custGeom>
            <a:ln w="149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7E7B76B5-D4DB-425E-8C28-588B0AC1DC2D}"/>
                </a:ext>
              </a:extLst>
            </p:cNvPr>
            <p:cNvSpPr txBox="1"/>
            <p:nvPr/>
          </p:nvSpPr>
          <p:spPr>
            <a:xfrm>
              <a:off x="4429166" y="4605084"/>
              <a:ext cx="2068195" cy="1539240"/>
            </a:xfrm>
            <a:prstGeom prst="rect">
              <a:avLst/>
            </a:prstGeom>
          </p:spPr>
          <p:txBody>
            <a:bodyPr vert="horz" wrap="square" lIns="0" tIns="160020" rIns="0" bIns="0" rtlCol="0">
              <a:spAutoFit/>
            </a:bodyPr>
            <a:lstStyle/>
            <a:p>
              <a:pPr marL="213995">
                <a:lnSpc>
                  <a:spcPct val="100000"/>
                </a:lnSpc>
                <a:spcBef>
                  <a:spcPts val="1260"/>
                </a:spcBef>
                <a:tabLst>
                  <a:tab pos="1000760" algn="l"/>
                </a:tabLst>
              </a:pPr>
              <a:r>
                <a:rPr sz="2550" i="1" spc="40" dirty="0">
                  <a:latin typeface="Times New Roman"/>
                  <a:cs typeface="Times New Roman"/>
                </a:rPr>
                <a:t>Bs</a:t>
              </a:r>
              <a:r>
                <a:rPr sz="2550" spc="40" dirty="0">
                  <a:latin typeface="Century"/>
                  <a:cs typeface="Century"/>
                </a:rPr>
                <a:t>]	</a:t>
              </a:r>
              <a:r>
                <a:rPr sz="2550" i="1" spc="-55" dirty="0">
                  <a:latin typeface="Times New Roman"/>
                  <a:cs typeface="Times New Roman"/>
                </a:rPr>
                <a:t>CsY</a:t>
              </a:r>
              <a:r>
                <a:rPr sz="2550" i="1" spc="-204" dirty="0">
                  <a:latin typeface="Times New Roman"/>
                  <a:cs typeface="Times New Roman"/>
                </a:rPr>
                <a:t> </a:t>
              </a:r>
              <a:r>
                <a:rPr sz="2550" spc="125" dirty="0">
                  <a:latin typeface="Century"/>
                  <a:cs typeface="Century"/>
                </a:rPr>
                <a:t>(</a:t>
              </a:r>
              <a:r>
                <a:rPr sz="2550" i="1" spc="125" dirty="0">
                  <a:latin typeface="Times New Roman"/>
                  <a:cs typeface="Times New Roman"/>
                </a:rPr>
                <a:t>s</a:t>
              </a:r>
              <a:r>
                <a:rPr sz="2550" spc="125" dirty="0">
                  <a:latin typeface="Century"/>
                  <a:cs typeface="Century"/>
                </a:rPr>
                <a:t>)</a:t>
              </a:r>
              <a:endParaRPr sz="2550" dirty="0">
                <a:latin typeface="Century"/>
                <a:cs typeface="Century"/>
              </a:endParaRPr>
            </a:p>
            <a:p>
              <a:pPr marL="12700">
                <a:lnSpc>
                  <a:spcPct val="100000"/>
                </a:lnSpc>
                <a:spcBef>
                  <a:spcPts val="1130"/>
                </a:spcBef>
                <a:tabLst>
                  <a:tab pos="1500505" algn="l"/>
                </a:tabLst>
              </a:pPr>
              <a:r>
                <a:rPr sz="2500" i="1" spc="-50" dirty="0">
                  <a:latin typeface="Times New Roman"/>
                  <a:cs typeface="Times New Roman"/>
                </a:rPr>
                <a:t>Cs	</a:t>
              </a:r>
              <a:r>
                <a:rPr sz="2500" i="1" spc="50" dirty="0">
                  <a:latin typeface="Times New Roman"/>
                  <a:cs typeface="Times New Roman"/>
                </a:rPr>
                <a:t>C</a:t>
              </a:r>
              <a:endParaRPr sz="2500" dirty="0">
                <a:latin typeface="Times New Roman"/>
                <a:cs typeface="Times New Roman"/>
              </a:endParaRPr>
            </a:p>
            <a:p>
              <a:pPr marL="1210310">
                <a:lnSpc>
                  <a:spcPct val="100000"/>
                </a:lnSpc>
                <a:spcBef>
                  <a:spcPts val="565"/>
                </a:spcBef>
                <a:tabLst>
                  <a:tab pos="1854200" algn="l"/>
                </a:tabLst>
              </a:pPr>
              <a:r>
                <a:rPr sz="2500" i="1" spc="15" dirty="0">
                  <a:latin typeface="Times New Roman"/>
                  <a:cs typeface="Times New Roman"/>
                </a:rPr>
                <a:t>A</a:t>
              </a:r>
              <a:r>
                <a:rPr sz="2500" i="1" spc="25" dirty="0">
                  <a:latin typeface="Times New Roman"/>
                  <a:cs typeface="Times New Roman"/>
                </a:rPr>
                <a:t>s</a:t>
              </a:r>
              <a:r>
                <a:rPr sz="2500" i="1" dirty="0">
                  <a:latin typeface="Times New Roman"/>
                  <a:cs typeface="Times New Roman"/>
                </a:rPr>
                <a:t>	</a:t>
              </a:r>
              <a:r>
                <a:rPr sz="2500" i="1" spc="50" dirty="0">
                  <a:latin typeface="Times New Roman"/>
                  <a:cs typeface="Times New Roman"/>
                </a:rPr>
                <a:t>B</a:t>
              </a:r>
              <a:endParaRPr sz="2500" dirty="0">
                <a:latin typeface="Times New Roman"/>
                <a:cs typeface="Times New Roman"/>
              </a:endParaRPr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6FC753E9-9FFA-41D5-9966-CE4B70A747E3}"/>
                </a:ext>
              </a:extLst>
            </p:cNvPr>
            <p:cNvSpPr/>
            <p:nvPr/>
          </p:nvSpPr>
          <p:spPr>
            <a:xfrm>
              <a:off x="6057099" y="5712640"/>
              <a:ext cx="334990" cy="38922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3180B291-69CC-4CA9-8DA8-05845A6443C3}"/>
                </a:ext>
              </a:extLst>
            </p:cNvPr>
            <p:cNvSpPr/>
            <p:nvPr/>
          </p:nvSpPr>
          <p:spPr>
            <a:xfrm>
              <a:off x="5347751" y="5462387"/>
              <a:ext cx="334990" cy="3892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8068CBCB-D2A2-4EF4-ABC2-F68485AC1A57}"/>
                </a:ext>
              </a:extLst>
            </p:cNvPr>
            <p:cNvSpPr/>
            <p:nvPr/>
          </p:nvSpPr>
          <p:spPr>
            <a:xfrm>
              <a:off x="4648409" y="5747754"/>
              <a:ext cx="334990" cy="38922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CD6923C4-3FDF-4E36-8E06-008F2943D626}"/>
                </a:ext>
              </a:extLst>
            </p:cNvPr>
            <p:cNvSpPr/>
            <p:nvPr/>
          </p:nvSpPr>
          <p:spPr>
            <a:xfrm>
              <a:off x="3771582" y="5462387"/>
              <a:ext cx="334990" cy="3892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5E84DA23-BA20-41E5-A461-141806DBA922}"/>
                </a:ext>
              </a:extLst>
            </p:cNvPr>
            <p:cNvSpPr txBox="1"/>
            <p:nvPr/>
          </p:nvSpPr>
          <p:spPr>
            <a:xfrm>
              <a:off x="4079191" y="5737290"/>
              <a:ext cx="1156970" cy="40703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824230" algn="l"/>
                </a:tabLst>
              </a:pPr>
              <a:r>
                <a:rPr sz="2500" i="1" spc="15" dirty="0">
                  <a:latin typeface="Times New Roman"/>
                  <a:cs typeface="Times New Roman"/>
                </a:rPr>
                <a:t>A</a:t>
              </a:r>
              <a:r>
                <a:rPr sz="2500" i="1" spc="180" dirty="0">
                  <a:latin typeface="Times New Roman"/>
                  <a:cs typeface="Times New Roman"/>
                </a:rPr>
                <a:t>s</a:t>
              </a:r>
              <a:r>
                <a:rPr sz="2625" spc="37" baseline="36507" dirty="0">
                  <a:latin typeface="Times New Roman"/>
                  <a:cs typeface="Times New Roman"/>
                </a:rPr>
                <a:t>2</a:t>
              </a:r>
              <a:r>
                <a:rPr sz="2625" baseline="36507" dirty="0">
                  <a:latin typeface="Times New Roman"/>
                  <a:cs typeface="Times New Roman"/>
                </a:rPr>
                <a:t>	</a:t>
              </a:r>
              <a:r>
                <a:rPr sz="2500" i="1" spc="0" dirty="0">
                  <a:latin typeface="Times New Roman"/>
                  <a:cs typeface="Times New Roman"/>
                </a:rPr>
                <a:t>Bs</a:t>
              </a:r>
              <a:endParaRPr sz="2500">
                <a:latin typeface="Times New Roman"/>
                <a:cs typeface="Times New Roman"/>
              </a:endParaRPr>
            </a:p>
          </p:txBody>
        </p:sp>
        <p:sp>
          <p:nvSpPr>
            <p:cNvPr id="27" name="object 26">
              <a:extLst>
                <a:ext uri="{FF2B5EF4-FFF2-40B4-BE49-F238E27FC236}">
                  <a16:creationId xmlns:a16="http://schemas.microsoft.com/office/drawing/2014/main" id="{7DB50371-92D5-431C-B81C-08A982AF4921}"/>
                </a:ext>
              </a:extLst>
            </p:cNvPr>
            <p:cNvSpPr txBox="1"/>
            <p:nvPr/>
          </p:nvSpPr>
          <p:spPr>
            <a:xfrm>
              <a:off x="3026361" y="5702178"/>
              <a:ext cx="613410" cy="40703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500" i="1" spc="135" dirty="0">
                  <a:latin typeface="Times New Roman"/>
                  <a:cs typeface="Times New Roman"/>
                </a:rPr>
                <a:t>Y</a:t>
              </a:r>
              <a:r>
                <a:rPr sz="2500" spc="135" dirty="0">
                  <a:latin typeface="Century"/>
                  <a:cs typeface="Century"/>
                </a:rPr>
                <a:t>(</a:t>
              </a:r>
              <a:r>
                <a:rPr sz="2500" i="1" spc="135" dirty="0">
                  <a:latin typeface="Times New Roman"/>
                  <a:cs typeface="Times New Roman"/>
                </a:rPr>
                <a:t>s</a:t>
              </a:r>
              <a:r>
                <a:rPr sz="2500" spc="135" dirty="0">
                  <a:latin typeface="Century"/>
                  <a:cs typeface="Century"/>
                </a:rPr>
                <a:t>)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28" name="object 27">
              <a:extLst>
                <a:ext uri="{FF2B5EF4-FFF2-40B4-BE49-F238E27FC236}">
                  <a16:creationId xmlns:a16="http://schemas.microsoft.com/office/drawing/2014/main" id="{1B9EACEE-CC80-4641-A002-1A0452300AAF}"/>
                </a:ext>
              </a:extLst>
            </p:cNvPr>
            <p:cNvSpPr txBox="1"/>
            <p:nvPr/>
          </p:nvSpPr>
          <p:spPr>
            <a:xfrm>
              <a:off x="3039869" y="4111811"/>
              <a:ext cx="1282700" cy="1663700"/>
            </a:xfrm>
            <a:prstGeom prst="rect">
              <a:avLst/>
            </a:prstGeom>
          </p:spPr>
          <p:txBody>
            <a:bodyPr vert="horz" wrap="square" lIns="0" tIns="24765" rIns="0" bIns="0" rtlCol="0">
              <a:spAutoFit/>
            </a:bodyPr>
            <a:lstStyle/>
            <a:p>
              <a:pPr marL="12700" marR="5080">
                <a:lnSpc>
                  <a:spcPct val="140100"/>
                </a:lnSpc>
                <a:spcBef>
                  <a:spcPts val="195"/>
                </a:spcBef>
              </a:pPr>
              <a:r>
                <a:rPr sz="2550" i="1" spc="80" dirty="0">
                  <a:latin typeface="Times New Roman"/>
                  <a:cs typeface="Times New Roman"/>
                </a:rPr>
                <a:t>As</a:t>
              </a:r>
              <a:r>
                <a:rPr sz="2625" spc="120" baseline="36507" dirty="0">
                  <a:latin typeface="Times New Roman"/>
                  <a:cs typeface="Times New Roman"/>
                </a:rPr>
                <a:t>2 </a:t>
              </a:r>
              <a:r>
                <a:rPr sz="2550" i="1" spc="25" dirty="0">
                  <a:latin typeface="Times New Roman"/>
                  <a:cs typeface="Times New Roman"/>
                </a:rPr>
                <a:t>X </a:t>
              </a:r>
              <a:r>
                <a:rPr sz="2550" spc="125" dirty="0">
                  <a:latin typeface="Century"/>
                  <a:cs typeface="Century"/>
                </a:rPr>
                <a:t>(</a:t>
              </a:r>
              <a:r>
                <a:rPr sz="2550" i="1" spc="125" dirty="0">
                  <a:latin typeface="Times New Roman"/>
                  <a:cs typeface="Times New Roman"/>
                </a:rPr>
                <a:t>s</a:t>
              </a:r>
              <a:r>
                <a:rPr sz="2550" spc="125" dirty="0">
                  <a:latin typeface="Century"/>
                  <a:cs typeface="Century"/>
                </a:rPr>
                <a:t>)  </a:t>
              </a:r>
              <a:r>
                <a:rPr sz="2550" i="1" spc="25" dirty="0">
                  <a:latin typeface="Times New Roman"/>
                  <a:cs typeface="Times New Roman"/>
                </a:rPr>
                <a:t>X</a:t>
              </a:r>
              <a:r>
                <a:rPr sz="2550" i="1" spc="-330" dirty="0">
                  <a:latin typeface="Times New Roman"/>
                  <a:cs typeface="Times New Roman"/>
                </a:rPr>
                <a:t> </a:t>
              </a:r>
              <a:r>
                <a:rPr sz="2550" spc="100" dirty="0">
                  <a:latin typeface="Century"/>
                  <a:cs typeface="Century"/>
                </a:rPr>
                <a:t>(</a:t>
              </a:r>
              <a:r>
                <a:rPr sz="2550" i="1" spc="100" dirty="0">
                  <a:latin typeface="Times New Roman"/>
                  <a:cs typeface="Times New Roman"/>
                </a:rPr>
                <a:t>s</a:t>
              </a:r>
              <a:r>
                <a:rPr sz="2550" spc="100" dirty="0">
                  <a:latin typeface="Century"/>
                  <a:cs typeface="Century"/>
                </a:rPr>
                <a:t>)[</a:t>
              </a:r>
              <a:r>
                <a:rPr sz="2550" spc="-465" dirty="0">
                  <a:latin typeface="Century"/>
                  <a:cs typeface="Century"/>
                </a:rPr>
                <a:t> </a:t>
              </a:r>
              <a:r>
                <a:rPr sz="2550" i="1" spc="80" dirty="0">
                  <a:latin typeface="Times New Roman"/>
                  <a:cs typeface="Times New Roman"/>
                </a:rPr>
                <a:t>As</a:t>
              </a:r>
              <a:r>
                <a:rPr sz="2625" spc="120" baseline="36507" dirty="0">
                  <a:latin typeface="Times New Roman"/>
                  <a:cs typeface="Times New Roman"/>
                </a:rPr>
                <a:t>2  </a:t>
              </a:r>
              <a:r>
                <a:rPr sz="2500" i="1" spc="50" dirty="0">
                  <a:latin typeface="Times New Roman"/>
                  <a:cs typeface="Times New Roman"/>
                </a:rPr>
                <a:t>X</a:t>
              </a:r>
              <a:r>
                <a:rPr sz="2500" i="1" spc="-345" dirty="0">
                  <a:latin typeface="Times New Roman"/>
                  <a:cs typeface="Times New Roman"/>
                </a:rPr>
                <a:t> </a:t>
              </a:r>
              <a:r>
                <a:rPr sz="2500" spc="110" dirty="0">
                  <a:latin typeface="Century"/>
                  <a:cs typeface="Century"/>
                </a:rPr>
                <a:t>(</a:t>
              </a:r>
              <a:r>
                <a:rPr sz="2500" i="1" spc="110" dirty="0">
                  <a:latin typeface="Times New Roman"/>
                  <a:cs typeface="Times New Roman"/>
                </a:rPr>
                <a:t>s</a:t>
              </a:r>
              <a:r>
                <a:rPr sz="2500" spc="110" dirty="0">
                  <a:latin typeface="Century"/>
                  <a:cs typeface="Century"/>
                </a:rPr>
                <a:t>)</a:t>
              </a:r>
              <a:endParaRPr sz="2500" dirty="0">
                <a:latin typeface="Century"/>
                <a:cs typeface="Century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F8E99E4-7533-4A34-AD59-16E61B473D22}"/>
              </a:ext>
            </a:extLst>
          </p:cNvPr>
          <p:cNvSpPr/>
          <p:nvPr/>
        </p:nvSpPr>
        <p:spPr>
          <a:xfrm>
            <a:off x="291842" y="578062"/>
            <a:ext cx="867740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354965" algn="l"/>
                <a:tab pos="355600" algn="l"/>
              </a:tabLst>
            </a:pPr>
            <a:r>
              <a:rPr lang="en-GB" sz="2000" spc="-5" dirty="0">
                <a:latin typeface="+mn-lt"/>
                <a:cs typeface="Calibri"/>
              </a:rPr>
              <a:t>Considering </a:t>
            </a:r>
            <a:r>
              <a:rPr lang="en-GB" sz="2000" dirty="0">
                <a:latin typeface="+mn-lt"/>
                <a:cs typeface="Calibri"/>
              </a:rPr>
              <a:t>Initial </a:t>
            </a:r>
            <a:r>
              <a:rPr lang="en-GB" sz="2000" spc="-10" dirty="0">
                <a:latin typeface="+mn-lt"/>
                <a:cs typeface="Calibri"/>
              </a:rPr>
              <a:t>conditions </a:t>
            </a:r>
            <a:r>
              <a:rPr lang="en-GB" sz="2000" spc="-15" dirty="0">
                <a:latin typeface="+mn-lt"/>
                <a:cs typeface="Calibri"/>
              </a:rPr>
              <a:t>to </a:t>
            </a:r>
            <a:r>
              <a:rPr lang="en-GB" sz="2000" spc="-25" dirty="0">
                <a:latin typeface="+mn-lt"/>
                <a:cs typeface="Calibri"/>
              </a:rPr>
              <a:t>zero </a:t>
            </a:r>
            <a:r>
              <a:rPr lang="en-GB" sz="2000" dirty="0">
                <a:latin typeface="+mn-lt"/>
                <a:cs typeface="Calibri"/>
              </a:rPr>
              <a:t>in </a:t>
            </a:r>
            <a:r>
              <a:rPr lang="en-GB" sz="2000" spc="-15" dirty="0">
                <a:latin typeface="+mn-lt"/>
                <a:cs typeface="Calibri"/>
              </a:rPr>
              <a:t>order </a:t>
            </a:r>
            <a:r>
              <a:rPr lang="en-GB" sz="2000" spc="-10" dirty="0">
                <a:latin typeface="+mn-lt"/>
                <a:cs typeface="Calibri"/>
              </a:rPr>
              <a:t>to </a:t>
            </a:r>
            <a:r>
              <a:rPr lang="en-GB" sz="2000" spc="-5" dirty="0">
                <a:latin typeface="+mn-lt"/>
                <a:cs typeface="Calibri"/>
              </a:rPr>
              <a:t>find </a:t>
            </a:r>
            <a:r>
              <a:rPr lang="en-GB" sz="2000" dirty="0">
                <a:latin typeface="+mn-lt"/>
                <a:cs typeface="Calibri"/>
              </a:rPr>
              <a:t>the </a:t>
            </a:r>
            <a:r>
              <a:rPr lang="en-GB" sz="2000" spc="-20" dirty="0">
                <a:latin typeface="+mn-lt"/>
                <a:cs typeface="Calibri"/>
              </a:rPr>
              <a:t>transfer  </a:t>
            </a:r>
            <a:r>
              <a:rPr lang="en-GB" sz="2000" spc="-5" dirty="0">
                <a:latin typeface="+mn-lt"/>
                <a:cs typeface="Calibri"/>
              </a:rPr>
              <a:t>function of </a:t>
            </a:r>
            <a:r>
              <a:rPr lang="en-GB" sz="2000" dirty="0">
                <a:latin typeface="+mn-lt"/>
                <a:cs typeface="Calibri"/>
              </a:rPr>
              <a:t>the</a:t>
            </a:r>
            <a:r>
              <a:rPr lang="en-GB" sz="2000" spc="-10" dirty="0">
                <a:latin typeface="+mn-lt"/>
                <a:cs typeface="Calibri"/>
              </a:rPr>
              <a:t> </a:t>
            </a:r>
            <a:r>
              <a:rPr lang="en-GB" sz="2000" spc="-25" dirty="0">
                <a:latin typeface="+mn-lt"/>
                <a:cs typeface="Calibri"/>
              </a:rPr>
              <a:t>system</a:t>
            </a:r>
            <a:endParaRPr lang="en-GB" sz="2000" dirty="0">
              <a:latin typeface="+mn-lt"/>
              <a:cs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B5AB6F-8A1D-4B54-9266-7F7B989EAD45}"/>
              </a:ext>
            </a:extLst>
          </p:cNvPr>
          <p:cNvSpPr/>
          <p:nvPr/>
        </p:nvSpPr>
        <p:spPr>
          <a:xfrm>
            <a:off x="283821" y="3084809"/>
            <a:ext cx="38289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850"/>
              </a:spcBef>
              <a:tabLst>
                <a:tab pos="354965" algn="l"/>
                <a:tab pos="355600" algn="l"/>
              </a:tabLst>
            </a:pPr>
            <a:r>
              <a:rPr lang="en-GB" sz="2000" spc="-10" dirty="0">
                <a:latin typeface="+mn-lt"/>
                <a:cs typeface="Calibri"/>
              </a:rPr>
              <a:t>Rearranging </a:t>
            </a:r>
            <a:r>
              <a:rPr lang="en-GB" sz="2000" dirty="0">
                <a:latin typeface="+mn-lt"/>
                <a:cs typeface="Calibri"/>
              </a:rPr>
              <a:t>the </a:t>
            </a:r>
            <a:r>
              <a:rPr lang="en-GB" sz="2000" spc="-10" dirty="0">
                <a:latin typeface="+mn-lt"/>
                <a:cs typeface="Calibri"/>
              </a:rPr>
              <a:t>above</a:t>
            </a:r>
            <a:r>
              <a:rPr lang="en-GB" sz="2000" spc="-35" dirty="0">
                <a:latin typeface="+mn-lt"/>
                <a:cs typeface="Calibri"/>
              </a:rPr>
              <a:t> </a:t>
            </a:r>
            <a:r>
              <a:rPr lang="en-GB" sz="2000" spc="-5" dirty="0">
                <a:latin typeface="+mn-lt"/>
                <a:cs typeface="Calibri"/>
              </a:rPr>
              <a:t>equation</a:t>
            </a:r>
            <a:endParaRPr lang="en-GB" sz="2000" dirty="0">
              <a:latin typeface="+mn-lt"/>
              <a:cs typeface="Calibri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4DBB0D5-D1CF-4597-B337-60F1A641068C}"/>
              </a:ext>
            </a:extLst>
          </p:cNvPr>
          <p:cNvGrpSpPr/>
          <p:nvPr/>
        </p:nvGrpSpPr>
        <p:grpSpPr>
          <a:xfrm>
            <a:off x="658068" y="1380350"/>
            <a:ext cx="8139140" cy="408305"/>
            <a:chOff x="942146" y="5105981"/>
            <a:chExt cx="8139140" cy="408305"/>
          </a:xfrm>
        </p:grpSpPr>
        <p:sp>
          <p:nvSpPr>
            <p:cNvPr id="33" name="object 17">
              <a:extLst>
                <a:ext uri="{FF2B5EF4-FFF2-40B4-BE49-F238E27FC236}">
                  <a16:creationId xmlns:a16="http://schemas.microsoft.com/office/drawing/2014/main" id="{A8E1B483-D73E-4FF1-A6CB-CF0DC12C97EC}"/>
                </a:ext>
              </a:extLst>
            </p:cNvPr>
            <p:cNvSpPr txBox="1"/>
            <p:nvPr/>
          </p:nvSpPr>
          <p:spPr>
            <a:xfrm>
              <a:off x="8382786" y="5105981"/>
              <a:ext cx="698500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75" dirty="0">
                  <a:latin typeface="Times New Roman"/>
                  <a:cs typeface="Times New Roman"/>
                </a:rPr>
                <a:t>x</a:t>
              </a:r>
              <a:r>
                <a:rPr sz="2500" spc="75" dirty="0">
                  <a:latin typeface="Century"/>
                  <a:cs typeface="Century"/>
                </a:rPr>
                <a:t>(</a:t>
              </a:r>
              <a:r>
                <a:rPr sz="2500" spc="75" dirty="0">
                  <a:latin typeface="Times New Roman"/>
                  <a:cs typeface="Times New Roman"/>
                </a:rPr>
                <a:t>0</a:t>
              </a:r>
              <a:r>
                <a:rPr sz="2500" spc="75" dirty="0">
                  <a:latin typeface="Century"/>
                  <a:cs typeface="Century"/>
                </a:rPr>
                <a:t>)]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34" name="object 18">
              <a:extLst>
                <a:ext uri="{FF2B5EF4-FFF2-40B4-BE49-F238E27FC236}">
                  <a16:creationId xmlns:a16="http://schemas.microsoft.com/office/drawing/2014/main" id="{4B366BE3-B4A7-4B26-B6E3-E4E1497EAE0F}"/>
                </a:ext>
              </a:extLst>
            </p:cNvPr>
            <p:cNvSpPr txBox="1"/>
            <p:nvPr/>
          </p:nvSpPr>
          <p:spPr>
            <a:xfrm>
              <a:off x="6979719" y="5105981"/>
              <a:ext cx="1109345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35" dirty="0">
                  <a:latin typeface="Times New Roman"/>
                  <a:cs typeface="Times New Roman"/>
                </a:rPr>
                <a:t>B</a:t>
              </a:r>
              <a:r>
                <a:rPr sz="2500" spc="35" dirty="0">
                  <a:latin typeface="Century"/>
                  <a:cs typeface="Century"/>
                </a:rPr>
                <a:t>[</a:t>
              </a:r>
              <a:r>
                <a:rPr sz="2500" i="1" spc="35" dirty="0">
                  <a:latin typeface="Times New Roman"/>
                  <a:cs typeface="Times New Roman"/>
                </a:rPr>
                <a:t>sX</a:t>
              </a:r>
              <a:r>
                <a:rPr sz="2500" i="1" spc="-290" dirty="0">
                  <a:latin typeface="Times New Roman"/>
                  <a:cs typeface="Times New Roman"/>
                </a:rPr>
                <a:t> </a:t>
              </a:r>
              <a:r>
                <a:rPr sz="2500" spc="140" dirty="0">
                  <a:latin typeface="Century"/>
                  <a:cs typeface="Century"/>
                </a:rPr>
                <a:t>(</a:t>
              </a:r>
              <a:r>
                <a:rPr sz="2500" i="1" spc="140" dirty="0">
                  <a:latin typeface="Times New Roman"/>
                  <a:cs typeface="Times New Roman"/>
                </a:rPr>
                <a:t>s</a:t>
              </a:r>
              <a:r>
                <a:rPr sz="2500" spc="140" dirty="0">
                  <a:latin typeface="Century"/>
                  <a:cs typeface="Century"/>
                </a:rPr>
                <a:t>)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35" name="object 19">
              <a:extLst>
                <a:ext uri="{FF2B5EF4-FFF2-40B4-BE49-F238E27FC236}">
                  <a16:creationId xmlns:a16="http://schemas.microsoft.com/office/drawing/2014/main" id="{A206D364-248F-408C-9319-9967B8B539EA}"/>
                </a:ext>
              </a:extLst>
            </p:cNvPr>
            <p:cNvSpPr txBox="1"/>
            <p:nvPr/>
          </p:nvSpPr>
          <p:spPr>
            <a:xfrm>
              <a:off x="6010880" y="5105981"/>
              <a:ext cx="703580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50" dirty="0">
                  <a:latin typeface="Times New Roman"/>
                  <a:cs typeface="Times New Roman"/>
                </a:rPr>
                <a:t>y</a:t>
              </a:r>
              <a:r>
                <a:rPr sz="2500" spc="125" dirty="0">
                  <a:latin typeface="Century"/>
                  <a:cs typeface="Century"/>
                </a:rPr>
                <a:t>(</a:t>
              </a:r>
              <a:r>
                <a:rPr sz="2500" spc="110" dirty="0">
                  <a:latin typeface="Times New Roman"/>
                  <a:cs typeface="Times New Roman"/>
                </a:rPr>
                <a:t>0</a:t>
              </a:r>
              <a:r>
                <a:rPr sz="2500" spc="75" dirty="0">
                  <a:latin typeface="Century"/>
                  <a:cs typeface="Century"/>
                </a:rPr>
                <a:t>)]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36" name="object 20">
              <a:extLst>
                <a:ext uri="{FF2B5EF4-FFF2-40B4-BE49-F238E27FC236}">
                  <a16:creationId xmlns:a16="http://schemas.microsoft.com/office/drawing/2014/main" id="{ED34A207-2212-4E9B-B83E-E2815C992B95}"/>
                </a:ext>
              </a:extLst>
            </p:cNvPr>
            <p:cNvSpPr txBox="1"/>
            <p:nvPr/>
          </p:nvSpPr>
          <p:spPr>
            <a:xfrm>
              <a:off x="4592445" y="5105981"/>
              <a:ext cx="1108710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55" dirty="0">
                  <a:latin typeface="Times New Roman"/>
                  <a:cs typeface="Times New Roman"/>
                </a:rPr>
                <a:t>C</a:t>
              </a:r>
              <a:r>
                <a:rPr sz="2500" spc="55" dirty="0">
                  <a:latin typeface="Century"/>
                  <a:cs typeface="Century"/>
                </a:rPr>
                <a:t>[</a:t>
              </a:r>
              <a:r>
                <a:rPr sz="2500" i="1" spc="55" dirty="0">
                  <a:latin typeface="Times New Roman"/>
                  <a:cs typeface="Times New Roman"/>
                </a:rPr>
                <a:t>sY</a:t>
              </a:r>
              <a:r>
                <a:rPr sz="2500" i="1" spc="-380" dirty="0">
                  <a:latin typeface="Times New Roman"/>
                  <a:cs typeface="Times New Roman"/>
                </a:rPr>
                <a:t> </a:t>
              </a:r>
              <a:r>
                <a:rPr sz="2500" spc="140" dirty="0">
                  <a:latin typeface="Century"/>
                  <a:cs typeface="Century"/>
                </a:rPr>
                <a:t>(</a:t>
              </a:r>
              <a:r>
                <a:rPr sz="2500" i="1" spc="140" dirty="0">
                  <a:latin typeface="Times New Roman"/>
                  <a:cs typeface="Times New Roman"/>
                </a:rPr>
                <a:t>s</a:t>
              </a:r>
              <a:r>
                <a:rPr sz="2500" spc="140" dirty="0">
                  <a:latin typeface="Century"/>
                  <a:cs typeface="Century"/>
                </a:rPr>
                <a:t>)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37" name="object 21">
              <a:extLst>
                <a:ext uri="{FF2B5EF4-FFF2-40B4-BE49-F238E27FC236}">
                  <a16:creationId xmlns:a16="http://schemas.microsoft.com/office/drawing/2014/main" id="{1D1C77CA-1698-42EC-9216-B58745DCA8C5}"/>
                </a:ext>
              </a:extLst>
            </p:cNvPr>
            <p:cNvSpPr txBox="1"/>
            <p:nvPr/>
          </p:nvSpPr>
          <p:spPr>
            <a:xfrm>
              <a:off x="3507921" y="5105981"/>
              <a:ext cx="790575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100" dirty="0">
                  <a:latin typeface="Times New Roman"/>
                  <a:cs typeface="Times New Roman"/>
                </a:rPr>
                <a:t>x</a:t>
              </a:r>
              <a:r>
                <a:rPr sz="2500" spc="100" dirty="0">
                  <a:latin typeface="Century"/>
                  <a:cs typeface="Century"/>
                </a:rPr>
                <a:t>'(</a:t>
              </a:r>
              <a:r>
                <a:rPr sz="2500" spc="100" dirty="0">
                  <a:latin typeface="Times New Roman"/>
                  <a:cs typeface="Times New Roman"/>
                </a:rPr>
                <a:t>0</a:t>
              </a:r>
              <a:r>
                <a:rPr sz="2500" spc="100" dirty="0">
                  <a:latin typeface="Century"/>
                  <a:cs typeface="Century"/>
                </a:rPr>
                <a:t>)]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38" name="object 22">
              <a:extLst>
                <a:ext uri="{FF2B5EF4-FFF2-40B4-BE49-F238E27FC236}">
                  <a16:creationId xmlns:a16="http://schemas.microsoft.com/office/drawing/2014/main" id="{B8FA6B4E-1302-4B09-8CCD-C6E798C7AFA0}"/>
                </a:ext>
              </a:extLst>
            </p:cNvPr>
            <p:cNvSpPr txBox="1"/>
            <p:nvPr/>
          </p:nvSpPr>
          <p:spPr>
            <a:xfrm>
              <a:off x="2508640" y="5105981"/>
              <a:ext cx="705485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-60" dirty="0">
                  <a:latin typeface="Times New Roman"/>
                  <a:cs typeface="Times New Roman"/>
                </a:rPr>
                <a:t>s</a:t>
              </a:r>
              <a:r>
                <a:rPr sz="2500" i="1" spc="90" dirty="0">
                  <a:latin typeface="Times New Roman"/>
                  <a:cs typeface="Times New Roman"/>
                </a:rPr>
                <a:t>x</a:t>
              </a:r>
              <a:r>
                <a:rPr sz="2500" spc="125" dirty="0">
                  <a:latin typeface="Century"/>
                  <a:cs typeface="Century"/>
                </a:rPr>
                <a:t>(</a:t>
              </a:r>
              <a:r>
                <a:rPr sz="2500" spc="110" dirty="0">
                  <a:latin typeface="Times New Roman"/>
                  <a:cs typeface="Times New Roman"/>
                </a:rPr>
                <a:t>0</a:t>
              </a:r>
              <a:r>
                <a:rPr sz="2500" spc="50" dirty="0">
                  <a:latin typeface="Century"/>
                  <a:cs typeface="Century"/>
                </a:rPr>
                <a:t>)</a:t>
              </a:r>
              <a:endParaRPr sz="2500" dirty="0">
                <a:latin typeface="Century"/>
                <a:cs typeface="Century"/>
              </a:endParaRPr>
            </a:p>
          </p:txBody>
        </p:sp>
        <p:sp>
          <p:nvSpPr>
            <p:cNvPr id="39" name="object 23">
              <a:extLst>
                <a:ext uri="{FF2B5EF4-FFF2-40B4-BE49-F238E27FC236}">
                  <a16:creationId xmlns:a16="http://schemas.microsoft.com/office/drawing/2014/main" id="{DFDA1160-0FAD-45BE-902C-6EAC641C503E}"/>
                </a:ext>
              </a:extLst>
            </p:cNvPr>
            <p:cNvSpPr txBox="1"/>
            <p:nvPr/>
          </p:nvSpPr>
          <p:spPr>
            <a:xfrm>
              <a:off x="942146" y="5105981"/>
              <a:ext cx="1282065" cy="408305"/>
            </a:xfrm>
            <a:prstGeom prst="rect">
              <a:avLst/>
            </a:prstGeom>
          </p:spPr>
          <p:txBody>
            <a:bodyPr vert="horz" wrap="square" lIns="0" tIns="1333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5"/>
                </a:spcBef>
              </a:pPr>
              <a:r>
                <a:rPr sz="2500" i="1" spc="75" dirty="0">
                  <a:latin typeface="Times New Roman"/>
                  <a:cs typeface="Times New Roman"/>
                </a:rPr>
                <a:t>A</a:t>
              </a:r>
              <a:r>
                <a:rPr sz="2500" spc="75" dirty="0">
                  <a:latin typeface="Century"/>
                  <a:cs typeface="Century"/>
                </a:rPr>
                <a:t>[</a:t>
              </a:r>
              <a:r>
                <a:rPr sz="2500" i="1" spc="75" dirty="0">
                  <a:latin typeface="Times New Roman"/>
                  <a:cs typeface="Times New Roman"/>
                </a:rPr>
                <a:t>s</a:t>
              </a:r>
              <a:r>
                <a:rPr sz="2625" spc="112" baseline="36507" dirty="0">
                  <a:latin typeface="Times New Roman"/>
                  <a:cs typeface="Times New Roman"/>
                </a:rPr>
                <a:t>2</a:t>
              </a:r>
              <a:r>
                <a:rPr sz="2625" spc="-202" baseline="36507" dirty="0">
                  <a:latin typeface="Times New Roman"/>
                  <a:cs typeface="Times New Roman"/>
                </a:rPr>
                <a:t> </a:t>
              </a:r>
              <a:r>
                <a:rPr sz="2500" i="1" spc="90" dirty="0">
                  <a:latin typeface="Times New Roman"/>
                  <a:cs typeface="Times New Roman"/>
                </a:rPr>
                <a:t>X</a:t>
              </a:r>
              <a:r>
                <a:rPr sz="2500" i="1" spc="-345" dirty="0">
                  <a:latin typeface="Times New Roman"/>
                  <a:cs typeface="Times New Roman"/>
                </a:rPr>
                <a:t> </a:t>
              </a:r>
              <a:r>
                <a:rPr sz="2500" spc="140" dirty="0">
                  <a:latin typeface="Century"/>
                  <a:cs typeface="Century"/>
                </a:rPr>
                <a:t>(</a:t>
              </a:r>
              <a:r>
                <a:rPr sz="2500" i="1" spc="140" dirty="0">
                  <a:latin typeface="Times New Roman"/>
                  <a:cs typeface="Times New Roman"/>
                </a:rPr>
                <a:t>s</a:t>
              </a:r>
              <a:r>
                <a:rPr sz="2500" spc="140" dirty="0">
                  <a:latin typeface="Century"/>
                  <a:cs typeface="Century"/>
                </a:rPr>
                <a:t>)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40" name="object 24">
              <a:extLst>
                <a:ext uri="{FF2B5EF4-FFF2-40B4-BE49-F238E27FC236}">
                  <a16:creationId xmlns:a16="http://schemas.microsoft.com/office/drawing/2014/main" id="{C414445B-0BF2-4457-8153-B6D7C8FBA166}"/>
                </a:ext>
              </a:extLst>
            </p:cNvPr>
            <p:cNvSpPr/>
            <p:nvPr/>
          </p:nvSpPr>
          <p:spPr>
            <a:xfrm>
              <a:off x="8130960" y="5117165"/>
              <a:ext cx="347578" cy="3898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25">
              <a:extLst>
                <a:ext uri="{FF2B5EF4-FFF2-40B4-BE49-F238E27FC236}">
                  <a16:creationId xmlns:a16="http://schemas.microsoft.com/office/drawing/2014/main" id="{95C15837-0F3A-429C-AE0D-C60A09633B80}"/>
                </a:ext>
              </a:extLst>
            </p:cNvPr>
            <p:cNvSpPr/>
            <p:nvPr/>
          </p:nvSpPr>
          <p:spPr>
            <a:xfrm>
              <a:off x="6732471" y="5117165"/>
              <a:ext cx="347578" cy="3898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26">
              <a:extLst>
                <a:ext uri="{FF2B5EF4-FFF2-40B4-BE49-F238E27FC236}">
                  <a16:creationId xmlns:a16="http://schemas.microsoft.com/office/drawing/2014/main" id="{81D19283-C2C7-46D0-870F-49DC238ED7D5}"/>
                </a:ext>
              </a:extLst>
            </p:cNvPr>
            <p:cNvSpPr/>
            <p:nvPr/>
          </p:nvSpPr>
          <p:spPr>
            <a:xfrm>
              <a:off x="5743686" y="5117165"/>
              <a:ext cx="347578" cy="3898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27">
              <a:extLst>
                <a:ext uri="{FF2B5EF4-FFF2-40B4-BE49-F238E27FC236}">
                  <a16:creationId xmlns:a16="http://schemas.microsoft.com/office/drawing/2014/main" id="{1236B57E-9ECE-43A0-B533-CD3A67F21B04}"/>
                </a:ext>
              </a:extLst>
            </p:cNvPr>
            <p:cNvSpPr/>
            <p:nvPr/>
          </p:nvSpPr>
          <p:spPr>
            <a:xfrm>
              <a:off x="4341273" y="5117165"/>
              <a:ext cx="347578" cy="38986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28">
              <a:extLst>
                <a:ext uri="{FF2B5EF4-FFF2-40B4-BE49-F238E27FC236}">
                  <a16:creationId xmlns:a16="http://schemas.microsoft.com/office/drawing/2014/main" id="{EFEE365D-DFCD-47DA-B5C9-8461805F0C5E}"/>
                </a:ext>
              </a:extLst>
            </p:cNvPr>
            <p:cNvSpPr/>
            <p:nvPr/>
          </p:nvSpPr>
          <p:spPr>
            <a:xfrm>
              <a:off x="3255932" y="5117165"/>
              <a:ext cx="347578" cy="3898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29">
              <a:extLst>
                <a:ext uri="{FF2B5EF4-FFF2-40B4-BE49-F238E27FC236}">
                  <a16:creationId xmlns:a16="http://schemas.microsoft.com/office/drawing/2014/main" id="{7680635E-4748-4BD9-944A-DB0517135E73}"/>
                </a:ext>
              </a:extLst>
            </p:cNvPr>
            <p:cNvSpPr/>
            <p:nvPr/>
          </p:nvSpPr>
          <p:spPr>
            <a:xfrm>
              <a:off x="2267114" y="5117165"/>
              <a:ext cx="347578" cy="3898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14DFF3E-E479-4D48-BE44-AECEA473CD60}"/>
              </a:ext>
            </a:extLst>
          </p:cNvPr>
          <p:cNvGrpSpPr/>
          <p:nvPr/>
        </p:nvGrpSpPr>
        <p:grpSpPr>
          <a:xfrm>
            <a:off x="287011" y="2019146"/>
            <a:ext cx="8759153" cy="744435"/>
            <a:chOff x="299503" y="1827180"/>
            <a:chExt cx="8759153" cy="74443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B0D0608-8C52-4966-9CE6-E1F6CA09E955}"/>
                </a:ext>
              </a:extLst>
            </p:cNvPr>
            <p:cNvGrpSpPr/>
            <p:nvPr/>
          </p:nvGrpSpPr>
          <p:grpSpPr>
            <a:xfrm>
              <a:off x="396621" y="1827180"/>
              <a:ext cx="8662035" cy="744435"/>
              <a:chOff x="396621" y="1827180"/>
              <a:chExt cx="8662035" cy="744435"/>
            </a:xfrm>
          </p:grpSpPr>
          <p:sp>
            <p:nvSpPr>
              <p:cNvPr id="9" name="object 9">
                <a:extLst>
                  <a:ext uri="{FF2B5EF4-FFF2-40B4-BE49-F238E27FC236}">
                    <a16:creationId xmlns:a16="http://schemas.microsoft.com/office/drawing/2014/main" id="{4D866D9E-F01E-43D4-812F-5265D24D985F}"/>
                  </a:ext>
                </a:extLst>
              </p:cNvPr>
              <p:cNvSpPr/>
              <p:nvPr/>
            </p:nvSpPr>
            <p:spPr>
              <a:xfrm>
                <a:off x="5707334" y="2132468"/>
                <a:ext cx="349765" cy="395471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A1F55BA4-1092-44A9-A11C-78A18C5BAB5A}"/>
                  </a:ext>
                </a:extLst>
              </p:cNvPr>
              <p:cNvSpPr/>
              <p:nvPr/>
            </p:nvSpPr>
            <p:spPr>
              <a:xfrm>
                <a:off x="4424295" y="2148400"/>
                <a:ext cx="349765" cy="395471"/>
              </a:xfrm>
              <a:prstGeom prst="rect">
                <a:avLst/>
              </a:prstGeom>
              <a:blipFill>
                <a:blip r:embed="rId1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DD199E1B-0772-4677-802F-1FD15EC4498A}"/>
                  </a:ext>
                </a:extLst>
              </p:cNvPr>
              <p:cNvSpPr txBox="1"/>
              <p:nvPr/>
            </p:nvSpPr>
            <p:spPr>
              <a:xfrm>
                <a:off x="396621" y="1827180"/>
                <a:ext cx="8662035" cy="74443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50"/>
                  </a:spcBef>
                  <a:buFont typeface="Arial"/>
                  <a:buChar char="•"/>
                </a:pPr>
                <a:endParaRPr sz="2200" dirty="0">
                  <a:latin typeface="Times New Roman"/>
                  <a:cs typeface="Times New Roman"/>
                </a:endParaRPr>
              </a:p>
              <a:p>
                <a:pPr marL="2797810">
                  <a:lnSpc>
                    <a:spcPct val="100000"/>
                  </a:lnSpc>
                  <a:tabLst>
                    <a:tab pos="4295140" algn="l"/>
                    <a:tab pos="5565140" algn="l"/>
                  </a:tabLst>
                </a:pPr>
                <a:r>
                  <a:rPr sz="2550" i="1" spc="100" dirty="0">
                    <a:latin typeface="Times New Roman"/>
                    <a:cs typeface="Times New Roman"/>
                  </a:rPr>
                  <a:t>As</a:t>
                </a:r>
                <a:r>
                  <a:rPr sz="2625" spc="150" baseline="36507" dirty="0">
                    <a:latin typeface="Times New Roman"/>
                    <a:cs typeface="Times New Roman"/>
                  </a:rPr>
                  <a:t>2</a:t>
                </a:r>
                <a:r>
                  <a:rPr sz="2625" spc="-202" baseline="36507" dirty="0">
                    <a:latin typeface="Times New Roman"/>
                    <a:cs typeface="Times New Roman"/>
                  </a:rPr>
                  <a:t> </a:t>
                </a:r>
                <a:r>
                  <a:rPr sz="2550" i="1" spc="110" dirty="0">
                    <a:latin typeface="Times New Roman"/>
                    <a:cs typeface="Times New Roman"/>
                  </a:rPr>
                  <a:t>X</a:t>
                </a:r>
                <a:r>
                  <a:rPr sz="2550" i="1" spc="-390" dirty="0">
                    <a:latin typeface="Times New Roman"/>
                    <a:cs typeface="Times New Roman"/>
                  </a:rPr>
                  <a:t> </a:t>
                </a:r>
                <a:r>
                  <a:rPr sz="2550" spc="135" dirty="0">
                    <a:latin typeface="Century"/>
                    <a:cs typeface="Century"/>
                  </a:rPr>
                  <a:t>(</a:t>
                </a:r>
                <a:r>
                  <a:rPr sz="2550" i="1" spc="135" dirty="0">
                    <a:latin typeface="Times New Roman"/>
                    <a:cs typeface="Times New Roman"/>
                  </a:rPr>
                  <a:t>s</a:t>
                </a:r>
                <a:r>
                  <a:rPr sz="2550" spc="135" dirty="0">
                    <a:latin typeface="Century"/>
                    <a:cs typeface="Century"/>
                  </a:rPr>
                  <a:t>)	</a:t>
                </a:r>
                <a:r>
                  <a:rPr sz="2550" i="1" spc="-30" dirty="0">
                    <a:latin typeface="Times New Roman"/>
                    <a:cs typeface="Times New Roman"/>
                  </a:rPr>
                  <a:t>CsY</a:t>
                </a:r>
                <a:r>
                  <a:rPr sz="2550" i="1" spc="-254" dirty="0">
                    <a:latin typeface="Times New Roman"/>
                    <a:cs typeface="Times New Roman"/>
                  </a:rPr>
                  <a:t> </a:t>
                </a:r>
                <a:r>
                  <a:rPr sz="2550" spc="135" dirty="0">
                    <a:latin typeface="Century"/>
                    <a:cs typeface="Century"/>
                  </a:rPr>
                  <a:t>(</a:t>
                </a:r>
                <a:r>
                  <a:rPr sz="2550" i="1" spc="135" dirty="0">
                    <a:latin typeface="Times New Roman"/>
                    <a:cs typeface="Times New Roman"/>
                  </a:rPr>
                  <a:t>s</a:t>
                </a:r>
                <a:r>
                  <a:rPr sz="2550" spc="135" dirty="0">
                    <a:latin typeface="Century"/>
                    <a:cs typeface="Century"/>
                  </a:rPr>
                  <a:t>)	</a:t>
                </a:r>
                <a:r>
                  <a:rPr sz="2550" i="1" spc="15" dirty="0">
                    <a:latin typeface="Times New Roman"/>
                    <a:cs typeface="Times New Roman"/>
                  </a:rPr>
                  <a:t>BsX</a:t>
                </a:r>
                <a:r>
                  <a:rPr sz="2550" i="1" spc="-330" dirty="0">
                    <a:latin typeface="Times New Roman"/>
                    <a:cs typeface="Times New Roman"/>
                  </a:rPr>
                  <a:t> </a:t>
                </a:r>
                <a:r>
                  <a:rPr sz="2550" spc="135" dirty="0">
                    <a:latin typeface="Century"/>
                    <a:cs typeface="Century"/>
                  </a:rPr>
                  <a:t>(</a:t>
                </a:r>
                <a:r>
                  <a:rPr sz="2550" i="1" spc="135" dirty="0">
                    <a:latin typeface="Times New Roman"/>
                    <a:cs typeface="Times New Roman"/>
                  </a:rPr>
                  <a:t>s</a:t>
                </a:r>
                <a:r>
                  <a:rPr sz="2550" spc="135" dirty="0">
                    <a:latin typeface="Century"/>
                    <a:cs typeface="Century"/>
                  </a:rPr>
                  <a:t>)</a:t>
                </a:r>
                <a:endParaRPr sz="2550" dirty="0">
                  <a:latin typeface="Century"/>
                  <a:cs typeface="Century"/>
                </a:endParaRPr>
              </a:p>
            </p:txBody>
          </p:sp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6C55AFF-6B37-4EA2-8DC5-63EBF3776B2D}"/>
                </a:ext>
              </a:extLst>
            </p:cNvPr>
            <p:cNvSpPr/>
            <p:nvPr/>
          </p:nvSpPr>
          <p:spPr>
            <a:xfrm>
              <a:off x="299503" y="1932413"/>
              <a:ext cx="125771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850"/>
                </a:spcBef>
                <a:tabLst>
                  <a:tab pos="354965" algn="l"/>
                  <a:tab pos="355600" algn="l"/>
                </a:tabLst>
              </a:pPr>
              <a:r>
                <a:rPr lang="en-GB" sz="2000" spc="-10" dirty="0">
                  <a:latin typeface="+mn-lt"/>
                  <a:cs typeface="Calibri"/>
                </a:rPr>
                <a:t>Becomes</a:t>
              </a:r>
              <a:endParaRPr lang="en-GB" sz="2000" dirty="0">
                <a:latin typeface="+mn-lt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190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Transfer Functions</a:t>
            </a:r>
            <a:endParaRPr lang="en-GB" sz="2400" dirty="0"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CF23E31-341B-435B-8ACD-724C0A33F0B1}"/>
              </a:ext>
            </a:extLst>
          </p:cNvPr>
          <p:cNvSpPr txBox="1"/>
          <p:nvPr/>
        </p:nvSpPr>
        <p:spPr>
          <a:xfrm>
            <a:off x="353669" y="526479"/>
            <a:ext cx="169798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  <a:tab pos="355600" algn="l"/>
              </a:tabLst>
            </a:pPr>
            <a:r>
              <a:rPr sz="2000" dirty="0">
                <a:latin typeface="+mn-lt"/>
                <a:cs typeface="Calibri"/>
              </a:rPr>
              <a:t>In</a:t>
            </a:r>
            <a:r>
              <a:rPr sz="2000" spc="-75" dirty="0">
                <a:latin typeface="+mn-lt"/>
                <a:cs typeface="Calibri"/>
              </a:rPr>
              <a:t> </a:t>
            </a:r>
            <a:r>
              <a:rPr sz="2000" spc="-15" dirty="0">
                <a:latin typeface="+mn-lt"/>
                <a:cs typeface="Calibri"/>
              </a:rPr>
              <a:t>general</a:t>
            </a:r>
            <a:endParaRPr sz="2000" dirty="0">
              <a:latin typeface="+mn-lt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4DDD582D-DE7A-476C-966E-BF469E8A5D69}"/>
              </a:ext>
            </a:extLst>
          </p:cNvPr>
          <p:cNvSpPr txBox="1"/>
          <p:nvPr/>
        </p:nvSpPr>
        <p:spPr>
          <a:xfrm>
            <a:off x="344170" y="2325392"/>
            <a:ext cx="8071484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10" dirty="0">
                <a:latin typeface="+mn-lt"/>
                <a:cs typeface="Calibri"/>
              </a:rPr>
              <a:t>Where </a:t>
            </a:r>
            <a:r>
              <a:rPr sz="2000" i="1" dirty="0">
                <a:solidFill>
                  <a:srgbClr val="C00000"/>
                </a:solidFill>
                <a:latin typeface="+mn-lt"/>
                <a:cs typeface="Calibri"/>
              </a:rPr>
              <a:t>x </a:t>
            </a:r>
            <a:r>
              <a:rPr sz="2000" spc="-10" dirty="0">
                <a:latin typeface="+mn-lt"/>
                <a:cs typeface="Calibri"/>
              </a:rPr>
              <a:t>is </a:t>
            </a:r>
            <a:r>
              <a:rPr sz="2000" dirty="0">
                <a:latin typeface="+mn-lt"/>
                <a:cs typeface="Calibri"/>
              </a:rPr>
              <a:t>the </a:t>
            </a:r>
            <a:r>
              <a:rPr sz="2000" spc="-5" dirty="0">
                <a:latin typeface="+mn-lt"/>
                <a:cs typeface="Calibri"/>
              </a:rPr>
              <a:t>input of the </a:t>
            </a:r>
            <a:r>
              <a:rPr sz="2000" spc="-30" dirty="0">
                <a:latin typeface="+mn-lt"/>
                <a:cs typeface="Calibri"/>
              </a:rPr>
              <a:t>system </a:t>
            </a:r>
            <a:r>
              <a:rPr sz="2000" spc="-5" dirty="0">
                <a:latin typeface="+mn-lt"/>
                <a:cs typeface="Calibri"/>
              </a:rPr>
              <a:t>and </a:t>
            </a:r>
            <a:r>
              <a:rPr sz="2000" i="1" dirty="0">
                <a:solidFill>
                  <a:srgbClr val="C00000"/>
                </a:solidFill>
                <a:latin typeface="+mn-lt"/>
                <a:cs typeface="Calibri"/>
              </a:rPr>
              <a:t>y </a:t>
            </a:r>
            <a:r>
              <a:rPr sz="2000" spc="-10" dirty="0">
                <a:latin typeface="+mn-lt"/>
                <a:cs typeface="Calibri"/>
              </a:rPr>
              <a:t>is </a:t>
            </a:r>
            <a:r>
              <a:rPr sz="2000" dirty="0">
                <a:latin typeface="+mn-lt"/>
                <a:cs typeface="Calibri"/>
              </a:rPr>
              <a:t>the </a:t>
            </a:r>
            <a:r>
              <a:rPr sz="2000" spc="-5" dirty="0">
                <a:latin typeface="+mn-lt"/>
                <a:cs typeface="Calibri"/>
              </a:rPr>
              <a:t>output </a:t>
            </a:r>
            <a:r>
              <a:rPr sz="2000" spc="-10" dirty="0">
                <a:latin typeface="+mn-lt"/>
                <a:cs typeface="Calibri"/>
              </a:rPr>
              <a:t>of  </a:t>
            </a:r>
            <a:r>
              <a:rPr sz="2000" dirty="0">
                <a:latin typeface="+mn-lt"/>
                <a:cs typeface="Calibri"/>
              </a:rPr>
              <a:t>the</a:t>
            </a:r>
            <a:r>
              <a:rPr sz="2000" spc="-25" dirty="0">
                <a:latin typeface="+mn-lt"/>
                <a:cs typeface="Calibri"/>
              </a:rPr>
              <a:t> </a:t>
            </a:r>
            <a:r>
              <a:rPr sz="2000" spc="-20" dirty="0">
                <a:latin typeface="+mn-lt"/>
                <a:cs typeface="Calibri"/>
              </a:rPr>
              <a:t>system.</a:t>
            </a:r>
            <a:endParaRPr sz="2000" dirty="0">
              <a:latin typeface="+mn-lt"/>
              <a:cs typeface="Calibri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248A525-203E-447A-8D7B-3C1223FAF817}"/>
              </a:ext>
            </a:extLst>
          </p:cNvPr>
          <p:cNvSpPr/>
          <p:nvPr/>
        </p:nvSpPr>
        <p:spPr>
          <a:xfrm>
            <a:off x="1727433" y="889763"/>
            <a:ext cx="6920759" cy="10690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C435E09-3E2E-433E-909C-7A715CF9DCCD}"/>
              </a:ext>
            </a:extLst>
          </p:cNvPr>
          <p:cNvSpPr/>
          <p:nvPr/>
        </p:nvSpPr>
        <p:spPr>
          <a:xfrm>
            <a:off x="552671" y="3013178"/>
            <a:ext cx="7553710" cy="15794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F95727D5-F523-4F0B-B462-1EDA4611775C}"/>
              </a:ext>
            </a:extLst>
          </p:cNvPr>
          <p:cNvSpPr txBox="1"/>
          <p:nvPr/>
        </p:nvSpPr>
        <p:spPr>
          <a:xfrm>
            <a:off x="353669" y="5058816"/>
            <a:ext cx="770763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+mn-lt"/>
                <a:cs typeface="Calibri"/>
              </a:rPr>
              <a:t>When </a:t>
            </a:r>
            <a:r>
              <a:rPr lang="en-GB" sz="2000" dirty="0">
                <a:latin typeface="+mn-lt"/>
                <a:cs typeface="Calibri"/>
              </a:rPr>
              <a:t>the </a:t>
            </a:r>
            <a:r>
              <a:rPr sz="2000" spc="-10" dirty="0">
                <a:latin typeface="+mn-lt"/>
                <a:cs typeface="Calibri"/>
              </a:rPr>
              <a:t>order </a:t>
            </a:r>
            <a:r>
              <a:rPr sz="2000" spc="-5" dirty="0">
                <a:latin typeface="+mn-lt"/>
                <a:cs typeface="Calibri"/>
              </a:rPr>
              <a:t>of </a:t>
            </a:r>
            <a:r>
              <a:rPr sz="2000" dirty="0">
                <a:latin typeface="+mn-lt"/>
                <a:cs typeface="Calibri"/>
              </a:rPr>
              <a:t>the </a:t>
            </a:r>
            <a:r>
              <a:rPr sz="2000" spc="-10" dirty="0">
                <a:latin typeface="+mn-lt"/>
                <a:cs typeface="Calibri"/>
              </a:rPr>
              <a:t>denominator </a:t>
            </a:r>
            <a:r>
              <a:rPr sz="2000" spc="-5" dirty="0">
                <a:latin typeface="+mn-lt"/>
                <a:cs typeface="Calibri"/>
              </a:rPr>
              <a:t>polynomial </a:t>
            </a:r>
            <a:r>
              <a:rPr sz="2000" dirty="0">
                <a:latin typeface="+mn-lt"/>
                <a:cs typeface="Calibri"/>
              </a:rPr>
              <a:t>is </a:t>
            </a:r>
            <a:r>
              <a:rPr sz="2000" spc="-15" dirty="0">
                <a:latin typeface="+mn-lt"/>
                <a:cs typeface="Calibri"/>
              </a:rPr>
              <a:t>greater  </a:t>
            </a:r>
            <a:r>
              <a:rPr sz="2000" dirty="0">
                <a:latin typeface="+mn-lt"/>
                <a:cs typeface="Calibri"/>
              </a:rPr>
              <a:t>than the </a:t>
            </a:r>
            <a:r>
              <a:rPr sz="2000" spc="-15" dirty="0">
                <a:latin typeface="+mn-lt"/>
                <a:cs typeface="Calibri"/>
              </a:rPr>
              <a:t>numerator </a:t>
            </a:r>
            <a:r>
              <a:rPr sz="2000" spc="-5" dirty="0">
                <a:latin typeface="+mn-lt"/>
                <a:cs typeface="Calibri"/>
              </a:rPr>
              <a:t>polynomial </a:t>
            </a:r>
            <a:r>
              <a:rPr sz="2000" dirty="0">
                <a:latin typeface="+mn-lt"/>
                <a:cs typeface="Calibri"/>
              </a:rPr>
              <a:t>the </a:t>
            </a:r>
            <a:r>
              <a:rPr sz="2000" spc="-20" dirty="0">
                <a:latin typeface="+mn-lt"/>
                <a:cs typeface="Calibri"/>
              </a:rPr>
              <a:t>transfer </a:t>
            </a:r>
            <a:r>
              <a:rPr sz="2000" spc="-5" dirty="0">
                <a:latin typeface="+mn-lt"/>
                <a:cs typeface="Calibri"/>
              </a:rPr>
              <a:t>function </a:t>
            </a:r>
            <a:r>
              <a:rPr sz="2000" dirty="0">
                <a:latin typeface="+mn-lt"/>
                <a:cs typeface="Calibri"/>
              </a:rPr>
              <a:t>is  </a:t>
            </a:r>
            <a:r>
              <a:rPr sz="2000" spc="-5" dirty="0">
                <a:latin typeface="+mn-lt"/>
                <a:cs typeface="Calibri"/>
              </a:rPr>
              <a:t>said </a:t>
            </a:r>
            <a:r>
              <a:rPr sz="2000" spc="-15" dirty="0">
                <a:latin typeface="+mn-lt"/>
                <a:cs typeface="Calibri"/>
              </a:rPr>
              <a:t>to </a:t>
            </a:r>
            <a:r>
              <a:rPr sz="2000" spc="-5" dirty="0">
                <a:latin typeface="+mn-lt"/>
                <a:cs typeface="Calibri"/>
              </a:rPr>
              <a:t>be</a:t>
            </a:r>
            <a:r>
              <a:rPr sz="2000" spc="-35" dirty="0">
                <a:latin typeface="+mn-lt"/>
                <a:cs typeface="Calibri"/>
              </a:rPr>
              <a:t> </a:t>
            </a:r>
            <a:r>
              <a:rPr sz="2000" spc="-50" dirty="0">
                <a:latin typeface="+mn-lt"/>
                <a:cs typeface="Calibri"/>
              </a:rPr>
              <a:t>‘</a:t>
            </a:r>
            <a:r>
              <a:rPr sz="2000" spc="-50" dirty="0">
                <a:solidFill>
                  <a:srgbClr val="C00000"/>
                </a:solidFill>
                <a:latin typeface="+mn-lt"/>
                <a:cs typeface="Calibri"/>
              </a:rPr>
              <a:t>proper</a:t>
            </a:r>
            <a:r>
              <a:rPr sz="2000" spc="-50" dirty="0">
                <a:latin typeface="+mn-lt"/>
                <a:cs typeface="Calibri"/>
              </a:rPr>
              <a:t>’.</a:t>
            </a:r>
            <a:endParaRPr sz="2000" dirty="0"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675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500px-Mass-Spring-Damp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2774" y="1402796"/>
            <a:ext cx="3456384" cy="203235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6B30143-1337-4E60-A2C9-169463F9DA6B}"/>
              </a:ext>
            </a:extLst>
          </p:cNvPr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A Basic Mechanical System</a:t>
            </a:r>
            <a:endParaRPr lang="en-GB" sz="2400" dirty="0">
              <a:cs typeface="Arial"/>
            </a:endParaRPr>
          </a:p>
        </p:txBody>
      </p:sp>
      <p:sp>
        <p:nvSpPr>
          <p:cNvPr id="12" name="Content Placeholder 42">
            <a:extLst>
              <a:ext uri="{FF2B5EF4-FFF2-40B4-BE49-F238E27FC236}">
                <a16:creationId xmlns:a16="http://schemas.microsoft.com/office/drawing/2014/main" id="{4E9D8384-E019-4875-8C2F-C5C0153A5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12" y="487841"/>
            <a:ext cx="8229600" cy="10442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dirty="0"/>
              <a:t>Consider the following basic mechanical system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08B17F8-46C2-4175-A9D6-3A98664C257F}"/>
              </a:ext>
            </a:extLst>
          </p:cNvPr>
          <p:cNvGrpSpPr/>
          <p:nvPr/>
        </p:nvGrpSpPr>
        <p:grpSpPr>
          <a:xfrm>
            <a:off x="4661560" y="1238819"/>
            <a:ext cx="3490572" cy="1265834"/>
            <a:chOff x="2503564" y="1700808"/>
            <a:chExt cx="3490572" cy="126583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FFADE07-C7C8-4D18-B36C-FD2A0D3E6776}"/>
                </a:ext>
              </a:extLst>
            </p:cNvPr>
            <p:cNvGrpSpPr/>
            <p:nvPr/>
          </p:nvGrpSpPr>
          <p:grpSpPr>
            <a:xfrm>
              <a:off x="2987825" y="1700808"/>
              <a:ext cx="3006311" cy="1265834"/>
              <a:chOff x="2987825" y="1700808"/>
              <a:chExt cx="3006311" cy="1265834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D3533E9-6704-4150-9544-A285E0CB382D}"/>
                  </a:ext>
                </a:extLst>
              </p:cNvPr>
              <p:cNvGrpSpPr/>
              <p:nvPr/>
            </p:nvGrpSpPr>
            <p:grpSpPr>
              <a:xfrm>
                <a:off x="2987825" y="1700808"/>
                <a:ext cx="3006311" cy="1265834"/>
                <a:chOff x="467544" y="1484784"/>
                <a:chExt cx="3006311" cy="1265834"/>
              </a:xfrm>
            </p:grpSpPr>
            <p:pic>
              <p:nvPicPr>
                <p:cNvPr id="18" name="Picture 3">
                  <a:extLst>
                    <a:ext uri="{FF2B5EF4-FFF2-40B4-BE49-F238E27FC236}">
                      <a16:creationId xmlns:a16="http://schemas.microsoft.com/office/drawing/2014/main" id="{E7F3B8C2-99D8-4DB7-8880-D59C7215CF3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467544" y="1789584"/>
                  <a:ext cx="3006311" cy="9610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sp>
              <p:nvSpPr>
                <p:cNvPr id="19" name="Text Box 17">
                  <a:extLst>
                    <a:ext uri="{FF2B5EF4-FFF2-40B4-BE49-F238E27FC236}">
                      <a16:creationId xmlns:a16="http://schemas.microsoft.com/office/drawing/2014/main" id="{FAB3704F-2F2F-4088-AE73-38E0B0E63D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85318" y="1484784"/>
                  <a:ext cx="2174513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Translational Spring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AB78E49-A769-4AFB-A875-70793CDA03A6}"/>
                    </a:ext>
                  </a:extLst>
                </p:cNvPr>
                <p:cNvSpPr txBox="1"/>
                <p:nvPr/>
              </p:nvSpPr>
              <p:spPr>
                <a:xfrm>
                  <a:off x="683568" y="2204864"/>
                  <a:ext cx="288032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500359A-2C4C-43D1-9CA5-F6CEC8FE64FC}"/>
                    </a:ext>
                  </a:extLst>
                </p:cNvPr>
                <p:cNvSpPr txBox="1"/>
                <p:nvPr/>
              </p:nvSpPr>
              <p:spPr>
                <a:xfrm>
                  <a:off x="2843808" y="2178396"/>
                  <a:ext cx="288032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876CABE-F2C3-45D0-8124-5C98546309EF}"/>
                    </a:ext>
                  </a:extLst>
                </p:cNvPr>
                <p:cNvSpPr txBox="1"/>
                <p:nvPr/>
              </p:nvSpPr>
              <p:spPr>
                <a:xfrm>
                  <a:off x="1691680" y="1835760"/>
                  <a:ext cx="252000" cy="25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E65D2F8-DE69-440C-9076-BA67CEE3AAD1}"/>
                    </a:ext>
                  </a:extLst>
                </p:cNvPr>
                <p:cNvSpPr txBox="1"/>
                <p:nvPr/>
              </p:nvSpPr>
              <p:spPr>
                <a:xfrm>
                  <a:off x="2371224" y="2045112"/>
                  <a:ext cx="252000" cy="25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57F3A88-7B13-4E27-A7CF-92F52CF5B1D7}"/>
                  </a:ext>
                </a:extLst>
              </p:cNvPr>
              <p:cNvSpPr txBox="1"/>
              <p:nvPr/>
            </p:nvSpPr>
            <p:spPr>
              <a:xfrm>
                <a:off x="5060320" y="2408488"/>
                <a:ext cx="360040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73F3B5-4DDD-43B7-A118-46DA1C1AD815}"/>
                </a:ext>
              </a:extLst>
            </p:cNvPr>
            <p:cNvSpPr txBox="1"/>
            <p:nvPr/>
          </p:nvSpPr>
          <p:spPr>
            <a:xfrm>
              <a:off x="2503564" y="209065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err="1">
                  <a:solidFill>
                    <a:srgbClr val="FF0000"/>
                  </a:solidFill>
                </a:rPr>
                <a:t>i</a:t>
              </a:r>
              <a:r>
                <a:rPr lang="en-GB" b="1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79470B9-D0AB-4288-B76B-703A84D40A49}"/>
              </a:ext>
            </a:extLst>
          </p:cNvPr>
          <p:cNvGrpSpPr/>
          <p:nvPr/>
        </p:nvGrpSpPr>
        <p:grpSpPr>
          <a:xfrm>
            <a:off x="4724401" y="2911223"/>
            <a:ext cx="3665447" cy="1664058"/>
            <a:chOff x="2483768" y="3421126"/>
            <a:chExt cx="3665447" cy="166405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94E0919-FEAA-42DD-A22B-3597178DC494}"/>
                </a:ext>
              </a:extLst>
            </p:cNvPr>
            <p:cNvGrpSpPr/>
            <p:nvPr/>
          </p:nvGrpSpPr>
          <p:grpSpPr>
            <a:xfrm>
              <a:off x="2627784" y="3421126"/>
              <a:ext cx="3521431" cy="1664058"/>
              <a:chOff x="395536" y="3124199"/>
              <a:chExt cx="3521431" cy="1664058"/>
            </a:xfrm>
          </p:grpSpPr>
          <p:pic>
            <p:nvPicPr>
              <p:cNvPr id="27" name="Picture 19">
                <a:extLst>
                  <a:ext uri="{FF2B5EF4-FFF2-40B4-BE49-F238E27FC236}">
                    <a16:creationId xmlns:a16="http://schemas.microsoft.com/office/drawing/2014/main" id="{5FE9B47D-D35E-4E5B-9CF1-EAB177F955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95536" y="3429000"/>
                <a:ext cx="3521431" cy="1359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BB06F3A-93D3-45AD-AD8D-1F99CB4C9C56}"/>
                  </a:ext>
                </a:extLst>
              </p:cNvPr>
              <p:cNvGrpSpPr/>
              <p:nvPr/>
            </p:nvGrpSpPr>
            <p:grpSpPr>
              <a:xfrm>
                <a:off x="696013" y="3124199"/>
                <a:ext cx="2723859" cy="1226789"/>
                <a:chOff x="703364" y="3124199"/>
                <a:chExt cx="2723859" cy="1226789"/>
              </a:xfrm>
            </p:grpSpPr>
            <p:sp>
              <p:nvSpPr>
                <p:cNvPr id="29" name="Text Box 12">
                  <a:extLst>
                    <a:ext uri="{FF2B5EF4-FFF2-40B4-BE49-F238E27FC236}">
                      <a16:creationId xmlns:a16="http://schemas.microsoft.com/office/drawing/2014/main" id="{63A4EA31-420E-464C-BAD5-9BE7DE04C4C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91684" y="3124199"/>
                  <a:ext cx="2235539" cy="36933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spAutoFit/>
                </a:bodyPr>
                <a:lstStyle/>
                <a:p>
                  <a:r>
                    <a:rPr lang="en-US" b="1" dirty="0"/>
                    <a:t>Translational Mass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AE24477-F663-4DD6-93BC-CA23C642FF27}"/>
                    </a:ext>
                  </a:extLst>
                </p:cNvPr>
                <p:cNvSpPr txBox="1"/>
                <p:nvPr/>
              </p:nvSpPr>
              <p:spPr>
                <a:xfrm>
                  <a:off x="1259632" y="4005064"/>
                  <a:ext cx="252000" cy="25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99BF2F4-FD7D-40DC-84AA-B604F43621BC}"/>
                    </a:ext>
                  </a:extLst>
                </p:cNvPr>
                <p:cNvSpPr txBox="1"/>
                <p:nvPr/>
              </p:nvSpPr>
              <p:spPr>
                <a:xfrm>
                  <a:off x="703364" y="3720368"/>
                  <a:ext cx="612040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endParaRPr lang="en-GB" dirty="0"/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58690DF-A282-4239-AF92-A6D792CB5A6B}"/>
                    </a:ext>
                  </a:extLst>
                </p:cNvPr>
                <p:cNvSpPr txBox="1"/>
                <p:nvPr/>
              </p:nvSpPr>
              <p:spPr>
                <a:xfrm>
                  <a:off x="2283480" y="3918988"/>
                  <a:ext cx="1020512" cy="432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/>
                </a:p>
              </p:txBody>
            </p:sp>
          </p:grp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B750EB7-53AD-4CA2-B82D-5EB9E133C750}"/>
                </a:ext>
              </a:extLst>
            </p:cNvPr>
            <p:cNvSpPr txBox="1"/>
            <p:nvPr/>
          </p:nvSpPr>
          <p:spPr>
            <a:xfrm>
              <a:off x="2483768" y="3707740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ii)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6F4E221-6B9B-43D4-8DB5-1838FC86B705}"/>
              </a:ext>
            </a:extLst>
          </p:cNvPr>
          <p:cNvGrpSpPr/>
          <p:nvPr/>
        </p:nvGrpSpPr>
        <p:grpSpPr>
          <a:xfrm>
            <a:off x="4908907" y="4742199"/>
            <a:ext cx="3125763" cy="1447233"/>
            <a:chOff x="2483768" y="5068415"/>
            <a:chExt cx="3125763" cy="144723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2B9CAE3-98D9-45A8-A959-005C58F43BFA}"/>
                </a:ext>
              </a:extLst>
            </p:cNvPr>
            <p:cNvGrpSpPr/>
            <p:nvPr/>
          </p:nvGrpSpPr>
          <p:grpSpPr>
            <a:xfrm>
              <a:off x="2627784" y="5068415"/>
              <a:ext cx="2981747" cy="1447233"/>
              <a:chOff x="467544" y="5068415"/>
              <a:chExt cx="2981747" cy="1447233"/>
            </a:xfrm>
          </p:grpSpPr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D8884D32-D4BA-4927-9195-572A559FA0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467544" y="5373216"/>
                <a:ext cx="2981747" cy="11424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37" name="Text Box 9">
                <a:extLst>
                  <a:ext uri="{FF2B5EF4-FFF2-40B4-BE49-F238E27FC236}">
                    <a16:creationId xmlns:a16="http://schemas.microsoft.com/office/drawing/2014/main" id="{9A746DD6-5AE9-4D27-AAA4-54909503DE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88742" y="5068415"/>
                <a:ext cx="235912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Translational Damper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A25119B-C4A2-4179-AB19-D9E83EABFD5D}"/>
                  </a:ext>
                </a:extLst>
              </p:cNvPr>
              <p:cNvSpPr txBox="1"/>
              <p:nvPr/>
            </p:nvSpPr>
            <p:spPr>
              <a:xfrm>
                <a:off x="627296" y="5736592"/>
                <a:ext cx="787084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FB5FC42-E6E1-4C7A-9525-59B90CAE8449}"/>
                  </a:ext>
                </a:extLst>
              </p:cNvPr>
              <p:cNvSpPr txBox="1"/>
              <p:nvPr/>
            </p:nvSpPr>
            <p:spPr>
              <a:xfrm>
                <a:off x="1331640" y="5949280"/>
                <a:ext cx="252000" cy="25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AD67C67-E92A-4195-807B-DA1F0A3F8C5A}"/>
                  </a:ext>
                </a:extLst>
              </p:cNvPr>
              <p:cNvSpPr txBox="1"/>
              <p:nvPr/>
            </p:nvSpPr>
            <p:spPr>
              <a:xfrm>
                <a:off x="2757732" y="5777128"/>
                <a:ext cx="252000" cy="25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D543355-DCFC-44E2-8929-55A51E93EAB2}"/>
                  </a:ext>
                </a:extLst>
              </p:cNvPr>
              <p:cNvSpPr txBox="1"/>
              <p:nvPr/>
            </p:nvSpPr>
            <p:spPr>
              <a:xfrm>
                <a:off x="2194068" y="5965016"/>
                <a:ext cx="252000" cy="252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0A3AE80-14CD-4C1C-8120-06DB147E1838}"/>
                </a:ext>
              </a:extLst>
            </p:cNvPr>
            <p:cNvSpPr txBox="1"/>
            <p:nvPr/>
          </p:nvSpPr>
          <p:spPr>
            <a:xfrm>
              <a:off x="2483768" y="5363924"/>
              <a:ext cx="425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iii)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101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6B30143-1337-4E60-A2C9-169463F9DA6B}"/>
              </a:ext>
            </a:extLst>
          </p:cNvPr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A Translational Spring</a:t>
            </a:r>
            <a:endParaRPr lang="en-GB" sz="2400" dirty="0">
              <a:cs typeface="Arial"/>
            </a:endParaRPr>
          </a:p>
        </p:txBody>
      </p:sp>
      <p:sp>
        <p:nvSpPr>
          <p:cNvPr id="12" name="Content Placeholder 42">
            <a:extLst>
              <a:ext uri="{FF2B5EF4-FFF2-40B4-BE49-F238E27FC236}">
                <a16:creationId xmlns:a16="http://schemas.microsoft.com/office/drawing/2014/main" id="{4E9D8384-E019-4875-8C2F-C5C0153A5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12" y="487841"/>
            <a:ext cx="8229600" cy="10442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dirty="0"/>
              <a:t>A translational spring is a mechanical element that can be deformed by an external force such that the deformation is directly proportional to the force applied to it.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8CA732-7223-4F4E-8621-54423BFA8A18}"/>
              </a:ext>
            </a:extLst>
          </p:cNvPr>
          <p:cNvGrpSpPr/>
          <p:nvPr/>
        </p:nvGrpSpPr>
        <p:grpSpPr>
          <a:xfrm>
            <a:off x="448945" y="1838344"/>
            <a:ext cx="8229600" cy="5651943"/>
            <a:chOff x="453108" y="1606696"/>
            <a:chExt cx="8229600" cy="5651943"/>
          </a:xfrm>
        </p:grpSpPr>
        <p:sp>
          <p:nvSpPr>
            <p:cNvPr id="42" name="Content Placeholder 42">
              <a:extLst>
                <a:ext uri="{FF2B5EF4-FFF2-40B4-BE49-F238E27FC236}">
                  <a16:creationId xmlns:a16="http://schemas.microsoft.com/office/drawing/2014/main" id="{757BC4F5-5DD1-439D-8970-B1138DA03424}"/>
                </a:ext>
              </a:extLst>
            </p:cNvPr>
            <p:cNvSpPr txBox="1">
              <a:spLocks/>
            </p:cNvSpPr>
            <p:nvPr/>
          </p:nvSpPr>
          <p:spPr>
            <a:xfrm>
              <a:off x="453108" y="1642016"/>
              <a:ext cx="8229600" cy="561662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2900" indent="-3429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60C30"/>
                </a:buClr>
                <a:buFont typeface="Arial" pitchFamily="34" charset="0"/>
                <a:buChar char="•"/>
                <a:defRPr sz="2800" kern="1200">
                  <a:solidFill>
                    <a:schemeClr val="tx1"/>
                  </a:solidFill>
                  <a:latin typeface="Arial"/>
                  <a:ea typeface="ＭＳ Ｐゴシック" charset="-128"/>
                  <a:cs typeface="Arial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60C30"/>
                </a:buClr>
                <a:buFont typeface="Arial" panose="020B0604020202020204" pitchFamily="34" charset="0"/>
                <a:buChar char="–"/>
                <a:defRPr sz="2400" kern="1200">
                  <a:solidFill>
                    <a:schemeClr val="tx1"/>
                  </a:solidFill>
                  <a:latin typeface="Arial"/>
                  <a:ea typeface="ＭＳ Ｐゴシック" charset="-128"/>
                  <a:cs typeface="Arial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60C30"/>
                </a:buClr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Arial"/>
                  <a:ea typeface="ＭＳ Ｐゴシック" charset="-128"/>
                  <a:cs typeface="Arial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60C30"/>
                </a:buClr>
                <a:buFont typeface="Arial" panose="020B0604020202020204" pitchFamily="34" charset="0"/>
                <a:buChar char="–"/>
                <a:defRPr sz="1800" kern="1200">
                  <a:solidFill>
                    <a:schemeClr val="tx1"/>
                  </a:solidFill>
                  <a:latin typeface="Arial"/>
                  <a:ea typeface="ＭＳ Ｐゴシック" charset="-128"/>
                  <a:cs typeface="Arial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60C30"/>
                </a:buClr>
                <a:buFont typeface="Arial" panose="020B0604020202020204" pitchFamily="34" charset="0"/>
                <a:buChar char="»"/>
                <a:defRPr sz="1800" kern="1200">
                  <a:solidFill>
                    <a:schemeClr val="tx1"/>
                  </a:solidFill>
                  <a:latin typeface="Arial"/>
                  <a:ea typeface="ＭＳ Ｐゴシック" charset="-128"/>
                  <a:cs typeface="Arial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buClr>
                  <a:schemeClr val="tx1"/>
                </a:buClr>
              </a:pPr>
              <a:r>
                <a:rPr lang="en-GB" sz="2000" dirty="0"/>
                <a:t>If </a:t>
              </a:r>
              <a:r>
                <a:rPr lang="en-GB" sz="2000" i="1" dirty="0">
                  <a:solidFill>
                    <a:srgbClr val="FF0000"/>
                  </a:solidFill>
                </a:rPr>
                <a:t>F</a:t>
              </a:r>
              <a:r>
                <a:rPr lang="en-GB" sz="2000" dirty="0"/>
                <a:t> is the applied force </a:t>
              </a:r>
            </a:p>
            <a:p>
              <a:pPr algn="just">
                <a:buClr>
                  <a:schemeClr val="tx1"/>
                </a:buClr>
              </a:pPr>
              <a:endParaRPr lang="en-GB" sz="2000" dirty="0"/>
            </a:p>
            <a:p>
              <a:pPr algn="just">
                <a:buClr>
                  <a:schemeClr val="tx1"/>
                </a:buClr>
              </a:pPr>
              <a:endParaRPr lang="en-GB" sz="2000" dirty="0"/>
            </a:p>
            <a:p>
              <a:pPr algn="just">
                <a:buClr>
                  <a:schemeClr val="tx1"/>
                </a:buClr>
              </a:pPr>
              <a:r>
                <a:rPr lang="en-GB" sz="2000" dirty="0"/>
                <a:t>Then        is the deformation if </a:t>
              </a:r>
            </a:p>
            <a:p>
              <a:pPr algn="just">
                <a:buClr>
                  <a:schemeClr val="tx1"/>
                </a:buClr>
              </a:pPr>
              <a:endParaRPr lang="en-GB" sz="2000" dirty="0"/>
            </a:p>
            <a:p>
              <a:pPr algn="just">
                <a:buClr>
                  <a:schemeClr val="tx1"/>
                </a:buClr>
              </a:pPr>
              <a:r>
                <a:rPr lang="en-GB" sz="2000" dirty="0"/>
                <a:t>Or                        is the deformation.</a:t>
              </a:r>
            </a:p>
            <a:p>
              <a:pPr algn="just">
                <a:buClr>
                  <a:schemeClr val="tx1"/>
                </a:buClr>
              </a:pPr>
              <a:endParaRPr lang="en-GB" sz="2000" dirty="0"/>
            </a:p>
            <a:p>
              <a:pPr algn="just">
                <a:buClr>
                  <a:schemeClr val="tx1"/>
                </a:buClr>
              </a:pPr>
              <a:r>
                <a:rPr lang="en-GB" sz="2000" dirty="0"/>
                <a:t>The equation of motion is given as</a:t>
              </a:r>
            </a:p>
            <a:p>
              <a:pPr marL="0" indent="0" algn="just">
                <a:buClr>
                  <a:schemeClr val="tx1"/>
                </a:buClr>
                <a:buNone/>
              </a:pPr>
              <a:endParaRPr lang="en-GB" sz="2000" dirty="0"/>
            </a:p>
            <a:p>
              <a:pPr algn="just">
                <a:buClr>
                  <a:schemeClr val="tx1"/>
                </a:buClr>
              </a:pPr>
              <a:r>
                <a:rPr lang="en-GB" sz="2000" dirty="0"/>
                <a:t>Where      is stiffness of spring expressed in N/m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B6B5FF0-5E39-448F-A9E5-92273281B64E}"/>
                </a:ext>
              </a:extLst>
            </p:cNvPr>
            <p:cNvGrpSpPr/>
            <p:nvPr/>
          </p:nvGrpSpPr>
          <p:grpSpPr>
            <a:xfrm>
              <a:off x="1262211" y="1606696"/>
              <a:ext cx="7205514" cy="3769434"/>
              <a:chOff x="1262211" y="1606696"/>
              <a:chExt cx="7205514" cy="3769434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0DA0EA3C-E7B6-4682-9CD8-923ACB425F13}"/>
                  </a:ext>
                </a:extLst>
              </p:cNvPr>
              <p:cNvGrpSpPr/>
              <p:nvPr/>
            </p:nvGrpSpPr>
            <p:grpSpPr>
              <a:xfrm>
                <a:off x="4004236" y="1606696"/>
                <a:ext cx="3006311" cy="961034"/>
                <a:chOff x="2699792" y="2957239"/>
                <a:chExt cx="3006311" cy="961034"/>
              </a:xfrm>
            </p:grpSpPr>
            <p:pic>
              <p:nvPicPr>
                <p:cNvPr id="44" name="Picture 3">
                  <a:extLst>
                    <a:ext uri="{FF2B5EF4-FFF2-40B4-BE49-F238E27FC236}">
                      <a16:creationId xmlns:a16="http://schemas.microsoft.com/office/drawing/2014/main" id="{D9471B59-B96C-43AF-9D59-269492BAD10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>
                  <a:off x="2699792" y="2957239"/>
                  <a:ext cx="3006311" cy="9610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</p:pic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CA9D22E-EFEF-4CC8-9DAC-94AC7E8EEBA5}"/>
                    </a:ext>
                  </a:extLst>
                </p:cNvPr>
                <p:cNvSpPr txBox="1"/>
                <p:nvPr/>
              </p:nvSpPr>
              <p:spPr>
                <a:xfrm>
                  <a:off x="2940615" y="3330523"/>
                  <a:ext cx="184731" cy="29751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endParaRPr lang="en-GB" sz="2000" baseline="-25000" dirty="0"/>
                </a:p>
              </p:txBody>
            </p:sp>
            <p:graphicFrame>
              <p:nvGraphicFramePr>
                <p:cNvPr id="46" name="Object 45">
                  <a:extLst>
                    <a:ext uri="{FF2B5EF4-FFF2-40B4-BE49-F238E27FC236}">
                      <a16:creationId xmlns:a16="http://schemas.microsoft.com/office/drawing/2014/main" id="{DF9D6C8E-F198-4ECB-A9BC-B71DD0022EE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146456127"/>
                    </p:ext>
                  </p:extLst>
                </p:nvPr>
              </p:nvGraphicFramePr>
              <p:xfrm>
                <a:off x="2847689" y="3329769"/>
                <a:ext cx="370582" cy="31127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3" imgW="164957" imgH="190335" progId="Equation.3">
                        <p:embed/>
                      </p:oleObj>
                    </mc:Choice>
                    <mc:Fallback>
                      <p:oleObj name="Equation" r:id="rId3" imgW="164957" imgH="190335" progId="Equation.3">
                        <p:embed/>
                        <p:pic>
                          <p:nvPicPr>
                            <p:cNvPr id="21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47689" y="3329769"/>
                              <a:ext cx="370582" cy="311274"/>
                            </a:xfrm>
                            <a:prstGeom prst="rect">
                              <a:avLst/>
                            </a:prstGeom>
                            <a:solidFill>
                              <a:schemeClr val="bg1"/>
                            </a:solidFill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5C1E6187-8AFE-439A-9CC9-1A5E46AC77A1}"/>
                    </a:ext>
                  </a:extLst>
                </p:cNvPr>
                <p:cNvSpPr txBox="1"/>
                <p:nvPr/>
              </p:nvSpPr>
              <p:spPr>
                <a:xfrm>
                  <a:off x="4616061" y="3159359"/>
                  <a:ext cx="184731" cy="29751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endParaRPr lang="en-GB" sz="2000" baseline="-25000" dirty="0"/>
                </a:p>
              </p:txBody>
            </p:sp>
            <p:graphicFrame>
              <p:nvGraphicFramePr>
                <p:cNvPr id="48" name="Object 47">
                  <a:extLst>
                    <a:ext uri="{FF2B5EF4-FFF2-40B4-BE49-F238E27FC236}">
                      <a16:creationId xmlns:a16="http://schemas.microsoft.com/office/drawing/2014/main" id="{18A9CAA8-A56D-4EAF-8AE4-01303A59D2B1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548188" y="3113088"/>
                <a:ext cx="312737" cy="3127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5" imgW="139639" imgH="190417" progId="Equation.3">
                        <p:embed/>
                      </p:oleObj>
                    </mc:Choice>
                    <mc:Fallback>
                      <p:oleObj name="Equation" r:id="rId5" imgW="139639" imgH="190417" progId="Equation.3">
                        <p:embed/>
                        <p:pic>
                          <p:nvPicPr>
                            <p:cNvPr id="23" name="Object 2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48188" y="3113088"/>
                              <a:ext cx="312737" cy="312737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49" name="Object 48">
                <a:extLst>
                  <a:ext uri="{FF2B5EF4-FFF2-40B4-BE49-F238E27FC236}">
                    <a16:creationId xmlns:a16="http://schemas.microsoft.com/office/drawing/2014/main" id="{82E082B0-F7E8-4AE7-9582-F0D662369C7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48307491"/>
                  </p:ext>
                </p:extLst>
              </p:nvPr>
            </p:nvGraphicFramePr>
            <p:xfrm>
              <a:off x="4310575" y="2700844"/>
              <a:ext cx="1388725" cy="5040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380835" imgH="190417" progId="Equation.3">
                      <p:embed/>
                    </p:oleObj>
                  </mc:Choice>
                  <mc:Fallback>
                    <p:oleObj name="Equation" r:id="rId7" imgW="380835" imgH="190417" progId="Equation.3">
                      <p:embed/>
                      <p:pic>
                        <p:nvPicPr>
                          <p:cNvPr id="25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10575" y="2700844"/>
                            <a:ext cx="1388725" cy="50405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" name="Object 49">
                <a:extLst>
                  <a:ext uri="{FF2B5EF4-FFF2-40B4-BE49-F238E27FC236}">
                    <a16:creationId xmlns:a16="http://schemas.microsoft.com/office/drawing/2014/main" id="{3C9B3978-8D54-4662-AEF8-BD22E62F260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79701134"/>
                  </p:ext>
                </p:extLst>
              </p:nvPr>
            </p:nvGraphicFramePr>
            <p:xfrm>
              <a:off x="1496740" y="2671420"/>
              <a:ext cx="536202" cy="5334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39639" imgH="190417" progId="Equation.3">
                      <p:embed/>
                    </p:oleObj>
                  </mc:Choice>
                  <mc:Fallback>
                    <p:oleObj name="Equation" r:id="rId9" imgW="139639" imgH="190417" progId="Equation.3">
                      <p:embed/>
                      <p:pic>
                        <p:nvPicPr>
                          <p:cNvPr id="26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96740" y="2671420"/>
                            <a:ext cx="536202" cy="5334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" name="Object 6">
                <a:extLst>
                  <a:ext uri="{FF2B5EF4-FFF2-40B4-BE49-F238E27FC236}">
                    <a16:creationId xmlns:a16="http://schemas.microsoft.com/office/drawing/2014/main" id="{8A7DB465-DFE2-47AA-8AFF-575B93EFC4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0023633"/>
                  </p:ext>
                </p:extLst>
              </p:nvPr>
            </p:nvGraphicFramePr>
            <p:xfrm>
              <a:off x="1262211" y="3381376"/>
              <a:ext cx="1541462" cy="612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494870" imgH="203024" progId="Equation.3">
                      <p:embed/>
                    </p:oleObj>
                  </mc:Choice>
                  <mc:Fallback>
                    <p:oleObj name="Equation" r:id="rId11" imgW="494870" imgH="203024" progId="Equation.3">
                      <p:embed/>
                      <p:pic>
                        <p:nvPicPr>
                          <p:cNvPr id="94214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62211" y="3381376"/>
                            <a:ext cx="1541462" cy="6127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2" name="Object 7">
                <a:extLst>
                  <a:ext uri="{FF2B5EF4-FFF2-40B4-BE49-F238E27FC236}">
                    <a16:creationId xmlns:a16="http://schemas.microsoft.com/office/drawing/2014/main" id="{730D3205-54D2-4715-9482-718583B1872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5315046"/>
                  </p:ext>
                </p:extLst>
              </p:nvPr>
            </p:nvGraphicFramePr>
            <p:xfrm>
              <a:off x="5130800" y="4113196"/>
              <a:ext cx="2489200" cy="612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799753" imgH="203112" progId="Equation.3">
                      <p:embed/>
                    </p:oleObj>
                  </mc:Choice>
                  <mc:Fallback>
                    <p:oleObj name="Equation" r:id="rId13" imgW="799753" imgH="203112" progId="Equation.3">
                      <p:embed/>
                      <p:pic>
                        <p:nvPicPr>
                          <p:cNvPr id="94215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0800" y="4113196"/>
                            <a:ext cx="2489200" cy="6127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" name="Object 8">
                <a:extLst>
                  <a:ext uri="{FF2B5EF4-FFF2-40B4-BE49-F238E27FC236}">
                    <a16:creationId xmlns:a16="http://schemas.microsoft.com/office/drawing/2014/main" id="{CAD9FAEA-21D3-42A1-A4F8-68974EF3AB7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38842036"/>
                  </p:ext>
                </p:extLst>
              </p:nvPr>
            </p:nvGraphicFramePr>
            <p:xfrm>
              <a:off x="1626915" y="4875600"/>
              <a:ext cx="563482" cy="5005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14151" imgH="164885" progId="Equation.3">
                      <p:embed/>
                    </p:oleObj>
                  </mc:Choice>
                  <mc:Fallback>
                    <p:oleObj name="Equation" r:id="rId15" imgW="114151" imgH="164885" progId="Equation.3">
                      <p:embed/>
                      <p:pic>
                        <p:nvPicPr>
                          <p:cNvPr id="94216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26915" y="4875600"/>
                            <a:ext cx="563482" cy="50053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D249EDB6-2D7D-4A2A-8058-E5B2FA96A5AA}"/>
                  </a:ext>
                </a:extLst>
              </p:cNvPr>
              <p:cNvGrpSpPr/>
              <p:nvPr/>
            </p:nvGrpSpPr>
            <p:grpSpPr>
              <a:xfrm>
                <a:off x="6230424" y="2614046"/>
                <a:ext cx="2237301" cy="648072"/>
                <a:chOff x="6948264" y="2348880"/>
                <a:chExt cx="2237301" cy="648072"/>
              </a:xfrm>
            </p:grpSpPr>
            <p:pic>
              <p:nvPicPr>
                <p:cNvPr id="55" name="Picture 54" descr="500px-Mass-Spring-Damper.png">
                  <a:extLst>
                    <a:ext uri="{FF2B5EF4-FFF2-40B4-BE49-F238E27FC236}">
                      <a16:creationId xmlns:a16="http://schemas.microsoft.com/office/drawing/2014/main" id="{244487DE-7255-44F7-B198-1B7553A36D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print"/>
                <a:srcRect t="32641" r="53402" b="50000"/>
                <a:stretch>
                  <a:fillRect/>
                </a:stretch>
              </p:blipFill>
              <p:spPr>
                <a:xfrm>
                  <a:off x="6948264" y="2348880"/>
                  <a:ext cx="1734444" cy="648072"/>
                </a:xfrm>
                <a:prstGeom prst="rect">
                  <a:avLst/>
                </a:prstGeom>
              </p:spPr>
            </p:pic>
            <p:graphicFrame>
              <p:nvGraphicFramePr>
                <p:cNvPr id="56" name="Object 9">
                  <a:extLst>
                    <a:ext uri="{FF2B5EF4-FFF2-40B4-BE49-F238E27FC236}">
                      <a16:creationId xmlns:a16="http://schemas.microsoft.com/office/drawing/2014/main" id="{B80DCE77-34B3-40CA-87C9-DFFD97DE7A0D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8648990" y="2506751"/>
                <a:ext cx="536575" cy="39052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18" imgW="139700" imgH="139700" progId="Equation.3">
                        <p:embed/>
                      </p:oleObj>
                    </mc:Choice>
                    <mc:Fallback>
                      <p:oleObj name="Equation" r:id="rId18" imgW="139700" imgH="139700" progId="Equation.3">
                        <p:embed/>
                        <p:pic>
                          <p:nvPicPr>
                            <p:cNvPr id="94217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648990" y="2506751"/>
                              <a:ext cx="536575" cy="39052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</p:spTree>
    <p:extLst>
      <p:ext uri="{BB962C8B-B14F-4D97-AF65-F5344CB8AC3E}">
        <p14:creationId xmlns:p14="http://schemas.microsoft.com/office/powerpoint/2010/main" val="380437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6B30143-1337-4E60-A2C9-169463F9DA6B}"/>
              </a:ext>
            </a:extLst>
          </p:cNvPr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A Translational Mass</a:t>
            </a:r>
            <a:endParaRPr lang="en-GB" sz="2400" dirty="0">
              <a:cs typeface="Arial"/>
            </a:endParaRPr>
          </a:p>
        </p:txBody>
      </p:sp>
      <p:sp>
        <p:nvSpPr>
          <p:cNvPr id="12" name="Content Placeholder 42">
            <a:extLst>
              <a:ext uri="{FF2B5EF4-FFF2-40B4-BE49-F238E27FC236}">
                <a16:creationId xmlns:a16="http://schemas.microsoft.com/office/drawing/2014/main" id="{4E9D8384-E019-4875-8C2F-C5C0153A5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12" y="487841"/>
            <a:ext cx="8229600" cy="10442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dirty="0"/>
              <a:t>A translational Mass is an inertia element.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35405D-C49C-40D7-98CA-4EB132F35F5D}"/>
              </a:ext>
            </a:extLst>
          </p:cNvPr>
          <p:cNvSpPr txBox="1"/>
          <p:nvPr/>
        </p:nvSpPr>
        <p:spPr>
          <a:xfrm>
            <a:off x="337192" y="806426"/>
            <a:ext cx="8390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r>
              <a:rPr lang="en-GB" sz="2000" dirty="0"/>
              <a:t>If a force </a:t>
            </a:r>
            <a:r>
              <a:rPr lang="en-GB" sz="2000" i="1" dirty="0">
                <a:solidFill>
                  <a:srgbClr val="FF0000"/>
                </a:solidFill>
              </a:rPr>
              <a:t>F</a:t>
            </a:r>
            <a:r>
              <a:rPr lang="en-GB" sz="2000" dirty="0"/>
              <a:t> is applied to a mass and it is displaced to </a:t>
            </a:r>
            <a:r>
              <a:rPr lang="en-GB" sz="2000" i="1" dirty="0">
                <a:solidFill>
                  <a:srgbClr val="FF0000"/>
                </a:solidFill>
              </a:rPr>
              <a:t>x</a:t>
            </a:r>
            <a:r>
              <a:rPr lang="en-GB" sz="2000" dirty="0"/>
              <a:t> meters then the relation b/w force and displacements is given by Newton’s law.</a:t>
            </a:r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</p:txBody>
      </p:sp>
      <p:grpSp>
        <p:nvGrpSpPr>
          <p:cNvPr id="4" name="Group 3"/>
          <p:cNvGrpSpPr/>
          <p:nvPr/>
        </p:nvGrpSpPr>
        <p:grpSpPr>
          <a:xfrm>
            <a:off x="1577967" y="3080780"/>
            <a:ext cx="6613222" cy="1800200"/>
            <a:chOff x="2198679" y="3429000"/>
            <a:chExt cx="6613222" cy="180020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D44016D-62BC-43BE-973B-9BF3DF5EC536}"/>
                </a:ext>
              </a:extLst>
            </p:cNvPr>
            <p:cNvGrpSpPr/>
            <p:nvPr/>
          </p:nvGrpSpPr>
          <p:grpSpPr>
            <a:xfrm>
              <a:off x="5292080" y="3429000"/>
              <a:ext cx="3519821" cy="1800200"/>
              <a:chOff x="2801604" y="3501008"/>
              <a:chExt cx="3519821" cy="18002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40FB251-F520-427D-9427-8CC336BFFC9E}"/>
                  </a:ext>
                </a:extLst>
              </p:cNvPr>
              <p:cNvSpPr/>
              <p:nvPr/>
            </p:nvSpPr>
            <p:spPr>
              <a:xfrm>
                <a:off x="4067944" y="4149080"/>
                <a:ext cx="1368152" cy="1152128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200" b="1" dirty="0"/>
                  <a:t>M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86192646-D228-4F07-A268-C66B3EC64CCA}"/>
                  </a:ext>
                </a:extLst>
              </p:cNvPr>
              <p:cNvCxnSpPr>
                <a:endCxn id="24" idx="1"/>
              </p:cNvCxnSpPr>
              <p:nvPr/>
            </p:nvCxnSpPr>
            <p:spPr>
              <a:xfrm>
                <a:off x="3059832" y="4725144"/>
                <a:ext cx="1008112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Elbow Connector 18">
                <a:extLst>
                  <a:ext uri="{FF2B5EF4-FFF2-40B4-BE49-F238E27FC236}">
                    <a16:creationId xmlns:a16="http://schemas.microsoft.com/office/drawing/2014/main" id="{77ECA4D4-6195-4CF3-91DE-F83E5B60B902}"/>
                  </a:ext>
                </a:extLst>
              </p:cNvPr>
              <p:cNvCxnSpPr/>
              <p:nvPr/>
            </p:nvCxnSpPr>
            <p:spPr>
              <a:xfrm flipV="1">
                <a:off x="4644008" y="3501008"/>
                <a:ext cx="1296144" cy="648072"/>
              </a:xfrm>
              <a:prstGeom prst="bentConnector3">
                <a:avLst>
                  <a:gd name="adj1" fmla="val 50000"/>
                </a:avLst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7" name="Object 26">
                    <a:extLst>
                      <a:ext uri="{FF2B5EF4-FFF2-40B4-BE49-F238E27FC236}">
                        <a16:creationId xmlns:a16="http://schemas.microsoft.com/office/drawing/2014/main" id="{18F8977E-4B4D-43F6-A712-D5B05A3A8E38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801604" y="4291428"/>
                  <a:ext cx="720080" cy="40759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2" imgW="279158" imgH="177646" progId="Equation.3">
                          <p:embed/>
                        </p:oleObj>
                      </mc:Choice>
                      <mc:Fallback>
                        <p:oleObj name="Equation" r:id="rId2" imgW="279158" imgH="177646" progId="Equation.3">
                          <p:embed/>
                          <p:pic>
                            <p:nvPicPr>
                              <p:cNvPr id="23" name="Object 2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01604" y="4291428"/>
                                <a:ext cx="720080" cy="407591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7" name="Object 26">
                    <a:extLst>
                      <a:ext uri="{FF2B5EF4-FFF2-40B4-BE49-F238E27FC236}">
                        <a16:creationId xmlns:a16="http://schemas.microsoft.com/office/drawing/2014/main" xmlns="" id="{18F8977E-4B4D-43F6-A712-D5B05A3A8E38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2801604" y="4291428"/>
                  <a:ext cx="720080" cy="407591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15750" name="Equation" r:id="rId5" imgW="279158" imgH="177646" progId="Equation.3">
                          <p:embed/>
                        </p:oleObj>
                      </mc:Choice>
                      <mc:Fallback>
                        <p:oleObj name="Equation" r:id="rId5" imgW="279158" imgH="177646" progId="Equation.3">
                          <p:embed/>
                          <p:pic>
                            <p:nvPicPr>
                              <p:cNvPr id="23" name="Object 2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801604" y="4291428"/>
                                <a:ext cx="720080" cy="407591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28" name="Object 2">
                    <a:extLst>
                      <a:ext uri="{FF2B5EF4-FFF2-40B4-BE49-F238E27FC236}">
                        <a16:creationId xmlns:a16="http://schemas.microsoft.com/office/drawing/2014/main" id="{A6D34CA1-3400-4B87-8176-01E726CD416D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5700713" y="3644900"/>
                  <a:ext cx="620712" cy="40798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Equation" r:id="rId7" imgW="241091" imgH="177646" progId="Equation.3">
                          <p:embed/>
                        </p:oleObj>
                      </mc:Choice>
                      <mc:Fallback>
                        <p:oleObj name="Equation" r:id="rId7" imgW="241091" imgH="177646" progId="Equation.3">
                          <p:embed/>
                          <p:pic>
                            <p:nvPicPr>
                              <p:cNvPr id="137218" name="Object 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>
                                <a:extLst>
                                  <a:ext uri="{28A0092B-C50C-407E-A947-70E740481C1C}">
                                    <a14:useLocalDpi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700713" y="3644900"/>
                                <a:ext cx="620712" cy="407988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28" name="Object 2">
                    <a:extLst>
                      <a:ext uri="{FF2B5EF4-FFF2-40B4-BE49-F238E27FC236}">
                        <a16:creationId xmlns:a16="http://schemas.microsoft.com/office/drawing/2014/main" xmlns="" id="{A6D34CA1-3400-4B87-8176-01E726CD416D}"/>
                      </a:ext>
                    </a:extLst>
                  </p:cNvPr>
                  <p:cNvGraphicFramePr>
                    <a:graphicFrameLocks noChangeAspect="1"/>
                  </p:cNvGraphicFramePr>
                  <p:nvPr/>
                </p:nvGraphicFramePr>
                <p:xfrm>
                  <a:off x="5700713" y="3644900"/>
                  <a:ext cx="620712" cy="407988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spid="_x0000_s115751" name="Equation" r:id="rId9" imgW="241091" imgH="177646" progId="Equation.3">
                          <p:embed/>
                        </p:oleObj>
                      </mc:Choice>
                      <mc:Fallback>
                        <p:oleObj name="Equation" r:id="rId9" imgW="241091" imgH="177646" progId="Equation.3">
                          <p:embed/>
                          <p:pic>
                            <p:nvPicPr>
                              <p:cNvPr id="137218" name="Object 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700713" y="3644900"/>
                                <a:ext cx="620712" cy="407988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2198679" y="4360748"/>
                  <a:ext cx="1625958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latin typeface="+mn-lt"/>
                    </a:rPr>
                    <a:t>F </a:t>
                  </a:r>
                  <a14:m>
                    <m:oMath xmlns:m="http://schemas.openxmlformats.org/officeDocument/2006/math">
                      <m:r>
                        <a:rPr lang="en-GB" sz="3200" i="1" smtClean="0">
                          <a:latin typeface="Cambria Math"/>
                        </a:rPr>
                        <m:t>=</m:t>
                      </m:r>
                      <m:r>
                        <a:rPr lang="en-GB" sz="3200" b="0" i="1" smtClean="0">
                          <a:latin typeface="Cambria Math"/>
                        </a:rPr>
                        <m:t>𝑀</m:t>
                      </m:r>
                      <m:r>
                        <a:rPr lang="en-GB" sz="3200" b="0" i="1" smtClean="0">
                          <a:latin typeface="Cambria Math"/>
                        </a:rPr>
                        <m:t> </m:t>
                      </m:r>
                      <m:acc>
                        <m:accPr>
                          <m:chr m:val="̈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</m:oMath>
                  </a14:m>
                  <a:endParaRPr lang="en-GB" sz="32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8679" y="4360748"/>
                  <a:ext cx="1625958" cy="584775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9738" t="-13542" b="-3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7453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6B30143-1337-4E60-A2C9-169463F9DA6B}"/>
              </a:ext>
            </a:extLst>
          </p:cNvPr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A Translational Damper</a:t>
            </a:r>
            <a:endParaRPr lang="en-GB" sz="2400" dirty="0">
              <a:cs typeface="Arial"/>
            </a:endParaRPr>
          </a:p>
        </p:txBody>
      </p:sp>
      <p:sp>
        <p:nvSpPr>
          <p:cNvPr id="12" name="Content Placeholder 42">
            <a:extLst>
              <a:ext uri="{FF2B5EF4-FFF2-40B4-BE49-F238E27FC236}">
                <a16:creationId xmlns:a16="http://schemas.microsoft.com/office/drawing/2014/main" id="{4E9D8384-E019-4875-8C2F-C5C0153A5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912" y="487841"/>
            <a:ext cx="8229600" cy="10442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000" dirty="0"/>
              <a:t>The damper opposes the rate of change of motion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35405D-C49C-40D7-98CA-4EB132F35F5D}"/>
              </a:ext>
            </a:extLst>
          </p:cNvPr>
          <p:cNvSpPr txBox="1"/>
          <p:nvPr/>
        </p:nvSpPr>
        <p:spPr>
          <a:xfrm>
            <a:off x="337192" y="806426"/>
            <a:ext cx="839032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r>
              <a:rPr lang="en-GB" sz="2000" dirty="0"/>
              <a:t>All the materials exhibit the property of damping to some extent. </a:t>
            </a:r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  <a:p>
            <a:pPr marL="266700" indent="-266700" algn="just">
              <a:buFont typeface="Arial" pitchFamily="34" charset="0"/>
              <a:buChar char="•"/>
            </a:pPr>
            <a:endParaRPr lang="en-GB" sz="2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B57A6B-A9A3-4FED-8EC6-5B8D305ADE51}"/>
              </a:ext>
            </a:extLst>
          </p:cNvPr>
          <p:cNvSpPr/>
          <p:nvPr/>
        </p:nvSpPr>
        <p:spPr>
          <a:xfrm>
            <a:off x="337192" y="5083932"/>
            <a:ext cx="50547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63525" indent="-263525">
              <a:buFont typeface="Arial" pitchFamily="34" charset="0"/>
              <a:buChar char="•"/>
            </a:pPr>
            <a:r>
              <a:rPr lang="en-GB" sz="2000" dirty="0"/>
              <a:t>Where </a:t>
            </a:r>
            <a:r>
              <a:rPr lang="en-GB" sz="2000" i="1" dirty="0">
                <a:solidFill>
                  <a:srgbClr val="FF0000"/>
                </a:solidFill>
              </a:rPr>
              <a:t>C</a:t>
            </a:r>
            <a:r>
              <a:rPr lang="en-GB" sz="2000" dirty="0"/>
              <a:t> is damping coefficient (</a:t>
            </a:r>
            <a:r>
              <a:rPr lang="en-GB" sz="2000" i="1" dirty="0">
                <a:solidFill>
                  <a:srgbClr val="FF0000"/>
                </a:solidFill>
              </a:rPr>
              <a:t>N/ms</a:t>
            </a:r>
            <a:r>
              <a:rPr lang="en-GB" sz="2000" i="1" baseline="30000" dirty="0">
                <a:solidFill>
                  <a:srgbClr val="FF0000"/>
                </a:solidFill>
              </a:rPr>
              <a:t>-1</a:t>
            </a:r>
            <a:r>
              <a:rPr lang="en-GB" sz="2000" dirty="0"/>
              <a:t>).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39883" y="1979972"/>
            <a:ext cx="3312368" cy="2617331"/>
            <a:chOff x="639883" y="1979972"/>
            <a:chExt cx="3312368" cy="261733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7C2E4C5-A7CA-40EF-AA80-244D41FDFAB4}"/>
                </a:ext>
              </a:extLst>
            </p:cNvPr>
            <p:cNvGrpSpPr/>
            <p:nvPr/>
          </p:nvGrpSpPr>
          <p:grpSpPr>
            <a:xfrm>
              <a:off x="639883" y="1979972"/>
              <a:ext cx="3312368" cy="1521460"/>
              <a:chOff x="2411760" y="1268760"/>
              <a:chExt cx="3312368" cy="152146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D6056B9-EF79-4C7C-80FB-D9862FE2E6B2}"/>
                  </a:ext>
                </a:extLst>
              </p:cNvPr>
              <p:cNvGrpSpPr/>
              <p:nvPr/>
            </p:nvGrpSpPr>
            <p:grpSpPr>
              <a:xfrm>
                <a:off x="2411760" y="1268760"/>
                <a:ext cx="3312368" cy="1521460"/>
                <a:chOff x="2411760" y="1268760"/>
                <a:chExt cx="3312368" cy="1521460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1EF9F4E8-BCA4-4E60-B349-F4A7ED4F0AAA}"/>
                    </a:ext>
                  </a:extLst>
                </p:cNvPr>
                <p:cNvGrpSpPr/>
                <p:nvPr/>
              </p:nvGrpSpPr>
              <p:grpSpPr>
                <a:xfrm>
                  <a:off x="2411760" y="1268760"/>
                  <a:ext cx="3312368" cy="1512168"/>
                  <a:chOff x="3557588" y="2780928"/>
                  <a:chExt cx="2958628" cy="1162422"/>
                </a:xfrm>
              </p:grpSpPr>
              <p:pic>
                <p:nvPicPr>
                  <p:cNvPr id="20" name="Picture 2">
                    <a:extLst>
                      <a:ext uri="{FF2B5EF4-FFF2-40B4-BE49-F238E27FC236}">
                        <a16:creationId xmlns:a16="http://schemas.microsoft.com/office/drawing/2014/main" id="{27768BCF-5610-4912-9642-76CC2093625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 cstate="print"/>
                  <a:srcRect/>
                  <a:stretch>
                    <a:fillRect/>
                  </a:stretch>
                </p:blipFill>
                <p:spPr bwMode="auto">
                  <a:xfrm>
                    <a:off x="3557588" y="2914650"/>
                    <a:ext cx="2028825" cy="10287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21" name="Picture 3">
                    <a:extLst>
                      <a:ext uri="{FF2B5EF4-FFF2-40B4-BE49-F238E27FC236}">
                        <a16:creationId xmlns:a16="http://schemas.microsoft.com/office/drawing/2014/main" id="{08CA1E02-AE8B-44CF-A085-B3CC2838A6D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 cstate="print"/>
                  <a:srcRect/>
                  <a:stretch>
                    <a:fillRect/>
                  </a:stretch>
                </p:blipFill>
                <p:spPr bwMode="auto">
                  <a:xfrm>
                    <a:off x="5525616" y="3365334"/>
                    <a:ext cx="990600" cy="23812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  <p:pic>
                <p:nvPicPr>
                  <p:cNvPr id="30" name="Picture 4">
                    <a:extLst>
                      <a:ext uri="{FF2B5EF4-FFF2-40B4-BE49-F238E27FC236}">
                        <a16:creationId xmlns:a16="http://schemas.microsoft.com/office/drawing/2014/main" id="{2DFF00DA-B708-4D6E-84AB-347AD3C7550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/>
                  <a:srcRect/>
                  <a:stretch>
                    <a:fillRect/>
                  </a:stretch>
                </p:blipFill>
                <p:spPr bwMode="auto">
                  <a:xfrm>
                    <a:off x="5508104" y="2780928"/>
                    <a:ext cx="323850" cy="3048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</p:pic>
            </p:grp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1373FFF-B4D6-4E05-A380-231EBC47B299}"/>
                    </a:ext>
                  </a:extLst>
                </p:cNvPr>
                <p:cNvSpPr txBox="1"/>
                <p:nvPr/>
              </p:nvSpPr>
              <p:spPr>
                <a:xfrm>
                  <a:off x="3563888" y="2420888"/>
                  <a:ext cx="288032" cy="36933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endParaRPr lang="en-GB" dirty="0">
                    <a:latin typeface="+mn-lt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DEF02C-22C1-4BCA-963D-A3BAD6E5637D}"/>
                  </a:ext>
                </a:extLst>
              </p:cNvPr>
              <p:cNvSpPr txBox="1"/>
              <p:nvPr/>
            </p:nvSpPr>
            <p:spPr>
              <a:xfrm>
                <a:off x="4848910" y="1321447"/>
                <a:ext cx="288032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>
                  <a:latin typeface="+mn-lt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577967" y="4012528"/>
                  <a:ext cx="146245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latin typeface="+mn-lt"/>
                    </a:rPr>
                    <a:t>F </a:t>
                  </a:r>
                  <a14:m>
                    <m:oMath xmlns:m="http://schemas.openxmlformats.org/officeDocument/2006/math">
                      <m:r>
                        <a:rPr lang="en-GB" sz="3200" i="1" smtClean="0">
                          <a:latin typeface="Cambria Math"/>
                        </a:rPr>
                        <m:t>=</m:t>
                      </m:r>
                      <m:r>
                        <a:rPr lang="en-GB" sz="3200" b="0" i="1" smtClean="0">
                          <a:latin typeface="Cambria Math"/>
                        </a:rPr>
                        <m:t>𝐶</m:t>
                      </m:r>
                      <m:acc>
                        <m:accPr>
                          <m:chr m:val="̇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3200" b="0" i="1" smtClean="0">
                              <a:latin typeface="Cambria Math"/>
                            </a:rPr>
                            <m:t>𝑥</m:t>
                          </m:r>
                        </m:e>
                      </m:acc>
                    </m:oMath>
                  </a14:m>
                  <a:endParaRPr lang="en-GB" sz="32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7967" y="4012528"/>
                  <a:ext cx="1462452" cy="58477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10833" t="-13542" b="-3333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/>
          <p:cNvGrpSpPr/>
          <p:nvPr/>
        </p:nvGrpSpPr>
        <p:grpSpPr>
          <a:xfrm>
            <a:off x="5225778" y="1940828"/>
            <a:ext cx="2808312" cy="3143104"/>
            <a:chOff x="5225778" y="1940828"/>
            <a:chExt cx="2808312" cy="314310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56F3B9D-5A1B-4C3B-8726-B7C1046D146D}"/>
                </a:ext>
              </a:extLst>
            </p:cNvPr>
            <p:cNvGrpSpPr/>
            <p:nvPr/>
          </p:nvGrpSpPr>
          <p:grpSpPr>
            <a:xfrm>
              <a:off x="5225778" y="1940828"/>
              <a:ext cx="2808312" cy="1521460"/>
              <a:chOff x="5436096" y="1052736"/>
              <a:chExt cx="2808312" cy="1521460"/>
            </a:xfrm>
          </p:grpSpPr>
          <p:pic>
            <p:nvPicPr>
              <p:cNvPr id="32" name="Picture 2">
                <a:extLst>
                  <a:ext uri="{FF2B5EF4-FFF2-40B4-BE49-F238E27FC236}">
                    <a16:creationId xmlns:a16="http://schemas.microsoft.com/office/drawing/2014/main" id="{9FFB39C7-EF6E-42FF-9EDE-CD506942F3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l="22191"/>
              <a:stretch>
                <a:fillRect/>
              </a:stretch>
            </p:blipFill>
            <p:spPr bwMode="auto">
              <a:xfrm>
                <a:off x="5436096" y="1226692"/>
                <a:ext cx="1767340" cy="1338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3" name="Picture 3">
                <a:extLst>
                  <a:ext uri="{FF2B5EF4-FFF2-40B4-BE49-F238E27FC236}">
                    <a16:creationId xmlns:a16="http://schemas.microsoft.com/office/drawing/2014/main" id="{7DE52F26-D337-46C2-A72A-BF82696E48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7135370" y="1812976"/>
                <a:ext cx="1109038" cy="3097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34" name="Picture 4">
                <a:extLst>
                  <a:ext uri="{FF2B5EF4-FFF2-40B4-BE49-F238E27FC236}">
                    <a16:creationId xmlns:a16="http://schemas.microsoft.com/office/drawing/2014/main" id="{B8D39FE7-1483-4F70-8B29-F8AC82B496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7115764" y="1052736"/>
                <a:ext cx="362570" cy="39650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B39D870-A8FE-4BCF-AE81-6733B83A5363}"/>
                  </a:ext>
                </a:extLst>
              </p:cNvPr>
              <p:cNvSpPr txBox="1"/>
              <p:nvPr/>
            </p:nvSpPr>
            <p:spPr>
              <a:xfrm>
                <a:off x="6084168" y="2204864"/>
                <a:ext cx="288032" cy="3693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GB" dirty="0"/>
              </a:p>
            </p:txBody>
          </p:sp>
          <p:pic>
            <p:nvPicPr>
              <p:cNvPr id="36" name="Picture 6">
                <a:extLst>
                  <a:ext uri="{FF2B5EF4-FFF2-40B4-BE49-F238E27FC236}">
                    <a16:creationId xmlns:a16="http://schemas.microsoft.com/office/drawing/2014/main" id="{4ADE6927-C2C7-4308-BEE2-EFFB843866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 l="53239" r="20142" b="74801"/>
              <a:stretch>
                <a:fillRect/>
              </a:stretch>
            </p:blipFill>
            <p:spPr bwMode="auto">
              <a:xfrm>
                <a:off x="5868144" y="1268760"/>
                <a:ext cx="360040" cy="216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68E1F53-C521-4444-BCA0-71ED02280F90}"/>
                  </a:ext>
                </a:extLst>
              </p:cNvPr>
              <p:cNvCxnSpPr/>
              <p:nvPr/>
            </p:nvCxnSpPr>
            <p:spPr>
              <a:xfrm flipV="1">
                <a:off x="5436096" y="1567914"/>
                <a:ext cx="0" cy="41101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0F167EE4-5110-45F7-BEB5-ABEB00AD8B99}"/>
                  </a:ext>
                </a:extLst>
              </p:cNvPr>
              <p:cNvCxnSpPr/>
              <p:nvPr/>
            </p:nvCxnSpPr>
            <p:spPr>
              <a:xfrm>
                <a:off x="5436096" y="1556792"/>
                <a:ext cx="432048" cy="0"/>
              </a:xfrm>
              <a:prstGeom prst="straightConnector1">
                <a:avLst/>
              </a:prstGeom>
              <a:ln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5376012" y="4006714"/>
                  <a:ext cx="2587183" cy="10772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3200" dirty="0">
                      <a:latin typeface="+mn-lt"/>
                    </a:rPr>
                    <a:t>F </a:t>
                  </a:r>
                  <a14:m>
                    <m:oMath xmlns:m="http://schemas.openxmlformats.org/officeDocument/2006/math">
                      <m:r>
                        <a:rPr lang="en-GB" sz="3200" i="1" smtClean="0">
                          <a:latin typeface="Cambria Math"/>
                        </a:rPr>
                        <m:t>=</m:t>
                      </m:r>
                      <m:r>
                        <a:rPr lang="en-GB" sz="3200" b="0" i="1" smtClean="0">
                          <a:latin typeface="Cambria Math"/>
                        </a:rPr>
                        <m:t>𝐶</m:t>
                      </m:r>
                      <m:r>
                        <a:rPr lang="en-GB" sz="3200" b="0" i="1" smtClean="0">
                          <a:latin typeface="Cambria Math"/>
                        </a:rPr>
                        <m:t>(</m:t>
                      </m:r>
                      <m:acc>
                        <m:accPr>
                          <m:chr m:val="̇"/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a14:m>
                  <a:r>
                    <a:rPr lang="en-GB" sz="3200" dirty="0">
                      <a:latin typeface="+mn-lt"/>
                    </a:rPr>
                    <a:t>- </a:t>
                  </a:r>
                  <a14:m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3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a14:m>
                  <a:r>
                    <a:rPr lang="en-GB" sz="3200" dirty="0"/>
                    <a:t>)</a:t>
                  </a:r>
                </a:p>
                <a:p>
                  <a:endParaRPr lang="en-GB" sz="3200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6012" y="4006714"/>
                  <a:ext cx="2587183" cy="1077218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6132" t="-7345" r="-51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1840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22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925" y="519960"/>
            <a:ext cx="8229600" cy="525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Consider the following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466" y="3270094"/>
            <a:ext cx="51218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Using a Free Body diagram</a:t>
            </a:r>
          </a:p>
        </p:txBody>
      </p:sp>
      <p:grpSp>
        <p:nvGrpSpPr>
          <p:cNvPr id="76" name="Group 75"/>
          <p:cNvGrpSpPr/>
          <p:nvPr/>
        </p:nvGrpSpPr>
        <p:grpSpPr>
          <a:xfrm>
            <a:off x="2081485" y="1136202"/>
            <a:ext cx="5029200" cy="2043088"/>
            <a:chOff x="1090639" y="1628800"/>
            <a:chExt cx="5029200" cy="2043088"/>
          </a:xfrm>
        </p:grpSpPr>
        <p:sp>
          <p:nvSpPr>
            <p:cNvPr id="37" name="Freeform 36"/>
            <p:cNvSpPr/>
            <p:nvPr/>
          </p:nvSpPr>
          <p:spPr>
            <a:xfrm>
              <a:off x="4487594" y="2854570"/>
              <a:ext cx="487680" cy="647113"/>
            </a:xfrm>
            <a:custGeom>
              <a:avLst/>
              <a:gdLst>
                <a:gd name="connsiteX0" fmla="*/ 478301 w 487680"/>
                <a:gd name="connsiteY0" fmla="*/ 647113 h 647113"/>
                <a:gd name="connsiteX1" fmla="*/ 407963 w 487680"/>
                <a:gd name="connsiteY1" fmla="*/ 70338 h 647113"/>
                <a:gd name="connsiteX2" fmla="*/ 0 w 487680"/>
                <a:gd name="connsiteY2" fmla="*/ 225082 h 647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7680" h="647113">
                  <a:moveTo>
                    <a:pt x="478301" y="647113"/>
                  </a:moveTo>
                  <a:cubicBezTo>
                    <a:pt x="482990" y="393895"/>
                    <a:pt x="487680" y="140677"/>
                    <a:pt x="407963" y="70338"/>
                  </a:cubicBezTo>
                  <a:cubicBezTo>
                    <a:pt x="328246" y="0"/>
                    <a:pt x="164123" y="112541"/>
                    <a:pt x="0" y="225082"/>
                  </a:cubicBezTo>
                </a:path>
              </a:pathLst>
            </a:cu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1090639" y="1628800"/>
              <a:ext cx="5029200" cy="1524000"/>
              <a:chOff x="1066800" y="1600200"/>
              <a:chExt cx="5029200" cy="1524000"/>
            </a:xfrm>
          </p:grpSpPr>
          <p:cxnSp>
            <p:nvCxnSpPr>
              <p:cNvPr id="54" name="Straight Connector 53"/>
              <p:cNvCxnSpPr/>
              <p:nvPr/>
            </p:nvCxnSpPr>
            <p:spPr>
              <a:xfrm>
                <a:off x="1066800" y="1600200"/>
                <a:ext cx="0" cy="152400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1066800" y="3124200"/>
                <a:ext cx="5029200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1066800" y="2438400"/>
                <a:ext cx="762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 flipV="1">
                <a:off x="1828800" y="2209800"/>
                <a:ext cx="228600" cy="2286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2057400" y="22098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V="1">
                <a:off x="2057400" y="2209800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2286000" y="22098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V="1">
                <a:off x="2286000" y="2209800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2514600" y="2209800"/>
                <a:ext cx="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flipV="1">
                <a:off x="2514600" y="2209800"/>
                <a:ext cx="228600" cy="3048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2743200" y="2209800"/>
                <a:ext cx="0" cy="2286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>
                <a:off x="2743200" y="2438400"/>
                <a:ext cx="3810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/>
              <p:nvPr/>
            </p:nvCxnSpPr>
            <p:spPr>
              <a:xfrm>
                <a:off x="4419600" y="2438400"/>
                <a:ext cx="8382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Rectangle 66"/>
              <p:cNvSpPr/>
              <p:nvPr/>
            </p:nvSpPr>
            <p:spPr>
              <a:xfrm>
                <a:off x="3124200" y="2105890"/>
                <a:ext cx="12954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Straight Arrow Connector 67"/>
              <p:cNvCxnSpPr/>
              <p:nvPr/>
            </p:nvCxnSpPr>
            <p:spPr>
              <a:xfrm>
                <a:off x="2667000" y="2819400"/>
                <a:ext cx="457200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69" name="Object 68"/>
              <p:cNvGraphicFramePr>
                <a:graphicFrameLocks noChangeAspect="1"/>
              </p:cNvGraphicFramePr>
              <p:nvPr/>
            </p:nvGraphicFramePr>
            <p:xfrm>
              <a:off x="2267744" y="1844824"/>
              <a:ext cx="360040" cy="3705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14151" imgH="164885" progId="Equation.3">
                      <p:embed/>
                    </p:oleObj>
                  </mc:Choice>
                  <mc:Fallback>
                    <p:oleObj name="Equation" r:id="rId2" imgW="114151" imgH="164885" progId="Equation.3">
                      <p:embed/>
                      <p:pic>
                        <p:nvPicPr>
                          <p:cNvPr id="69" name="Object 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67744" y="1844824"/>
                            <a:ext cx="360040" cy="3705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0" name="Object 4"/>
              <p:cNvGraphicFramePr>
                <a:graphicFrameLocks noChangeAspect="1"/>
              </p:cNvGraphicFramePr>
              <p:nvPr/>
            </p:nvGraphicFramePr>
            <p:xfrm>
              <a:off x="2228850" y="2665413"/>
              <a:ext cx="438150" cy="314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9700" imgH="139700" progId="Equation.3">
                      <p:embed/>
                    </p:oleObj>
                  </mc:Choice>
                  <mc:Fallback>
                    <p:oleObj name="Equation" r:id="rId4" imgW="139700" imgH="139700" progId="Equation.3">
                      <p:embed/>
                      <p:pic>
                        <p:nvPicPr>
                          <p:cNvPr id="70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28850" y="2665413"/>
                            <a:ext cx="438150" cy="3143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" name="Object 5"/>
              <p:cNvGraphicFramePr>
                <a:graphicFrameLocks noChangeAspect="1"/>
              </p:cNvGraphicFramePr>
              <p:nvPr/>
            </p:nvGraphicFramePr>
            <p:xfrm>
              <a:off x="5278870" y="2305483"/>
              <a:ext cx="358775" cy="2857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14102" imgH="126780" progId="Equation.3">
                      <p:embed/>
                    </p:oleObj>
                  </mc:Choice>
                  <mc:Fallback>
                    <p:oleObj name="Equation" r:id="rId6" imgW="114102" imgH="126780" progId="Equation.3">
                      <p:embed/>
                      <p:pic>
                        <p:nvPicPr>
                          <p:cNvPr id="71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78870" y="2305483"/>
                            <a:ext cx="358775" cy="2857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2" name="Object 9"/>
              <p:cNvGraphicFramePr>
                <a:graphicFrameLocks noChangeAspect="1"/>
              </p:cNvGraphicFramePr>
              <p:nvPr/>
            </p:nvGraphicFramePr>
            <p:xfrm>
              <a:off x="3533445" y="2434743"/>
              <a:ext cx="686814" cy="3863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77646" imgH="139579" progId="Equation.3">
                      <p:embed/>
                    </p:oleObj>
                  </mc:Choice>
                  <mc:Fallback>
                    <p:oleObj name="Equation" r:id="rId8" imgW="177646" imgH="139579" progId="Equation.3">
                      <p:embed/>
                      <p:pic>
                        <p:nvPicPr>
                          <p:cNvPr id="72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33445" y="2434743"/>
                            <a:ext cx="686814" cy="3863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73" name="Object 5"/>
            <p:cNvGraphicFramePr>
              <a:graphicFrameLocks noChangeAspect="1"/>
            </p:cNvGraphicFramePr>
            <p:nvPr/>
          </p:nvGraphicFramePr>
          <p:xfrm>
            <a:off x="4964113" y="3328988"/>
            <a:ext cx="439737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39" imgH="152334" progId="Equation.3">
                    <p:embed/>
                  </p:oleObj>
                </mc:Choice>
                <mc:Fallback>
                  <p:oleObj name="Equation" r:id="rId10" imgW="139639" imgH="152334" progId="Equation.3">
                    <p:embed/>
                    <p:pic>
                      <p:nvPicPr>
                        <p:cNvPr id="7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4113" y="3328988"/>
                          <a:ext cx="439737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5" name="Group 74"/>
          <p:cNvGrpSpPr/>
          <p:nvPr/>
        </p:nvGrpSpPr>
        <p:grpSpPr>
          <a:xfrm>
            <a:off x="2927009" y="4225252"/>
            <a:ext cx="3325670" cy="1018902"/>
            <a:chOff x="2915816" y="4725144"/>
            <a:chExt cx="3325670" cy="1018902"/>
          </a:xfrm>
        </p:grpSpPr>
        <p:grpSp>
          <p:nvGrpSpPr>
            <p:cNvPr id="33" name="Group 31"/>
            <p:cNvGrpSpPr/>
            <p:nvPr/>
          </p:nvGrpSpPr>
          <p:grpSpPr>
            <a:xfrm>
              <a:off x="3858865" y="4753446"/>
              <a:ext cx="1295400" cy="990600"/>
              <a:chOff x="3124200" y="2133600"/>
              <a:chExt cx="1295400" cy="990600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3124200" y="2133600"/>
                <a:ext cx="1295400" cy="9906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3512125" y="2327565"/>
                <a:ext cx="53572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M</a:t>
                </a:r>
              </a:p>
            </p:txBody>
          </p:sp>
        </p:grpSp>
        <p:cxnSp>
          <p:nvCxnSpPr>
            <p:cNvPr id="39" name="Straight Arrow Connector 38"/>
            <p:cNvCxnSpPr/>
            <p:nvPr/>
          </p:nvCxnSpPr>
          <p:spPr>
            <a:xfrm>
              <a:off x="3396374" y="5545534"/>
              <a:ext cx="457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>
              <a:off x="3399107" y="4969470"/>
              <a:ext cx="457200" cy="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7" name="Object 6"/>
            <p:cNvGraphicFramePr>
              <a:graphicFrameLocks noChangeAspect="1"/>
            </p:cNvGraphicFramePr>
            <p:nvPr/>
          </p:nvGraphicFramePr>
          <p:xfrm>
            <a:off x="2994769" y="5387663"/>
            <a:ext cx="438150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700" imgH="139700" progId="Equation.3">
                    <p:embed/>
                  </p:oleObj>
                </mc:Choice>
                <mc:Fallback>
                  <p:oleObj name="Equation" r:id="rId12" imgW="139700" imgH="139700" progId="Equation.3">
                    <p:embed/>
                    <p:pic>
                      <p:nvPicPr>
                        <p:cNvPr id="4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4769" y="5387663"/>
                          <a:ext cx="438150" cy="314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7"/>
            <p:cNvGraphicFramePr>
              <a:graphicFrameLocks noChangeAspect="1"/>
            </p:cNvGraphicFramePr>
            <p:nvPr/>
          </p:nvGraphicFramePr>
          <p:xfrm>
            <a:off x="2915816" y="4725144"/>
            <a:ext cx="519112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4957" imgH="190335" progId="Equation.3">
                    <p:embed/>
                  </p:oleObj>
                </mc:Choice>
                <mc:Fallback>
                  <p:oleObj name="Equation" r:id="rId14" imgW="164957" imgH="190335" progId="Equation.3">
                    <p:embed/>
                    <p:pic>
                      <p:nvPicPr>
                        <p:cNvPr id="4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816" y="4725144"/>
                          <a:ext cx="519112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9" name="Straight Arrow Connector 48"/>
            <p:cNvCxnSpPr/>
            <p:nvPr/>
          </p:nvCxnSpPr>
          <p:spPr>
            <a:xfrm>
              <a:off x="5155009" y="5472934"/>
              <a:ext cx="457200" cy="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0" name="Object 8"/>
            <p:cNvGraphicFramePr>
              <a:graphicFrameLocks noChangeAspect="1"/>
            </p:cNvGraphicFramePr>
            <p:nvPr/>
          </p:nvGraphicFramePr>
          <p:xfrm>
            <a:off x="5563623" y="5221172"/>
            <a:ext cx="677863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15713" imgH="190335" progId="Equation.3">
                    <p:embed/>
                  </p:oleObj>
                </mc:Choice>
                <mc:Fallback>
                  <p:oleObj name="Equation" r:id="rId16" imgW="215713" imgH="190335" progId="Equation.3">
                    <p:embed/>
                    <p:pic>
                      <p:nvPicPr>
                        <p:cNvPr id="5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3623" y="5221172"/>
                          <a:ext cx="677863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4" name="Straight Arrow Connector 73"/>
            <p:cNvCxnSpPr/>
            <p:nvPr/>
          </p:nvCxnSpPr>
          <p:spPr>
            <a:xfrm>
              <a:off x="5148064" y="5013176"/>
              <a:ext cx="457200" cy="0"/>
            </a:xfrm>
            <a:prstGeom prst="straightConnector1">
              <a:avLst/>
            </a:prstGeom>
            <a:ln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0539" name="Object 11"/>
            <p:cNvGraphicFramePr>
              <a:graphicFrameLocks noChangeAspect="1"/>
            </p:cNvGraphicFramePr>
            <p:nvPr/>
          </p:nvGraphicFramePr>
          <p:xfrm>
            <a:off x="5571113" y="4752110"/>
            <a:ext cx="557212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77646" imgH="190335" progId="Equation.3">
                    <p:embed/>
                  </p:oleObj>
                </mc:Choice>
                <mc:Fallback>
                  <p:oleObj name="Equation" r:id="rId18" imgW="177646" imgH="190335" progId="Equation.3">
                    <p:embed/>
                    <p:pic>
                      <p:nvPicPr>
                        <p:cNvPr id="15053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1113" y="4752110"/>
                          <a:ext cx="557212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05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446791"/>
              </p:ext>
            </p:extLst>
          </p:nvPr>
        </p:nvGraphicFramePr>
        <p:xfrm>
          <a:off x="3125520" y="5725968"/>
          <a:ext cx="27844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77900" imgH="190500" progId="Equation.3">
                  <p:embed/>
                </p:oleObj>
              </mc:Choice>
              <mc:Fallback>
                <p:oleObj name="Equation" r:id="rId20" imgW="977900" imgH="190500" progId="Equation.3">
                  <p:embed/>
                  <p:pic>
                    <p:nvPicPr>
                      <p:cNvPr id="15054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520" y="5725968"/>
                        <a:ext cx="2784475" cy="517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itle 1">
            <a:extLst>
              <a:ext uri="{FF2B5EF4-FFF2-40B4-BE49-F238E27FC236}">
                <a16:creationId xmlns:a16="http://schemas.microsoft.com/office/drawing/2014/main" id="{5403F83A-F42A-450B-B8F4-682F8FBE4FB4}"/>
              </a:ext>
            </a:extLst>
          </p:cNvPr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Example</a:t>
            </a:r>
            <a:endParaRPr lang="en-GB"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27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925" y="519960"/>
            <a:ext cx="8229600" cy="525047"/>
          </a:xfrm>
        </p:spPr>
        <p:txBody>
          <a:bodyPr>
            <a:normAutofit/>
          </a:bodyPr>
          <a:lstStyle/>
          <a:p>
            <a:r>
              <a:rPr lang="en-US" sz="2000" dirty="0"/>
              <a:t>Differential equation of the system is: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100" y="1775998"/>
            <a:ext cx="86835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Taking the Laplace Transform of both sides and ignoring Initial conditions (set to zero) we get: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5403F83A-F42A-450B-B8F4-682F8FBE4FB4}"/>
              </a:ext>
            </a:extLst>
          </p:cNvPr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Example</a:t>
            </a:r>
            <a:endParaRPr lang="en-GB" sz="2400" dirty="0">
              <a:cs typeface="Arial"/>
            </a:endParaRPr>
          </a:p>
        </p:txBody>
      </p:sp>
      <p:graphicFrame>
        <p:nvGraphicFramePr>
          <p:cNvPr id="42" name="Object 2">
            <a:extLst>
              <a:ext uri="{FF2B5EF4-FFF2-40B4-BE49-F238E27FC236}">
                <a16:creationId xmlns:a16="http://schemas.microsoft.com/office/drawing/2014/main" id="{634D7B0C-EC53-4FBE-98F4-B2BB22CFF5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834556"/>
              </p:ext>
            </p:extLst>
          </p:nvPr>
        </p:nvGraphicFramePr>
        <p:xfrm>
          <a:off x="1273600" y="3005832"/>
          <a:ext cx="6568528" cy="54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" imgH="190500" progId="Equation.3">
                  <p:embed/>
                </p:oleObj>
              </mc:Choice>
              <mc:Fallback>
                <p:oleObj name="Equation" r:id="rId2" imgW="1828800" imgH="190500" progId="Equation.3">
                  <p:embed/>
                  <p:pic>
                    <p:nvPicPr>
                      <p:cNvPr id="1576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3600" y="3005832"/>
                        <a:ext cx="6568528" cy="542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4">
            <a:extLst>
              <a:ext uri="{FF2B5EF4-FFF2-40B4-BE49-F238E27FC236}">
                <a16:creationId xmlns:a16="http://schemas.microsoft.com/office/drawing/2014/main" id="{09359B6D-6F5D-4921-8C07-DE0476E407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624590"/>
              </p:ext>
            </p:extLst>
          </p:nvPr>
        </p:nvGraphicFramePr>
        <p:xfrm>
          <a:off x="2552827" y="4230688"/>
          <a:ext cx="346710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400" imgH="368300" progId="Equation.3">
                  <p:embed/>
                </p:oleObj>
              </mc:Choice>
              <mc:Fallback>
                <p:oleObj name="Equation" r:id="rId4" imgW="1168400" imgH="368300" progId="Equation.3">
                  <p:embed/>
                  <p:pic>
                    <p:nvPicPr>
                      <p:cNvPr id="157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827" y="4230688"/>
                        <a:ext cx="3467100" cy="9636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96862" y="1041347"/>
                <a:ext cx="352474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200" dirty="0">
                    <a:latin typeface="+mn-lt"/>
                  </a:rPr>
                  <a:t>F </a:t>
                </a:r>
                <a14:m>
                  <m:oMath xmlns:m="http://schemas.openxmlformats.org/officeDocument/2006/math">
                    <m:r>
                      <a:rPr lang="en-GB" sz="3200" i="1" smtClean="0">
                        <a:latin typeface="Cambria Math"/>
                      </a:rPr>
                      <m:t>=</m:t>
                    </m:r>
                    <m:r>
                      <a:rPr lang="en-GB" sz="3200" b="0" i="1" smtClean="0">
                        <a:latin typeface="Cambria Math"/>
                      </a:rPr>
                      <m:t>𝑀</m:t>
                    </m:r>
                    <m:r>
                      <a:rPr lang="en-GB" sz="3200" b="0" i="1" smtClean="0">
                        <a:latin typeface="Cambria Math"/>
                      </a:rPr>
                      <m:t> </m:t>
                    </m:r>
                    <m:acc>
                      <m:accPr>
                        <m:chr m:val="̈"/>
                        <m:ctrlPr>
                          <a:rPr lang="en-GB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3200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sz="3200" dirty="0">
                    <a:latin typeface="+mn-lt"/>
                  </a:rPr>
                  <a:t> + C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GB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3200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GB" sz="3200" dirty="0">
                    <a:latin typeface="+mn-lt"/>
                  </a:rPr>
                  <a:t> + k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latin typeface="Cambria Math"/>
                      </a:rPr>
                      <m:t>𝑥</m:t>
                    </m:r>
                  </m:oMath>
                </a14:m>
                <a:endParaRPr lang="en-GB" sz="3200" dirty="0">
                  <a:latin typeface="+mn-lt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862" y="1041347"/>
                <a:ext cx="3524747" cy="584775"/>
              </a:xfrm>
              <a:prstGeom prst="rect">
                <a:avLst/>
              </a:prstGeom>
              <a:blipFill rotWithShape="1">
                <a:blip r:embed="rId7"/>
                <a:stretch>
                  <a:fillRect l="-4498" t="-13542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690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0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925" y="519960"/>
            <a:ext cx="8229600" cy="525047"/>
          </a:xfrm>
        </p:spPr>
        <p:txBody>
          <a:bodyPr>
            <a:normAutofit/>
          </a:bodyPr>
          <a:lstStyle/>
          <a:p>
            <a:r>
              <a:rPr lang="en-US" sz="2000" dirty="0"/>
              <a:t>An example of how transfer functions are applied to dc motors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5403F83A-F42A-450B-B8F4-682F8FBE4FB4}"/>
              </a:ext>
            </a:extLst>
          </p:cNvPr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Application</a:t>
            </a:r>
            <a:endParaRPr lang="en-GB" sz="2400" dirty="0">
              <a:cs typeface="Arial"/>
            </a:endParaRPr>
          </a:p>
        </p:txBody>
      </p:sp>
      <p:pic>
        <p:nvPicPr>
          <p:cNvPr id="130050" name="Picture 2" descr="Image result for transfer function of dc mo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77" y="2168929"/>
            <a:ext cx="7810348" cy="268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66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Poles and Zeros</a:t>
            </a:r>
            <a:endParaRPr lang="en-GB" sz="2400" dirty="0"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5BA01F4-3AFA-445B-A724-EC19CD0848E3}"/>
              </a:ext>
            </a:extLst>
          </p:cNvPr>
          <p:cNvSpPr txBox="1"/>
          <p:nvPr/>
        </p:nvSpPr>
        <p:spPr>
          <a:xfrm>
            <a:off x="452755" y="2090039"/>
            <a:ext cx="8014970" cy="1257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15" dirty="0">
                <a:latin typeface="+mn-lt"/>
                <a:cs typeface="Calibri"/>
              </a:rPr>
              <a:t>Roots </a:t>
            </a:r>
            <a:r>
              <a:rPr sz="2000" spc="-5" dirty="0">
                <a:latin typeface="+mn-lt"/>
                <a:cs typeface="Calibri"/>
              </a:rPr>
              <a:t>of </a:t>
            </a:r>
            <a:r>
              <a:rPr sz="2000" spc="-10" dirty="0">
                <a:latin typeface="+mn-lt"/>
                <a:cs typeface="Calibri"/>
              </a:rPr>
              <a:t>denominator </a:t>
            </a:r>
            <a:r>
              <a:rPr sz="2000" spc="-5" dirty="0">
                <a:latin typeface="+mn-lt"/>
                <a:cs typeface="Calibri"/>
              </a:rPr>
              <a:t>polynomial of </a:t>
            </a:r>
            <a:r>
              <a:rPr sz="2000" dirty="0">
                <a:latin typeface="+mn-lt"/>
                <a:cs typeface="Calibri"/>
              </a:rPr>
              <a:t>a </a:t>
            </a:r>
            <a:r>
              <a:rPr sz="2000" spc="-25" dirty="0">
                <a:latin typeface="+mn-lt"/>
                <a:cs typeface="Calibri"/>
              </a:rPr>
              <a:t>transfer  </a:t>
            </a:r>
            <a:r>
              <a:rPr sz="2000" spc="-5" dirty="0">
                <a:latin typeface="+mn-lt"/>
                <a:cs typeface="Calibri"/>
              </a:rPr>
              <a:t>function </a:t>
            </a:r>
            <a:r>
              <a:rPr sz="2000" spc="-15" dirty="0">
                <a:latin typeface="+mn-lt"/>
                <a:cs typeface="Calibri"/>
              </a:rPr>
              <a:t>are </a:t>
            </a:r>
            <a:r>
              <a:rPr sz="2000" spc="-10" dirty="0">
                <a:latin typeface="+mn-lt"/>
                <a:cs typeface="Calibri"/>
              </a:rPr>
              <a:t>called</a:t>
            </a:r>
            <a:r>
              <a:rPr sz="2000" spc="0" dirty="0">
                <a:latin typeface="+mn-lt"/>
                <a:cs typeface="Calibri"/>
              </a:rPr>
              <a:t> </a:t>
            </a:r>
            <a:r>
              <a:rPr sz="2000" spc="-80" dirty="0">
                <a:latin typeface="+mn-lt"/>
                <a:cs typeface="Calibri"/>
              </a:rPr>
              <a:t>‘</a:t>
            </a:r>
            <a:r>
              <a:rPr sz="2000" spc="-80" dirty="0">
                <a:solidFill>
                  <a:srgbClr val="C00000"/>
                </a:solidFill>
                <a:latin typeface="+mn-lt"/>
                <a:cs typeface="Calibri"/>
              </a:rPr>
              <a:t>poles</a:t>
            </a:r>
            <a:r>
              <a:rPr sz="2000" spc="-80" dirty="0">
                <a:latin typeface="+mn-lt"/>
                <a:cs typeface="Calibri"/>
              </a:rPr>
              <a:t>’</a:t>
            </a:r>
            <a:r>
              <a:rPr lang="en-GB" sz="2000" spc="-80" dirty="0">
                <a:latin typeface="+mn-lt"/>
                <a:cs typeface="Calibri"/>
              </a:rPr>
              <a:t>.</a:t>
            </a:r>
            <a:endParaRPr lang="en-GB" sz="2000" spc="-80" dirty="0">
              <a:latin typeface="+mn-lt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+mn-lt"/>
                <a:cs typeface="Calibri"/>
              </a:rPr>
              <a:t>And the </a:t>
            </a:r>
            <a:r>
              <a:rPr sz="2000" spc="-15" dirty="0">
                <a:latin typeface="+mn-lt"/>
                <a:cs typeface="Calibri"/>
              </a:rPr>
              <a:t>roots </a:t>
            </a:r>
            <a:r>
              <a:rPr sz="2000" spc="-5" dirty="0">
                <a:latin typeface="+mn-lt"/>
                <a:cs typeface="Calibri"/>
              </a:rPr>
              <a:t>of </a:t>
            </a:r>
            <a:r>
              <a:rPr sz="2000" spc="-20" dirty="0">
                <a:latin typeface="+mn-lt"/>
                <a:cs typeface="Calibri"/>
              </a:rPr>
              <a:t>numerator </a:t>
            </a:r>
            <a:r>
              <a:rPr sz="2000" spc="-5" dirty="0">
                <a:latin typeface="+mn-lt"/>
                <a:cs typeface="Calibri"/>
              </a:rPr>
              <a:t>polynomials of </a:t>
            </a:r>
            <a:r>
              <a:rPr sz="2000" dirty="0">
                <a:latin typeface="+mn-lt"/>
                <a:cs typeface="Calibri"/>
              </a:rPr>
              <a:t>a  </a:t>
            </a:r>
            <a:r>
              <a:rPr sz="2000" spc="-25" dirty="0">
                <a:latin typeface="+mn-lt"/>
                <a:cs typeface="Calibri"/>
              </a:rPr>
              <a:t>transfer </a:t>
            </a:r>
            <a:r>
              <a:rPr sz="2000" spc="-5" dirty="0">
                <a:latin typeface="+mn-lt"/>
                <a:cs typeface="Calibri"/>
              </a:rPr>
              <a:t>function </a:t>
            </a:r>
            <a:r>
              <a:rPr sz="2000" spc="-15" dirty="0">
                <a:latin typeface="+mn-lt"/>
                <a:cs typeface="Calibri"/>
              </a:rPr>
              <a:t>are </a:t>
            </a:r>
            <a:r>
              <a:rPr sz="2000" spc="-10" dirty="0">
                <a:latin typeface="+mn-lt"/>
                <a:cs typeface="Calibri"/>
              </a:rPr>
              <a:t>called</a:t>
            </a:r>
            <a:r>
              <a:rPr sz="2000" spc="15" dirty="0">
                <a:latin typeface="+mn-lt"/>
                <a:cs typeface="Calibri"/>
              </a:rPr>
              <a:t> </a:t>
            </a:r>
            <a:r>
              <a:rPr sz="2000" spc="-95" dirty="0">
                <a:latin typeface="+mn-lt"/>
                <a:cs typeface="Calibri"/>
              </a:rPr>
              <a:t>‘</a:t>
            </a:r>
            <a:r>
              <a:rPr sz="2000" spc="-95" dirty="0">
                <a:solidFill>
                  <a:srgbClr val="C00000"/>
                </a:solidFill>
                <a:latin typeface="+mn-lt"/>
                <a:cs typeface="Calibri"/>
              </a:rPr>
              <a:t>zeros</a:t>
            </a:r>
            <a:r>
              <a:rPr sz="2000" spc="-95" dirty="0">
                <a:latin typeface="+mn-lt"/>
                <a:cs typeface="Calibri"/>
              </a:rPr>
              <a:t>’.</a:t>
            </a:r>
            <a:endParaRPr sz="2000" dirty="0">
              <a:latin typeface="+mn-lt"/>
              <a:cs typeface="Calibri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3EEA244-1464-47AD-A29F-F4460B054D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037474"/>
              </p:ext>
            </p:extLst>
          </p:nvPr>
        </p:nvGraphicFramePr>
        <p:xfrm>
          <a:off x="2552827" y="829120"/>
          <a:ext cx="346710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68400" imgH="368300" progId="Equation.3">
                  <p:embed/>
                </p:oleObj>
              </mc:Choice>
              <mc:Fallback>
                <p:oleObj name="Equation" r:id="rId3" imgW="1168400" imgH="368300" progId="Equation.3">
                  <p:embed/>
                  <p:pic>
                    <p:nvPicPr>
                      <p:cNvPr id="43" name="Object 4">
                        <a:extLst>
                          <a:ext uri="{FF2B5EF4-FFF2-40B4-BE49-F238E27FC236}">
                            <a16:creationId xmlns:a16="http://schemas.microsoft.com/office/drawing/2014/main" id="{09359B6D-6F5D-4921-8C07-DE0476E407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2827" y="829120"/>
                        <a:ext cx="3467100" cy="9636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bject 3">
            <a:extLst>
              <a:ext uri="{FF2B5EF4-FFF2-40B4-BE49-F238E27FC236}">
                <a16:creationId xmlns:a16="http://schemas.microsoft.com/office/drawing/2014/main" id="{31E336BF-02E8-4973-97B0-0224AE45730B}"/>
              </a:ext>
            </a:extLst>
          </p:cNvPr>
          <p:cNvSpPr txBox="1"/>
          <p:nvPr/>
        </p:nvSpPr>
        <p:spPr>
          <a:xfrm>
            <a:off x="452755" y="3592957"/>
            <a:ext cx="8073390" cy="13471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15" dirty="0">
                <a:latin typeface="+mn-lt"/>
                <a:cs typeface="Calibri"/>
              </a:rPr>
              <a:t>Poles </a:t>
            </a:r>
            <a:r>
              <a:rPr sz="2000" dirty="0">
                <a:latin typeface="+mn-lt"/>
                <a:cs typeface="Calibri"/>
              </a:rPr>
              <a:t>of the </a:t>
            </a:r>
            <a:r>
              <a:rPr sz="2000" spc="-30" dirty="0">
                <a:latin typeface="+mn-lt"/>
                <a:cs typeface="Calibri"/>
              </a:rPr>
              <a:t>system </a:t>
            </a:r>
            <a:r>
              <a:rPr sz="2000" spc="-15" dirty="0">
                <a:latin typeface="+mn-lt"/>
                <a:cs typeface="Calibri"/>
              </a:rPr>
              <a:t>are </a:t>
            </a:r>
            <a:r>
              <a:rPr sz="2000" spc="-20" dirty="0">
                <a:latin typeface="+mn-lt"/>
                <a:cs typeface="Calibri"/>
              </a:rPr>
              <a:t>represented </a:t>
            </a:r>
            <a:r>
              <a:rPr sz="2000" spc="-10" dirty="0">
                <a:latin typeface="+mn-lt"/>
                <a:cs typeface="Calibri"/>
              </a:rPr>
              <a:t>by </a:t>
            </a:r>
            <a:r>
              <a:rPr sz="2000" spc="25" dirty="0">
                <a:latin typeface="+mn-lt"/>
                <a:cs typeface="Calibri"/>
              </a:rPr>
              <a:t>‘</a:t>
            </a:r>
            <a:r>
              <a:rPr sz="2000" spc="25" dirty="0">
                <a:solidFill>
                  <a:srgbClr val="C00000"/>
                </a:solidFill>
                <a:latin typeface="+mn-lt"/>
                <a:cs typeface="Calibri"/>
              </a:rPr>
              <a:t>x</a:t>
            </a:r>
            <a:r>
              <a:rPr sz="2000" spc="25" dirty="0">
                <a:latin typeface="+mn-lt"/>
                <a:cs typeface="Calibri"/>
              </a:rPr>
              <a:t>’ </a:t>
            </a:r>
            <a:r>
              <a:rPr sz="2000" spc="-5" dirty="0">
                <a:latin typeface="+mn-lt"/>
                <a:cs typeface="Calibri"/>
              </a:rPr>
              <a:t>and  </a:t>
            </a:r>
            <a:r>
              <a:rPr sz="2000" spc="-30" dirty="0">
                <a:latin typeface="+mn-lt"/>
                <a:cs typeface="Calibri"/>
              </a:rPr>
              <a:t>zeros </a:t>
            </a:r>
            <a:r>
              <a:rPr sz="2000" dirty="0">
                <a:latin typeface="+mn-lt"/>
                <a:cs typeface="Calibri"/>
              </a:rPr>
              <a:t>of the </a:t>
            </a:r>
            <a:r>
              <a:rPr sz="2000" spc="-30" dirty="0">
                <a:latin typeface="+mn-lt"/>
                <a:cs typeface="Calibri"/>
              </a:rPr>
              <a:t>system </a:t>
            </a:r>
            <a:r>
              <a:rPr sz="2000" spc="-15" dirty="0">
                <a:latin typeface="+mn-lt"/>
                <a:cs typeface="Calibri"/>
              </a:rPr>
              <a:t>are represented </a:t>
            </a:r>
            <a:r>
              <a:rPr sz="2000" spc="-10" dirty="0">
                <a:latin typeface="+mn-lt"/>
                <a:cs typeface="Calibri"/>
              </a:rPr>
              <a:t>by</a:t>
            </a:r>
            <a:r>
              <a:rPr sz="2000" spc="0" dirty="0">
                <a:latin typeface="+mn-lt"/>
                <a:cs typeface="Calibri"/>
              </a:rPr>
              <a:t> </a:t>
            </a:r>
            <a:r>
              <a:rPr sz="2000" spc="-100" dirty="0">
                <a:latin typeface="+mn-lt"/>
                <a:cs typeface="Calibri"/>
              </a:rPr>
              <a:t>‘</a:t>
            </a:r>
            <a:r>
              <a:rPr sz="2000" spc="-100" dirty="0">
                <a:solidFill>
                  <a:srgbClr val="C00000"/>
                </a:solidFill>
                <a:latin typeface="+mn-lt"/>
                <a:cs typeface="Calibri"/>
              </a:rPr>
              <a:t>o</a:t>
            </a:r>
            <a:r>
              <a:rPr sz="2000" spc="-100" dirty="0">
                <a:latin typeface="+mn-lt"/>
                <a:cs typeface="Calibri"/>
              </a:rPr>
              <a:t>’.</a:t>
            </a:r>
            <a:endParaRPr sz="2000" dirty="0">
              <a:latin typeface="+mn-lt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  <a:tab pos="1724025" algn="l"/>
                <a:tab pos="2824480" algn="l"/>
                <a:tab pos="3269615" algn="l"/>
                <a:tab pos="4563745" algn="l"/>
                <a:tab pos="5676265" algn="l"/>
                <a:tab pos="6216015" algn="l"/>
                <a:tab pos="7720330" algn="l"/>
              </a:tabLst>
            </a:pPr>
            <a:r>
              <a:rPr sz="2000" spc="-35" dirty="0">
                <a:latin typeface="+mn-lt"/>
                <a:cs typeface="Calibri"/>
              </a:rPr>
              <a:t>S</a:t>
            </a:r>
            <a:r>
              <a:rPr sz="2000" spc="-25" dirty="0">
                <a:latin typeface="+mn-lt"/>
                <a:cs typeface="Calibri"/>
              </a:rPr>
              <a:t>y</a:t>
            </a:r>
            <a:r>
              <a:rPr sz="2000" spc="-45" dirty="0">
                <a:latin typeface="+mn-lt"/>
                <a:cs typeface="Calibri"/>
              </a:rPr>
              <a:t>st</a:t>
            </a:r>
            <a:r>
              <a:rPr sz="2000" dirty="0">
                <a:latin typeface="+mn-lt"/>
                <a:cs typeface="Calibri"/>
              </a:rPr>
              <a:t>em	</a:t>
            </a:r>
            <a:r>
              <a:rPr sz="2000" spc="-5" dirty="0">
                <a:latin typeface="+mn-lt"/>
                <a:cs typeface="Calibri"/>
              </a:rPr>
              <a:t>o</a:t>
            </a:r>
            <a:r>
              <a:rPr sz="2000" spc="-50" dirty="0">
                <a:latin typeface="+mn-lt"/>
                <a:cs typeface="Calibri"/>
              </a:rPr>
              <a:t>r</a:t>
            </a:r>
            <a:r>
              <a:rPr sz="2000" spc="-5" dirty="0">
                <a:latin typeface="+mn-lt"/>
                <a:cs typeface="Calibri"/>
              </a:rPr>
              <a:t>de</a:t>
            </a:r>
            <a:r>
              <a:rPr sz="2000" dirty="0">
                <a:latin typeface="+mn-lt"/>
                <a:cs typeface="Calibri"/>
              </a:rPr>
              <a:t>r	</a:t>
            </a:r>
            <a:r>
              <a:rPr sz="2000" spc="-5" dirty="0">
                <a:latin typeface="+mn-lt"/>
                <a:cs typeface="Calibri"/>
              </a:rPr>
              <a:t>i</a:t>
            </a:r>
            <a:r>
              <a:rPr sz="2000" dirty="0">
                <a:latin typeface="+mn-lt"/>
                <a:cs typeface="Calibri"/>
              </a:rPr>
              <a:t>s	</a:t>
            </a:r>
            <a:r>
              <a:rPr sz="2000" spc="-5" dirty="0">
                <a:latin typeface="+mn-lt"/>
                <a:cs typeface="Calibri"/>
              </a:rPr>
              <a:t>al</a:t>
            </a:r>
            <a:r>
              <a:rPr sz="2000" spc="-40" dirty="0">
                <a:latin typeface="+mn-lt"/>
                <a:cs typeface="Calibri"/>
              </a:rPr>
              <a:t>w</a:t>
            </a:r>
            <a:r>
              <a:rPr sz="2000" spc="-60" dirty="0">
                <a:latin typeface="+mn-lt"/>
                <a:cs typeface="Calibri"/>
              </a:rPr>
              <a:t>a</a:t>
            </a:r>
            <a:r>
              <a:rPr sz="2000" spc="-25" dirty="0">
                <a:latin typeface="+mn-lt"/>
                <a:cs typeface="Calibri"/>
              </a:rPr>
              <a:t>y</a:t>
            </a:r>
            <a:r>
              <a:rPr sz="2000" dirty="0">
                <a:latin typeface="+mn-lt"/>
                <a:cs typeface="Calibri"/>
              </a:rPr>
              <a:t>s	equal	</a:t>
            </a:r>
            <a:r>
              <a:rPr sz="2000" spc="-45" dirty="0">
                <a:latin typeface="+mn-lt"/>
                <a:cs typeface="Calibri"/>
              </a:rPr>
              <a:t>t</a:t>
            </a:r>
            <a:r>
              <a:rPr sz="2000" dirty="0">
                <a:latin typeface="+mn-lt"/>
                <a:cs typeface="Calibri"/>
              </a:rPr>
              <a:t>o	</a:t>
            </a:r>
            <a:r>
              <a:rPr sz="2000" spc="-5" dirty="0">
                <a:latin typeface="+mn-lt"/>
                <a:cs typeface="Calibri"/>
              </a:rPr>
              <a:t>numbe</a:t>
            </a:r>
            <a:r>
              <a:rPr sz="2000" dirty="0">
                <a:latin typeface="+mn-lt"/>
                <a:cs typeface="Calibri"/>
              </a:rPr>
              <a:t>r	of  </a:t>
            </a:r>
            <a:r>
              <a:rPr sz="2000" spc="-5" dirty="0">
                <a:latin typeface="+mn-lt"/>
                <a:cs typeface="Calibri"/>
              </a:rPr>
              <a:t>poles </a:t>
            </a:r>
            <a:r>
              <a:rPr sz="2000" dirty="0">
                <a:latin typeface="+mn-lt"/>
                <a:cs typeface="Calibri"/>
              </a:rPr>
              <a:t>of the </a:t>
            </a:r>
            <a:r>
              <a:rPr sz="2000" spc="-25" dirty="0">
                <a:latin typeface="+mn-lt"/>
                <a:cs typeface="Calibri"/>
              </a:rPr>
              <a:t>transfer </a:t>
            </a:r>
            <a:r>
              <a:rPr sz="2000" spc="-5" dirty="0">
                <a:latin typeface="+mn-lt"/>
                <a:cs typeface="Calibri"/>
              </a:rPr>
              <a:t>function.</a:t>
            </a:r>
            <a:endParaRPr sz="2000" dirty="0">
              <a:latin typeface="+mn-lt"/>
              <a:cs typeface="Calibri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E82B5BA5-0280-41FE-9867-FCC44F9357E7}"/>
              </a:ext>
            </a:extLst>
          </p:cNvPr>
          <p:cNvSpPr txBox="1"/>
          <p:nvPr/>
        </p:nvSpPr>
        <p:spPr>
          <a:xfrm>
            <a:off x="396875" y="5106415"/>
            <a:ext cx="807085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000" spc="-20" dirty="0">
                <a:latin typeface="+mn-lt"/>
                <a:cs typeface="Calibri"/>
              </a:rPr>
              <a:t>Poles </a:t>
            </a:r>
            <a:r>
              <a:rPr lang="en-GB" sz="2000" spc="-10" dirty="0">
                <a:latin typeface="+mn-lt"/>
                <a:cs typeface="Calibri"/>
              </a:rPr>
              <a:t>are</a:t>
            </a:r>
            <a:r>
              <a:rPr sz="2000" spc="-10" dirty="0">
                <a:latin typeface="+mn-lt"/>
                <a:cs typeface="Calibri"/>
              </a:rPr>
              <a:t> </a:t>
            </a:r>
            <a:r>
              <a:rPr sz="2000" spc="-5" dirty="0">
                <a:latin typeface="+mn-lt"/>
                <a:cs typeface="Calibri"/>
              </a:rPr>
              <a:t>also </a:t>
            </a:r>
            <a:r>
              <a:rPr sz="2000" spc="-10" dirty="0">
                <a:latin typeface="+mn-lt"/>
                <a:cs typeface="Calibri"/>
              </a:rPr>
              <a:t>defined </a:t>
            </a:r>
            <a:r>
              <a:rPr sz="2000" spc="-5" dirty="0">
                <a:latin typeface="+mn-lt"/>
                <a:cs typeface="Calibri"/>
              </a:rPr>
              <a:t>as “it </a:t>
            </a:r>
            <a:r>
              <a:rPr sz="2000" spc="-10" dirty="0">
                <a:latin typeface="+mn-lt"/>
                <a:cs typeface="Calibri"/>
              </a:rPr>
              <a:t>is </a:t>
            </a:r>
            <a:r>
              <a:rPr sz="2000" spc="-5" dirty="0">
                <a:latin typeface="+mn-lt"/>
                <a:cs typeface="Calibri"/>
              </a:rPr>
              <a:t>the </a:t>
            </a:r>
            <a:r>
              <a:rPr sz="2000" spc="-10" dirty="0">
                <a:latin typeface="+mn-lt"/>
                <a:cs typeface="Calibri"/>
              </a:rPr>
              <a:t>frequency </a:t>
            </a:r>
            <a:r>
              <a:rPr sz="2000" spc="-15" dirty="0">
                <a:latin typeface="+mn-lt"/>
                <a:cs typeface="Calibri"/>
              </a:rPr>
              <a:t>at </a:t>
            </a:r>
            <a:r>
              <a:rPr sz="2000" spc="-5" dirty="0">
                <a:latin typeface="+mn-lt"/>
                <a:cs typeface="Calibri"/>
              </a:rPr>
              <a:t>which</a:t>
            </a:r>
            <a:r>
              <a:rPr lang="en-GB" sz="2000" spc="-5" dirty="0">
                <a:latin typeface="+mn-lt"/>
                <a:cs typeface="Calibri"/>
              </a:rPr>
              <a:t> the </a:t>
            </a:r>
            <a:r>
              <a:rPr sz="2000" spc="-30" dirty="0">
                <a:latin typeface="+mn-lt"/>
                <a:cs typeface="Calibri"/>
              </a:rPr>
              <a:t>system </a:t>
            </a:r>
            <a:r>
              <a:rPr sz="2000" spc="-10" dirty="0">
                <a:latin typeface="+mn-lt"/>
                <a:cs typeface="Calibri"/>
              </a:rPr>
              <a:t>becomes </a:t>
            </a:r>
            <a:r>
              <a:rPr sz="2000" spc="-35" dirty="0">
                <a:latin typeface="+mn-lt"/>
                <a:cs typeface="Calibri"/>
              </a:rPr>
              <a:t>infinite”. </a:t>
            </a:r>
            <a:r>
              <a:rPr sz="2000" spc="-10" dirty="0">
                <a:latin typeface="+mn-lt"/>
                <a:cs typeface="Calibri"/>
              </a:rPr>
              <a:t>Hence </a:t>
            </a:r>
            <a:r>
              <a:rPr sz="2000" spc="-5" dirty="0">
                <a:latin typeface="+mn-lt"/>
                <a:cs typeface="Calibri"/>
              </a:rPr>
              <a:t>the </a:t>
            </a:r>
            <a:r>
              <a:rPr sz="2000" spc="-10" dirty="0">
                <a:latin typeface="+mn-lt"/>
                <a:cs typeface="Calibri"/>
              </a:rPr>
              <a:t>name pole  where </a:t>
            </a:r>
            <a:r>
              <a:rPr lang="en-GB" sz="2000" spc="-10" dirty="0">
                <a:latin typeface="+mn-lt"/>
                <a:cs typeface="Calibri"/>
              </a:rPr>
              <a:t>the </a:t>
            </a:r>
            <a:r>
              <a:rPr sz="2000" spc="-10" dirty="0">
                <a:latin typeface="+mn-lt"/>
                <a:cs typeface="Calibri"/>
              </a:rPr>
              <a:t>field is</a:t>
            </a:r>
            <a:r>
              <a:rPr sz="2000" spc="15" dirty="0">
                <a:latin typeface="+mn-lt"/>
                <a:cs typeface="Calibri"/>
              </a:rPr>
              <a:t> </a:t>
            </a:r>
            <a:r>
              <a:rPr sz="2000" spc="-15" dirty="0">
                <a:latin typeface="+mn-lt"/>
                <a:cs typeface="Calibri"/>
              </a:rPr>
              <a:t>infinite.</a:t>
            </a:r>
            <a:endParaRPr sz="2000" dirty="0">
              <a:latin typeface="+mn-lt"/>
              <a:cs typeface="Calibri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9247503-F45A-4F54-B010-D12FAF75AEF6}"/>
              </a:ext>
            </a:extLst>
          </p:cNvPr>
          <p:cNvSpPr txBox="1"/>
          <p:nvPr/>
        </p:nvSpPr>
        <p:spPr>
          <a:xfrm>
            <a:off x="396875" y="5903112"/>
            <a:ext cx="806958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latin typeface="+mn-lt"/>
                <a:cs typeface="Calibri"/>
              </a:rPr>
              <a:t>And </a:t>
            </a:r>
            <a:r>
              <a:rPr sz="2000" spc="-35" dirty="0">
                <a:latin typeface="+mn-lt"/>
                <a:cs typeface="Calibri"/>
              </a:rPr>
              <a:t>zero</a:t>
            </a:r>
            <a:r>
              <a:rPr lang="en-GB" sz="2000" spc="-35" dirty="0">
                <a:latin typeface="+mn-lt"/>
                <a:cs typeface="Calibri"/>
              </a:rPr>
              <a:t>s</a:t>
            </a:r>
            <a:r>
              <a:rPr sz="2000" spc="-35" dirty="0">
                <a:latin typeface="+mn-lt"/>
                <a:cs typeface="Calibri"/>
              </a:rPr>
              <a:t> </a:t>
            </a:r>
            <a:r>
              <a:rPr lang="en-GB" sz="2000" spc="-10" dirty="0">
                <a:latin typeface="+mn-lt"/>
                <a:cs typeface="Calibri"/>
              </a:rPr>
              <a:t>are</a:t>
            </a:r>
            <a:r>
              <a:rPr sz="2000" spc="-10" dirty="0">
                <a:latin typeface="+mn-lt"/>
                <a:cs typeface="Calibri"/>
              </a:rPr>
              <a:t> </a:t>
            </a:r>
            <a:r>
              <a:rPr sz="2000" spc="-5" dirty="0">
                <a:latin typeface="+mn-lt"/>
                <a:cs typeface="Calibri"/>
              </a:rPr>
              <a:t>the </a:t>
            </a:r>
            <a:r>
              <a:rPr sz="2000" spc="-10" dirty="0">
                <a:latin typeface="+mn-lt"/>
                <a:cs typeface="Calibri"/>
              </a:rPr>
              <a:t>frequency </a:t>
            </a:r>
            <a:r>
              <a:rPr sz="2000" spc="-15" dirty="0">
                <a:latin typeface="+mn-lt"/>
                <a:cs typeface="Calibri"/>
              </a:rPr>
              <a:t>at </a:t>
            </a:r>
            <a:r>
              <a:rPr sz="2000" spc="-5" dirty="0">
                <a:latin typeface="+mn-lt"/>
                <a:cs typeface="Calibri"/>
              </a:rPr>
              <a:t>which </a:t>
            </a:r>
            <a:r>
              <a:rPr sz="2000" spc="-25" dirty="0">
                <a:latin typeface="+mn-lt"/>
                <a:cs typeface="Calibri"/>
              </a:rPr>
              <a:t>system </a:t>
            </a:r>
            <a:r>
              <a:rPr sz="2000" spc="-10" dirty="0">
                <a:latin typeface="+mn-lt"/>
                <a:cs typeface="Calibri"/>
              </a:rPr>
              <a:t>becomes  </a:t>
            </a:r>
            <a:r>
              <a:rPr sz="2000" spc="-5" dirty="0">
                <a:latin typeface="+mn-lt"/>
                <a:cs typeface="Calibri"/>
              </a:rPr>
              <a:t>0.</a:t>
            </a:r>
            <a:endParaRPr sz="2000" dirty="0">
              <a:latin typeface="+mn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089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15962"/>
          </a:xfrm>
        </p:spPr>
        <p:txBody>
          <a:bodyPr/>
          <a:lstStyle/>
          <a:p>
            <a:pPr marL="306070" lvl="0"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rPr>
              <a:t>Example</a:t>
            </a:r>
            <a:endParaRPr lang="en-GB" sz="2400" dirty="0">
              <a:solidFill>
                <a:prstClr val="black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graphicFrame>
        <p:nvGraphicFramePr>
          <p:cNvPr id="157700" name="Object 4"/>
          <p:cNvGraphicFramePr>
            <a:graphicFrameLocks noChangeAspect="1"/>
          </p:cNvGraphicFramePr>
          <p:nvPr/>
        </p:nvGraphicFramePr>
        <p:xfrm>
          <a:off x="2627784" y="908720"/>
          <a:ext cx="346710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400" imgH="368300" progId="Equation.3">
                  <p:embed/>
                </p:oleObj>
              </mc:Choice>
              <mc:Fallback>
                <p:oleObj name="Equation" r:id="rId2" imgW="1168400" imgH="368300" progId="Equation.3">
                  <p:embed/>
                  <p:pic>
                    <p:nvPicPr>
                      <p:cNvPr id="1577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908720"/>
                        <a:ext cx="3467100" cy="9636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14273" y="2025900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63525" indent="-263525">
              <a:buFont typeface="Arial" pitchFamily="34" charset="0"/>
              <a:buChar char="•"/>
            </a:pPr>
            <a:r>
              <a:rPr lang="en-US" sz="2800" dirty="0"/>
              <a:t>if</a:t>
            </a:r>
          </a:p>
        </p:txBody>
      </p:sp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852970"/>
              </p:ext>
            </p:extLst>
          </p:nvPr>
        </p:nvGraphicFramePr>
        <p:xfrm>
          <a:off x="488950" y="2584792"/>
          <a:ext cx="3205162" cy="172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79280" imgH="660240" progId="Equation.3">
                  <p:embed/>
                </p:oleObj>
              </mc:Choice>
              <mc:Fallback>
                <p:oleObj name="Equation" r:id="rId4" imgW="1079280" imgH="660240" progId="Equation.3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2584792"/>
                        <a:ext cx="3205162" cy="172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4398138"/>
              </p:ext>
            </p:extLst>
          </p:nvPr>
        </p:nvGraphicFramePr>
        <p:xfrm>
          <a:off x="488950" y="5162550"/>
          <a:ext cx="3279775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840" imgH="419040" progId="Equation.3">
                  <p:embed/>
                </p:oleObj>
              </mc:Choice>
              <mc:Fallback>
                <p:oleObj name="Equation" r:id="rId6" imgW="1104840" imgH="419040" progId="Equation.3">
                  <p:embed/>
                  <p:pic>
                    <p:nvPicPr>
                      <p:cNvPr id="1587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" y="5162550"/>
                        <a:ext cx="3279775" cy="1095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8727" name="Picture 7"/>
          <p:cNvPicPr>
            <a:picLocks noChangeAspect="1" noChangeArrowheads="1"/>
          </p:cNvPicPr>
          <p:nvPr/>
        </p:nvPicPr>
        <p:blipFill>
          <a:blip r:embed="rId8" cstate="print"/>
          <a:srcRect l="2525" t="5779" r="7487"/>
          <a:stretch>
            <a:fillRect/>
          </a:stretch>
        </p:blipFill>
        <p:spPr bwMode="auto">
          <a:xfrm>
            <a:off x="4499992" y="2017389"/>
            <a:ext cx="4424070" cy="4006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8" name="Group 7"/>
          <p:cNvGrpSpPr/>
          <p:nvPr/>
        </p:nvGrpSpPr>
        <p:grpSpPr>
          <a:xfrm>
            <a:off x="1900518" y="5737412"/>
            <a:ext cx="6511956" cy="971995"/>
            <a:chOff x="1900518" y="5737412"/>
            <a:chExt cx="6511956" cy="9719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4965698" y="6024283"/>
                  <a:ext cx="1864292" cy="685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GB" i="1" smtClean="0">
                                <a:latin typeface="Cambria Math"/>
                              </a:rPr>
                              <m:t>𝑏</m:t>
                            </m:r>
                            <m:r>
                              <a:rPr lang="en-GB" i="1" smtClean="0">
                                <a:latin typeface="Cambria Math"/>
                              </a:rPr>
                              <m:t>±</m:t>
                            </m:r>
                            <m:rad>
                              <m:radPr>
                                <m:degHide m:val="on"/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i="1" smtClean="0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i="1" smtClean="0">
                                    <a:latin typeface="Cambria Math"/>
                                  </a:rPr>
                                  <m:t>−4</m:t>
                                </m:r>
                                <m:r>
                                  <a:rPr lang="en-GB" i="1" smtClean="0">
                                    <a:latin typeface="Cambria Math"/>
                                  </a:rPr>
                                  <m:t>𝑎𝑐</m:t>
                                </m:r>
                              </m:e>
                            </m:rad>
                          </m:num>
                          <m:den>
                            <m:r>
                              <a:rPr lang="en-GB" i="1" smtClean="0">
                                <a:latin typeface="Cambria Math"/>
                              </a:rPr>
                              <m:t>2</m:t>
                            </m:r>
                            <m:r>
                              <a:rPr lang="en-GB" i="1" smtClean="0">
                                <a:latin typeface="Cambria Math"/>
                              </a:rPr>
                              <m:t>𝑎</m:t>
                            </m:r>
                          </m:den>
                        </m:f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5698" y="6024283"/>
                  <a:ext cx="1864292" cy="685124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ctangle 3"/>
            <p:cNvSpPr/>
            <p:nvPr/>
          </p:nvSpPr>
          <p:spPr>
            <a:xfrm>
              <a:off x="1900518" y="5737412"/>
              <a:ext cx="1868207" cy="520513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38039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3768725" y="6024283"/>
              <a:ext cx="480546" cy="342562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4249271" y="6204528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Apply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829990" y="6204528"/>
              <a:ext cx="1582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and find roots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14273" y="4473265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Divide through by 1000</a:t>
            </a:r>
          </a:p>
        </p:txBody>
      </p:sp>
    </p:spTree>
    <p:extLst>
      <p:ext uri="{BB962C8B-B14F-4D97-AF65-F5344CB8AC3E}">
        <p14:creationId xmlns:p14="http://schemas.microsoft.com/office/powerpoint/2010/main" val="361120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Poles and Zeros</a:t>
            </a:r>
            <a:endParaRPr lang="en-GB" sz="2400" dirty="0"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14D3F8B-DB57-4E0E-B241-FEB37362E453}"/>
              </a:ext>
            </a:extLst>
          </p:cNvPr>
          <p:cNvSpPr txBox="1"/>
          <p:nvPr/>
        </p:nvSpPr>
        <p:spPr>
          <a:xfrm>
            <a:off x="103058" y="621569"/>
            <a:ext cx="8890574" cy="1282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54965" algn="l"/>
                <a:tab pos="355600" algn="l"/>
                <a:tab pos="1000125" algn="l"/>
              </a:tabLst>
            </a:pPr>
            <a:r>
              <a:rPr lang="en-GB" sz="2000" spc="-5" dirty="0">
                <a:latin typeface="+mn-lt"/>
                <a:cs typeface="Calibri"/>
              </a:rPr>
              <a:t>     </a:t>
            </a:r>
            <a:r>
              <a:rPr sz="2000" spc="-5" dirty="0">
                <a:latin typeface="+mn-lt"/>
                <a:cs typeface="Calibri"/>
              </a:rPr>
              <a:t>The</a:t>
            </a:r>
            <a:r>
              <a:rPr lang="en-GB" sz="2000" spc="-5" dirty="0">
                <a:latin typeface="+mn-lt"/>
                <a:cs typeface="Calibri"/>
              </a:rPr>
              <a:t> </a:t>
            </a:r>
            <a:r>
              <a:rPr sz="2000" spc="-10" dirty="0">
                <a:latin typeface="+mn-lt"/>
                <a:cs typeface="Calibri"/>
              </a:rPr>
              <a:t>relationship</a:t>
            </a:r>
            <a:r>
              <a:rPr lang="en-GB" sz="2000" spc="-10" dirty="0">
                <a:latin typeface="+mn-lt"/>
                <a:cs typeface="Calibri"/>
              </a:rPr>
              <a:t> between	</a:t>
            </a:r>
            <a:r>
              <a:rPr lang="en-GB" sz="2000" spc="-5" dirty="0">
                <a:latin typeface="+mn-lt"/>
                <a:cs typeface="Calibri"/>
              </a:rPr>
              <a:t>poles </a:t>
            </a:r>
            <a:r>
              <a:rPr lang="en-GB" sz="2000" dirty="0">
                <a:latin typeface="+mn-lt"/>
                <a:cs typeface="Calibri"/>
              </a:rPr>
              <a:t>and </a:t>
            </a:r>
            <a:r>
              <a:rPr lang="en-GB" sz="2000" spc="-20" dirty="0">
                <a:latin typeface="+mn-lt"/>
                <a:cs typeface="Calibri"/>
              </a:rPr>
              <a:t>zeros </a:t>
            </a:r>
            <a:r>
              <a:rPr lang="en-GB" sz="2000" dirty="0">
                <a:latin typeface="+mn-lt"/>
                <a:cs typeface="Calibri"/>
              </a:rPr>
              <a:t>and the </a:t>
            </a:r>
            <a:r>
              <a:rPr lang="en-GB" sz="2000" spc="-10" dirty="0">
                <a:latin typeface="+mn-lt"/>
                <a:cs typeface="Calibri"/>
              </a:rPr>
              <a:t>frequency</a:t>
            </a:r>
            <a:r>
              <a:rPr lang="en-GB" sz="2000" spc="-5" dirty="0">
                <a:latin typeface="+mn-lt"/>
                <a:cs typeface="Calibri"/>
              </a:rPr>
              <a:t> response of </a:t>
            </a:r>
            <a:r>
              <a:rPr lang="en-GB" sz="2000" dirty="0">
                <a:latin typeface="+mn-lt"/>
                <a:cs typeface="Calibri"/>
              </a:rPr>
              <a:t>a</a:t>
            </a:r>
          </a:p>
          <a:p>
            <a:pPr marL="12700">
              <a:spcBef>
                <a:spcPts val="100"/>
              </a:spcBef>
              <a:tabLst>
                <a:tab pos="354965" algn="l"/>
                <a:tab pos="355600" algn="l"/>
                <a:tab pos="1000125" algn="l"/>
              </a:tabLst>
            </a:pPr>
            <a:r>
              <a:rPr lang="en-GB" sz="2000" dirty="0">
                <a:latin typeface="+mn-lt"/>
                <a:cs typeface="Calibri"/>
              </a:rPr>
              <a:t>     </a:t>
            </a:r>
            <a:r>
              <a:rPr lang="en-GB" sz="2000" spc="-25" dirty="0">
                <a:latin typeface="+mn-lt"/>
                <a:cs typeface="Calibri"/>
              </a:rPr>
              <a:t>system be</a:t>
            </a:r>
            <a:r>
              <a:rPr lang="en-GB" sz="2000" spc="-10" dirty="0">
                <a:latin typeface="+mn-lt"/>
                <a:cs typeface="Calibri"/>
              </a:rPr>
              <a:t>comes apparent </a:t>
            </a:r>
            <a:r>
              <a:rPr lang="en-GB" sz="2000" dirty="0">
                <a:latin typeface="+mn-lt"/>
                <a:cs typeface="Calibri"/>
              </a:rPr>
              <a:t>with </a:t>
            </a:r>
            <a:r>
              <a:rPr lang="en-GB" sz="2000" spc="-5" dirty="0">
                <a:latin typeface="+mn-lt"/>
                <a:cs typeface="Calibri"/>
              </a:rPr>
              <a:t>3D </a:t>
            </a:r>
            <a:r>
              <a:rPr lang="en-GB" sz="2000" spc="-15" dirty="0">
                <a:latin typeface="+mn-lt"/>
                <a:cs typeface="Calibri"/>
              </a:rPr>
              <a:t>pole-zero</a:t>
            </a:r>
            <a:r>
              <a:rPr lang="en-GB" sz="2000" spc="-20" dirty="0">
                <a:latin typeface="+mn-lt"/>
                <a:cs typeface="Calibri"/>
              </a:rPr>
              <a:t> </a:t>
            </a:r>
            <a:r>
              <a:rPr lang="en-GB" sz="2000" spc="-5" dirty="0">
                <a:latin typeface="+mn-lt"/>
                <a:cs typeface="Calibri"/>
              </a:rPr>
              <a:t>plots.</a:t>
            </a:r>
            <a:endParaRPr lang="en-GB" sz="2000" dirty="0">
              <a:latin typeface="+mn-lt"/>
              <a:cs typeface="Calibri"/>
            </a:endParaRPr>
          </a:p>
          <a:p>
            <a:pPr marL="12700">
              <a:spcBef>
                <a:spcPts val="100"/>
              </a:spcBef>
              <a:tabLst>
                <a:tab pos="354965" algn="l"/>
                <a:tab pos="355600" algn="l"/>
                <a:tab pos="1000125" algn="l"/>
              </a:tabLst>
            </a:pPr>
            <a:endParaRPr lang="en-GB" sz="2000" dirty="0">
              <a:latin typeface="+mn-lt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355600" algn="l"/>
                <a:tab pos="1000125" algn="l"/>
              </a:tabLst>
            </a:pPr>
            <a:endParaRPr sz="2000" dirty="0">
              <a:latin typeface="+mn-lt"/>
              <a:cs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4D81BA-E633-4C4C-B4E1-9C3D3007CDE6}"/>
              </a:ext>
            </a:extLst>
          </p:cNvPr>
          <p:cNvGrpSpPr/>
          <p:nvPr/>
        </p:nvGrpSpPr>
        <p:grpSpPr>
          <a:xfrm>
            <a:off x="580172" y="1643456"/>
            <a:ext cx="7165517" cy="4158234"/>
            <a:chOff x="580172" y="1643456"/>
            <a:chExt cx="7165517" cy="4158234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5049F73-7CCF-4B37-B2B9-DEFD04018D86}"/>
                </a:ext>
              </a:extLst>
            </p:cNvPr>
            <p:cNvSpPr/>
            <p:nvPr/>
          </p:nvSpPr>
          <p:spPr>
            <a:xfrm>
              <a:off x="2489159" y="1643456"/>
              <a:ext cx="5256530" cy="415823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BC47AD7-B94C-4A64-BEE1-EF4C6DE1A850}"/>
                </a:ext>
              </a:extLst>
            </p:cNvPr>
            <p:cNvSpPr txBox="1"/>
            <p:nvPr/>
          </p:nvSpPr>
          <p:spPr>
            <a:xfrm>
              <a:off x="580172" y="3553110"/>
              <a:ext cx="173101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solidFill>
                    <a:srgbClr val="FF0000"/>
                  </a:solidFill>
                  <a:latin typeface="Calibri"/>
                  <a:cs typeface="Calibri"/>
                </a:rPr>
                <a:t>Single pole</a:t>
              </a:r>
              <a:r>
                <a:rPr sz="1800" spc="-50" dirty="0">
                  <a:solidFill>
                    <a:srgbClr val="FF0000"/>
                  </a:solidFill>
                  <a:latin typeface="Calibri"/>
                  <a:cs typeface="Calibri"/>
                </a:rPr>
                <a:t> </a:t>
              </a:r>
              <a:r>
                <a:rPr sz="1800" spc="-20" dirty="0">
                  <a:solidFill>
                    <a:srgbClr val="FF0000"/>
                  </a:solidFill>
                  <a:latin typeface="Calibri"/>
                  <a:cs typeface="Calibri"/>
                </a:rPr>
                <a:t>system</a:t>
              </a:r>
              <a:endParaRPr sz="1800" dirty="0"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082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Poles and Zeros</a:t>
            </a:r>
            <a:endParaRPr lang="en-GB" sz="2400" dirty="0">
              <a:cs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45E47FA-80E0-4F7F-A9DE-149A2125A6CD}"/>
              </a:ext>
            </a:extLst>
          </p:cNvPr>
          <p:cNvGrpSpPr/>
          <p:nvPr/>
        </p:nvGrpSpPr>
        <p:grpSpPr>
          <a:xfrm>
            <a:off x="605388" y="1127592"/>
            <a:ext cx="6662927" cy="4943778"/>
            <a:chOff x="605388" y="1127592"/>
            <a:chExt cx="6662927" cy="4943778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D037AA6-99CE-42F3-8CC0-DE9A540631D5}"/>
                </a:ext>
              </a:extLst>
            </p:cNvPr>
            <p:cNvSpPr txBox="1"/>
            <p:nvPr/>
          </p:nvSpPr>
          <p:spPr>
            <a:xfrm>
              <a:off x="605388" y="1127592"/>
              <a:ext cx="4800600" cy="471924"/>
            </a:xfrm>
            <a:prstGeom prst="rect">
              <a:avLst/>
            </a:prstGeom>
          </p:spPr>
          <p:txBody>
            <a:bodyPr vert="horz" wrap="square" lIns="0" tIns="101600" rIns="0" bIns="0" rtlCol="0">
              <a:spAutoFit/>
            </a:bodyPr>
            <a:lstStyle/>
            <a:p>
              <a:pPr marL="469900">
                <a:lnSpc>
                  <a:spcPct val="100000"/>
                </a:lnSpc>
                <a:spcBef>
                  <a:spcPts val="605"/>
                </a:spcBef>
              </a:pPr>
              <a:r>
                <a:rPr lang="en-GB" sz="2400" spc="-20" dirty="0">
                  <a:latin typeface="Arial"/>
                  <a:cs typeface="Arial"/>
                </a:rPr>
                <a:t>s</a:t>
              </a:r>
              <a:r>
                <a:rPr sz="2400" spc="-20" dirty="0" err="1">
                  <a:latin typeface="Calibri"/>
                  <a:cs typeface="Calibri"/>
                </a:rPr>
                <a:t>ystem</a:t>
              </a:r>
              <a:r>
                <a:rPr sz="2400" spc="-20" dirty="0">
                  <a:latin typeface="Calibri"/>
                  <a:cs typeface="Calibri"/>
                </a:rPr>
                <a:t> </a:t>
              </a:r>
              <a:r>
                <a:rPr sz="2400" spc="-5" dirty="0">
                  <a:latin typeface="Calibri"/>
                  <a:cs typeface="Calibri"/>
                </a:rPr>
                <a:t>has </a:t>
              </a:r>
              <a:r>
                <a:rPr sz="2400" dirty="0">
                  <a:latin typeface="Calibri"/>
                  <a:cs typeface="Calibri"/>
                </a:rPr>
                <a:t>1 </a:t>
              </a:r>
              <a:r>
                <a:rPr sz="2400" spc="-15" dirty="0">
                  <a:latin typeface="Calibri"/>
                  <a:cs typeface="Calibri"/>
                </a:rPr>
                <a:t>‘zero’ </a:t>
              </a:r>
              <a:r>
                <a:rPr sz="2400" dirty="0">
                  <a:latin typeface="Calibri"/>
                  <a:cs typeface="Calibri"/>
                </a:rPr>
                <a:t>and 2</a:t>
              </a:r>
              <a:r>
                <a:rPr sz="2400" spc="125" dirty="0">
                  <a:latin typeface="Calibri"/>
                  <a:cs typeface="Calibri"/>
                </a:rPr>
                <a:t> </a:t>
              </a:r>
              <a:r>
                <a:rPr sz="2400" spc="-30" dirty="0">
                  <a:latin typeface="Calibri"/>
                  <a:cs typeface="Calibri"/>
                </a:rPr>
                <a:t>‘poles’.</a:t>
              </a:r>
              <a:endParaRPr sz="2400" dirty="0">
                <a:latin typeface="Calibri"/>
                <a:cs typeface="Calibri"/>
              </a:endParaRPr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360D755-CBDF-41BD-BD67-5122E0BC3D2E}"/>
                </a:ext>
              </a:extLst>
            </p:cNvPr>
            <p:cNvSpPr/>
            <p:nvPr/>
          </p:nvSpPr>
          <p:spPr>
            <a:xfrm>
              <a:off x="1669902" y="2065029"/>
              <a:ext cx="5598413" cy="400634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7459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Poles and Zeros</a:t>
            </a:r>
            <a:endParaRPr lang="en-GB" sz="2400" dirty="0"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3A0247D-9107-4622-8373-FDA1EA323A8A}"/>
              </a:ext>
            </a:extLst>
          </p:cNvPr>
          <p:cNvSpPr/>
          <p:nvPr/>
        </p:nvSpPr>
        <p:spPr>
          <a:xfrm>
            <a:off x="827582" y="854189"/>
            <a:ext cx="7416800" cy="54810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5792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Transfer Functions</a:t>
            </a:r>
            <a:endParaRPr lang="en-GB" sz="2400" dirty="0">
              <a:cs typeface="Arial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2B848027-A05A-47F5-BE87-996FF710B9CA}"/>
              </a:ext>
            </a:extLst>
          </p:cNvPr>
          <p:cNvSpPr txBox="1"/>
          <p:nvPr/>
        </p:nvSpPr>
        <p:spPr>
          <a:xfrm>
            <a:off x="439733" y="617004"/>
            <a:ext cx="8273483" cy="2425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355600" algn="l"/>
              </a:tabLst>
            </a:pPr>
            <a:r>
              <a:rPr sz="2000" spc="-45" dirty="0">
                <a:latin typeface="+mn-lt"/>
                <a:cs typeface="Calibri"/>
              </a:rPr>
              <a:t>Transfer </a:t>
            </a:r>
            <a:r>
              <a:rPr sz="2000" spc="-5" dirty="0">
                <a:latin typeface="+mn-lt"/>
                <a:cs typeface="Calibri"/>
              </a:rPr>
              <a:t>function</a:t>
            </a:r>
            <a:r>
              <a:rPr lang="en-GB" sz="2000" spc="-5" dirty="0">
                <a:latin typeface="+mn-lt"/>
                <a:cs typeface="Calibri"/>
              </a:rPr>
              <a:t>s</a:t>
            </a:r>
            <a:r>
              <a:rPr sz="2000" spc="-5" dirty="0">
                <a:latin typeface="+mn-lt"/>
                <a:cs typeface="Calibri"/>
              </a:rPr>
              <a:t> </a:t>
            </a:r>
            <a:r>
              <a:rPr sz="2000" spc="-15" dirty="0">
                <a:latin typeface="+mn-lt"/>
                <a:cs typeface="Calibri"/>
              </a:rPr>
              <a:t>help </a:t>
            </a:r>
            <a:r>
              <a:rPr sz="2000" spc="-5" dirty="0">
                <a:latin typeface="+mn-lt"/>
                <a:cs typeface="Calibri"/>
              </a:rPr>
              <a:t>us </a:t>
            </a:r>
            <a:r>
              <a:rPr sz="2000" spc="-20" dirty="0">
                <a:latin typeface="+mn-lt"/>
                <a:cs typeface="Calibri"/>
              </a:rPr>
              <a:t>to</a:t>
            </a:r>
            <a:r>
              <a:rPr sz="2000" spc="110" dirty="0">
                <a:latin typeface="+mn-lt"/>
                <a:cs typeface="Calibri"/>
              </a:rPr>
              <a:t> </a:t>
            </a:r>
            <a:r>
              <a:rPr sz="2000" spc="-10" dirty="0">
                <a:latin typeface="+mn-lt"/>
                <a:cs typeface="Calibri"/>
              </a:rPr>
              <a:t>check</a:t>
            </a:r>
            <a:endParaRPr sz="2000" dirty="0">
              <a:latin typeface="+mn-lt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3100" dirty="0">
              <a:latin typeface="+mn-lt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sz="2000" spc="-5" dirty="0">
                <a:latin typeface="+mn-lt"/>
                <a:cs typeface="Calibri"/>
              </a:rPr>
              <a:t>The </a:t>
            </a:r>
            <a:r>
              <a:rPr sz="2000" spc="-10" dirty="0">
                <a:latin typeface="+mn-lt"/>
                <a:cs typeface="Calibri"/>
              </a:rPr>
              <a:t>stability </a:t>
            </a:r>
            <a:r>
              <a:rPr sz="2000" spc="-5" dirty="0">
                <a:latin typeface="+mn-lt"/>
                <a:cs typeface="Calibri"/>
              </a:rPr>
              <a:t>of the</a:t>
            </a:r>
            <a:r>
              <a:rPr sz="2000" spc="-15" dirty="0">
                <a:latin typeface="+mn-lt"/>
                <a:cs typeface="Calibri"/>
              </a:rPr>
              <a:t> </a:t>
            </a:r>
            <a:r>
              <a:rPr sz="2000" spc="-25" dirty="0">
                <a:latin typeface="+mn-lt"/>
                <a:cs typeface="Calibri"/>
              </a:rPr>
              <a:t>system</a:t>
            </a:r>
            <a:endParaRPr sz="2000" dirty="0">
              <a:latin typeface="+mn-lt"/>
              <a:cs typeface="Calibri"/>
            </a:endParaRPr>
          </a:p>
          <a:p>
            <a:pPr marL="812800" marR="5080" lvl="1" indent="-342900">
              <a:lnSpc>
                <a:spcPct val="200100"/>
              </a:lnSpc>
              <a:spcBef>
                <a:spcPts val="570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sz="2000" spc="-5" dirty="0">
                <a:latin typeface="+mn-lt"/>
                <a:cs typeface="Calibri"/>
              </a:rPr>
              <a:t>Time domain </a:t>
            </a:r>
            <a:r>
              <a:rPr sz="2000" dirty="0">
                <a:latin typeface="+mn-lt"/>
                <a:cs typeface="Calibri"/>
              </a:rPr>
              <a:t>and </a:t>
            </a:r>
            <a:r>
              <a:rPr sz="2000" spc="-5" dirty="0">
                <a:latin typeface="+mn-lt"/>
                <a:cs typeface="Calibri"/>
              </a:rPr>
              <a:t>frequency </a:t>
            </a:r>
            <a:r>
              <a:rPr sz="2000" spc="-10" dirty="0">
                <a:latin typeface="+mn-lt"/>
                <a:cs typeface="Calibri"/>
              </a:rPr>
              <a:t>domain characteristics </a:t>
            </a:r>
            <a:r>
              <a:rPr sz="2000" spc="-5" dirty="0">
                <a:latin typeface="+mn-lt"/>
                <a:cs typeface="Calibri"/>
              </a:rPr>
              <a:t>of </a:t>
            </a:r>
            <a:r>
              <a:rPr sz="2000" dirty="0">
                <a:latin typeface="+mn-lt"/>
                <a:cs typeface="Calibri"/>
              </a:rPr>
              <a:t>the  </a:t>
            </a:r>
            <a:r>
              <a:rPr sz="2000" spc="-25" dirty="0">
                <a:latin typeface="+mn-lt"/>
                <a:cs typeface="Calibri"/>
              </a:rPr>
              <a:t>system</a:t>
            </a:r>
            <a:endParaRPr sz="2000" dirty="0">
              <a:latin typeface="+mn-lt"/>
              <a:cs typeface="Calibri"/>
            </a:endParaRPr>
          </a:p>
          <a:p>
            <a:pPr marL="914400" lvl="1" indent="-4572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</a:pPr>
            <a:endParaRPr sz="2000" dirty="0">
              <a:latin typeface="+mn-lt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756920" algn="l"/>
              </a:tabLst>
            </a:pPr>
            <a:r>
              <a:rPr sz="2000" spc="-5" dirty="0">
                <a:latin typeface="+mn-lt"/>
                <a:cs typeface="Calibri"/>
              </a:rPr>
              <a:t>Response of </a:t>
            </a:r>
            <a:r>
              <a:rPr sz="2000" dirty="0">
                <a:latin typeface="+mn-lt"/>
                <a:cs typeface="Calibri"/>
              </a:rPr>
              <a:t>the </a:t>
            </a:r>
            <a:r>
              <a:rPr sz="2000" spc="-25" dirty="0">
                <a:latin typeface="+mn-lt"/>
                <a:cs typeface="Calibri"/>
              </a:rPr>
              <a:t>system </a:t>
            </a:r>
            <a:r>
              <a:rPr sz="2000" spc="-20" dirty="0">
                <a:latin typeface="+mn-lt"/>
                <a:cs typeface="Calibri"/>
              </a:rPr>
              <a:t>for any </a:t>
            </a:r>
            <a:r>
              <a:rPr sz="2000" spc="-10" dirty="0">
                <a:latin typeface="+mn-lt"/>
                <a:cs typeface="Calibri"/>
              </a:rPr>
              <a:t>given</a:t>
            </a:r>
            <a:r>
              <a:rPr sz="2000" spc="5" dirty="0">
                <a:latin typeface="+mn-lt"/>
                <a:cs typeface="Calibri"/>
              </a:rPr>
              <a:t> </a:t>
            </a:r>
            <a:r>
              <a:rPr sz="2000" dirty="0">
                <a:latin typeface="+mn-lt"/>
                <a:cs typeface="Calibri"/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156639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Stability</a:t>
            </a:r>
            <a:endParaRPr lang="en-GB" sz="2400" dirty="0">
              <a:cs typeface="Aria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5F9EA38-58B9-4E16-9F95-79EBD3FE3461}"/>
              </a:ext>
            </a:extLst>
          </p:cNvPr>
          <p:cNvSpPr txBox="1"/>
          <p:nvPr/>
        </p:nvSpPr>
        <p:spPr>
          <a:xfrm>
            <a:off x="396241" y="570838"/>
            <a:ext cx="8071484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tabLst>
                <a:tab pos="354965" algn="l"/>
                <a:tab pos="355600" algn="l"/>
              </a:tabLst>
            </a:pPr>
            <a:r>
              <a:rPr sz="2000" spc="-5" dirty="0">
                <a:latin typeface="+mn-lt"/>
                <a:cs typeface="Calibri"/>
              </a:rPr>
              <a:t>The poles </a:t>
            </a:r>
            <a:r>
              <a:rPr sz="2000" dirty="0">
                <a:latin typeface="+mn-lt"/>
                <a:cs typeface="Calibri"/>
              </a:rPr>
              <a:t>and </a:t>
            </a:r>
            <a:r>
              <a:rPr sz="2000" spc="-25" dirty="0">
                <a:latin typeface="+mn-lt"/>
                <a:cs typeface="Calibri"/>
              </a:rPr>
              <a:t>zeros </a:t>
            </a:r>
            <a:r>
              <a:rPr sz="2000" spc="-5" dirty="0">
                <a:latin typeface="+mn-lt"/>
                <a:cs typeface="Calibri"/>
              </a:rPr>
              <a:t>of </a:t>
            </a:r>
            <a:r>
              <a:rPr sz="2000" dirty="0">
                <a:latin typeface="+mn-lt"/>
                <a:cs typeface="Calibri"/>
              </a:rPr>
              <a:t>the </a:t>
            </a:r>
            <a:r>
              <a:rPr sz="2000" spc="-25" dirty="0">
                <a:latin typeface="+mn-lt"/>
                <a:cs typeface="Calibri"/>
              </a:rPr>
              <a:t>system </a:t>
            </a:r>
            <a:r>
              <a:rPr sz="2000" spc="-15" dirty="0">
                <a:latin typeface="+mn-lt"/>
                <a:cs typeface="Calibri"/>
              </a:rPr>
              <a:t>are plotted </a:t>
            </a:r>
            <a:r>
              <a:rPr sz="2000" dirty="0">
                <a:latin typeface="+mn-lt"/>
                <a:cs typeface="Calibri"/>
              </a:rPr>
              <a:t>in </a:t>
            </a:r>
            <a:r>
              <a:rPr sz="2000" spc="-5" dirty="0">
                <a:solidFill>
                  <a:srgbClr val="C00000"/>
                </a:solidFill>
                <a:latin typeface="+mn-lt"/>
                <a:cs typeface="Calibri"/>
              </a:rPr>
              <a:t>s-plane </a:t>
            </a:r>
            <a:r>
              <a:rPr sz="2000" spc="-5" dirty="0">
                <a:latin typeface="+mn-lt"/>
                <a:cs typeface="Calibri"/>
              </a:rPr>
              <a:t> </a:t>
            </a:r>
            <a:r>
              <a:rPr sz="2000" spc="-10" dirty="0">
                <a:latin typeface="+mn-lt"/>
                <a:cs typeface="Calibri"/>
              </a:rPr>
              <a:t>to </a:t>
            </a:r>
            <a:r>
              <a:rPr sz="2000" dirty="0">
                <a:latin typeface="+mn-lt"/>
                <a:cs typeface="Calibri"/>
              </a:rPr>
              <a:t>check the </a:t>
            </a:r>
            <a:r>
              <a:rPr sz="2000" spc="-10" dirty="0">
                <a:latin typeface="+mn-lt"/>
                <a:cs typeface="Calibri"/>
              </a:rPr>
              <a:t>stability </a:t>
            </a:r>
            <a:r>
              <a:rPr sz="2000" spc="-5" dirty="0">
                <a:latin typeface="+mn-lt"/>
                <a:cs typeface="Calibri"/>
              </a:rPr>
              <a:t>of </a:t>
            </a:r>
            <a:r>
              <a:rPr sz="2000" dirty="0">
                <a:latin typeface="+mn-lt"/>
                <a:cs typeface="Calibri"/>
              </a:rPr>
              <a:t>the</a:t>
            </a:r>
            <a:r>
              <a:rPr sz="2000" spc="-65" dirty="0">
                <a:latin typeface="+mn-lt"/>
                <a:cs typeface="Calibri"/>
              </a:rPr>
              <a:t> </a:t>
            </a:r>
            <a:r>
              <a:rPr sz="2000" spc="-20" dirty="0">
                <a:latin typeface="+mn-lt"/>
                <a:cs typeface="Calibri"/>
              </a:rPr>
              <a:t>system.</a:t>
            </a:r>
            <a:endParaRPr sz="2000" dirty="0">
              <a:latin typeface="+mn-lt"/>
              <a:cs typeface="Calibri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5CCB332-F477-4134-A32F-25363A1191F0}"/>
              </a:ext>
            </a:extLst>
          </p:cNvPr>
          <p:cNvGrpSpPr/>
          <p:nvPr/>
        </p:nvGrpSpPr>
        <p:grpSpPr>
          <a:xfrm>
            <a:off x="-224045" y="1388909"/>
            <a:ext cx="2682984" cy="362585"/>
            <a:chOff x="-224045" y="1659293"/>
            <a:chExt cx="2682984" cy="362585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1F76C4B7-CF59-4525-A3D5-A42ADE19CB68}"/>
                </a:ext>
              </a:extLst>
            </p:cNvPr>
            <p:cNvSpPr/>
            <p:nvPr/>
          </p:nvSpPr>
          <p:spPr>
            <a:xfrm>
              <a:off x="2163114" y="1671985"/>
              <a:ext cx="295825" cy="34149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AB4567B-BECA-4258-AA6A-C272C1630B07}"/>
                </a:ext>
              </a:extLst>
            </p:cNvPr>
            <p:cNvSpPr txBox="1"/>
            <p:nvPr/>
          </p:nvSpPr>
          <p:spPr>
            <a:xfrm>
              <a:off x="2058641" y="1659293"/>
              <a:ext cx="121285" cy="36258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</a:pPr>
              <a:r>
                <a:rPr sz="2200" i="1" spc="130" dirty="0">
                  <a:latin typeface="Times New Roman"/>
                  <a:cs typeface="Times New Roman"/>
                </a:rPr>
                <a:t>j</a:t>
              </a:r>
              <a:endParaRPr sz="2200">
                <a:latin typeface="Times New Roman"/>
                <a:cs typeface="Times New Roman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857A7D3-DA59-4C19-90BC-67A49812805D}"/>
                </a:ext>
              </a:extLst>
            </p:cNvPr>
            <p:cNvSpPr/>
            <p:nvPr/>
          </p:nvSpPr>
          <p:spPr>
            <a:xfrm>
              <a:off x="1440184" y="1671985"/>
              <a:ext cx="663623" cy="34149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2F1B62E5-E0A0-4EF9-A20E-1EDAD1A32BE6}"/>
                </a:ext>
              </a:extLst>
            </p:cNvPr>
            <p:cNvSpPr/>
            <p:nvPr/>
          </p:nvSpPr>
          <p:spPr>
            <a:xfrm>
              <a:off x="1191804" y="1671985"/>
              <a:ext cx="348028" cy="34149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DF6DEA98-5B70-48B6-976C-68223ADE7754}"/>
                </a:ext>
              </a:extLst>
            </p:cNvPr>
            <p:cNvSpPr txBox="1"/>
            <p:nvPr/>
          </p:nvSpPr>
          <p:spPr>
            <a:xfrm>
              <a:off x="-224045" y="1659293"/>
              <a:ext cx="1334770" cy="362585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10"/>
                </a:spcBef>
                <a:tabLst>
                  <a:tab pos="1187450" algn="l"/>
                </a:tabLst>
              </a:pPr>
              <a:r>
                <a:rPr sz="2200" dirty="0">
                  <a:latin typeface="Verdana"/>
                  <a:cs typeface="Verdana"/>
                </a:rPr>
                <a:t>	</a:t>
              </a:r>
              <a:r>
                <a:rPr sz="2200" i="1" spc="190" dirty="0">
                  <a:latin typeface="Times New Roman"/>
                  <a:cs typeface="Times New Roman"/>
                </a:rPr>
                <a:t>s</a:t>
              </a:r>
              <a:endParaRPr sz="2200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24CD342-FFA9-4BAB-AA45-9C1F99991A26}"/>
              </a:ext>
            </a:extLst>
          </p:cNvPr>
          <p:cNvGrpSpPr/>
          <p:nvPr/>
        </p:nvGrpSpPr>
        <p:grpSpPr>
          <a:xfrm>
            <a:off x="3768272" y="956707"/>
            <a:ext cx="4299691" cy="3464198"/>
            <a:chOff x="4341296" y="2139331"/>
            <a:chExt cx="4299691" cy="3464198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9EFD1A1F-D083-4138-B073-44DC492BF663}"/>
                </a:ext>
              </a:extLst>
            </p:cNvPr>
            <p:cNvSpPr/>
            <p:nvPr/>
          </p:nvSpPr>
          <p:spPr>
            <a:xfrm>
              <a:off x="4341296" y="4001804"/>
              <a:ext cx="3829811" cy="11125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5E50514-7786-4339-8C9D-81167DADA86C}"/>
                </a:ext>
              </a:extLst>
            </p:cNvPr>
            <p:cNvSpPr/>
            <p:nvPr/>
          </p:nvSpPr>
          <p:spPr>
            <a:xfrm>
              <a:off x="4383840" y="4037238"/>
              <a:ext cx="3744595" cy="0"/>
            </a:xfrm>
            <a:custGeom>
              <a:avLst/>
              <a:gdLst/>
              <a:ahLst/>
              <a:cxnLst/>
              <a:rect l="l" t="t" r="r" b="b"/>
              <a:pathLst>
                <a:path w="3744595">
                  <a:moveTo>
                    <a:pt x="0" y="0"/>
                  </a:moveTo>
                  <a:lnTo>
                    <a:pt x="3744467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8A2F2E7-C7CB-42FB-8454-A32E312F0329}"/>
                </a:ext>
              </a:extLst>
            </p:cNvPr>
            <p:cNvSpPr/>
            <p:nvPr/>
          </p:nvSpPr>
          <p:spPr>
            <a:xfrm>
              <a:off x="6156379" y="2457993"/>
              <a:ext cx="109727" cy="314553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4C709E7-4496-4D6F-BAF4-45011653756A}"/>
                </a:ext>
              </a:extLst>
            </p:cNvPr>
            <p:cNvSpPr/>
            <p:nvPr/>
          </p:nvSpPr>
          <p:spPr>
            <a:xfrm>
              <a:off x="6211497" y="2481360"/>
              <a:ext cx="0" cy="3060065"/>
            </a:xfrm>
            <a:custGeom>
              <a:avLst/>
              <a:gdLst/>
              <a:ahLst/>
              <a:cxnLst/>
              <a:rect l="l" t="t" r="r" b="b"/>
              <a:pathLst>
                <a:path h="3060065">
                  <a:moveTo>
                    <a:pt x="0" y="3060026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6C8AB11-1991-44F1-BA5D-04DFCD532E31}"/>
                </a:ext>
              </a:extLst>
            </p:cNvPr>
            <p:cNvSpPr txBox="1"/>
            <p:nvPr/>
          </p:nvSpPr>
          <p:spPr>
            <a:xfrm>
              <a:off x="4751378" y="4920269"/>
              <a:ext cx="70104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solidFill>
                    <a:srgbClr val="C00000"/>
                  </a:solidFill>
                  <a:latin typeface="Calibri"/>
                  <a:cs typeface="Calibri"/>
                </a:rPr>
                <a:t>s-</a:t>
              </a:r>
              <a:r>
                <a:rPr sz="1800" spc="-5" dirty="0">
                  <a:solidFill>
                    <a:srgbClr val="C00000"/>
                  </a:solidFill>
                  <a:latin typeface="Calibri"/>
                  <a:cs typeface="Calibri"/>
                </a:rPr>
                <a:t>plane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1B7DDEE-69CB-42CC-9324-826DDF5DDD2F}"/>
                </a:ext>
              </a:extLst>
            </p:cNvPr>
            <p:cNvSpPr txBox="1"/>
            <p:nvPr/>
          </p:nvSpPr>
          <p:spPr>
            <a:xfrm>
              <a:off x="4751378" y="2966500"/>
              <a:ext cx="3816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5" dirty="0">
                  <a:latin typeface="Calibri"/>
                  <a:cs typeface="Calibri"/>
                </a:rPr>
                <a:t>L</a:t>
              </a:r>
              <a:r>
                <a:rPr sz="1800" spc="-10" dirty="0">
                  <a:latin typeface="Calibri"/>
                  <a:cs typeface="Calibri"/>
                </a:rPr>
                <a:t>H</a:t>
              </a:r>
              <a:r>
                <a:rPr sz="1800" dirty="0">
                  <a:latin typeface="Calibri"/>
                  <a:cs typeface="Calibri"/>
                </a:rPr>
                <a:t>P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B8BAC7A-4E96-4056-88DA-6B6BE3A0AFF4}"/>
                </a:ext>
              </a:extLst>
            </p:cNvPr>
            <p:cNvSpPr txBox="1"/>
            <p:nvPr/>
          </p:nvSpPr>
          <p:spPr>
            <a:xfrm>
              <a:off x="6839893" y="2975645"/>
              <a:ext cx="40830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spc="-10" dirty="0">
                  <a:latin typeface="Calibri"/>
                  <a:cs typeface="Calibri"/>
                </a:rPr>
                <a:t>RHP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E6734F80-5A8B-4DEE-9C95-BA5613F50A4B}"/>
                </a:ext>
              </a:extLst>
            </p:cNvPr>
            <p:cNvSpPr/>
            <p:nvPr/>
          </p:nvSpPr>
          <p:spPr>
            <a:xfrm>
              <a:off x="8233751" y="3893215"/>
              <a:ext cx="322175" cy="25029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927FDF9-B962-4E15-B06C-BC367F452A57}"/>
                </a:ext>
              </a:extLst>
            </p:cNvPr>
            <p:cNvSpPr/>
            <p:nvPr/>
          </p:nvSpPr>
          <p:spPr>
            <a:xfrm>
              <a:off x="6180429" y="2165127"/>
              <a:ext cx="308314" cy="30878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B06294A-F27E-4647-8D1C-442C838EB776}"/>
                </a:ext>
              </a:extLst>
            </p:cNvPr>
            <p:cNvSpPr/>
            <p:nvPr/>
          </p:nvSpPr>
          <p:spPr>
            <a:xfrm>
              <a:off x="5981285" y="2139331"/>
              <a:ext cx="26597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R="2370455" algn="r">
                <a:lnSpc>
                  <a:spcPct val="100000"/>
                </a:lnSpc>
                <a:spcBef>
                  <a:spcPts val="2160"/>
                </a:spcBef>
              </a:pPr>
              <a:r>
                <a:rPr lang="en-GB" i="1" spc="135" dirty="0">
                  <a:latin typeface="Times New Roman"/>
                  <a:cs typeface="Times New Roman"/>
                </a:rPr>
                <a:t>j</a:t>
              </a:r>
              <a:endParaRPr lang="en-GB" dirty="0">
                <a:latin typeface="Times New Roman"/>
                <a:cs typeface="Times New Roman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B628A83-CE5F-43ED-A9C1-BA5EEB1AEBB3}"/>
              </a:ext>
            </a:extLst>
          </p:cNvPr>
          <p:cNvSpPr/>
          <p:nvPr/>
        </p:nvSpPr>
        <p:spPr>
          <a:xfrm>
            <a:off x="-60580" y="4581368"/>
            <a:ext cx="8798179" cy="1818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1350" marR="5080" indent="-28575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  <a:tab pos="680085" algn="l"/>
                <a:tab pos="1130935" algn="l"/>
                <a:tab pos="1717675" algn="l"/>
                <a:tab pos="2574290" algn="l"/>
                <a:tab pos="2989580" algn="l"/>
                <a:tab pos="3576320" algn="l"/>
                <a:tab pos="4646295" algn="l"/>
                <a:tab pos="5100320" algn="l"/>
                <a:tab pos="5490210" algn="l"/>
                <a:tab pos="6078855" algn="l"/>
                <a:tab pos="6726555" algn="l"/>
                <a:tab pos="7612380" algn="l"/>
              </a:tabLst>
            </a:pPr>
            <a:r>
              <a:rPr lang="en-GB" dirty="0"/>
              <a:t>If all </a:t>
            </a:r>
            <a:r>
              <a:rPr lang="en-GB" spc="-10" dirty="0"/>
              <a:t>t</a:t>
            </a:r>
            <a:r>
              <a:rPr lang="en-GB" spc="-5" dirty="0"/>
              <a:t>he </a:t>
            </a:r>
            <a:r>
              <a:rPr lang="en-GB" spc="-15" dirty="0"/>
              <a:t>p</a:t>
            </a:r>
            <a:r>
              <a:rPr lang="en-GB" spc="-5" dirty="0"/>
              <a:t>ole</a:t>
            </a:r>
            <a:r>
              <a:rPr lang="en-GB" dirty="0"/>
              <a:t>s </a:t>
            </a:r>
            <a:r>
              <a:rPr lang="en-GB" spc="-10" dirty="0"/>
              <a:t>o</a:t>
            </a:r>
            <a:r>
              <a:rPr lang="en-GB" dirty="0"/>
              <a:t>f the </a:t>
            </a:r>
            <a:r>
              <a:rPr lang="en-GB" spc="-50" dirty="0"/>
              <a:t>s</a:t>
            </a:r>
            <a:r>
              <a:rPr lang="en-GB" spc="-40" dirty="0"/>
              <a:t>y</a:t>
            </a:r>
            <a:r>
              <a:rPr lang="en-GB" spc="-25" dirty="0"/>
              <a:t>s</a:t>
            </a:r>
            <a:r>
              <a:rPr lang="en-GB" spc="-35" dirty="0"/>
              <a:t>t</a:t>
            </a:r>
            <a:r>
              <a:rPr lang="en-GB" dirty="0"/>
              <a:t>em l</a:t>
            </a:r>
            <a:r>
              <a:rPr lang="en-GB" spc="-10" dirty="0"/>
              <a:t>i</a:t>
            </a:r>
            <a:r>
              <a:rPr lang="en-GB" dirty="0"/>
              <a:t>e in l</a:t>
            </a:r>
            <a:r>
              <a:rPr lang="en-GB" spc="-40" dirty="0"/>
              <a:t>e</a:t>
            </a:r>
            <a:r>
              <a:rPr lang="en-GB" spc="-5" dirty="0"/>
              <a:t>f</a:t>
            </a:r>
            <a:r>
              <a:rPr lang="en-GB" dirty="0"/>
              <a:t>t </a:t>
            </a:r>
            <a:r>
              <a:rPr lang="en-GB" spc="-5" dirty="0"/>
              <a:t>ha</a:t>
            </a:r>
            <a:r>
              <a:rPr lang="en-GB" spc="-15" dirty="0"/>
              <a:t>l</a:t>
            </a:r>
            <a:r>
              <a:rPr lang="en-GB" dirty="0"/>
              <a:t>f </a:t>
            </a:r>
            <a:r>
              <a:rPr lang="en-GB" spc="-5" dirty="0"/>
              <a:t>pla</a:t>
            </a:r>
            <a:r>
              <a:rPr lang="en-GB" spc="-10" dirty="0"/>
              <a:t>n</a:t>
            </a:r>
            <a:r>
              <a:rPr lang="en-GB" dirty="0"/>
              <a:t>e the </a:t>
            </a:r>
            <a:r>
              <a:rPr lang="en-GB" spc="-20" dirty="0"/>
              <a:t>system </a:t>
            </a:r>
            <a:r>
              <a:rPr lang="en-GB" dirty="0"/>
              <a:t>is </a:t>
            </a:r>
            <a:r>
              <a:rPr lang="en-GB" spc="-5" dirty="0"/>
              <a:t>said </a:t>
            </a:r>
            <a:r>
              <a:rPr lang="en-GB" spc="-10" dirty="0"/>
              <a:t>to </a:t>
            </a:r>
            <a:r>
              <a:rPr lang="en-GB" dirty="0"/>
              <a:t>be</a:t>
            </a:r>
            <a:r>
              <a:rPr lang="en-GB" spc="-65" dirty="0"/>
              <a:t> </a:t>
            </a:r>
            <a:r>
              <a:rPr lang="en-GB" spc="-10" dirty="0">
                <a:solidFill>
                  <a:srgbClr val="FF0000"/>
                </a:solidFill>
              </a:rPr>
              <a:t>Stable</a:t>
            </a:r>
          </a:p>
          <a:p>
            <a:pPr marL="355600" marR="5080">
              <a:spcBef>
                <a:spcPts val="105"/>
              </a:spcBef>
              <a:tabLst>
                <a:tab pos="354965" algn="l"/>
                <a:tab pos="355600" algn="l"/>
                <a:tab pos="680085" algn="l"/>
                <a:tab pos="1130935" algn="l"/>
                <a:tab pos="1717675" algn="l"/>
                <a:tab pos="2574290" algn="l"/>
                <a:tab pos="2989580" algn="l"/>
                <a:tab pos="3576320" algn="l"/>
                <a:tab pos="4646295" algn="l"/>
                <a:tab pos="5100320" algn="l"/>
                <a:tab pos="5490210" algn="l"/>
                <a:tab pos="6078855" algn="l"/>
                <a:tab pos="6726555" algn="l"/>
                <a:tab pos="7612380" algn="l"/>
              </a:tabLst>
            </a:pPr>
            <a:r>
              <a:rPr lang="en-GB" dirty="0"/>
              <a:t> </a:t>
            </a:r>
          </a:p>
          <a:p>
            <a:pPr marL="641350" marR="5080" indent="-28575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  <a:tab pos="680085" algn="l"/>
                <a:tab pos="1130935" algn="l"/>
                <a:tab pos="1717675" algn="l"/>
                <a:tab pos="2574290" algn="l"/>
                <a:tab pos="2989580" algn="l"/>
                <a:tab pos="3576320" algn="l"/>
                <a:tab pos="4646295" algn="l"/>
                <a:tab pos="5100320" algn="l"/>
                <a:tab pos="5490210" algn="l"/>
                <a:tab pos="6078855" algn="l"/>
                <a:tab pos="6726555" algn="l"/>
                <a:tab pos="7612380" algn="l"/>
              </a:tabLst>
            </a:pPr>
            <a:r>
              <a:rPr lang="en-GB" dirty="0"/>
              <a:t>If </a:t>
            </a:r>
            <a:r>
              <a:rPr lang="en-GB" spc="-20" dirty="0"/>
              <a:t>any </a:t>
            </a:r>
            <a:r>
              <a:rPr lang="en-GB" spc="-5" dirty="0"/>
              <a:t>of </a:t>
            </a:r>
            <a:r>
              <a:rPr lang="en-GB" dirty="0"/>
              <a:t>the </a:t>
            </a:r>
            <a:r>
              <a:rPr lang="en-GB" spc="-5" dirty="0"/>
              <a:t>poles </a:t>
            </a:r>
            <a:r>
              <a:rPr lang="en-GB" dirty="0"/>
              <a:t>lie </a:t>
            </a:r>
            <a:r>
              <a:rPr lang="en-GB" spc="-5" dirty="0"/>
              <a:t>in right half plane </a:t>
            </a:r>
            <a:r>
              <a:rPr lang="en-GB" dirty="0"/>
              <a:t>the </a:t>
            </a:r>
            <a:r>
              <a:rPr lang="en-GB" spc="-25" dirty="0"/>
              <a:t>system </a:t>
            </a:r>
            <a:r>
              <a:rPr lang="en-GB" dirty="0"/>
              <a:t>is </a:t>
            </a:r>
            <a:r>
              <a:rPr lang="en-GB" spc="-5" dirty="0"/>
              <a:t>said  </a:t>
            </a:r>
            <a:r>
              <a:rPr lang="en-GB" spc="-15" dirty="0"/>
              <a:t>to </a:t>
            </a:r>
            <a:r>
              <a:rPr lang="en-GB" spc="-5" dirty="0"/>
              <a:t>be</a:t>
            </a:r>
            <a:r>
              <a:rPr lang="en-GB" spc="-20" dirty="0"/>
              <a:t> </a:t>
            </a:r>
            <a:r>
              <a:rPr lang="en-GB" spc="-10" dirty="0">
                <a:solidFill>
                  <a:srgbClr val="FF0000"/>
                </a:solidFill>
              </a:rPr>
              <a:t>Unstable</a:t>
            </a:r>
          </a:p>
          <a:p>
            <a:pPr marL="641350" marR="5080" indent="-28575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  <a:tab pos="680085" algn="l"/>
                <a:tab pos="1130935" algn="l"/>
                <a:tab pos="1717675" algn="l"/>
                <a:tab pos="2574290" algn="l"/>
                <a:tab pos="2989580" algn="l"/>
                <a:tab pos="3576320" algn="l"/>
                <a:tab pos="4646295" algn="l"/>
                <a:tab pos="5100320" algn="l"/>
                <a:tab pos="5490210" algn="l"/>
                <a:tab pos="6078855" algn="l"/>
                <a:tab pos="6726555" algn="l"/>
                <a:tab pos="7612380" algn="l"/>
              </a:tabLst>
            </a:pPr>
            <a:endParaRPr lang="en-GB" spc="-10" dirty="0">
              <a:solidFill>
                <a:srgbClr val="FF0000"/>
              </a:solidFill>
            </a:endParaRPr>
          </a:p>
          <a:p>
            <a:pPr marL="641350" marR="5080" indent="-28575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  <a:tab pos="680085" algn="l"/>
                <a:tab pos="1130935" algn="l"/>
                <a:tab pos="1717675" algn="l"/>
                <a:tab pos="2574290" algn="l"/>
                <a:tab pos="2989580" algn="l"/>
                <a:tab pos="3576320" algn="l"/>
                <a:tab pos="4646295" algn="l"/>
                <a:tab pos="5100320" algn="l"/>
                <a:tab pos="5490210" algn="l"/>
                <a:tab pos="6078855" algn="l"/>
                <a:tab pos="6726555" algn="l"/>
                <a:tab pos="7612380" algn="l"/>
              </a:tabLst>
            </a:pPr>
            <a:r>
              <a:rPr lang="en-GB" dirty="0"/>
              <a:t>If</a:t>
            </a:r>
            <a:r>
              <a:rPr lang="en-GB" spc="375" dirty="0"/>
              <a:t> </a:t>
            </a:r>
            <a:r>
              <a:rPr lang="en-GB" spc="-5" dirty="0"/>
              <a:t>pole(s)</a:t>
            </a:r>
            <a:r>
              <a:rPr lang="en-GB" spc="385" dirty="0"/>
              <a:t> </a:t>
            </a:r>
            <a:r>
              <a:rPr lang="en-GB" spc="-5" dirty="0"/>
              <a:t>lie</a:t>
            </a:r>
            <a:r>
              <a:rPr lang="en-GB" spc="385" dirty="0"/>
              <a:t> </a:t>
            </a:r>
            <a:r>
              <a:rPr lang="en-GB" spc="-5" dirty="0"/>
              <a:t>on</a:t>
            </a:r>
            <a:r>
              <a:rPr lang="en-GB" spc="390" dirty="0"/>
              <a:t> </a:t>
            </a:r>
            <a:r>
              <a:rPr lang="en-GB" spc="-5" dirty="0"/>
              <a:t>imaginary</a:t>
            </a:r>
            <a:r>
              <a:rPr lang="en-GB" spc="385" dirty="0"/>
              <a:t> </a:t>
            </a:r>
            <a:r>
              <a:rPr lang="en-GB" spc="-10" dirty="0"/>
              <a:t>axis</a:t>
            </a:r>
            <a:r>
              <a:rPr lang="en-GB" spc="400" dirty="0"/>
              <a:t> </a:t>
            </a:r>
            <a:r>
              <a:rPr lang="en-GB" spc="-5" dirty="0"/>
              <a:t>the</a:t>
            </a:r>
            <a:r>
              <a:rPr lang="en-GB" spc="375" dirty="0"/>
              <a:t> </a:t>
            </a:r>
            <a:r>
              <a:rPr lang="en-GB" spc="-25" dirty="0"/>
              <a:t>system</a:t>
            </a:r>
            <a:r>
              <a:rPr lang="en-GB" spc="375" dirty="0"/>
              <a:t> </a:t>
            </a:r>
            <a:r>
              <a:rPr lang="en-GB" dirty="0"/>
              <a:t>is</a:t>
            </a:r>
            <a:r>
              <a:rPr lang="en-GB" spc="385" dirty="0"/>
              <a:t> </a:t>
            </a:r>
            <a:r>
              <a:rPr lang="en-GB" spc="-5" dirty="0"/>
              <a:t>said</a:t>
            </a:r>
            <a:r>
              <a:rPr lang="en-GB" spc="390" dirty="0"/>
              <a:t> </a:t>
            </a:r>
            <a:r>
              <a:rPr lang="en-GB" spc="-15" dirty="0"/>
              <a:t>to</a:t>
            </a:r>
            <a:r>
              <a:rPr lang="en-GB" spc="375" dirty="0"/>
              <a:t> </a:t>
            </a:r>
            <a:r>
              <a:rPr lang="en-GB" spc="-5" dirty="0"/>
              <a:t>be </a:t>
            </a:r>
            <a:r>
              <a:rPr lang="en-GB" spc="-5" dirty="0">
                <a:solidFill>
                  <a:srgbClr val="FF0000"/>
                </a:solidFill>
                <a:latin typeface="Calibri"/>
                <a:cs typeface="Calibri"/>
              </a:rPr>
              <a:t>Marginally</a:t>
            </a:r>
            <a:r>
              <a:rPr lang="en-GB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GB" spc="-10" dirty="0">
                <a:solidFill>
                  <a:srgbClr val="FF0000"/>
                </a:solidFill>
                <a:latin typeface="Calibri"/>
                <a:cs typeface="Calibri"/>
              </a:rPr>
              <a:t>stable</a:t>
            </a:r>
            <a:endParaRPr lang="en-GB" spc="-5" dirty="0"/>
          </a:p>
          <a:p>
            <a:pPr marL="641350" marR="5080" indent="-285750"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  <a:tab pos="680085" algn="l"/>
                <a:tab pos="1130935" algn="l"/>
                <a:tab pos="1717675" algn="l"/>
                <a:tab pos="2574290" algn="l"/>
                <a:tab pos="2989580" algn="l"/>
                <a:tab pos="3576320" algn="l"/>
                <a:tab pos="4646295" algn="l"/>
                <a:tab pos="5100320" algn="l"/>
                <a:tab pos="5490210" algn="l"/>
                <a:tab pos="6078855" algn="l"/>
                <a:tab pos="6726555" algn="l"/>
                <a:tab pos="7612380" algn="l"/>
              </a:tabLst>
            </a:pPr>
            <a:endParaRPr lang="en-GB" spc="-10" dirty="0"/>
          </a:p>
        </p:txBody>
      </p:sp>
    </p:spTree>
    <p:extLst>
      <p:ext uri="{BB962C8B-B14F-4D97-AF65-F5344CB8AC3E}">
        <p14:creationId xmlns:p14="http://schemas.microsoft.com/office/powerpoint/2010/main" val="327861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Simple Example</a:t>
            </a:r>
            <a:endParaRPr lang="en-GB" sz="2400" dirty="0"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70CDDA9-8E07-4DDE-81F0-FC19D54AF5E5}"/>
              </a:ext>
            </a:extLst>
          </p:cNvPr>
          <p:cNvSpPr txBox="1"/>
          <p:nvPr/>
        </p:nvSpPr>
        <p:spPr>
          <a:xfrm>
            <a:off x="535940" y="786383"/>
            <a:ext cx="20897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  <a:tab pos="942340" algn="l"/>
              </a:tabLst>
            </a:pPr>
            <a:r>
              <a:rPr sz="2600" spc="-35" dirty="0">
                <a:latin typeface="Calibri"/>
                <a:cs typeface="Calibri"/>
              </a:rPr>
              <a:t>F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	</a:t>
            </a:r>
            <a:r>
              <a:rPr sz="2600" spc="-40" dirty="0">
                <a:latin typeface="Calibri"/>
                <a:cs typeface="Calibri"/>
              </a:rPr>
              <a:t>e</a:t>
            </a:r>
            <a:r>
              <a:rPr sz="2600" spc="-50" dirty="0">
                <a:latin typeface="Calibri"/>
                <a:cs typeface="Calibri"/>
              </a:rPr>
              <a:t>x</a:t>
            </a:r>
            <a:r>
              <a:rPr sz="2600" spc="-5" dirty="0">
                <a:latin typeface="Calibri"/>
                <a:cs typeface="Calibri"/>
              </a:rPr>
              <a:t>ample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BCE0182-63EC-467C-8892-4D8EEAEC591F}"/>
              </a:ext>
            </a:extLst>
          </p:cNvPr>
          <p:cNvSpPr/>
          <p:nvPr/>
        </p:nvSpPr>
        <p:spPr>
          <a:xfrm>
            <a:off x="2627318" y="1731384"/>
            <a:ext cx="915035" cy="0"/>
          </a:xfrm>
          <a:custGeom>
            <a:avLst/>
            <a:gdLst/>
            <a:ahLst/>
            <a:cxnLst/>
            <a:rect l="l" t="t" r="r" b="b"/>
            <a:pathLst>
              <a:path w="915035">
                <a:moveTo>
                  <a:pt x="0" y="0"/>
                </a:moveTo>
                <a:lnTo>
                  <a:pt x="914917" y="0"/>
                </a:lnTo>
              </a:path>
            </a:pathLst>
          </a:custGeom>
          <a:ln w="1453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8956456-5087-4262-93FB-7EC8EA23DC76}"/>
              </a:ext>
            </a:extLst>
          </p:cNvPr>
          <p:cNvSpPr/>
          <p:nvPr/>
        </p:nvSpPr>
        <p:spPr>
          <a:xfrm>
            <a:off x="6865813" y="1495132"/>
            <a:ext cx="335372" cy="3831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C3D0072-7070-4C2C-86C6-76F4A3C307D3}"/>
              </a:ext>
            </a:extLst>
          </p:cNvPr>
          <p:cNvSpPr/>
          <p:nvPr/>
        </p:nvSpPr>
        <p:spPr>
          <a:xfrm>
            <a:off x="5457933" y="1495132"/>
            <a:ext cx="335372" cy="3831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88D03C3-A2D4-4B44-8B4B-349EB8DB1B4D}"/>
              </a:ext>
            </a:extLst>
          </p:cNvPr>
          <p:cNvSpPr/>
          <p:nvPr/>
        </p:nvSpPr>
        <p:spPr>
          <a:xfrm>
            <a:off x="4685938" y="1495132"/>
            <a:ext cx="335372" cy="3831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4244059-BAE4-4CD5-8693-CB73480638E6}"/>
              </a:ext>
            </a:extLst>
          </p:cNvPr>
          <p:cNvSpPr/>
          <p:nvPr/>
        </p:nvSpPr>
        <p:spPr>
          <a:xfrm>
            <a:off x="3067772" y="1740832"/>
            <a:ext cx="335372" cy="3831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049BD2B-913F-4461-AEC1-6877752DB662}"/>
              </a:ext>
            </a:extLst>
          </p:cNvPr>
          <p:cNvSpPr/>
          <p:nvPr/>
        </p:nvSpPr>
        <p:spPr>
          <a:xfrm>
            <a:off x="2357613" y="1495132"/>
            <a:ext cx="335372" cy="3831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497D1F2-23D1-42B9-80B3-CCE35DCCAC1E}"/>
              </a:ext>
            </a:extLst>
          </p:cNvPr>
          <p:cNvSpPr txBox="1"/>
          <p:nvPr/>
        </p:nvSpPr>
        <p:spPr>
          <a:xfrm>
            <a:off x="2665620" y="1215678"/>
            <a:ext cx="873760" cy="91566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R="37465" algn="ctr">
              <a:lnSpc>
                <a:spcPct val="100000"/>
              </a:lnSpc>
              <a:spcBef>
                <a:spcPts val="660"/>
              </a:spcBef>
            </a:pPr>
            <a:r>
              <a:rPr sz="2450" i="1" spc="105" dirty="0">
                <a:latin typeface="Times New Roman"/>
                <a:cs typeface="Times New Roman"/>
              </a:rPr>
              <a:t>C</a:t>
            </a:r>
            <a:endParaRPr sz="24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  <a:tabLst>
                <a:tab pos="645160" algn="l"/>
              </a:tabLst>
            </a:pPr>
            <a:r>
              <a:rPr sz="2450" i="1" spc="40" dirty="0">
                <a:latin typeface="Times New Roman"/>
                <a:cs typeface="Times New Roman"/>
              </a:rPr>
              <a:t>A</a:t>
            </a:r>
            <a:r>
              <a:rPr sz="2450" i="1" spc="55" dirty="0">
                <a:latin typeface="Times New Roman"/>
                <a:cs typeface="Times New Roman"/>
              </a:rPr>
              <a:t>s</a:t>
            </a:r>
            <a:r>
              <a:rPr sz="2450" i="1" dirty="0">
                <a:latin typeface="Times New Roman"/>
                <a:cs typeface="Times New Roman"/>
              </a:rPr>
              <a:t>	</a:t>
            </a:r>
            <a:r>
              <a:rPr sz="2450" i="1" spc="100" dirty="0">
                <a:latin typeface="Times New Roman"/>
                <a:cs typeface="Times New Roman"/>
              </a:rPr>
              <a:t>B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28E09F6-22FC-4203-81BF-C7C7B8242BB1}"/>
              </a:ext>
            </a:extLst>
          </p:cNvPr>
          <p:cNvSpPr txBox="1"/>
          <p:nvPr/>
        </p:nvSpPr>
        <p:spPr>
          <a:xfrm>
            <a:off x="3574382" y="1484621"/>
            <a:ext cx="3870325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95934" algn="l"/>
                <a:tab pos="1341120" algn="l"/>
                <a:tab pos="2137410" algn="l"/>
                <a:tab pos="3521075" algn="l"/>
              </a:tabLst>
            </a:pPr>
            <a:r>
              <a:rPr sz="2450" spc="40" dirty="0">
                <a:latin typeface="Century"/>
                <a:cs typeface="Century"/>
              </a:rPr>
              <a:t>,	</a:t>
            </a:r>
            <a:r>
              <a:rPr sz="2450" spc="-10" dirty="0">
                <a:latin typeface="Verdana"/>
                <a:cs typeface="Verdana"/>
              </a:rPr>
              <a:t>i</a:t>
            </a:r>
            <a:r>
              <a:rPr sz="2450" spc="50" dirty="0">
                <a:latin typeface="Verdana"/>
                <a:cs typeface="Verdana"/>
              </a:rPr>
              <a:t>f</a:t>
            </a:r>
            <a:r>
              <a:rPr sz="2450" spc="229" dirty="0">
                <a:latin typeface="Verdana"/>
                <a:cs typeface="Verdana"/>
              </a:rPr>
              <a:t> </a:t>
            </a:r>
            <a:r>
              <a:rPr sz="2450" i="1" spc="100" dirty="0">
                <a:latin typeface="Times New Roman"/>
                <a:cs typeface="Times New Roman"/>
              </a:rPr>
              <a:t>A</a:t>
            </a:r>
            <a:r>
              <a:rPr sz="2450" i="1" dirty="0">
                <a:latin typeface="Times New Roman"/>
                <a:cs typeface="Times New Roman"/>
              </a:rPr>
              <a:t>	</a:t>
            </a:r>
            <a:r>
              <a:rPr sz="2450" spc="-220" dirty="0">
                <a:latin typeface="Times New Roman"/>
                <a:cs typeface="Times New Roman"/>
              </a:rPr>
              <a:t>1</a:t>
            </a:r>
            <a:r>
              <a:rPr sz="2450" spc="40" dirty="0">
                <a:latin typeface="Century"/>
                <a:cs typeface="Century"/>
              </a:rPr>
              <a:t>,</a:t>
            </a:r>
            <a:r>
              <a:rPr sz="2450" spc="-440" dirty="0">
                <a:latin typeface="Century"/>
                <a:cs typeface="Century"/>
              </a:rPr>
              <a:t> </a:t>
            </a:r>
            <a:r>
              <a:rPr sz="2450" i="1" spc="100" dirty="0">
                <a:latin typeface="Times New Roman"/>
                <a:cs typeface="Times New Roman"/>
              </a:rPr>
              <a:t>B</a:t>
            </a:r>
            <a:r>
              <a:rPr sz="2450" i="1" dirty="0">
                <a:latin typeface="Times New Roman"/>
                <a:cs typeface="Times New Roman"/>
              </a:rPr>
              <a:t>	</a:t>
            </a:r>
            <a:r>
              <a:rPr sz="2450" spc="75" dirty="0">
                <a:latin typeface="Times New Roman"/>
                <a:cs typeface="Times New Roman"/>
              </a:rPr>
              <a:t>3</a:t>
            </a:r>
            <a:r>
              <a:rPr sz="2450" spc="-15" dirty="0">
                <a:latin typeface="Times New Roman"/>
                <a:cs typeface="Times New Roman"/>
              </a:rPr>
              <a:t> </a:t>
            </a:r>
            <a:r>
              <a:rPr sz="2450" i="1" spc="85" dirty="0">
                <a:latin typeface="Times New Roman"/>
                <a:cs typeface="Times New Roman"/>
              </a:rPr>
              <a:t>an</a:t>
            </a:r>
            <a:r>
              <a:rPr sz="2450" i="1" spc="75" dirty="0">
                <a:latin typeface="Times New Roman"/>
                <a:cs typeface="Times New Roman"/>
              </a:rPr>
              <a:t>d</a:t>
            </a:r>
            <a:r>
              <a:rPr sz="2450" i="1" spc="100" dirty="0">
                <a:latin typeface="Times New Roman"/>
                <a:cs typeface="Times New Roman"/>
              </a:rPr>
              <a:t> </a:t>
            </a:r>
            <a:r>
              <a:rPr sz="2450" i="1" spc="105" dirty="0">
                <a:latin typeface="Times New Roman"/>
                <a:cs typeface="Times New Roman"/>
              </a:rPr>
              <a:t>C</a:t>
            </a:r>
            <a:r>
              <a:rPr sz="2450" i="1" dirty="0">
                <a:latin typeface="Times New Roman"/>
                <a:cs typeface="Times New Roman"/>
              </a:rPr>
              <a:t>	</a:t>
            </a:r>
            <a:r>
              <a:rPr sz="2450" spc="85" dirty="0">
                <a:latin typeface="Times New Roman"/>
                <a:cs typeface="Times New Roman"/>
              </a:rPr>
              <a:t>10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8457A31-9FFC-4350-AF4C-2F7DDC6DD8C0}"/>
              </a:ext>
            </a:extLst>
          </p:cNvPr>
          <p:cNvSpPr txBox="1"/>
          <p:nvPr/>
        </p:nvSpPr>
        <p:spPr>
          <a:xfrm>
            <a:off x="1655614" y="1484621"/>
            <a:ext cx="639445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i="1" spc="50" dirty="0">
                <a:latin typeface="Times New Roman"/>
                <a:cs typeface="Times New Roman"/>
              </a:rPr>
              <a:t>G</a:t>
            </a:r>
            <a:r>
              <a:rPr sz="2450" spc="185" dirty="0">
                <a:latin typeface="Century"/>
                <a:cs typeface="Century"/>
              </a:rPr>
              <a:t>(</a:t>
            </a:r>
            <a:r>
              <a:rPr sz="2450" i="1" spc="160" dirty="0">
                <a:latin typeface="Times New Roman"/>
                <a:cs typeface="Times New Roman"/>
              </a:rPr>
              <a:t>s</a:t>
            </a:r>
            <a:r>
              <a:rPr sz="2450" spc="50" dirty="0">
                <a:latin typeface="Century"/>
                <a:cs typeface="Century"/>
              </a:rPr>
              <a:t>)</a:t>
            </a:r>
            <a:endParaRPr sz="2450">
              <a:latin typeface="Century"/>
              <a:cs typeface="Century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22A4CFF-36C1-47BC-9535-CE568DDA5EBA}"/>
              </a:ext>
            </a:extLst>
          </p:cNvPr>
          <p:cNvSpPr/>
          <p:nvPr/>
        </p:nvSpPr>
        <p:spPr>
          <a:xfrm>
            <a:off x="2619396" y="2934708"/>
            <a:ext cx="334756" cy="372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D4A5988-C591-4CAB-B431-A4FF5333B962}"/>
              </a:ext>
            </a:extLst>
          </p:cNvPr>
          <p:cNvSpPr/>
          <p:nvPr/>
        </p:nvSpPr>
        <p:spPr>
          <a:xfrm>
            <a:off x="2354011" y="2934708"/>
            <a:ext cx="334756" cy="372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E652465-27F4-49D7-B5B3-BE1EE5601D89}"/>
              </a:ext>
            </a:extLst>
          </p:cNvPr>
          <p:cNvSpPr/>
          <p:nvPr/>
        </p:nvSpPr>
        <p:spPr>
          <a:xfrm>
            <a:off x="2513076" y="4888865"/>
            <a:ext cx="3444240" cy="1112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27BB0A3F-38BE-4DF6-8344-C8026C4AEF62}"/>
              </a:ext>
            </a:extLst>
          </p:cNvPr>
          <p:cNvSpPr/>
          <p:nvPr/>
        </p:nvSpPr>
        <p:spPr>
          <a:xfrm>
            <a:off x="2570860" y="4888865"/>
            <a:ext cx="3359150" cy="0"/>
          </a:xfrm>
          <a:custGeom>
            <a:avLst/>
            <a:gdLst/>
            <a:ahLst/>
            <a:cxnLst/>
            <a:rect l="l" t="t" r="r" b="b"/>
            <a:pathLst>
              <a:path w="3359150">
                <a:moveTo>
                  <a:pt x="0" y="0"/>
                </a:moveTo>
                <a:lnTo>
                  <a:pt x="3358768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8EC7C2EB-A635-4B90-BB60-A64B297315E4}"/>
              </a:ext>
            </a:extLst>
          </p:cNvPr>
          <p:cNvSpPr/>
          <p:nvPr/>
        </p:nvSpPr>
        <p:spPr>
          <a:xfrm>
            <a:off x="4139184" y="3607180"/>
            <a:ext cx="111251" cy="26304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02906B-6A68-4BA9-9D93-88C391895191}"/>
              </a:ext>
            </a:extLst>
          </p:cNvPr>
          <p:cNvSpPr/>
          <p:nvPr/>
        </p:nvSpPr>
        <p:spPr>
          <a:xfrm>
            <a:off x="4195190" y="3629914"/>
            <a:ext cx="0" cy="2545715"/>
          </a:xfrm>
          <a:custGeom>
            <a:avLst/>
            <a:gdLst/>
            <a:ahLst/>
            <a:cxnLst/>
            <a:rect l="l" t="t" r="r" b="b"/>
            <a:pathLst>
              <a:path h="2545715">
                <a:moveTo>
                  <a:pt x="0" y="2545168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4912BC7-D5D5-45B6-9BF3-5F5139BB553F}"/>
              </a:ext>
            </a:extLst>
          </p:cNvPr>
          <p:cNvSpPr txBox="1"/>
          <p:nvPr/>
        </p:nvSpPr>
        <p:spPr>
          <a:xfrm>
            <a:off x="2893314" y="4036441"/>
            <a:ext cx="381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L</a:t>
            </a:r>
            <a:r>
              <a:rPr sz="1800" spc="-10" dirty="0">
                <a:latin typeface="Calibri"/>
                <a:cs typeface="Calibri"/>
              </a:rPr>
              <a:t>H</a:t>
            </a:r>
            <a:r>
              <a:rPr sz="1800" dirty="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A028E81-291E-4FE0-A4D8-4003CAD3E72C}"/>
              </a:ext>
            </a:extLst>
          </p:cNvPr>
          <p:cNvSpPr txBox="1"/>
          <p:nvPr/>
        </p:nvSpPr>
        <p:spPr>
          <a:xfrm>
            <a:off x="4766817" y="4044315"/>
            <a:ext cx="408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RHP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2D520C5-36C6-4256-91BA-784817FF4CA0}"/>
              </a:ext>
            </a:extLst>
          </p:cNvPr>
          <p:cNvSpPr/>
          <p:nvPr/>
        </p:nvSpPr>
        <p:spPr>
          <a:xfrm>
            <a:off x="6009010" y="4804282"/>
            <a:ext cx="287653" cy="20478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AD502450-9AFD-4383-A856-E14EE4A0BB1B}"/>
              </a:ext>
            </a:extLst>
          </p:cNvPr>
          <p:cNvSpPr/>
          <p:nvPr/>
        </p:nvSpPr>
        <p:spPr>
          <a:xfrm>
            <a:off x="4163242" y="3366771"/>
            <a:ext cx="270717" cy="25731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FBDCBAFE-8873-4CF2-8C85-6AA3E4892421}"/>
              </a:ext>
            </a:extLst>
          </p:cNvPr>
          <p:cNvSpPr txBox="1"/>
          <p:nvPr/>
        </p:nvSpPr>
        <p:spPr>
          <a:xfrm>
            <a:off x="535940" y="2213101"/>
            <a:ext cx="5886631" cy="14189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spc="-5" dirty="0">
                <a:latin typeface="Calibri"/>
                <a:cs typeface="Calibri"/>
              </a:rPr>
              <a:t>Then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only pole 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20" dirty="0">
                <a:latin typeface="Calibri"/>
                <a:cs typeface="Calibri"/>
              </a:rPr>
              <a:t>system </a:t>
            </a:r>
            <a:r>
              <a:rPr sz="2600" dirty="0">
                <a:latin typeface="Calibri"/>
                <a:cs typeface="Calibri"/>
              </a:rPr>
              <a:t>lie</a:t>
            </a:r>
            <a:r>
              <a:rPr lang="en-GB" sz="2600" dirty="0">
                <a:latin typeface="Calibri"/>
                <a:cs typeface="Calibri"/>
              </a:rPr>
              <a:t>s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at</a:t>
            </a:r>
            <a:endParaRPr sz="2600" dirty="0">
              <a:latin typeface="Calibri"/>
              <a:cs typeface="Calibri"/>
            </a:endParaRPr>
          </a:p>
          <a:p>
            <a:pPr marL="1181100">
              <a:lnSpc>
                <a:spcPct val="100000"/>
              </a:lnSpc>
              <a:spcBef>
                <a:spcPts val="2465"/>
              </a:spcBef>
              <a:tabLst>
                <a:tab pos="2256790" algn="l"/>
              </a:tabLst>
            </a:pPr>
            <a:r>
              <a:rPr sz="2400" i="1" spc="75" dirty="0">
                <a:latin typeface="Times New Roman"/>
                <a:cs typeface="Times New Roman"/>
              </a:rPr>
              <a:t>pole	</a:t>
            </a:r>
            <a:r>
              <a:rPr sz="2400" spc="80" dirty="0">
                <a:latin typeface="Times New Roman"/>
                <a:cs typeface="Times New Roman"/>
              </a:rPr>
              <a:t>3</a:t>
            </a:r>
            <a:endParaRPr sz="2400" dirty="0">
              <a:latin typeface="Times New Roman"/>
              <a:cs typeface="Times New Roman"/>
            </a:endParaRPr>
          </a:p>
          <a:p>
            <a:pPr marL="1703705" algn="ctr">
              <a:lnSpc>
                <a:spcPct val="100000"/>
              </a:lnSpc>
              <a:spcBef>
                <a:spcPts val="340"/>
              </a:spcBef>
            </a:pPr>
            <a:r>
              <a:rPr lang="en-GB" sz="1800" i="1" spc="140" dirty="0">
                <a:latin typeface="Times New Roman"/>
                <a:cs typeface="Times New Roman"/>
              </a:rPr>
              <a:t>   </a:t>
            </a:r>
            <a:r>
              <a:rPr sz="1800" i="1" spc="140" dirty="0">
                <a:latin typeface="Times New Roman"/>
                <a:cs typeface="Times New Roman"/>
              </a:rPr>
              <a:t>j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5" name="object 24">
            <a:extLst>
              <a:ext uri="{FF2B5EF4-FFF2-40B4-BE49-F238E27FC236}">
                <a16:creationId xmlns:a16="http://schemas.microsoft.com/office/drawing/2014/main" id="{AF4484D7-9118-48D0-9C46-1E1E7C181C93}"/>
              </a:ext>
            </a:extLst>
          </p:cNvPr>
          <p:cNvSpPr txBox="1"/>
          <p:nvPr/>
        </p:nvSpPr>
        <p:spPr>
          <a:xfrm>
            <a:off x="2893314" y="4753609"/>
            <a:ext cx="701040" cy="1207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0805" algn="r">
              <a:lnSpc>
                <a:spcPts val="1845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  <a:p>
            <a:pPr marR="89535" algn="r">
              <a:lnSpc>
                <a:spcPts val="1845"/>
              </a:lnSpc>
            </a:pPr>
            <a:r>
              <a:rPr sz="1800" b="1" dirty="0">
                <a:latin typeface="Calibri"/>
                <a:cs typeface="Calibri"/>
              </a:rPr>
              <a:t>-3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s-</a:t>
            </a:r>
            <a:r>
              <a:rPr sz="1800" spc="-5" dirty="0">
                <a:solidFill>
                  <a:srgbClr val="C00000"/>
                </a:solidFill>
                <a:latin typeface="Calibri"/>
                <a:cs typeface="Calibri"/>
              </a:rPr>
              <a:t>plane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887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Tutorial 2: Have a go</a:t>
            </a:r>
            <a:endParaRPr lang="en-GB" sz="2400" dirty="0">
              <a:cs typeface="Arial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BEFA66A-3DF5-4531-B2C1-29D5E8430170}"/>
              </a:ext>
            </a:extLst>
          </p:cNvPr>
          <p:cNvSpPr txBox="1"/>
          <p:nvPr/>
        </p:nvSpPr>
        <p:spPr>
          <a:xfrm>
            <a:off x="299691" y="771741"/>
            <a:ext cx="6550659" cy="245110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Consider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following </a:t>
            </a:r>
            <a:r>
              <a:rPr sz="2800" spc="-25" dirty="0">
                <a:latin typeface="Calibri"/>
                <a:cs typeface="Calibri"/>
              </a:rPr>
              <a:t>transfer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functions.</a:t>
            </a:r>
            <a:endParaRPr sz="2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Determine</a:t>
            </a:r>
            <a:endParaRPr sz="24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Whether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5" dirty="0">
                <a:latin typeface="Calibri"/>
                <a:cs typeface="Calibri"/>
              </a:rPr>
              <a:t>transfer </a:t>
            </a:r>
            <a:r>
              <a:rPr sz="2000" dirty="0">
                <a:latin typeface="Calibri"/>
                <a:cs typeface="Calibri"/>
              </a:rPr>
              <a:t>function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proper 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improper</a:t>
            </a:r>
            <a:endParaRPr sz="20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15" dirty="0">
                <a:latin typeface="Calibri"/>
                <a:cs typeface="Calibri"/>
              </a:rPr>
              <a:t>Poles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endParaRPr sz="20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20" dirty="0">
                <a:latin typeface="Calibri"/>
                <a:cs typeface="Calibri"/>
              </a:rPr>
              <a:t>zeros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endParaRPr sz="20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Order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21504" name="Group 21503"/>
          <p:cNvGrpSpPr/>
          <p:nvPr/>
        </p:nvGrpSpPr>
        <p:grpSpPr>
          <a:xfrm>
            <a:off x="617292" y="3645884"/>
            <a:ext cx="7707921" cy="2565821"/>
            <a:chOff x="617292" y="3645884"/>
            <a:chExt cx="7707921" cy="2565821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6EE8C75-4CAD-4C16-A349-9592BF1F187D}"/>
                </a:ext>
              </a:extLst>
            </p:cNvPr>
            <p:cNvSpPr/>
            <p:nvPr/>
          </p:nvSpPr>
          <p:spPr>
            <a:xfrm>
              <a:off x="1941419" y="4168988"/>
              <a:ext cx="1001394" cy="0"/>
            </a:xfrm>
            <a:custGeom>
              <a:avLst/>
              <a:gdLst/>
              <a:ahLst/>
              <a:cxnLst/>
              <a:rect l="l" t="t" r="r" b="b"/>
              <a:pathLst>
                <a:path w="1001394">
                  <a:moveTo>
                    <a:pt x="0" y="0"/>
                  </a:moveTo>
                  <a:lnTo>
                    <a:pt x="1001266" y="0"/>
                  </a:lnTo>
                </a:path>
              </a:pathLst>
            </a:custGeom>
            <a:ln w="147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7A54775-78DB-438E-9C9D-9A3D99EBA902}"/>
                </a:ext>
              </a:extLst>
            </p:cNvPr>
            <p:cNvSpPr/>
            <p:nvPr/>
          </p:nvSpPr>
          <p:spPr>
            <a:xfrm>
              <a:off x="2417364" y="4178576"/>
              <a:ext cx="334779" cy="38873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3F57740-EABD-40FA-A585-4CDBF0B3BF7E}"/>
                </a:ext>
              </a:extLst>
            </p:cNvPr>
            <p:cNvSpPr/>
            <p:nvPr/>
          </p:nvSpPr>
          <p:spPr>
            <a:xfrm>
              <a:off x="2357205" y="3727162"/>
              <a:ext cx="334779" cy="38873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7E83E82-FCDF-4E38-A3D3-7E0993ACD1C6}"/>
                </a:ext>
              </a:extLst>
            </p:cNvPr>
            <p:cNvSpPr/>
            <p:nvPr/>
          </p:nvSpPr>
          <p:spPr>
            <a:xfrm>
              <a:off x="1673727" y="3929262"/>
              <a:ext cx="334779" cy="38873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A972E93-9781-467A-9C38-12A7A872311E}"/>
                </a:ext>
              </a:extLst>
            </p:cNvPr>
            <p:cNvSpPr txBox="1"/>
            <p:nvPr/>
          </p:nvSpPr>
          <p:spPr>
            <a:xfrm>
              <a:off x="1960350" y="3645884"/>
              <a:ext cx="991869" cy="928369"/>
            </a:xfrm>
            <a:prstGeom prst="rect">
              <a:avLst/>
            </a:prstGeom>
          </p:spPr>
          <p:txBody>
            <a:bodyPr vert="horz" wrap="square" lIns="0" tIns="83185" rIns="0" bIns="0" rtlCol="0">
              <a:spAutoFit/>
            </a:bodyPr>
            <a:lstStyle/>
            <a:p>
              <a:pPr marL="6350" algn="ctr">
                <a:lnSpc>
                  <a:spcPct val="100000"/>
                </a:lnSpc>
                <a:spcBef>
                  <a:spcPts val="655"/>
                </a:spcBef>
                <a:tabLst>
                  <a:tab pos="434975" algn="l"/>
                </a:tabLst>
              </a:pPr>
              <a:r>
                <a:rPr sz="2500" i="1" spc="35" dirty="0">
                  <a:latin typeface="Times New Roman"/>
                  <a:cs typeface="Times New Roman"/>
                </a:rPr>
                <a:t>s	</a:t>
              </a:r>
              <a:r>
                <a:rPr sz="2500" spc="50" dirty="0">
                  <a:latin typeface="Times New Roman"/>
                  <a:cs typeface="Times New Roman"/>
                </a:rPr>
                <a:t>3</a:t>
              </a:r>
              <a:endParaRPr sz="2500" dirty="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555"/>
                </a:spcBef>
                <a:tabLst>
                  <a:tab pos="688340" algn="l"/>
                </a:tabLst>
              </a:pPr>
              <a:r>
                <a:rPr sz="2500" i="1" spc="-20" dirty="0">
                  <a:latin typeface="Times New Roman"/>
                  <a:cs typeface="Times New Roman"/>
                </a:rPr>
                <a:t>s</a:t>
              </a:r>
              <a:r>
                <a:rPr sz="2500" spc="160" dirty="0">
                  <a:latin typeface="Century"/>
                  <a:cs typeface="Century"/>
                </a:rPr>
                <a:t>(</a:t>
              </a:r>
              <a:r>
                <a:rPr sz="2500" i="1" spc="35" dirty="0">
                  <a:latin typeface="Times New Roman"/>
                  <a:cs typeface="Times New Roman"/>
                </a:rPr>
                <a:t>s</a:t>
              </a:r>
              <a:r>
                <a:rPr sz="2500" i="1" dirty="0">
                  <a:latin typeface="Times New Roman"/>
                  <a:cs typeface="Times New Roman"/>
                </a:rPr>
                <a:t>	</a:t>
              </a:r>
              <a:r>
                <a:rPr sz="2500" spc="55" dirty="0">
                  <a:latin typeface="Times New Roman"/>
                  <a:cs typeface="Times New Roman"/>
                </a:rPr>
                <a:t>2</a:t>
              </a:r>
              <a:r>
                <a:rPr sz="2500" spc="30" dirty="0">
                  <a:latin typeface="Century"/>
                  <a:cs typeface="Century"/>
                </a:rPr>
                <a:t>)</a:t>
              </a:r>
              <a:endParaRPr sz="2500" dirty="0">
                <a:latin typeface="Century"/>
                <a:cs typeface="Century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BEDAB956-0B70-4AAD-B658-C2B153555C53}"/>
                </a:ext>
              </a:extLst>
            </p:cNvPr>
            <p:cNvSpPr txBox="1"/>
            <p:nvPr/>
          </p:nvSpPr>
          <p:spPr>
            <a:xfrm>
              <a:off x="976815" y="3918783"/>
              <a:ext cx="636270" cy="4064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500" i="1" spc="10" dirty="0">
                  <a:latin typeface="Times New Roman"/>
                  <a:cs typeface="Times New Roman"/>
                </a:rPr>
                <a:t>G</a:t>
              </a:r>
              <a:r>
                <a:rPr sz="2500" spc="160" dirty="0">
                  <a:latin typeface="Century"/>
                  <a:cs typeface="Century"/>
                </a:rPr>
                <a:t>(</a:t>
              </a:r>
              <a:r>
                <a:rPr sz="2500" i="1" spc="135" dirty="0">
                  <a:latin typeface="Times New Roman"/>
                  <a:cs typeface="Times New Roman"/>
                </a:rPr>
                <a:t>s</a:t>
              </a:r>
              <a:r>
                <a:rPr sz="2500" spc="30" dirty="0">
                  <a:latin typeface="Century"/>
                  <a:cs typeface="Century"/>
                </a:rPr>
                <a:t>)</a:t>
              </a:r>
              <a:endParaRPr sz="2500" dirty="0">
                <a:latin typeface="Century"/>
                <a:cs typeface="Century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189919D-C3A4-4AF6-9558-0B9743C661E1}"/>
                </a:ext>
              </a:extLst>
            </p:cNvPr>
            <p:cNvSpPr/>
            <p:nvPr/>
          </p:nvSpPr>
          <p:spPr>
            <a:xfrm>
              <a:off x="6527491" y="4115090"/>
              <a:ext cx="1594596" cy="50907"/>
            </a:xfrm>
            <a:custGeom>
              <a:avLst/>
              <a:gdLst/>
              <a:ahLst/>
              <a:cxnLst/>
              <a:rect l="l" t="t" r="r" b="b"/>
              <a:pathLst>
                <a:path w="2460625">
                  <a:moveTo>
                    <a:pt x="0" y="0"/>
                  </a:moveTo>
                  <a:lnTo>
                    <a:pt x="2460490" y="0"/>
                  </a:lnTo>
                </a:path>
              </a:pathLst>
            </a:custGeom>
            <a:ln w="147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DFDEFB5-4786-4161-9E7A-C28DA8A6135A}"/>
                </a:ext>
              </a:extLst>
            </p:cNvPr>
            <p:cNvSpPr/>
            <p:nvPr/>
          </p:nvSpPr>
          <p:spPr>
            <a:xfrm>
              <a:off x="7614652" y="4131477"/>
              <a:ext cx="336112" cy="4328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BCECD487-D0E0-417E-900C-973AC11AE259}"/>
                </a:ext>
              </a:extLst>
            </p:cNvPr>
            <p:cNvSpPr/>
            <p:nvPr/>
          </p:nvSpPr>
          <p:spPr>
            <a:xfrm>
              <a:off x="6775929" y="4131477"/>
              <a:ext cx="336112" cy="43284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1914D60-CBCF-40C6-9A0E-989467A0A421}"/>
                </a:ext>
              </a:extLst>
            </p:cNvPr>
            <p:cNvSpPr/>
            <p:nvPr/>
          </p:nvSpPr>
          <p:spPr>
            <a:xfrm>
              <a:off x="6093111" y="3878970"/>
              <a:ext cx="336112" cy="38873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50B29AB5-48D1-4E41-B544-D4009920142F}"/>
                </a:ext>
              </a:extLst>
            </p:cNvPr>
            <p:cNvSpPr txBox="1"/>
            <p:nvPr/>
          </p:nvSpPr>
          <p:spPr>
            <a:xfrm>
              <a:off x="7008727" y="4165105"/>
              <a:ext cx="1122680" cy="4064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840740" algn="l"/>
                </a:tabLst>
              </a:pPr>
              <a:r>
                <a:rPr sz="2500" spc="50" dirty="0">
                  <a:latin typeface="Times New Roman"/>
                  <a:cs typeface="Times New Roman"/>
                </a:rPr>
                <a:t>2</a:t>
              </a:r>
              <a:r>
                <a:rPr sz="2500" spc="45" dirty="0">
                  <a:latin typeface="Century"/>
                  <a:cs typeface="Century"/>
                </a:rPr>
                <a:t>)</a:t>
              </a:r>
              <a:r>
                <a:rPr sz="2500" spc="100" dirty="0">
                  <a:latin typeface="Century"/>
                  <a:cs typeface="Century"/>
                </a:rPr>
                <a:t>(</a:t>
              </a:r>
              <a:r>
                <a:rPr sz="2500" i="1" spc="40" dirty="0">
                  <a:latin typeface="Times New Roman"/>
                  <a:cs typeface="Times New Roman"/>
                </a:rPr>
                <a:t>s</a:t>
              </a:r>
              <a:r>
                <a:rPr sz="2500" i="1" dirty="0">
                  <a:latin typeface="Times New Roman"/>
                  <a:cs typeface="Times New Roman"/>
                </a:rPr>
                <a:t>	</a:t>
              </a:r>
              <a:r>
                <a:rPr sz="2500" spc="-15" dirty="0">
                  <a:latin typeface="Times New Roman"/>
                  <a:cs typeface="Times New Roman"/>
                </a:rPr>
                <a:t>3</a:t>
              </a:r>
              <a:r>
                <a:rPr sz="2500" spc="35" dirty="0">
                  <a:latin typeface="Century"/>
                  <a:cs typeface="Century"/>
                </a:rPr>
                <a:t>)</a:t>
              </a:r>
              <a:endParaRPr sz="2500" dirty="0">
                <a:latin typeface="Century"/>
                <a:cs typeface="Century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FCD1EBC-14F4-4642-9759-E0BDF3BDF084}"/>
                </a:ext>
              </a:extLst>
            </p:cNvPr>
            <p:cNvSpPr txBox="1"/>
            <p:nvPr/>
          </p:nvSpPr>
          <p:spPr>
            <a:xfrm>
              <a:off x="5660376" y="4165105"/>
              <a:ext cx="1231398" cy="3969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  <a:tabLst>
                  <a:tab pos="546100" algn="l"/>
                </a:tabLst>
              </a:pPr>
              <a:r>
                <a:rPr lang="en-GB" sz="2500" spc="100" dirty="0">
                  <a:latin typeface="Century"/>
                  <a:cs typeface="Century"/>
                </a:rPr>
                <a:t>        </a:t>
              </a:r>
              <a:r>
                <a:rPr sz="2500" spc="100" dirty="0">
                  <a:latin typeface="Century"/>
                  <a:cs typeface="Century"/>
                </a:rPr>
                <a:t>(</a:t>
              </a:r>
              <a:r>
                <a:rPr sz="2500" i="1" spc="40" dirty="0">
                  <a:latin typeface="Times New Roman"/>
                  <a:cs typeface="Times New Roman"/>
                </a:rPr>
                <a:t>s</a:t>
              </a:r>
              <a:endParaRPr sz="2500" dirty="0">
                <a:latin typeface="Times New Roman"/>
                <a:cs typeface="Times New Roman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4BFA263-68F8-408A-8CBF-F0D81B81F064}"/>
                </a:ext>
              </a:extLst>
            </p:cNvPr>
            <p:cNvSpPr txBox="1"/>
            <p:nvPr/>
          </p:nvSpPr>
          <p:spPr>
            <a:xfrm>
              <a:off x="6819756" y="3713689"/>
              <a:ext cx="155575" cy="4064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500" i="1" spc="40" dirty="0">
                  <a:latin typeface="Times New Roman"/>
                  <a:cs typeface="Times New Roman"/>
                </a:rPr>
                <a:t>s</a:t>
              </a:r>
              <a:endParaRPr sz="2500">
                <a:latin typeface="Times New Roman"/>
                <a:cs typeface="Times New Roman"/>
              </a:endParaRPr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FD63791C-BD21-4014-B9A7-6379881BBB57}"/>
                </a:ext>
              </a:extLst>
            </p:cNvPr>
            <p:cNvSpPr txBox="1"/>
            <p:nvPr/>
          </p:nvSpPr>
          <p:spPr>
            <a:xfrm>
              <a:off x="5394230" y="3868491"/>
              <a:ext cx="638175" cy="40640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2500" i="1" spc="15" dirty="0">
                  <a:latin typeface="Times New Roman"/>
                  <a:cs typeface="Times New Roman"/>
                </a:rPr>
                <a:t>G</a:t>
              </a:r>
              <a:r>
                <a:rPr sz="2500" spc="165" dirty="0">
                  <a:latin typeface="Century"/>
                  <a:cs typeface="Century"/>
                </a:rPr>
                <a:t>(</a:t>
              </a:r>
              <a:r>
                <a:rPr sz="2500" i="1" spc="140" dirty="0">
                  <a:latin typeface="Times New Roman"/>
                  <a:cs typeface="Times New Roman"/>
                </a:rPr>
                <a:t>s</a:t>
              </a:r>
              <a:r>
                <a:rPr sz="2500" spc="35" dirty="0">
                  <a:latin typeface="Century"/>
                  <a:cs typeface="Century"/>
                </a:rPr>
                <a:t>)</a:t>
              </a:r>
              <a:endParaRPr sz="2500">
                <a:latin typeface="Century"/>
                <a:cs typeface="Century"/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21EDB0A3-9A42-46CD-A6AA-A3E5BE2E2C01}"/>
                </a:ext>
              </a:extLst>
            </p:cNvPr>
            <p:cNvSpPr/>
            <p:nvPr/>
          </p:nvSpPr>
          <p:spPr>
            <a:xfrm>
              <a:off x="1995142" y="5691994"/>
              <a:ext cx="1303020" cy="0"/>
            </a:xfrm>
            <a:custGeom>
              <a:avLst/>
              <a:gdLst/>
              <a:ahLst/>
              <a:cxnLst/>
              <a:rect l="l" t="t" r="r" b="b"/>
              <a:pathLst>
                <a:path w="1303020">
                  <a:moveTo>
                    <a:pt x="0" y="0"/>
                  </a:moveTo>
                  <a:lnTo>
                    <a:pt x="1302818" y="0"/>
                  </a:lnTo>
                </a:path>
              </a:pathLst>
            </a:custGeom>
            <a:ln w="158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7E9BF4F1-0511-418A-8EB9-2609277C49DE}"/>
                </a:ext>
              </a:extLst>
            </p:cNvPr>
            <p:cNvSpPr/>
            <p:nvPr/>
          </p:nvSpPr>
          <p:spPr>
            <a:xfrm>
              <a:off x="2475656" y="5252118"/>
              <a:ext cx="335686" cy="38630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03D70823-39DA-4C74-A089-97B7BE594482}"/>
                </a:ext>
              </a:extLst>
            </p:cNvPr>
            <p:cNvSpPr/>
            <p:nvPr/>
          </p:nvSpPr>
          <p:spPr>
            <a:xfrm>
              <a:off x="1724581" y="5453550"/>
              <a:ext cx="335686" cy="38630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8A9C753D-E0FA-4C41-B49A-2B70D22F7646}"/>
                </a:ext>
              </a:extLst>
            </p:cNvPr>
            <p:cNvSpPr txBox="1"/>
            <p:nvPr/>
          </p:nvSpPr>
          <p:spPr>
            <a:xfrm>
              <a:off x="1995142" y="5691994"/>
              <a:ext cx="1288415" cy="4038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  <a:tabLst>
                  <a:tab pos="841375" algn="l"/>
                </a:tabLst>
              </a:pPr>
              <a:r>
                <a:rPr sz="2450" i="1" spc="15" dirty="0">
                  <a:latin typeface="Times New Roman"/>
                  <a:cs typeface="Times New Roman"/>
                </a:rPr>
                <a:t>s</a:t>
              </a:r>
              <a:r>
                <a:rPr sz="2450" spc="185" dirty="0">
                  <a:latin typeface="Century"/>
                  <a:cs typeface="Century"/>
                </a:rPr>
                <a:t>(</a:t>
              </a:r>
              <a:r>
                <a:rPr sz="2450" i="1" spc="229" dirty="0">
                  <a:latin typeface="Times New Roman"/>
                  <a:cs typeface="Times New Roman"/>
                </a:rPr>
                <a:t>s</a:t>
              </a:r>
              <a:r>
                <a:rPr lang="en-GB" sz="2625" baseline="34920" dirty="0">
                  <a:latin typeface="Times New Roman"/>
                  <a:cs typeface="Times New Roman"/>
                </a:rPr>
                <a:t> _</a:t>
              </a:r>
              <a:r>
                <a:rPr sz="2450" spc="90" dirty="0">
                  <a:latin typeface="Times New Roman"/>
                  <a:cs typeface="Times New Roman"/>
                </a:rPr>
                <a:t>1</a:t>
              </a:r>
              <a:r>
                <a:rPr lang="en-GB" sz="2450" spc="20" dirty="0">
                  <a:latin typeface="Times New Roman"/>
                  <a:cs typeface="Times New Roman"/>
                </a:rPr>
                <a:t>0</a:t>
              </a:r>
              <a:r>
                <a:rPr sz="2450" spc="15" dirty="0">
                  <a:latin typeface="Century"/>
                  <a:cs typeface="Century"/>
                </a:rPr>
                <a:t>)</a:t>
              </a:r>
              <a:endParaRPr sz="2450" dirty="0">
                <a:latin typeface="Century"/>
                <a:cs typeface="Century"/>
              </a:endParaRPr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7C3BCEB-B35B-4B25-8E17-A5B11796B1D6}"/>
                </a:ext>
              </a:extLst>
            </p:cNvPr>
            <p:cNvSpPr txBox="1"/>
            <p:nvPr/>
          </p:nvSpPr>
          <p:spPr>
            <a:xfrm>
              <a:off x="2137236" y="5241656"/>
              <a:ext cx="975360" cy="4038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  <a:tabLst>
                  <a:tab pos="574675" algn="l"/>
                </a:tabLst>
              </a:pPr>
              <a:r>
                <a:rPr sz="2450" spc="185" dirty="0">
                  <a:latin typeface="Century"/>
                  <a:cs typeface="Century"/>
                </a:rPr>
                <a:t>(</a:t>
              </a:r>
              <a:r>
                <a:rPr sz="2450" i="1" spc="25" dirty="0">
                  <a:latin typeface="Times New Roman"/>
                  <a:cs typeface="Times New Roman"/>
                </a:rPr>
                <a:t>s</a:t>
              </a:r>
              <a:r>
                <a:rPr sz="2450" i="1" dirty="0">
                  <a:latin typeface="Times New Roman"/>
                  <a:cs typeface="Times New Roman"/>
                </a:rPr>
                <a:t>	</a:t>
              </a:r>
              <a:r>
                <a:rPr sz="2450" spc="15" dirty="0">
                  <a:latin typeface="Times New Roman"/>
                  <a:cs typeface="Times New Roman"/>
                </a:rPr>
                <a:t>3</a:t>
              </a:r>
              <a:r>
                <a:rPr sz="2450" spc="95" dirty="0">
                  <a:latin typeface="Century"/>
                  <a:cs typeface="Century"/>
                </a:rPr>
                <a:t>)</a:t>
              </a:r>
              <a:r>
                <a:rPr sz="2625" spc="0" baseline="34920" dirty="0">
                  <a:latin typeface="Times New Roman"/>
                  <a:cs typeface="Times New Roman"/>
                </a:rPr>
                <a:t>2</a:t>
              </a:r>
              <a:endParaRPr sz="2625" baseline="34920">
                <a:latin typeface="Times New Roman"/>
                <a:cs typeface="Times New Roman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D960CDEE-0BAB-4FEE-8A2B-6A5D3EC52C61}"/>
                </a:ext>
              </a:extLst>
            </p:cNvPr>
            <p:cNvSpPr txBox="1"/>
            <p:nvPr/>
          </p:nvSpPr>
          <p:spPr>
            <a:xfrm>
              <a:off x="1021390" y="5443119"/>
              <a:ext cx="637540" cy="403860"/>
            </a:xfrm>
            <a:prstGeom prst="rect">
              <a:avLst/>
            </a:prstGeom>
          </p:spPr>
          <p:txBody>
            <a:bodyPr vert="horz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2450" i="1" spc="55" dirty="0">
                  <a:latin typeface="Times New Roman"/>
                  <a:cs typeface="Times New Roman"/>
                </a:rPr>
                <a:t>G</a:t>
              </a:r>
              <a:r>
                <a:rPr sz="2450" spc="180" dirty="0">
                  <a:latin typeface="Century"/>
                  <a:cs typeface="Century"/>
                </a:rPr>
                <a:t>(</a:t>
              </a:r>
              <a:r>
                <a:rPr sz="2450" i="1" spc="175" dirty="0">
                  <a:latin typeface="Times New Roman"/>
                  <a:cs typeface="Times New Roman"/>
                </a:rPr>
                <a:t>s</a:t>
              </a:r>
              <a:r>
                <a:rPr sz="2450" spc="15" dirty="0">
                  <a:latin typeface="Century"/>
                  <a:cs typeface="Century"/>
                </a:rPr>
                <a:t>)</a:t>
              </a:r>
              <a:endParaRPr sz="2450">
                <a:latin typeface="Century"/>
                <a:cs typeface="Century"/>
              </a:endParaRPr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4777AF5C-092A-41EF-9031-2AEAE20C9C33}"/>
                </a:ext>
              </a:extLst>
            </p:cNvPr>
            <p:cNvSpPr/>
            <p:nvPr/>
          </p:nvSpPr>
          <p:spPr>
            <a:xfrm flipV="1">
              <a:off x="6429224" y="5691196"/>
              <a:ext cx="1382260" cy="45719"/>
            </a:xfrm>
            <a:custGeom>
              <a:avLst/>
              <a:gdLst/>
              <a:ahLst/>
              <a:cxnLst/>
              <a:rect l="l" t="t" r="r" b="b"/>
              <a:pathLst>
                <a:path w="1132204">
                  <a:moveTo>
                    <a:pt x="0" y="0"/>
                  </a:moveTo>
                  <a:lnTo>
                    <a:pt x="1131792" y="0"/>
                  </a:lnTo>
                </a:path>
              </a:pathLst>
            </a:custGeom>
            <a:ln w="156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6A48927D-01C0-48C7-BB23-456700DE89C7}"/>
                </a:ext>
              </a:extLst>
            </p:cNvPr>
            <p:cNvSpPr/>
            <p:nvPr/>
          </p:nvSpPr>
          <p:spPr>
            <a:xfrm>
              <a:off x="7333813" y="5251869"/>
              <a:ext cx="336092" cy="385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6DFEAC87-070C-4C34-8A53-EB8672F805DE}"/>
                </a:ext>
              </a:extLst>
            </p:cNvPr>
            <p:cNvSpPr/>
            <p:nvPr/>
          </p:nvSpPr>
          <p:spPr>
            <a:xfrm>
              <a:off x="6142911" y="5452515"/>
              <a:ext cx="336092" cy="38561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06A5E241-21AA-4D06-B87C-4468732C5819}"/>
                </a:ext>
              </a:extLst>
            </p:cNvPr>
            <p:cNvSpPr txBox="1"/>
            <p:nvPr/>
          </p:nvSpPr>
          <p:spPr>
            <a:xfrm>
              <a:off x="6756281" y="5229233"/>
              <a:ext cx="1118870" cy="923925"/>
            </a:xfrm>
            <a:prstGeom prst="rect">
              <a:avLst/>
            </a:prstGeom>
          </p:spPr>
          <p:txBody>
            <a:bodyPr vert="horz" wrap="square" lIns="0" tIns="87630" rIns="0" bIns="0" rtlCol="0">
              <a:spAutoFit/>
            </a:bodyPr>
            <a:lstStyle/>
            <a:p>
              <a:pPr marL="19050">
                <a:lnSpc>
                  <a:spcPct val="100000"/>
                </a:lnSpc>
                <a:spcBef>
                  <a:spcPts val="690"/>
                </a:spcBef>
                <a:tabLst>
                  <a:tab pos="846455" algn="l"/>
                </a:tabLst>
              </a:pPr>
              <a:r>
                <a:rPr sz="2450" i="1" spc="130" dirty="0">
                  <a:latin typeface="Times New Roman"/>
                  <a:cs typeface="Times New Roman"/>
                </a:rPr>
                <a:t>s</a:t>
              </a:r>
              <a:r>
                <a:rPr sz="2550" spc="-330" baseline="35947" dirty="0">
                  <a:latin typeface="Times New Roman"/>
                  <a:cs typeface="Times New Roman"/>
                </a:rPr>
                <a:t> </a:t>
              </a:r>
              <a:r>
                <a:rPr lang="en-GB" sz="2550" spc="-330" baseline="35947" dirty="0">
                  <a:latin typeface="Times New Roman"/>
                  <a:cs typeface="Times New Roman"/>
                </a:rPr>
                <a:t>    </a:t>
              </a:r>
              <a:r>
                <a:rPr sz="2450" spc="110" dirty="0">
                  <a:latin typeface="Century"/>
                  <a:cs typeface="Century"/>
                </a:rPr>
                <a:t>(</a:t>
              </a:r>
              <a:r>
                <a:rPr sz="2450" i="1" spc="110" dirty="0">
                  <a:latin typeface="Times New Roman"/>
                  <a:cs typeface="Times New Roman"/>
                </a:rPr>
                <a:t>s	</a:t>
              </a:r>
              <a:r>
                <a:rPr sz="2450" spc="-40" dirty="0">
                  <a:latin typeface="Times New Roman"/>
                  <a:cs typeface="Times New Roman"/>
                </a:rPr>
                <a:t>1</a:t>
              </a:r>
              <a:r>
                <a:rPr sz="2450" spc="-40" dirty="0">
                  <a:latin typeface="Century"/>
                  <a:cs typeface="Century"/>
                </a:rPr>
                <a:t>)</a:t>
              </a:r>
              <a:endParaRPr sz="2450" dirty="0">
                <a:latin typeface="Century"/>
                <a:cs typeface="Century"/>
              </a:endParaRPr>
            </a:p>
            <a:p>
              <a:pPr marL="12700">
                <a:lnSpc>
                  <a:spcPct val="100000"/>
                </a:lnSpc>
                <a:spcBef>
                  <a:spcPts val="595"/>
                </a:spcBef>
                <a:tabLst>
                  <a:tab pos="671195" algn="l"/>
                </a:tabLst>
              </a:pPr>
              <a:endParaRPr sz="2450" dirty="0">
                <a:latin typeface="Century"/>
                <a:cs typeface="Century"/>
              </a:endParaRPr>
            </a:p>
          </p:txBody>
        </p:sp>
        <p:sp>
          <p:nvSpPr>
            <p:cNvPr id="32" name="object 31">
              <a:extLst>
                <a:ext uri="{FF2B5EF4-FFF2-40B4-BE49-F238E27FC236}">
                  <a16:creationId xmlns:a16="http://schemas.microsoft.com/office/drawing/2014/main" id="{FD95A891-EDE9-4C82-8347-3D31CB4FC1AE}"/>
                </a:ext>
              </a:extLst>
            </p:cNvPr>
            <p:cNvSpPr txBox="1"/>
            <p:nvPr/>
          </p:nvSpPr>
          <p:spPr>
            <a:xfrm>
              <a:off x="5441163" y="5442025"/>
              <a:ext cx="636905" cy="403225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25"/>
                </a:spcBef>
              </a:pPr>
              <a:r>
                <a:rPr sz="2450" i="1" spc="50" dirty="0">
                  <a:latin typeface="Times New Roman"/>
                  <a:cs typeface="Times New Roman"/>
                </a:rPr>
                <a:t>G</a:t>
              </a:r>
              <a:r>
                <a:rPr sz="2450" spc="185" dirty="0">
                  <a:latin typeface="Century"/>
                  <a:cs typeface="Century"/>
                </a:rPr>
                <a:t>(</a:t>
              </a:r>
              <a:r>
                <a:rPr sz="2450" i="1" spc="165" dirty="0">
                  <a:latin typeface="Times New Roman"/>
                  <a:cs typeface="Times New Roman"/>
                </a:rPr>
                <a:t>s</a:t>
              </a:r>
              <a:r>
                <a:rPr sz="2450" spc="25" dirty="0">
                  <a:latin typeface="Century"/>
                  <a:cs typeface="Century"/>
                </a:rPr>
                <a:t>)</a:t>
              </a:r>
              <a:endParaRPr sz="2450">
                <a:latin typeface="Century"/>
                <a:cs typeface="Century"/>
              </a:endParaRPr>
            </a:p>
          </p:txBody>
        </p:sp>
        <p:sp>
          <p:nvSpPr>
            <p:cNvPr id="33" name="object 32">
              <a:extLst>
                <a:ext uri="{FF2B5EF4-FFF2-40B4-BE49-F238E27FC236}">
                  <a16:creationId xmlns:a16="http://schemas.microsoft.com/office/drawing/2014/main" id="{9269A631-3101-4403-B141-367E5BB44D5C}"/>
                </a:ext>
              </a:extLst>
            </p:cNvPr>
            <p:cNvSpPr txBox="1"/>
            <p:nvPr/>
          </p:nvSpPr>
          <p:spPr>
            <a:xfrm>
              <a:off x="617292" y="3958246"/>
              <a:ext cx="15303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solidFill>
                    <a:srgbClr val="C00000"/>
                  </a:solidFill>
                  <a:latin typeface="Calibri"/>
                  <a:cs typeface="Calibri"/>
                </a:rPr>
                <a:t>i)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34" name="object 33">
              <a:extLst>
                <a:ext uri="{FF2B5EF4-FFF2-40B4-BE49-F238E27FC236}">
                  <a16:creationId xmlns:a16="http://schemas.microsoft.com/office/drawing/2014/main" id="{EE316741-890F-4ECF-AE23-603B517481A1}"/>
                </a:ext>
              </a:extLst>
            </p:cNvPr>
            <p:cNvSpPr txBox="1"/>
            <p:nvPr/>
          </p:nvSpPr>
          <p:spPr>
            <a:xfrm>
              <a:off x="4927749" y="3893604"/>
              <a:ext cx="21018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solidFill>
                    <a:srgbClr val="C00000"/>
                  </a:solidFill>
                  <a:latin typeface="Calibri"/>
                  <a:cs typeface="Calibri"/>
                </a:rPr>
                <a:t>ii)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35" name="object 34">
              <a:extLst>
                <a:ext uri="{FF2B5EF4-FFF2-40B4-BE49-F238E27FC236}">
                  <a16:creationId xmlns:a16="http://schemas.microsoft.com/office/drawing/2014/main" id="{64FABE1A-E2A6-48DD-B47D-9709A67109A5}"/>
                </a:ext>
              </a:extLst>
            </p:cNvPr>
            <p:cNvSpPr txBox="1"/>
            <p:nvPr/>
          </p:nvSpPr>
          <p:spPr>
            <a:xfrm>
              <a:off x="621255" y="5478309"/>
              <a:ext cx="26606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solidFill>
                    <a:srgbClr val="C00000"/>
                  </a:solidFill>
                  <a:latin typeface="Calibri"/>
                  <a:cs typeface="Calibri"/>
                </a:rPr>
                <a:t>iii)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36" name="object 35">
              <a:extLst>
                <a:ext uri="{FF2B5EF4-FFF2-40B4-BE49-F238E27FC236}">
                  <a16:creationId xmlns:a16="http://schemas.microsoft.com/office/drawing/2014/main" id="{6FD4CE6B-4933-4458-B3B4-909F8CF03098}"/>
                </a:ext>
              </a:extLst>
            </p:cNvPr>
            <p:cNvSpPr txBox="1"/>
            <p:nvPr/>
          </p:nvSpPr>
          <p:spPr>
            <a:xfrm>
              <a:off x="4850025" y="5468861"/>
              <a:ext cx="26225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dirty="0">
                  <a:solidFill>
                    <a:srgbClr val="C00000"/>
                  </a:solidFill>
                  <a:latin typeface="Calibri"/>
                  <a:cs typeface="Calibri"/>
                </a:rPr>
                <a:t>iv)</a:t>
              </a:r>
              <a:endParaRPr sz="1800">
                <a:latin typeface="Calibri"/>
                <a:cs typeface="Calibri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780944" y="5750040"/>
              <a:ext cx="15442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  <a:tabLst>
                  <a:tab pos="841375" algn="l"/>
                </a:tabLst>
              </a:pPr>
              <a:r>
                <a:rPr lang="en-GB" sz="2400" spc="18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GB" sz="2400" spc="185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GB" sz="2400" spc="18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 s + 4</a:t>
              </a:r>
              <a:endParaRPr lang="en-GB" dirty="0">
                <a:latin typeface="Century"/>
                <a:cs typeface="Centur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7825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auto">
          <a:xfrm>
            <a:off x="292100" y="22225"/>
            <a:ext cx="8175625" cy="5095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06070">
              <a:lnSpc>
                <a:spcPct val="100000"/>
              </a:lnSpc>
              <a:spcBef>
                <a:spcPts val="100"/>
              </a:spcBef>
            </a:pPr>
            <a:r>
              <a:rPr lang="en-GB" sz="2400" b="1" dirty="0">
                <a:solidFill>
                  <a:srgbClr val="C60B2F"/>
                </a:solidFill>
                <a:cs typeface="Arial"/>
              </a:rPr>
              <a:t>Time Domain Analysis</a:t>
            </a:r>
            <a:endParaRPr lang="en-GB" sz="2400" dirty="0"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3657" y="608150"/>
            <a:ext cx="8229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Tx/>
            </a:pPr>
            <a:r>
              <a:rPr lang="en-US" sz="2000" dirty="0"/>
              <a:t>In time-domain analysis the response of a dynamic system to an input is expressed as a function of time.</a:t>
            </a:r>
          </a:p>
          <a:p>
            <a:pPr algn="just">
              <a:buClrTx/>
            </a:pP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511628" y="1488443"/>
            <a:ext cx="78472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Tx/>
              <a:buFont typeface="Arial" panose="020B0604020202020204" pitchFamily="34" charset="0"/>
              <a:buChar char="•"/>
            </a:pPr>
            <a:r>
              <a:rPr lang="en-US" sz="2000" dirty="0"/>
              <a:t>It is possible to compute the time response of a system if the nature of input and the mathematical model of the system are known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511628" y="2657955"/>
            <a:ext cx="78472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Tx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Arial"/>
                <a:ea typeface="ＭＳ Ｐゴシック" charset="-128"/>
                <a:cs typeface="Arial"/>
              </a:rPr>
              <a:t>The characteristics of common actual input signals are a sudden shock, a sudden change, a constant velocity, and constant acceleration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511627" y="3759162"/>
            <a:ext cx="78472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Tx/>
              <a:buFont typeface="Arial" panose="020B0604020202020204" pitchFamily="34" charset="0"/>
              <a:buChar char="•"/>
            </a:pPr>
            <a:r>
              <a:rPr lang="en-US" sz="2000" dirty="0"/>
              <a:t>The dynamic behavior of a system is therefore judged and compared under application of standard test signals – an impulse, a step, a constant velocity, and constant acceleration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628" y="5010308"/>
            <a:ext cx="78472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ClrTx/>
              <a:buFont typeface="Arial" panose="020B0604020202020204" pitchFamily="34" charset="0"/>
              <a:buChar char="•"/>
            </a:pPr>
            <a:r>
              <a:rPr lang="en-US" sz="2000" dirty="0"/>
              <a:t>In some situations a standard signal of great importance is a sinusoidal signal</a:t>
            </a:r>
          </a:p>
        </p:txBody>
      </p:sp>
    </p:spTree>
    <p:extLst>
      <p:ext uri="{BB962C8B-B14F-4D97-AF65-F5344CB8AC3E}">
        <p14:creationId xmlns:p14="http://schemas.microsoft.com/office/powerpoint/2010/main" val="246149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100" y="765515"/>
            <a:ext cx="5400600" cy="1945173"/>
          </a:xfrm>
        </p:spPr>
        <p:txBody>
          <a:bodyPr>
            <a:normAutofit fontScale="92500" lnSpcReduction="20000"/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The Impulse signal</a:t>
            </a:r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The impulse signal imitate the sudden shock characteristic of actual input signal.    </a:t>
            </a:r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If A=1, the impulse signal is called unit impulse signal.</a:t>
            </a:r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6012160" y="2636912"/>
            <a:ext cx="2874854" cy="2683427"/>
            <a:chOff x="6161642" y="2160566"/>
            <a:chExt cx="2874854" cy="2683427"/>
          </a:xfrm>
        </p:grpSpPr>
        <p:grpSp>
          <p:nvGrpSpPr>
            <p:cNvPr id="14" name="Group 13"/>
            <p:cNvGrpSpPr/>
            <p:nvPr/>
          </p:nvGrpSpPr>
          <p:grpSpPr>
            <a:xfrm>
              <a:off x="6161642" y="2160566"/>
              <a:ext cx="2874854" cy="2683427"/>
              <a:chOff x="4860032" y="2160566"/>
              <a:chExt cx="2874854" cy="2683427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>
                <a:off x="4860032" y="4293096"/>
                <a:ext cx="266429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V="1">
                <a:off x="5436096" y="2467729"/>
                <a:ext cx="0" cy="237626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5189830" y="423494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0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473276" y="4126836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141472" y="2160566"/>
                <a:ext cx="524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dirty="0"/>
                  <a:t>δ</a:t>
                </a:r>
                <a:r>
                  <a:rPr lang="en-GB" dirty="0"/>
                  <a:t>(t)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040147" y="3034691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</a:t>
                </a:r>
              </a:p>
            </p:txBody>
          </p:sp>
        </p:grpSp>
        <p:cxnSp>
          <p:nvCxnSpPr>
            <p:cNvPr id="16" name="Straight Arrow Connector 15"/>
            <p:cNvCxnSpPr/>
            <p:nvPr/>
          </p:nvCxnSpPr>
          <p:spPr>
            <a:xfrm flipV="1">
              <a:off x="6739268" y="3138235"/>
              <a:ext cx="0" cy="116598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734852"/>
              </p:ext>
            </p:extLst>
          </p:nvPr>
        </p:nvGraphicFramePr>
        <p:xfrm>
          <a:off x="1084649" y="2671069"/>
          <a:ext cx="2943225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726" imgH="393529" progId="Equation.3">
                  <p:embed/>
                </p:oleObj>
              </mc:Choice>
              <mc:Fallback>
                <p:oleObj name="Equation" r:id="rId3" imgW="1091726" imgH="393529" progId="Equation.3">
                  <p:embed/>
                  <p:pic>
                    <p:nvPicPr>
                      <p:cNvPr id="1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649" y="2671069"/>
                        <a:ext cx="2943225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dirty="0"/>
              <a:t>Standard Test Signals</a:t>
            </a:r>
            <a:endParaRPr lang="en-GB" sz="2400" dirty="0">
              <a:cs typeface="Arial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0D3A069-25CC-429A-BD27-C4520094A921}"/>
              </a:ext>
            </a:extLst>
          </p:cNvPr>
          <p:cNvSpPr txBox="1">
            <a:spLocks/>
          </p:cNvSpPr>
          <p:nvPr/>
        </p:nvSpPr>
        <p:spPr>
          <a:xfrm>
            <a:off x="292100" y="4096335"/>
            <a:ext cx="5400600" cy="114622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60C30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60C30"/>
              </a:buClr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60C3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60C30"/>
              </a:buClr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60C30"/>
              </a:buClr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ＭＳ Ｐゴシック" charset="-128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If A=1, the impulse signal is called unit impulse signal.</a:t>
            </a:r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4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96" y="908720"/>
            <a:ext cx="5400600" cy="452596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Impulse signal</a:t>
            </a:r>
          </a:p>
          <a:p>
            <a:pPr lvl="0"/>
            <a:endParaRPr lang="en-US" dirty="0"/>
          </a:p>
        </p:txBody>
      </p:sp>
      <p:pic>
        <p:nvPicPr>
          <p:cNvPr id="14" name="Picture 13" descr="Impuls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03648" y="1772816"/>
            <a:ext cx="6516216" cy="43163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627784" y="6488668"/>
            <a:ext cx="4884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Source: English Wikipedia. </a:t>
            </a:r>
            <a:r>
              <a:rPr lang="en-GB" dirty="0">
                <a:hlinkClick r:id="rId4" tooltip="w:User:Iain"/>
              </a:rPr>
              <a:t>Iain</a:t>
            </a:r>
            <a:r>
              <a:rPr lang="en-GB" dirty="0"/>
              <a:t>. Original image: </a:t>
            </a:r>
            <a:r>
              <a:rPr lang="en-GB" u="sng" dirty="0">
                <a:hlinkClick r:id="rId5"/>
              </a:rPr>
              <a:t>[1]</a:t>
            </a:r>
            <a:endParaRPr lang="en-GB" dirty="0"/>
          </a:p>
        </p:txBody>
      </p:sp>
      <p:grpSp>
        <p:nvGrpSpPr>
          <p:cNvPr id="23" name="Group 22"/>
          <p:cNvGrpSpPr/>
          <p:nvPr/>
        </p:nvGrpSpPr>
        <p:grpSpPr>
          <a:xfrm>
            <a:off x="1907704" y="1412776"/>
            <a:ext cx="1296144" cy="1080120"/>
            <a:chOff x="1907704" y="1412776"/>
            <a:chExt cx="1296144" cy="1080120"/>
          </a:xfrm>
        </p:grpSpPr>
        <p:sp>
          <p:nvSpPr>
            <p:cNvPr id="17" name="Oval 16"/>
            <p:cNvSpPr/>
            <p:nvPr/>
          </p:nvSpPr>
          <p:spPr>
            <a:xfrm>
              <a:off x="2411760" y="1556792"/>
              <a:ext cx="792088" cy="93610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>
              <a:off x="1907704" y="1412776"/>
              <a:ext cx="360040" cy="4320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dirty="0"/>
              <a:t>Standard Test Signals</a:t>
            </a:r>
            <a:endParaRPr lang="en-GB"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916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655" y="754630"/>
            <a:ext cx="4464496" cy="5544616"/>
          </a:xfrm>
        </p:spPr>
        <p:txBody>
          <a:bodyPr>
            <a:normAutofit/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Step signal</a:t>
            </a:r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The step signal imitate the sudden change characteristic of actual input signal.</a:t>
            </a:r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If A=1, the step signal is called unit step signal</a:t>
            </a:r>
          </a:p>
        </p:txBody>
      </p:sp>
      <p:graphicFrame>
        <p:nvGraphicFramePr>
          <p:cNvPr id="176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7835784"/>
              </p:ext>
            </p:extLst>
          </p:nvPr>
        </p:nvGraphicFramePr>
        <p:xfrm>
          <a:off x="899592" y="3212871"/>
          <a:ext cx="2906712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79032" imgH="393529" progId="Equation.3">
                  <p:embed/>
                </p:oleObj>
              </mc:Choice>
              <mc:Fallback>
                <p:oleObj name="Equation" r:id="rId3" imgW="1079032" imgH="393529" progId="Equation.3">
                  <p:embed/>
                  <p:pic>
                    <p:nvPicPr>
                      <p:cNvPr id="1761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212871"/>
                        <a:ext cx="2906712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6"/>
          <p:cNvGrpSpPr/>
          <p:nvPr/>
        </p:nvGrpSpPr>
        <p:grpSpPr>
          <a:xfrm>
            <a:off x="5657586" y="2132856"/>
            <a:ext cx="2874854" cy="2683427"/>
            <a:chOff x="5657586" y="2160566"/>
            <a:chExt cx="2874854" cy="2683427"/>
          </a:xfrm>
        </p:grpSpPr>
        <p:grpSp>
          <p:nvGrpSpPr>
            <p:cNvPr id="6" name="Group 13"/>
            <p:cNvGrpSpPr/>
            <p:nvPr/>
          </p:nvGrpSpPr>
          <p:grpSpPr>
            <a:xfrm>
              <a:off x="5657586" y="2160566"/>
              <a:ext cx="2874854" cy="2683427"/>
              <a:chOff x="4860032" y="2160566"/>
              <a:chExt cx="2874854" cy="2683427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>
                <a:off x="4860032" y="4293096"/>
                <a:ext cx="266429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V="1">
                <a:off x="5436096" y="2467729"/>
                <a:ext cx="0" cy="237626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5189830" y="423494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0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473276" y="4126836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141472" y="2160566"/>
                <a:ext cx="524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u(t)</a:t>
                </a:r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>
                <a:off x="5436096" y="3140968"/>
                <a:ext cx="1872208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5148265" y="2955387"/>
                <a:ext cx="3177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</a:t>
                </a:r>
              </a:p>
            </p:txBody>
          </p:sp>
        </p:grpSp>
        <p:cxnSp>
          <p:nvCxnSpPr>
            <p:cNvPr id="15" name="Straight Connector 14"/>
            <p:cNvCxnSpPr/>
            <p:nvPr/>
          </p:nvCxnSpPr>
          <p:spPr>
            <a:xfrm flipH="1">
              <a:off x="6241832" y="3153701"/>
              <a:ext cx="0" cy="115304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868216" y="4293096"/>
              <a:ext cx="360000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dirty="0"/>
              <a:t>Standard Test Signals</a:t>
            </a:r>
            <a:endParaRPr lang="en-GB"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001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998" y="819755"/>
            <a:ext cx="4464496" cy="5544616"/>
          </a:xfrm>
        </p:spPr>
        <p:txBody>
          <a:bodyPr>
            <a:normAutofit/>
          </a:bodyPr>
          <a:lstStyle/>
          <a:p>
            <a:pPr lvl="0">
              <a:buClr>
                <a:schemeClr val="tx1"/>
              </a:buClr>
            </a:pPr>
            <a:r>
              <a:rPr lang="en-US" dirty="0"/>
              <a:t>Ramp signal</a:t>
            </a:r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The ramp signal imitate the constant velocity characteristic of actual input signal.</a:t>
            </a:r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i="1" dirty="0"/>
              <a:t>A=1</a:t>
            </a:r>
            <a:r>
              <a:rPr lang="en-US" dirty="0"/>
              <a:t>, the ramp signal is called unit ramp signal</a:t>
            </a:r>
          </a:p>
          <a:p>
            <a:pPr lvl="1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176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367149"/>
              </p:ext>
            </p:extLst>
          </p:nvPr>
        </p:nvGraphicFramePr>
        <p:xfrm>
          <a:off x="1039813" y="3190681"/>
          <a:ext cx="300990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17115" imgH="393529" progId="Equation.3">
                  <p:embed/>
                </p:oleObj>
              </mc:Choice>
              <mc:Fallback>
                <p:oleObj name="Equation" r:id="rId3" imgW="1117115" imgH="393529" progId="Equation.3">
                  <p:embed/>
                  <p:pic>
                    <p:nvPicPr>
                      <p:cNvPr id="1761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3" y="3190681"/>
                        <a:ext cx="3009900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3"/>
          <p:cNvGrpSpPr/>
          <p:nvPr/>
        </p:nvGrpSpPr>
        <p:grpSpPr>
          <a:xfrm>
            <a:off x="5801602" y="1124744"/>
            <a:ext cx="2874854" cy="2683427"/>
            <a:chOff x="4860032" y="2160566"/>
            <a:chExt cx="2874854" cy="2683427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4860032" y="4293096"/>
              <a:ext cx="2664296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5436096" y="2467729"/>
              <a:ext cx="0" cy="237626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189830" y="42349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73276" y="4126836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41472" y="2160566"/>
              <a:ext cx="4828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r(t)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V="1">
              <a:off x="5434398" y="3168264"/>
              <a:ext cx="1805666" cy="110783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4788024" y="4005064"/>
            <a:ext cx="3960440" cy="2664296"/>
            <a:chOff x="4788024" y="4005064"/>
            <a:chExt cx="3960440" cy="2664296"/>
          </a:xfrm>
        </p:grpSpPr>
        <p:grpSp>
          <p:nvGrpSpPr>
            <p:cNvPr id="27" name="Group 26"/>
            <p:cNvGrpSpPr/>
            <p:nvPr/>
          </p:nvGrpSpPr>
          <p:grpSpPr>
            <a:xfrm>
              <a:off x="5580112" y="5425479"/>
              <a:ext cx="3168352" cy="1243881"/>
              <a:chOff x="4716016" y="5425479"/>
              <a:chExt cx="3168352" cy="1243881"/>
            </a:xfrm>
          </p:grpSpPr>
          <p:grpSp>
            <p:nvGrpSpPr>
              <p:cNvPr id="23" name="Group 22"/>
              <p:cNvGrpSpPr/>
              <p:nvPr/>
            </p:nvGrpSpPr>
            <p:grpSpPr>
              <a:xfrm>
                <a:off x="6272896" y="5425479"/>
                <a:ext cx="1611472" cy="1243881"/>
                <a:chOff x="6272896" y="5425479"/>
                <a:chExt cx="1611472" cy="1243881"/>
              </a:xfrm>
            </p:grpSpPr>
            <p:pic>
              <p:nvPicPr>
                <p:cNvPr id="19" name="Picture 3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 l="77961" t="59534" r="11408" b="26291"/>
                <a:stretch>
                  <a:fillRect/>
                </a:stretch>
              </p:blipFill>
              <p:spPr bwMode="auto">
                <a:xfrm>
                  <a:off x="6415405" y="5445224"/>
                  <a:ext cx="1468963" cy="12241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1" name="TextBox 20"/>
                <p:cNvSpPr txBox="1"/>
                <p:nvPr/>
              </p:nvSpPr>
              <p:spPr>
                <a:xfrm>
                  <a:off x="6272896" y="5425479"/>
                  <a:ext cx="42351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1400" b="1" dirty="0"/>
                    <a:t>r(t)</a:t>
                  </a:r>
                </a:p>
              </p:txBody>
            </p:sp>
          </p:grpSp>
          <p:sp>
            <p:nvSpPr>
              <p:cNvPr id="24" name="Rectangle 23"/>
              <p:cNvSpPr/>
              <p:nvPr/>
            </p:nvSpPr>
            <p:spPr>
              <a:xfrm>
                <a:off x="4716016" y="6165304"/>
                <a:ext cx="16931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unit ramp signal</a:t>
                </a:r>
                <a:endParaRPr lang="en-GB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4788024" y="4005064"/>
              <a:ext cx="3929332" cy="1296144"/>
              <a:chOff x="4788024" y="4005064"/>
              <a:chExt cx="3929332" cy="1296144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7164288" y="4005064"/>
                <a:ext cx="1553068" cy="1296144"/>
                <a:chOff x="6187284" y="3861048"/>
                <a:chExt cx="1553068" cy="1296144"/>
              </a:xfrm>
            </p:grpSpPr>
            <p:pic>
              <p:nvPicPr>
                <p:cNvPr id="176131" name="Picture 3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 l="60242" t="59534" r="29717" b="26291"/>
                <a:stretch>
                  <a:fillRect/>
                </a:stretch>
              </p:blipFill>
              <p:spPr bwMode="auto">
                <a:xfrm>
                  <a:off x="6300192" y="3886463"/>
                  <a:ext cx="1440160" cy="12707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20" name="TextBox 19"/>
                <p:cNvSpPr txBox="1"/>
                <p:nvPr/>
              </p:nvSpPr>
              <p:spPr>
                <a:xfrm>
                  <a:off x="6187284" y="3861048"/>
                  <a:ext cx="423514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sz="1400" b="1" dirty="0"/>
                    <a:t>r(t)</a:t>
                  </a:r>
                </a:p>
              </p:txBody>
            </p:sp>
          </p:grpSp>
          <p:sp>
            <p:nvSpPr>
              <p:cNvPr id="25" name="Rectangle 24"/>
              <p:cNvSpPr/>
              <p:nvPr/>
            </p:nvSpPr>
            <p:spPr>
              <a:xfrm>
                <a:off x="4788024" y="4581128"/>
                <a:ext cx="24770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ramp signal with slope A</a:t>
                </a:r>
                <a:endParaRPr lang="en-GB" dirty="0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28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dirty="0"/>
              <a:t>Standard Test Signals</a:t>
            </a:r>
            <a:endParaRPr lang="en-GB"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914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998" y="744005"/>
            <a:ext cx="4464496" cy="5544616"/>
          </a:xfrm>
        </p:spPr>
        <p:txBody>
          <a:bodyPr>
            <a:normAutofit/>
          </a:bodyPr>
          <a:lstStyle/>
          <a:p>
            <a:pPr lvl="0">
              <a:buClrTx/>
            </a:pPr>
            <a:r>
              <a:rPr lang="en-US" dirty="0"/>
              <a:t>Parabolic signal</a:t>
            </a:r>
          </a:p>
          <a:p>
            <a:pPr lvl="1" algn="just">
              <a:buClrTx/>
              <a:buFont typeface="Arial" panose="020B0604020202020204" pitchFamily="34" charset="0"/>
              <a:buChar char="•"/>
            </a:pPr>
            <a:r>
              <a:rPr lang="en-US" dirty="0"/>
              <a:t>The parabolic signal imitate the constant acceleration characteristic of actual input signal.</a:t>
            </a:r>
          </a:p>
          <a:p>
            <a:pPr lvl="1" algn="just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Tx/>
              <a:buFont typeface="Arial" panose="020B0604020202020204" pitchFamily="34" charset="0"/>
              <a:buChar char="•"/>
            </a:pPr>
            <a:endParaRPr lang="en-US" dirty="0"/>
          </a:p>
          <a:p>
            <a:pPr lvl="1" algn="just">
              <a:buClrTx/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  <a:r>
              <a:rPr lang="en-US" i="1" dirty="0"/>
              <a:t>A=1</a:t>
            </a:r>
            <a:r>
              <a:rPr lang="en-US" dirty="0"/>
              <a:t>, the parabolic signal is called unit parabolic signal.</a:t>
            </a:r>
          </a:p>
          <a:p>
            <a:pPr lvl="1" algn="just">
              <a:buClrTx/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17613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43605"/>
              </p:ext>
            </p:extLst>
          </p:nvPr>
        </p:nvGraphicFramePr>
        <p:xfrm>
          <a:off x="1140506" y="2867529"/>
          <a:ext cx="3352800" cy="160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44600" imgH="596900" progId="Equation.3">
                  <p:embed/>
                </p:oleObj>
              </mc:Choice>
              <mc:Fallback>
                <p:oleObj name="Equation" r:id="rId3" imgW="1244600" imgH="596900" progId="Equation.3">
                  <p:embed/>
                  <p:pic>
                    <p:nvPicPr>
                      <p:cNvPr id="17613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506" y="2867529"/>
                        <a:ext cx="3352800" cy="1609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3723974" y="1170926"/>
            <a:ext cx="4808466" cy="3699776"/>
            <a:chOff x="3723974" y="180403"/>
            <a:chExt cx="4808466" cy="3699776"/>
          </a:xfrm>
        </p:grpSpPr>
        <p:grpSp>
          <p:nvGrpSpPr>
            <p:cNvPr id="4" name="Group 13"/>
            <p:cNvGrpSpPr/>
            <p:nvPr/>
          </p:nvGrpSpPr>
          <p:grpSpPr>
            <a:xfrm>
              <a:off x="5657586" y="1196752"/>
              <a:ext cx="2874854" cy="2683427"/>
              <a:chOff x="4860032" y="2160566"/>
              <a:chExt cx="2874854" cy="2683427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>
                <a:off x="4860032" y="4293096"/>
                <a:ext cx="266429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/>
              <p:nvPr/>
            </p:nvCxnSpPr>
            <p:spPr>
              <a:xfrm flipV="1">
                <a:off x="5436096" y="2467729"/>
                <a:ext cx="0" cy="237626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5189830" y="423494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0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473276" y="4126836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141472" y="2160566"/>
                <a:ext cx="524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p(t)</a:t>
                </a:r>
              </a:p>
            </p:txBody>
          </p:sp>
        </p:grpSp>
        <p:sp>
          <p:nvSpPr>
            <p:cNvPr id="16" name="Arc 15"/>
            <p:cNvSpPr/>
            <p:nvPr/>
          </p:nvSpPr>
          <p:spPr>
            <a:xfrm rot="4438560">
              <a:off x="4193859" y="-289482"/>
              <a:ext cx="3202209" cy="4141980"/>
            </a:xfrm>
            <a:prstGeom prst="arc">
              <a:avLst>
                <a:gd name="adj1" fmla="val 17934159"/>
                <a:gd name="adj2" fmla="val 0"/>
              </a:avLst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7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pPr marL="306070">
              <a:spcBef>
                <a:spcPts val="100"/>
              </a:spcBef>
            </a:pPr>
            <a:r>
              <a:rPr lang="en-GB" sz="2400" dirty="0"/>
              <a:t>Standard Test Signals</a:t>
            </a:r>
            <a:endParaRPr lang="en-GB" sz="24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555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18457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GB" sz="3600" dirty="0"/>
              <a:t>Impulse</a:t>
            </a:r>
          </a:p>
          <a:p>
            <a:pPr>
              <a:buClr>
                <a:schemeClr val="tx1"/>
              </a:buClr>
            </a:pPr>
            <a:endParaRPr lang="en-GB" sz="3800" dirty="0"/>
          </a:p>
          <a:p>
            <a:pPr>
              <a:buClr>
                <a:schemeClr val="tx1"/>
              </a:buClr>
            </a:pPr>
            <a:r>
              <a:rPr lang="en-GB" sz="3600" dirty="0"/>
              <a:t>Step</a:t>
            </a:r>
          </a:p>
          <a:p>
            <a:pPr>
              <a:buClr>
                <a:schemeClr val="tx1"/>
              </a:buClr>
            </a:pPr>
            <a:endParaRPr lang="en-GB" sz="3800" dirty="0"/>
          </a:p>
          <a:p>
            <a:pPr>
              <a:buClr>
                <a:schemeClr val="tx1"/>
              </a:buClr>
            </a:pPr>
            <a:r>
              <a:rPr lang="en-GB" sz="3600" dirty="0"/>
              <a:t>Ramp</a:t>
            </a:r>
          </a:p>
          <a:p>
            <a:pPr>
              <a:buClr>
                <a:schemeClr val="tx1"/>
              </a:buClr>
            </a:pPr>
            <a:endParaRPr lang="en-GB" sz="3800" dirty="0"/>
          </a:p>
          <a:p>
            <a:pPr>
              <a:buClr>
                <a:schemeClr val="tx1"/>
              </a:buClr>
            </a:pPr>
            <a:r>
              <a:rPr lang="en-GB" sz="3600" dirty="0"/>
              <a:t>Parabolic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699792" y="1124744"/>
            <a:ext cx="5203116" cy="5328592"/>
            <a:chOff x="2699792" y="1124744"/>
            <a:chExt cx="5203116" cy="5328592"/>
          </a:xfrm>
        </p:grpSpPr>
        <p:graphicFrame>
          <p:nvGraphicFramePr>
            <p:cNvPr id="179202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9736233"/>
                </p:ext>
              </p:extLst>
            </p:nvPr>
          </p:nvGraphicFramePr>
          <p:xfrm>
            <a:off x="3779912" y="1124744"/>
            <a:ext cx="2583185" cy="932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91726" imgH="393529" progId="Equation.3">
                    <p:embed/>
                  </p:oleObj>
                </mc:Choice>
                <mc:Fallback>
                  <p:oleObj name="Equation" r:id="rId2" imgW="1091726" imgH="393529" progId="Equation.3">
                    <p:embed/>
                    <p:pic>
                      <p:nvPicPr>
                        <p:cNvPr id="17920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912" y="1124744"/>
                          <a:ext cx="2583185" cy="9321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03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9415929"/>
                </p:ext>
              </p:extLst>
            </p:nvPr>
          </p:nvGraphicFramePr>
          <p:xfrm>
            <a:off x="3779912" y="2420888"/>
            <a:ext cx="2690688" cy="983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79032" imgH="393529" progId="Equation.3">
                    <p:embed/>
                  </p:oleObj>
                </mc:Choice>
                <mc:Fallback>
                  <p:oleObj name="Equation" r:id="rId4" imgW="1079032" imgH="393529" progId="Equation.3">
                    <p:embed/>
                    <p:pic>
                      <p:nvPicPr>
                        <p:cNvPr id="179203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912" y="2420888"/>
                          <a:ext cx="2690688" cy="9831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0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8577692"/>
                </p:ext>
              </p:extLst>
            </p:nvPr>
          </p:nvGraphicFramePr>
          <p:xfrm>
            <a:off x="3779912" y="3811339"/>
            <a:ext cx="2793876" cy="985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17115" imgH="393529" progId="Equation.3">
                    <p:embed/>
                  </p:oleObj>
                </mc:Choice>
                <mc:Fallback>
                  <p:oleObj name="Equation" r:id="rId6" imgW="1117115" imgH="393529" progId="Equation.3">
                    <p:embed/>
                    <p:pic>
                      <p:nvPicPr>
                        <p:cNvPr id="17920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9912" y="3811339"/>
                          <a:ext cx="2793876" cy="9858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05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6062992"/>
                </p:ext>
              </p:extLst>
            </p:nvPr>
          </p:nvGraphicFramePr>
          <p:xfrm>
            <a:off x="3707904" y="5016471"/>
            <a:ext cx="2992760" cy="14368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44600" imgH="596900" progId="Equation.3">
                    <p:embed/>
                  </p:oleObj>
                </mc:Choice>
                <mc:Fallback>
                  <p:oleObj name="Equation" r:id="rId8" imgW="1244600" imgH="596900" progId="Equation.3">
                    <p:embed/>
                    <p:pic>
                      <p:nvPicPr>
                        <p:cNvPr id="179205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7904" y="5016471"/>
                          <a:ext cx="2992760" cy="14368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" name="Group 20"/>
            <p:cNvGrpSpPr/>
            <p:nvPr/>
          </p:nvGrpSpPr>
          <p:grpSpPr>
            <a:xfrm>
              <a:off x="2699792" y="1484785"/>
              <a:ext cx="720080" cy="1368152"/>
              <a:chOff x="2699792" y="1484785"/>
              <a:chExt cx="720080" cy="1368152"/>
            </a:xfrm>
          </p:grpSpPr>
          <p:sp>
            <p:nvSpPr>
              <p:cNvPr id="8" name="Freeform 7"/>
              <p:cNvSpPr/>
              <p:nvPr/>
            </p:nvSpPr>
            <p:spPr>
              <a:xfrm>
                <a:off x="2699792" y="1484785"/>
                <a:ext cx="593677" cy="1368152"/>
              </a:xfrm>
              <a:custGeom>
                <a:avLst/>
                <a:gdLst>
                  <a:gd name="connsiteX0" fmla="*/ 593677 w 593677"/>
                  <a:gd name="connsiteY0" fmla="*/ 1501253 h 1501253"/>
                  <a:gd name="connsiteX1" fmla="*/ 75063 w 593677"/>
                  <a:gd name="connsiteY1" fmla="*/ 1078173 h 1501253"/>
                  <a:gd name="connsiteX2" fmla="*/ 143301 w 593677"/>
                  <a:gd name="connsiteY2" fmla="*/ 477671 h 1501253"/>
                  <a:gd name="connsiteX3" fmla="*/ 580030 w 593677"/>
                  <a:gd name="connsiteY3" fmla="*/ 0 h 1501253"/>
                  <a:gd name="connsiteX4" fmla="*/ 580030 w 593677"/>
                  <a:gd name="connsiteY4" fmla="*/ 0 h 1501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3677" h="1501253">
                    <a:moveTo>
                      <a:pt x="593677" y="1501253"/>
                    </a:moveTo>
                    <a:cubicBezTo>
                      <a:pt x="371901" y="1375011"/>
                      <a:pt x="150126" y="1248770"/>
                      <a:pt x="75063" y="1078173"/>
                    </a:cubicBezTo>
                    <a:cubicBezTo>
                      <a:pt x="0" y="907576"/>
                      <a:pt x="59140" y="657366"/>
                      <a:pt x="143301" y="477671"/>
                    </a:cubicBezTo>
                    <a:cubicBezTo>
                      <a:pt x="227462" y="297976"/>
                      <a:pt x="580030" y="0"/>
                      <a:pt x="580030" y="0"/>
                    </a:cubicBezTo>
                    <a:lnTo>
                      <a:pt x="580030" y="0"/>
                    </a:lnTo>
                  </a:path>
                </a:pathLst>
              </a:cu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11" name="Object 10"/>
              <p:cNvGraphicFramePr>
                <a:graphicFrameLocks noChangeAspect="1"/>
              </p:cNvGraphicFramePr>
              <p:nvPr/>
            </p:nvGraphicFramePr>
            <p:xfrm>
              <a:off x="2872879" y="1859782"/>
              <a:ext cx="546993" cy="6331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64957" imgH="190335" progId="Equation.3">
                      <p:embed/>
                    </p:oleObj>
                  </mc:Choice>
                  <mc:Fallback>
                    <p:oleObj name="Equation" r:id="rId10" imgW="164957" imgH="190335" progId="Equation.3">
                      <p:embed/>
                      <p:pic>
                        <p:nvPicPr>
                          <p:cNvPr id="11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2879" y="1859782"/>
                            <a:ext cx="546993" cy="63311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2" name="Group 21"/>
            <p:cNvGrpSpPr/>
            <p:nvPr/>
          </p:nvGrpSpPr>
          <p:grpSpPr>
            <a:xfrm>
              <a:off x="2699792" y="2924944"/>
              <a:ext cx="762124" cy="1368152"/>
              <a:chOff x="2699792" y="2924944"/>
              <a:chExt cx="762124" cy="1368152"/>
            </a:xfrm>
          </p:grpSpPr>
          <p:sp>
            <p:nvSpPr>
              <p:cNvPr id="9" name="Freeform 8"/>
              <p:cNvSpPr/>
              <p:nvPr/>
            </p:nvSpPr>
            <p:spPr>
              <a:xfrm>
                <a:off x="2699792" y="2924944"/>
                <a:ext cx="593677" cy="1368152"/>
              </a:xfrm>
              <a:custGeom>
                <a:avLst/>
                <a:gdLst>
                  <a:gd name="connsiteX0" fmla="*/ 593677 w 593677"/>
                  <a:gd name="connsiteY0" fmla="*/ 1501253 h 1501253"/>
                  <a:gd name="connsiteX1" fmla="*/ 75063 w 593677"/>
                  <a:gd name="connsiteY1" fmla="*/ 1078173 h 1501253"/>
                  <a:gd name="connsiteX2" fmla="*/ 143301 w 593677"/>
                  <a:gd name="connsiteY2" fmla="*/ 477671 h 1501253"/>
                  <a:gd name="connsiteX3" fmla="*/ 580030 w 593677"/>
                  <a:gd name="connsiteY3" fmla="*/ 0 h 1501253"/>
                  <a:gd name="connsiteX4" fmla="*/ 580030 w 593677"/>
                  <a:gd name="connsiteY4" fmla="*/ 0 h 1501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3677" h="1501253">
                    <a:moveTo>
                      <a:pt x="593677" y="1501253"/>
                    </a:moveTo>
                    <a:cubicBezTo>
                      <a:pt x="371901" y="1375011"/>
                      <a:pt x="150126" y="1248770"/>
                      <a:pt x="75063" y="1078173"/>
                    </a:cubicBezTo>
                    <a:cubicBezTo>
                      <a:pt x="0" y="907576"/>
                      <a:pt x="59140" y="657366"/>
                      <a:pt x="143301" y="477671"/>
                    </a:cubicBezTo>
                    <a:cubicBezTo>
                      <a:pt x="227462" y="297976"/>
                      <a:pt x="580030" y="0"/>
                      <a:pt x="580030" y="0"/>
                    </a:cubicBezTo>
                    <a:lnTo>
                      <a:pt x="580030" y="0"/>
                    </a:lnTo>
                  </a:path>
                </a:pathLst>
              </a:cu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179208" name="Object 8"/>
              <p:cNvGraphicFramePr>
                <a:graphicFrameLocks noChangeAspect="1"/>
              </p:cNvGraphicFramePr>
              <p:nvPr/>
            </p:nvGraphicFramePr>
            <p:xfrm>
              <a:off x="2915816" y="3284984"/>
              <a:ext cx="546100" cy="6318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64957" imgH="190335" progId="Equation.3">
                      <p:embed/>
                    </p:oleObj>
                  </mc:Choice>
                  <mc:Fallback>
                    <p:oleObj name="Equation" r:id="rId12" imgW="164957" imgH="190335" progId="Equation.3">
                      <p:embed/>
                      <p:pic>
                        <p:nvPicPr>
                          <p:cNvPr id="179208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5816" y="3284984"/>
                            <a:ext cx="546100" cy="6318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3" name="Group 22"/>
            <p:cNvGrpSpPr/>
            <p:nvPr/>
          </p:nvGrpSpPr>
          <p:grpSpPr>
            <a:xfrm>
              <a:off x="2699792" y="4509120"/>
              <a:ext cx="834132" cy="1368152"/>
              <a:chOff x="2699792" y="4509120"/>
              <a:chExt cx="834132" cy="1368152"/>
            </a:xfrm>
          </p:grpSpPr>
          <p:sp>
            <p:nvSpPr>
              <p:cNvPr id="10" name="Freeform 9"/>
              <p:cNvSpPr/>
              <p:nvPr/>
            </p:nvSpPr>
            <p:spPr>
              <a:xfrm>
                <a:off x="2699792" y="4509120"/>
                <a:ext cx="593677" cy="1368152"/>
              </a:xfrm>
              <a:custGeom>
                <a:avLst/>
                <a:gdLst>
                  <a:gd name="connsiteX0" fmla="*/ 593677 w 593677"/>
                  <a:gd name="connsiteY0" fmla="*/ 1501253 h 1501253"/>
                  <a:gd name="connsiteX1" fmla="*/ 75063 w 593677"/>
                  <a:gd name="connsiteY1" fmla="*/ 1078173 h 1501253"/>
                  <a:gd name="connsiteX2" fmla="*/ 143301 w 593677"/>
                  <a:gd name="connsiteY2" fmla="*/ 477671 h 1501253"/>
                  <a:gd name="connsiteX3" fmla="*/ 580030 w 593677"/>
                  <a:gd name="connsiteY3" fmla="*/ 0 h 1501253"/>
                  <a:gd name="connsiteX4" fmla="*/ 580030 w 593677"/>
                  <a:gd name="connsiteY4" fmla="*/ 0 h 1501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3677" h="1501253">
                    <a:moveTo>
                      <a:pt x="593677" y="1501253"/>
                    </a:moveTo>
                    <a:cubicBezTo>
                      <a:pt x="371901" y="1375011"/>
                      <a:pt x="150126" y="1248770"/>
                      <a:pt x="75063" y="1078173"/>
                    </a:cubicBezTo>
                    <a:cubicBezTo>
                      <a:pt x="0" y="907576"/>
                      <a:pt x="59140" y="657366"/>
                      <a:pt x="143301" y="477671"/>
                    </a:cubicBezTo>
                    <a:cubicBezTo>
                      <a:pt x="227462" y="297976"/>
                      <a:pt x="580030" y="0"/>
                      <a:pt x="580030" y="0"/>
                    </a:cubicBezTo>
                    <a:lnTo>
                      <a:pt x="580030" y="0"/>
                    </a:lnTo>
                  </a:path>
                </a:pathLst>
              </a:cu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179209" name="Object 9"/>
              <p:cNvGraphicFramePr>
                <a:graphicFrameLocks noChangeAspect="1"/>
              </p:cNvGraphicFramePr>
              <p:nvPr/>
            </p:nvGraphicFramePr>
            <p:xfrm>
              <a:off x="2987824" y="4869160"/>
              <a:ext cx="546100" cy="6318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64957" imgH="190335" progId="Equation.3">
                      <p:embed/>
                    </p:oleObj>
                  </mc:Choice>
                  <mc:Fallback>
                    <p:oleObj name="Equation" r:id="rId14" imgW="164957" imgH="190335" progId="Equation.3">
                      <p:embed/>
                      <p:pic>
                        <p:nvPicPr>
                          <p:cNvPr id="179209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87824" y="4869160"/>
                            <a:ext cx="546100" cy="6318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" name="Group 25"/>
            <p:cNvGrpSpPr/>
            <p:nvPr/>
          </p:nvGrpSpPr>
          <p:grpSpPr>
            <a:xfrm>
              <a:off x="6773726" y="4197488"/>
              <a:ext cx="1110642" cy="1368152"/>
              <a:chOff x="6773726" y="4197488"/>
              <a:chExt cx="1110642" cy="1368152"/>
            </a:xfrm>
          </p:grpSpPr>
          <p:sp>
            <p:nvSpPr>
              <p:cNvPr id="15" name="Freeform 14"/>
              <p:cNvSpPr/>
              <p:nvPr/>
            </p:nvSpPr>
            <p:spPr>
              <a:xfrm rot="10800000">
                <a:off x="6773726" y="4197488"/>
                <a:ext cx="593677" cy="1368152"/>
              </a:xfrm>
              <a:custGeom>
                <a:avLst/>
                <a:gdLst>
                  <a:gd name="connsiteX0" fmla="*/ 593677 w 593677"/>
                  <a:gd name="connsiteY0" fmla="*/ 1501253 h 1501253"/>
                  <a:gd name="connsiteX1" fmla="*/ 75063 w 593677"/>
                  <a:gd name="connsiteY1" fmla="*/ 1078173 h 1501253"/>
                  <a:gd name="connsiteX2" fmla="*/ 143301 w 593677"/>
                  <a:gd name="connsiteY2" fmla="*/ 477671 h 1501253"/>
                  <a:gd name="connsiteX3" fmla="*/ 580030 w 593677"/>
                  <a:gd name="connsiteY3" fmla="*/ 0 h 1501253"/>
                  <a:gd name="connsiteX4" fmla="*/ 580030 w 593677"/>
                  <a:gd name="connsiteY4" fmla="*/ 0 h 1501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3677" h="1501253">
                    <a:moveTo>
                      <a:pt x="593677" y="1501253"/>
                    </a:moveTo>
                    <a:cubicBezTo>
                      <a:pt x="371901" y="1375011"/>
                      <a:pt x="150126" y="1248770"/>
                      <a:pt x="75063" y="1078173"/>
                    </a:cubicBezTo>
                    <a:cubicBezTo>
                      <a:pt x="0" y="907576"/>
                      <a:pt x="59140" y="657366"/>
                      <a:pt x="143301" y="477671"/>
                    </a:cubicBezTo>
                    <a:cubicBezTo>
                      <a:pt x="227462" y="297976"/>
                      <a:pt x="580030" y="0"/>
                      <a:pt x="580030" y="0"/>
                    </a:cubicBezTo>
                    <a:lnTo>
                      <a:pt x="580030" y="0"/>
                    </a:lnTo>
                  </a:path>
                </a:pathLst>
              </a:cu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179210" name="Object 10"/>
              <p:cNvGraphicFramePr>
                <a:graphicFrameLocks noChangeAspect="1"/>
              </p:cNvGraphicFramePr>
              <p:nvPr/>
            </p:nvGraphicFramePr>
            <p:xfrm>
              <a:off x="7389663" y="4293096"/>
              <a:ext cx="494705" cy="9934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77569" imgH="355138" progId="Equation.3">
                      <p:embed/>
                    </p:oleObj>
                  </mc:Choice>
                  <mc:Fallback>
                    <p:oleObj name="Equation" r:id="rId16" imgW="177569" imgH="355138" progId="Equation.3">
                      <p:embed/>
                      <p:pic>
                        <p:nvPicPr>
                          <p:cNvPr id="17921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389663" y="4293096"/>
                            <a:ext cx="494705" cy="99342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5" name="Group 24"/>
            <p:cNvGrpSpPr/>
            <p:nvPr/>
          </p:nvGrpSpPr>
          <p:grpSpPr>
            <a:xfrm>
              <a:off x="6786635" y="2708920"/>
              <a:ext cx="1116273" cy="1368152"/>
              <a:chOff x="6786635" y="2708920"/>
              <a:chExt cx="1116273" cy="1368152"/>
            </a:xfrm>
          </p:grpSpPr>
          <p:sp>
            <p:nvSpPr>
              <p:cNvPr id="16" name="Freeform 15"/>
              <p:cNvSpPr/>
              <p:nvPr/>
            </p:nvSpPr>
            <p:spPr>
              <a:xfrm rot="10800000">
                <a:off x="6786635" y="2708920"/>
                <a:ext cx="593677" cy="1368152"/>
              </a:xfrm>
              <a:custGeom>
                <a:avLst/>
                <a:gdLst>
                  <a:gd name="connsiteX0" fmla="*/ 593677 w 593677"/>
                  <a:gd name="connsiteY0" fmla="*/ 1501253 h 1501253"/>
                  <a:gd name="connsiteX1" fmla="*/ 75063 w 593677"/>
                  <a:gd name="connsiteY1" fmla="*/ 1078173 h 1501253"/>
                  <a:gd name="connsiteX2" fmla="*/ 143301 w 593677"/>
                  <a:gd name="connsiteY2" fmla="*/ 477671 h 1501253"/>
                  <a:gd name="connsiteX3" fmla="*/ 580030 w 593677"/>
                  <a:gd name="connsiteY3" fmla="*/ 0 h 1501253"/>
                  <a:gd name="connsiteX4" fmla="*/ 580030 w 593677"/>
                  <a:gd name="connsiteY4" fmla="*/ 0 h 1501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3677" h="1501253">
                    <a:moveTo>
                      <a:pt x="593677" y="1501253"/>
                    </a:moveTo>
                    <a:cubicBezTo>
                      <a:pt x="371901" y="1375011"/>
                      <a:pt x="150126" y="1248770"/>
                      <a:pt x="75063" y="1078173"/>
                    </a:cubicBezTo>
                    <a:cubicBezTo>
                      <a:pt x="0" y="907576"/>
                      <a:pt x="59140" y="657366"/>
                      <a:pt x="143301" y="477671"/>
                    </a:cubicBezTo>
                    <a:cubicBezTo>
                      <a:pt x="227462" y="297976"/>
                      <a:pt x="580030" y="0"/>
                      <a:pt x="580030" y="0"/>
                    </a:cubicBezTo>
                    <a:lnTo>
                      <a:pt x="580030" y="0"/>
                    </a:lnTo>
                  </a:path>
                </a:pathLst>
              </a:cu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179211" name="Object 11"/>
              <p:cNvGraphicFramePr>
                <a:graphicFrameLocks noChangeAspect="1"/>
              </p:cNvGraphicFramePr>
              <p:nvPr/>
            </p:nvGraphicFramePr>
            <p:xfrm>
              <a:off x="7407608" y="2808224"/>
              <a:ext cx="495300" cy="993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177569" imgH="355138" progId="Equation.3">
                      <p:embed/>
                    </p:oleObj>
                  </mc:Choice>
                  <mc:Fallback>
                    <p:oleObj name="Equation" r:id="rId18" imgW="177569" imgH="355138" progId="Equation.3">
                      <p:embed/>
                      <p:pic>
                        <p:nvPicPr>
                          <p:cNvPr id="179211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07608" y="2808224"/>
                            <a:ext cx="495300" cy="9937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" name="Group 23"/>
            <p:cNvGrpSpPr/>
            <p:nvPr/>
          </p:nvGrpSpPr>
          <p:grpSpPr>
            <a:xfrm>
              <a:off x="6732240" y="1268760"/>
              <a:ext cx="1143372" cy="1368152"/>
              <a:chOff x="6732240" y="1268760"/>
              <a:chExt cx="1143372" cy="1368152"/>
            </a:xfrm>
          </p:grpSpPr>
          <p:sp>
            <p:nvSpPr>
              <p:cNvPr id="17" name="Freeform 16"/>
              <p:cNvSpPr/>
              <p:nvPr/>
            </p:nvSpPr>
            <p:spPr>
              <a:xfrm rot="10800000">
                <a:off x="6732240" y="1268760"/>
                <a:ext cx="593677" cy="1368152"/>
              </a:xfrm>
              <a:custGeom>
                <a:avLst/>
                <a:gdLst>
                  <a:gd name="connsiteX0" fmla="*/ 593677 w 593677"/>
                  <a:gd name="connsiteY0" fmla="*/ 1501253 h 1501253"/>
                  <a:gd name="connsiteX1" fmla="*/ 75063 w 593677"/>
                  <a:gd name="connsiteY1" fmla="*/ 1078173 h 1501253"/>
                  <a:gd name="connsiteX2" fmla="*/ 143301 w 593677"/>
                  <a:gd name="connsiteY2" fmla="*/ 477671 h 1501253"/>
                  <a:gd name="connsiteX3" fmla="*/ 580030 w 593677"/>
                  <a:gd name="connsiteY3" fmla="*/ 0 h 1501253"/>
                  <a:gd name="connsiteX4" fmla="*/ 580030 w 593677"/>
                  <a:gd name="connsiteY4" fmla="*/ 0 h 1501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3677" h="1501253">
                    <a:moveTo>
                      <a:pt x="593677" y="1501253"/>
                    </a:moveTo>
                    <a:cubicBezTo>
                      <a:pt x="371901" y="1375011"/>
                      <a:pt x="150126" y="1248770"/>
                      <a:pt x="75063" y="1078173"/>
                    </a:cubicBezTo>
                    <a:cubicBezTo>
                      <a:pt x="0" y="907576"/>
                      <a:pt x="59140" y="657366"/>
                      <a:pt x="143301" y="477671"/>
                    </a:cubicBezTo>
                    <a:cubicBezTo>
                      <a:pt x="227462" y="297976"/>
                      <a:pt x="580030" y="0"/>
                      <a:pt x="580030" y="0"/>
                    </a:cubicBezTo>
                    <a:lnTo>
                      <a:pt x="580030" y="0"/>
                    </a:lnTo>
                  </a:path>
                </a:pathLst>
              </a:custGeom>
              <a:ln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179212" name="Object 12"/>
              <p:cNvGraphicFramePr>
                <a:graphicFrameLocks noChangeAspect="1"/>
              </p:cNvGraphicFramePr>
              <p:nvPr/>
            </p:nvGraphicFramePr>
            <p:xfrm>
              <a:off x="7380312" y="1340768"/>
              <a:ext cx="495300" cy="9937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77569" imgH="355138" progId="Equation.3">
                      <p:embed/>
                    </p:oleObj>
                  </mc:Choice>
                  <mc:Fallback>
                    <p:oleObj name="Equation" r:id="rId20" imgW="177569" imgH="355138" progId="Equation.3">
                      <p:embed/>
                      <p:pic>
                        <p:nvPicPr>
                          <p:cNvPr id="179212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380312" y="1340768"/>
                            <a:ext cx="495300" cy="9937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8" name="Title 1"/>
          <p:cNvSpPr txBox="1">
            <a:spLocks/>
          </p:cNvSpPr>
          <p:nvPr/>
        </p:nvSpPr>
        <p:spPr bwMode="auto">
          <a:xfrm>
            <a:off x="292100" y="22225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Relation Between Standard Test Signals</a:t>
            </a:r>
          </a:p>
        </p:txBody>
      </p:sp>
    </p:spTree>
    <p:extLst>
      <p:ext uri="{BB962C8B-B14F-4D97-AF65-F5344CB8AC3E}">
        <p14:creationId xmlns:p14="http://schemas.microsoft.com/office/powerpoint/2010/main" val="40873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072" y="1033311"/>
            <a:ext cx="8229600" cy="5184576"/>
          </a:xfrm>
        </p:spPr>
        <p:txBody>
          <a:bodyPr>
            <a:normAutofit/>
          </a:bodyPr>
          <a:lstStyle/>
          <a:p>
            <a:r>
              <a:rPr lang="en-GB" sz="3600" dirty="0"/>
              <a:t>Impulse</a:t>
            </a:r>
          </a:p>
          <a:p>
            <a:endParaRPr lang="en-GB" sz="3600" dirty="0"/>
          </a:p>
          <a:p>
            <a:endParaRPr lang="en-GB" sz="3600" dirty="0"/>
          </a:p>
          <a:p>
            <a:endParaRPr lang="en-GB" sz="3600" dirty="0"/>
          </a:p>
          <a:p>
            <a:r>
              <a:rPr lang="en-GB" sz="3600" dirty="0"/>
              <a:t>Step</a:t>
            </a:r>
          </a:p>
          <a:p>
            <a:endParaRPr lang="en-GB" sz="38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4D03A0-3094-42A5-94C3-5171F3647FB0}"/>
              </a:ext>
            </a:extLst>
          </p:cNvPr>
          <p:cNvGrpSpPr/>
          <p:nvPr/>
        </p:nvGrpSpPr>
        <p:grpSpPr>
          <a:xfrm>
            <a:off x="3221038" y="1700808"/>
            <a:ext cx="3062287" cy="1761530"/>
            <a:chOff x="3221038" y="1700808"/>
            <a:chExt cx="3062287" cy="1761530"/>
          </a:xfrm>
        </p:grpSpPr>
        <p:graphicFrame>
          <p:nvGraphicFramePr>
            <p:cNvPr id="179202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5483645"/>
                </p:ext>
              </p:extLst>
            </p:nvPr>
          </p:nvGraphicFramePr>
          <p:xfrm>
            <a:off x="3347864" y="1700808"/>
            <a:ext cx="2583185" cy="932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91726" imgH="393529" progId="Equation.3">
                    <p:embed/>
                  </p:oleObj>
                </mc:Choice>
                <mc:Fallback>
                  <p:oleObj name="Equation" r:id="rId2" imgW="1091726" imgH="393529" progId="Equation.3">
                    <p:embed/>
                    <p:pic>
                      <p:nvPicPr>
                        <p:cNvPr id="179202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7864" y="1700808"/>
                          <a:ext cx="2583185" cy="9321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236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5727769"/>
                </p:ext>
              </p:extLst>
            </p:nvPr>
          </p:nvGraphicFramePr>
          <p:xfrm>
            <a:off x="3221038" y="2924175"/>
            <a:ext cx="3062287" cy="5381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015559" imgH="177723" progId="Equation.3">
                    <p:embed/>
                  </p:oleObj>
                </mc:Choice>
                <mc:Fallback>
                  <p:oleObj name="Equation" r:id="rId4" imgW="1015559" imgH="177723" progId="Equation.3">
                    <p:embed/>
                    <p:pic>
                      <p:nvPicPr>
                        <p:cNvPr id="18023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1038" y="2924175"/>
                          <a:ext cx="3062287" cy="5381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7964F9B-04D5-477C-B3D0-6226E466F071}"/>
              </a:ext>
            </a:extLst>
          </p:cNvPr>
          <p:cNvGrpSpPr/>
          <p:nvPr/>
        </p:nvGrpSpPr>
        <p:grpSpPr>
          <a:xfrm>
            <a:off x="3419872" y="4293096"/>
            <a:ext cx="3168253" cy="2175967"/>
            <a:chOff x="3419872" y="4293096"/>
            <a:chExt cx="3168253" cy="2175967"/>
          </a:xfrm>
        </p:grpSpPr>
        <p:graphicFrame>
          <p:nvGraphicFramePr>
            <p:cNvPr id="180239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3957144"/>
                </p:ext>
              </p:extLst>
            </p:nvPr>
          </p:nvGraphicFramePr>
          <p:xfrm>
            <a:off x="3419872" y="4293096"/>
            <a:ext cx="2690812" cy="982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79032" imgH="393529" progId="Equation.3">
                    <p:embed/>
                  </p:oleObj>
                </mc:Choice>
                <mc:Fallback>
                  <p:oleObj name="Equation" r:id="rId6" imgW="1079032" imgH="393529" progId="Equation.3">
                    <p:embed/>
                    <p:pic>
                      <p:nvPicPr>
                        <p:cNvPr id="18023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872" y="4293096"/>
                          <a:ext cx="2690812" cy="9826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240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5784706"/>
                </p:ext>
              </p:extLst>
            </p:nvPr>
          </p:nvGraphicFramePr>
          <p:xfrm>
            <a:off x="3449638" y="5392738"/>
            <a:ext cx="3138487" cy="1076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040948" imgH="355446" progId="Equation.3">
                    <p:embed/>
                  </p:oleObj>
                </mc:Choice>
                <mc:Fallback>
                  <p:oleObj name="Equation" r:id="rId8" imgW="1040948" imgH="355446" progId="Equation.3">
                    <p:embed/>
                    <p:pic>
                      <p:nvPicPr>
                        <p:cNvPr id="18024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9638" y="5392738"/>
                          <a:ext cx="3138487" cy="10763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F1BE74FB-EB12-46F7-A82B-70A785EA88F2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Laplace Transform of Test Signals</a:t>
            </a:r>
          </a:p>
        </p:txBody>
      </p:sp>
    </p:spTree>
    <p:extLst>
      <p:ext uri="{BB962C8B-B14F-4D97-AF65-F5344CB8AC3E}">
        <p14:creationId xmlns:p14="http://schemas.microsoft.com/office/powerpoint/2010/main" val="378974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8344"/>
            <a:ext cx="8229600" cy="5184576"/>
          </a:xfrm>
        </p:spPr>
        <p:txBody>
          <a:bodyPr>
            <a:normAutofit/>
          </a:bodyPr>
          <a:lstStyle/>
          <a:p>
            <a:r>
              <a:rPr lang="en-GB" sz="3600" dirty="0"/>
              <a:t>Ramp</a:t>
            </a:r>
          </a:p>
          <a:p>
            <a:endParaRPr lang="en-GB" sz="3600" dirty="0"/>
          </a:p>
          <a:p>
            <a:endParaRPr lang="en-GB" sz="3600" dirty="0"/>
          </a:p>
          <a:p>
            <a:endParaRPr lang="en-GB" sz="3600" dirty="0"/>
          </a:p>
          <a:p>
            <a:r>
              <a:rPr lang="en-GB" sz="3600" dirty="0"/>
              <a:t>Parabolic</a:t>
            </a:r>
          </a:p>
          <a:p>
            <a:endParaRPr lang="en-GB" sz="38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0BD77A0-A054-4113-833B-2A696601E79B}"/>
              </a:ext>
            </a:extLst>
          </p:cNvPr>
          <p:cNvGrpSpPr/>
          <p:nvPr/>
        </p:nvGrpSpPr>
        <p:grpSpPr>
          <a:xfrm>
            <a:off x="3213926" y="1376200"/>
            <a:ext cx="3216275" cy="2338487"/>
            <a:chOff x="3144838" y="1412776"/>
            <a:chExt cx="3216275" cy="2338487"/>
          </a:xfrm>
        </p:grpSpPr>
        <p:graphicFrame>
          <p:nvGraphicFramePr>
            <p:cNvPr id="180236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7799777"/>
                </p:ext>
              </p:extLst>
            </p:nvPr>
          </p:nvGraphicFramePr>
          <p:xfrm>
            <a:off x="3144838" y="2636838"/>
            <a:ext cx="3216275" cy="1114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66800" imgH="368300" progId="Equation.3">
                    <p:embed/>
                  </p:oleObj>
                </mc:Choice>
                <mc:Fallback>
                  <p:oleObj name="Equation" r:id="rId2" imgW="1066800" imgH="368300" progId="Equation.3">
                    <p:embed/>
                    <p:pic>
                      <p:nvPicPr>
                        <p:cNvPr id="18023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44838" y="2636838"/>
                          <a:ext cx="3216275" cy="1114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354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4125106"/>
                </p:ext>
              </p:extLst>
            </p:nvPr>
          </p:nvGraphicFramePr>
          <p:xfrm>
            <a:off x="3275856" y="1412776"/>
            <a:ext cx="2794000" cy="985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17115" imgH="393529" progId="Equation.3">
                    <p:embed/>
                  </p:oleObj>
                </mc:Choice>
                <mc:Fallback>
                  <p:oleObj name="Equation" r:id="rId4" imgW="1117115" imgH="393529" progId="Equation.3">
                    <p:embed/>
                    <p:pic>
                      <p:nvPicPr>
                        <p:cNvPr id="193542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856" y="1412776"/>
                          <a:ext cx="2794000" cy="9858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7300E6D-9EA6-48F6-BDEB-FD23BD936E71}"/>
              </a:ext>
            </a:extLst>
          </p:cNvPr>
          <p:cNvGrpSpPr/>
          <p:nvPr/>
        </p:nvGrpSpPr>
        <p:grpSpPr>
          <a:xfrm>
            <a:off x="3035300" y="4011832"/>
            <a:ext cx="3905250" cy="2522318"/>
            <a:chOff x="3067812" y="4005064"/>
            <a:chExt cx="3905250" cy="2522318"/>
          </a:xfrm>
        </p:grpSpPr>
        <p:graphicFrame>
          <p:nvGraphicFramePr>
            <p:cNvPr id="180240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5540884"/>
                </p:ext>
              </p:extLst>
            </p:nvPr>
          </p:nvGraphicFramePr>
          <p:xfrm>
            <a:off x="3067812" y="5335170"/>
            <a:ext cx="3905250" cy="1192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95280" imgH="393480" progId="Equation.3">
                    <p:embed/>
                  </p:oleObj>
                </mc:Choice>
                <mc:Fallback>
                  <p:oleObj name="Equation" r:id="rId6" imgW="1295280" imgH="393480" progId="Equation.3">
                    <p:embed/>
                    <p:pic>
                      <p:nvPicPr>
                        <p:cNvPr id="18024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7812" y="5335170"/>
                          <a:ext cx="3905250" cy="1192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354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9833584"/>
                </p:ext>
              </p:extLst>
            </p:nvPr>
          </p:nvGraphicFramePr>
          <p:xfrm>
            <a:off x="3635896" y="4005064"/>
            <a:ext cx="2992438" cy="1436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44600" imgH="596900" progId="Equation.3">
                    <p:embed/>
                  </p:oleObj>
                </mc:Choice>
                <mc:Fallback>
                  <p:oleObj name="Equation" r:id="rId8" imgW="1244600" imgH="596900" progId="Equation.3">
                    <p:embed/>
                    <p:pic>
                      <p:nvPicPr>
                        <p:cNvPr id="193543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5896" y="4005064"/>
                          <a:ext cx="2992438" cy="14366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03B79432-299D-4854-9F50-6AA021555BC7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Laplace Transform of Test Signals</a:t>
            </a:r>
          </a:p>
        </p:txBody>
      </p:sp>
    </p:spTree>
    <p:extLst>
      <p:ext uri="{BB962C8B-B14F-4D97-AF65-F5344CB8AC3E}">
        <p14:creationId xmlns:p14="http://schemas.microsoft.com/office/powerpoint/2010/main" val="2246603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1081168" y="3618843"/>
            <a:ext cx="7178352" cy="2204996"/>
            <a:chOff x="1138064" y="2420888"/>
            <a:chExt cx="7178352" cy="2204996"/>
          </a:xfrm>
        </p:grpSpPr>
        <p:sp>
          <p:nvSpPr>
            <p:cNvPr id="4" name="Rectangle 3"/>
            <p:cNvSpPr/>
            <p:nvPr/>
          </p:nvSpPr>
          <p:spPr>
            <a:xfrm>
              <a:off x="3442320" y="2897692"/>
              <a:ext cx="2160240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600" dirty="0"/>
                <a:t>System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2146176" y="3528348"/>
              <a:ext cx="12961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>
              <a:off x="5588912" y="3532116"/>
              <a:ext cx="1296144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8" name="Picture 7" descr="download.jpg"/>
            <p:cNvPicPr>
              <a:picLocks noChangeAspect="1"/>
            </p:cNvPicPr>
            <p:nvPr/>
          </p:nvPicPr>
          <p:blipFill>
            <a:blip r:embed="rId2" cstate="print"/>
            <a:srcRect t="52257"/>
            <a:stretch>
              <a:fillRect/>
            </a:stretch>
          </p:blipFill>
          <p:spPr>
            <a:xfrm>
              <a:off x="1210072" y="2490103"/>
              <a:ext cx="1348772" cy="602306"/>
            </a:xfrm>
            <a:prstGeom prst="rect">
              <a:avLst/>
            </a:prstGeom>
          </p:spPr>
        </p:pic>
        <p:pic>
          <p:nvPicPr>
            <p:cNvPr id="10" name="Picture 9" descr="download.jpg"/>
            <p:cNvPicPr>
              <a:picLocks noChangeAspect="1"/>
            </p:cNvPicPr>
            <p:nvPr/>
          </p:nvPicPr>
          <p:blipFill>
            <a:blip r:embed="rId2" cstate="print"/>
            <a:srcRect b="51632"/>
            <a:stretch>
              <a:fillRect/>
            </a:stretch>
          </p:blipFill>
          <p:spPr>
            <a:xfrm>
              <a:off x="6466656" y="2420888"/>
              <a:ext cx="1849760" cy="836844"/>
            </a:xfrm>
            <a:prstGeom prst="rect">
              <a:avLst/>
            </a:prstGeom>
          </p:spPr>
        </p:pic>
        <p:pic>
          <p:nvPicPr>
            <p:cNvPr id="9" name="Picture 8" descr="4_impul.gif"/>
            <p:cNvPicPr>
              <a:picLocks noChangeAspect="1"/>
            </p:cNvPicPr>
            <p:nvPr/>
          </p:nvPicPr>
          <p:blipFill>
            <a:blip r:embed="rId3" cstate="print"/>
            <a:srcRect r="79328" b="66400"/>
            <a:stretch>
              <a:fillRect/>
            </a:stretch>
          </p:blipFill>
          <p:spPr>
            <a:xfrm>
              <a:off x="1138064" y="3401748"/>
              <a:ext cx="819091" cy="936104"/>
            </a:xfrm>
            <a:prstGeom prst="rect">
              <a:avLst/>
            </a:prstGeom>
          </p:spPr>
        </p:pic>
        <p:pic>
          <p:nvPicPr>
            <p:cNvPr id="11" name="Picture 10" descr="4_impul.gif"/>
            <p:cNvPicPr>
              <a:picLocks noChangeAspect="1"/>
            </p:cNvPicPr>
            <p:nvPr/>
          </p:nvPicPr>
          <p:blipFill>
            <a:blip r:embed="rId3" cstate="print"/>
            <a:srcRect l="73827" b="66400"/>
            <a:stretch>
              <a:fillRect/>
            </a:stretch>
          </p:blipFill>
          <p:spPr>
            <a:xfrm>
              <a:off x="6610672" y="3585929"/>
              <a:ext cx="1152128" cy="1039955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540064" y="1368940"/>
            <a:ext cx="8568952" cy="1420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/>
              <a:t>The time response of any system has two components</a:t>
            </a:r>
          </a:p>
          <a:p>
            <a:pPr marL="635000" lvl="1" indent="-1778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/>
              <a:t>Transient response</a:t>
            </a:r>
          </a:p>
          <a:p>
            <a:pPr marL="635000" lvl="1" indent="-1778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/>
              <a:t>Steady-state response. </a:t>
            </a:r>
            <a:endParaRPr lang="en-GB" sz="2000" dirty="0"/>
          </a:p>
        </p:txBody>
      </p:sp>
      <p:sp>
        <p:nvSpPr>
          <p:cNvPr id="13" name="Rectangle 12"/>
          <p:cNvSpPr/>
          <p:nvPr/>
        </p:nvSpPr>
        <p:spPr>
          <a:xfrm>
            <a:off x="287524" y="573787"/>
            <a:ext cx="84969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The time response of a dynamic system is a response to an input expressed as a function of time.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A509A8B-0DAC-4F34-BED8-A5568B305811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Time Response of Control Systems</a:t>
            </a:r>
          </a:p>
        </p:txBody>
      </p:sp>
    </p:spTree>
    <p:extLst>
      <p:ext uri="{BB962C8B-B14F-4D97-AF65-F5344CB8AC3E}">
        <p14:creationId xmlns:p14="http://schemas.microsoft.com/office/powerpoint/2010/main" val="154043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307092" y="1324390"/>
            <a:ext cx="849694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GB" sz="2400" dirty="0"/>
          </a:p>
          <a:p>
            <a:pPr marL="177800" indent="-177800" algn="just">
              <a:buFont typeface="Arial" pitchFamily="34" charset="0"/>
              <a:buChar char="•"/>
            </a:pPr>
            <a:r>
              <a:rPr lang="en-GB" sz="2000" dirty="0"/>
              <a:t>The transient response is the response of a system from rest or equilibrium to steady state.</a:t>
            </a:r>
            <a:r>
              <a:rPr lang="en-GB" sz="2400" dirty="0"/>
              <a:t> </a:t>
            </a:r>
            <a:endParaRPr lang="en-US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6492838-F222-4C0C-8F88-F6C0CBF845A8}"/>
              </a:ext>
            </a:extLst>
          </p:cNvPr>
          <p:cNvGrpSpPr/>
          <p:nvPr/>
        </p:nvGrpSpPr>
        <p:grpSpPr>
          <a:xfrm>
            <a:off x="3249722" y="2678176"/>
            <a:ext cx="5610878" cy="3906126"/>
            <a:chOff x="3497626" y="2909824"/>
            <a:chExt cx="5610878" cy="3906126"/>
          </a:xfrm>
        </p:grpSpPr>
        <p:pic>
          <p:nvPicPr>
            <p:cNvPr id="20377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11905" t="11739" r="7734"/>
            <a:stretch>
              <a:fillRect/>
            </a:stretch>
          </p:blipFill>
          <p:spPr bwMode="auto">
            <a:xfrm>
              <a:off x="3497626" y="2909824"/>
              <a:ext cx="5610878" cy="3906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18" name="Group 17"/>
            <p:cNvGrpSpPr/>
            <p:nvPr/>
          </p:nvGrpSpPr>
          <p:grpSpPr>
            <a:xfrm>
              <a:off x="5855336" y="3007360"/>
              <a:ext cx="2880320" cy="3331918"/>
              <a:chOff x="5652120" y="3456296"/>
              <a:chExt cx="2880320" cy="2988000"/>
            </a:xfrm>
          </p:grpSpPr>
          <p:cxnSp>
            <p:nvCxnSpPr>
              <p:cNvPr id="15" name="Straight Connector 14"/>
              <p:cNvCxnSpPr/>
              <p:nvPr/>
            </p:nvCxnSpPr>
            <p:spPr>
              <a:xfrm>
                <a:off x="7870720" y="3456296"/>
                <a:ext cx="0" cy="298800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5652120" y="5301208"/>
                <a:ext cx="19949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Transient Response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8070775" y="4175788"/>
                <a:ext cx="461665" cy="2205540"/>
              </a:xfrm>
              <a:prstGeom prst="rect">
                <a:avLst/>
              </a:prstGeom>
              <a:noFill/>
            </p:spPr>
            <p:txBody>
              <a:bodyPr vert="vert270" wrap="none" rtlCol="0">
                <a:spAutoFit/>
              </a:bodyPr>
              <a:lstStyle/>
              <a:p>
                <a:r>
                  <a:rPr lang="en-GB" dirty="0"/>
                  <a:t>Steady State Response</a:t>
                </a:r>
              </a:p>
            </p:txBody>
          </p:sp>
        </p:grpSp>
      </p:grpSp>
      <p:sp>
        <p:nvSpPr>
          <p:cNvPr id="19" name="Rectangle 18"/>
          <p:cNvSpPr/>
          <p:nvPr/>
        </p:nvSpPr>
        <p:spPr>
          <a:xfrm>
            <a:off x="450380" y="3414246"/>
            <a:ext cx="268720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000" dirty="0"/>
              <a:t>The response of the system after the transient response is called steady state response.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6E93B75-11DB-4E09-B1CE-C806610A0A82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Time Response of Control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F93368-F94B-4993-8019-361F6BBD9726}"/>
              </a:ext>
            </a:extLst>
          </p:cNvPr>
          <p:cNvSpPr/>
          <p:nvPr/>
        </p:nvSpPr>
        <p:spPr>
          <a:xfrm>
            <a:off x="320548" y="668303"/>
            <a:ext cx="86283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When the response of the system is changed from rest or equilibrium it takes some time to settle down. </a:t>
            </a:r>
          </a:p>
        </p:txBody>
      </p:sp>
    </p:spTree>
    <p:extLst>
      <p:ext uri="{BB962C8B-B14F-4D97-AF65-F5344CB8AC3E}">
        <p14:creationId xmlns:p14="http://schemas.microsoft.com/office/powerpoint/2010/main" val="348673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96C8C5E-843B-4A72-85D1-F6A36C8A4698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Time Response of Control Systems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B8DCBD-670B-4C7E-8B3E-1CE25E2620A4}"/>
              </a:ext>
            </a:extLst>
          </p:cNvPr>
          <p:cNvSpPr/>
          <p:nvPr/>
        </p:nvSpPr>
        <p:spPr>
          <a:xfrm>
            <a:off x="286512" y="1561552"/>
            <a:ext cx="83860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177800" algn="just">
              <a:buFont typeface="Arial" pitchFamily="34" charset="0"/>
              <a:buChar char="•"/>
            </a:pPr>
            <a:r>
              <a:rPr lang="en-US" sz="2000" dirty="0"/>
              <a:t>It is therefore sufficient to analyze the transient response using a step input.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2C254-FB35-4ED4-9724-91914DE5AF46}"/>
              </a:ext>
            </a:extLst>
          </p:cNvPr>
          <p:cNvSpPr/>
          <p:nvPr/>
        </p:nvSpPr>
        <p:spPr>
          <a:xfrm>
            <a:off x="355600" y="614894"/>
            <a:ext cx="84470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 transient response dependents upon the system poles only and not on the type of input</a:t>
            </a:r>
            <a:endParaRPr lang="en-GB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97BBBB-5827-4046-9D2B-FC16DEA3CA8A}"/>
              </a:ext>
            </a:extLst>
          </p:cNvPr>
          <p:cNvSpPr/>
          <p:nvPr/>
        </p:nvSpPr>
        <p:spPr>
          <a:xfrm>
            <a:off x="286512" y="2550695"/>
            <a:ext cx="84632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177800" algn="just">
              <a:buFont typeface="Arial" pitchFamily="34" charset="0"/>
              <a:buChar char="•"/>
            </a:pPr>
            <a:r>
              <a:rPr lang="en-US" sz="2000" dirty="0"/>
              <a:t>The steady-state response depends on system dynamics and the input quantity. </a:t>
            </a:r>
          </a:p>
          <a:p>
            <a:pPr marL="95250" algn="just"/>
            <a:r>
              <a:rPr lang="en-US" sz="2400" dirty="0"/>
              <a:t>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4AF84-5019-47E6-8704-346A1C12E10D}"/>
              </a:ext>
            </a:extLst>
          </p:cNvPr>
          <p:cNvSpPr/>
          <p:nvPr/>
        </p:nvSpPr>
        <p:spPr>
          <a:xfrm>
            <a:off x="355600" y="3497353"/>
            <a:ext cx="84632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indent="-177800" algn="just">
              <a:buFont typeface="Arial" pitchFamily="34" charset="0"/>
              <a:buChar char="•"/>
            </a:pPr>
            <a:r>
              <a:rPr lang="en-US" sz="2000" dirty="0"/>
              <a:t>It is then examined using different test signals.</a:t>
            </a:r>
            <a:endParaRPr lang="en-GB" sz="2000" dirty="0"/>
          </a:p>
          <a:p>
            <a:pPr marL="95250" algn="just"/>
            <a:endParaRPr lang="en-US" sz="2000" dirty="0"/>
          </a:p>
          <a:p>
            <a:pPr marL="95250" algn="just"/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322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692696"/>
            <a:ext cx="8964488" cy="481800"/>
          </a:xfrm>
        </p:spPr>
        <p:txBody>
          <a:bodyPr>
            <a:normAutofit/>
          </a:bodyPr>
          <a:lstStyle/>
          <a:p>
            <a:pPr algn="just"/>
            <a:r>
              <a:rPr lang="en-GB" sz="2000" dirty="0"/>
              <a:t>The first order system has the following generic format with only one pole.</a:t>
            </a:r>
          </a:p>
          <a:p>
            <a:pPr algn="just"/>
            <a:endParaRPr lang="en-GB" dirty="0"/>
          </a:p>
          <a:p>
            <a:pPr algn="just"/>
            <a:endParaRPr lang="en-GB" dirty="0"/>
          </a:p>
          <a:p>
            <a:endParaRPr lang="en-GB" dirty="0"/>
          </a:p>
        </p:txBody>
      </p:sp>
      <p:graphicFrame>
        <p:nvGraphicFramePr>
          <p:cNvPr id="196609" name="Object 1"/>
          <p:cNvGraphicFramePr>
            <a:graphicFrameLocks noChangeAspect="1"/>
          </p:cNvGraphicFramePr>
          <p:nvPr/>
        </p:nvGraphicFramePr>
        <p:xfrm>
          <a:off x="3489325" y="1268413"/>
          <a:ext cx="205422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669" imgH="355446" progId="Equation.3">
                  <p:embed/>
                </p:oleObj>
              </mc:Choice>
              <mc:Fallback>
                <p:oleObj name="Equation" r:id="rId2" imgW="761669" imgH="355446" progId="Equation.3">
                  <p:embed/>
                  <p:pic>
                    <p:nvPicPr>
                      <p:cNvPr id="19660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325" y="1268413"/>
                        <a:ext cx="2054225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70783C3-43B0-4B11-A47B-2D9A70A018AC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Time Responses of First Order systems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D3DCD9-86C4-427A-AE7F-027F3E72D31F}"/>
              </a:ext>
            </a:extLst>
          </p:cNvPr>
          <p:cNvSpPr/>
          <p:nvPr/>
        </p:nvSpPr>
        <p:spPr>
          <a:xfrm>
            <a:off x="375920" y="2276779"/>
            <a:ext cx="70855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dirty="0"/>
              <a:t>Where </a:t>
            </a:r>
            <a:r>
              <a:rPr lang="en-GB" b="1" i="1" dirty="0">
                <a:solidFill>
                  <a:srgbClr val="FF0000"/>
                </a:solidFill>
              </a:rPr>
              <a:t>K</a:t>
            </a:r>
            <a:r>
              <a:rPr lang="en-GB" dirty="0"/>
              <a:t> is the D.C gain and </a:t>
            </a:r>
            <a:r>
              <a:rPr lang="en-GB" b="1" i="1" dirty="0">
                <a:solidFill>
                  <a:srgbClr val="FF0000"/>
                </a:solidFill>
              </a:rPr>
              <a:t>T</a:t>
            </a:r>
            <a:r>
              <a:rPr lang="en-GB" dirty="0"/>
              <a:t> is the time constant of the system.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9EE5E7-878C-4F32-9BF4-3DDBD863A824}"/>
              </a:ext>
            </a:extLst>
          </p:cNvPr>
          <p:cNvSpPr/>
          <p:nvPr/>
        </p:nvSpPr>
        <p:spPr>
          <a:xfrm>
            <a:off x="457200" y="2878866"/>
            <a:ext cx="81869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The time constant is a measure of how quickly a 1</a:t>
            </a:r>
            <a:r>
              <a:rPr lang="en-GB" baseline="30000" dirty="0"/>
              <a:t>st</a:t>
            </a:r>
            <a:r>
              <a:rPr lang="en-GB" dirty="0"/>
              <a:t> order system responds to a unit step input.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54DEFE-E31F-4C25-818B-B6CC889B9EAA}"/>
              </a:ext>
            </a:extLst>
          </p:cNvPr>
          <p:cNvSpPr/>
          <p:nvPr/>
        </p:nvSpPr>
        <p:spPr>
          <a:xfrm>
            <a:off x="457200" y="3663014"/>
            <a:ext cx="8243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The D.C Gain of the system is ratio between the input signal and the steady state value of output.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42A9CF-4494-4A1A-A0B9-0D74FCF9A470}"/>
              </a:ext>
            </a:extLst>
          </p:cNvPr>
          <p:cNvSpPr/>
          <p:nvPr/>
        </p:nvSpPr>
        <p:spPr>
          <a:xfrm>
            <a:off x="318212" y="4447162"/>
            <a:ext cx="41472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GB" dirty="0"/>
              <a:t>For the first order systems given below</a:t>
            </a:r>
          </a:p>
        </p:txBody>
      </p:sp>
      <p:graphicFrame>
        <p:nvGraphicFramePr>
          <p:cNvPr id="13" name="Object 1">
            <a:extLst>
              <a:ext uri="{FF2B5EF4-FFF2-40B4-BE49-F238E27FC236}">
                <a16:creationId xmlns:a16="http://schemas.microsoft.com/office/drawing/2014/main" id="{7BB20367-EF39-4756-BCD3-BC1C94A345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867857"/>
              </p:ext>
            </p:extLst>
          </p:nvPr>
        </p:nvGraphicFramePr>
        <p:xfrm>
          <a:off x="1429181" y="4846823"/>
          <a:ext cx="19859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355446" progId="Equation.3">
                  <p:embed/>
                </p:oleObj>
              </mc:Choice>
              <mc:Fallback>
                <p:oleObj name="Equation" r:id="rId4" imgW="736280" imgH="355446" progId="Equation.3">
                  <p:embed/>
                  <p:pic>
                    <p:nvPicPr>
                      <p:cNvPr id="19660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181" y="4846823"/>
                        <a:ext cx="1985963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">
            <a:extLst>
              <a:ext uri="{FF2B5EF4-FFF2-40B4-BE49-F238E27FC236}">
                <a16:creationId xmlns:a16="http://schemas.microsoft.com/office/drawing/2014/main" id="{5164660C-0882-4497-A78D-648C24028F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620108"/>
              </p:ext>
            </p:extLst>
          </p:nvPr>
        </p:nvGraphicFramePr>
        <p:xfrm>
          <a:off x="4865392" y="4932203"/>
          <a:ext cx="1849437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502" imgH="355446" progId="Equation.3">
                  <p:embed/>
                </p:oleObj>
              </mc:Choice>
              <mc:Fallback>
                <p:oleObj name="Equation" r:id="rId6" imgW="685502" imgH="355446" progId="Equation.3">
                  <p:embed/>
                  <p:pic>
                    <p:nvPicPr>
                      <p:cNvPr id="20377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5392" y="4932203"/>
                        <a:ext cx="1849437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CA640D41-DC40-49A2-90C9-99882DF778CB}"/>
              </a:ext>
            </a:extLst>
          </p:cNvPr>
          <p:cNvSpPr/>
          <p:nvPr/>
        </p:nvSpPr>
        <p:spPr>
          <a:xfrm>
            <a:off x="825776" y="5918777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D.C gain is </a:t>
            </a:r>
            <a:r>
              <a:rPr lang="en-GB" dirty="0">
                <a:solidFill>
                  <a:srgbClr val="FF0000"/>
                </a:solidFill>
              </a:rPr>
              <a:t>10</a:t>
            </a:r>
          </a:p>
          <a:p>
            <a:r>
              <a:rPr lang="en-GB" dirty="0"/>
              <a:t>time constant is </a:t>
            </a:r>
            <a:r>
              <a:rPr lang="en-GB" dirty="0">
                <a:solidFill>
                  <a:srgbClr val="FF0000"/>
                </a:solidFill>
              </a:rPr>
              <a:t>3</a:t>
            </a:r>
            <a:r>
              <a:rPr lang="en-GB" dirty="0"/>
              <a:t> seconds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574E42-F95E-434A-9642-80EB682E2E60}"/>
              </a:ext>
            </a:extLst>
          </p:cNvPr>
          <p:cNvSpPr/>
          <p:nvPr/>
        </p:nvSpPr>
        <p:spPr>
          <a:xfrm>
            <a:off x="5504688" y="591877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>
              <a:spcBef>
                <a:spcPts val="0"/>
              </a:spcBef>
              <a:defRPr/>
            </a:pPr>
            <a:r>
              <a:rPr lang="en-GB" dirty="0"/>
              <a:t>D.C gain is </a:t>
            </a:r>
            <a:r>
              <a:rPr lang="en-GB" dirty="0">
                <a:solidFill>
                  <a:srgbClr val="FF0000"/>
                </a:solidFill>
              </a:rPr>
              <a:t>3/5</a:t>
            </a:r>
          </a:p>
          <a:p>
            <a:pPr lvl="0" algn="just">
              <a:spcBef>
                <a:spcPts val="0"/>
              </a:spcBef>
              <a:defRPr/>
            </a:pPr>
            <a:r>
              <a:rPr lang="en-GB" dirty="0"/>
              <a:t>time constant is </a:t>
            </a:r>
            <a:r>
              <a:rPr lang="en-GB" dirty="0">
                <a:solidFill>
                  <a:srgbClr val="FF0000"/>
                </a:solidFill>
              </a:rPr>
              <a:t>1/5 </a:t>
            </a:r>
            <a:r>
              <a:rPr lang="en-GB" dirty="0"/>
              <a:t>seconds.</a:t>
            </a:r>
          </a:p>
        </p:txBody>
      </p:sp>
      <p:graphicFrame>
        <p:nvGraphicFramePr>
          <p:cNvPr id="17" name="Object 1">
            <a:extLst>
              <a:ext uri="{FF2B5EF4-FFF2-40B4-BE49-F238E27FC236}">
                <a16:creationId xmlns:a16="http://schemas.microsoft.com/office/drawing/2014/main" id="{7786DA9F-1856-48DC-A7FB-B95099C4B4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277050"/>
              </p:ext>
            </p:extLst>
          </p:nvPr>
        </p:nvGraphicFramePr>
        <p:xfrm>
          <a:off x="6656320" y="4947651"/>
          <a:ext cx="1541463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71252" imgH="355446" progId="Equation.3">
                  <p:embed/>
                </p:oleObj>
              </mc:Choice>
              <mc:Fallback>
                <p:oleObj name="Equation" r:id="rId8" imgW="571252" imgH="355446" progId="Equation.3">
                  <p:embed/>
                  <p:pic>
                    <p:nvPicPr>
                      <p:cNvPr id="20378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6320" y="4947651"/>
                        <a:ext cx="1541463" cy="957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50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6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0" grpId="0"/>
      <p:bldP spid="11" grpId="0"/>
      <p:bldP spid="12" grpId="0"/>
      <p:bldP spid="1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70783C3-43B0-4B11-A47B-2D9A70A018AC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Impulse Response of First Order System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34B426-1909-4EE9-A2B9-CFF1DC9F558D}"/>
              </a:ext>
            </a:extLst>
          </p:cNvPr>
          <p:cNvGrpSpPr/>
          <p:nvPr/>
        </p:nvGrpSpPr>
        <p:grpSpPr>
          <a:xfrm>
            <a:off x="629886" y="863150"/>
            <a:ext cx="2194653" cy="1963347"/>
            <a:chOff x="6161642" y="2160566"/>
            <a:chExt cx="2928060" cy="2683427"/>
          </a:xfrm>
        </p:grpSpPr>
        <p:grpSp>
          <p:nvGrpSpPr>
            <p:cNvPr id="18" name="Group 13">
              <a:extLst>
                <a:ext uri="{FF2B5EF4-FFF2-40B4-BE49-F238E27FC236}">
                  <a16:creationId xmlns:a16="http://schemas.microsoft.com/office/drawing/2014/main" id="{14922F61-FAFB-49A8-B56C-EA5CB7D076C1}"/>
                </a:ext>
              </a:extLst>
            </p:cNvPr>
            <p:cNvGrpSpPr/>
            <p:nvPr/>
          </p:nvGrpSpPr>
          <p:grpSpPr>
            <a:xfrm>
              <a:off x="6161642" y="2160566"/>
              <a:ext cx="2928060" cy="2683427"/>
              <a:chOff x="4860032" y="2160566"/>
              <a:chExt cx="2928060" cy="2683427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1A5DAE0-2C06-4057-B3BD-9C9E7087F146}"/>
                  </a:ext>
                </a:extLst>
              </p:cNvPr>
              <p:cNvCxnSpPr/>
              <p:nvPr/>
            </p:nvCxnSpPr>
            <p:spPr>
              <a:xfrm>
                <a:off x="4860032" y="4293096"/>
                <a:ext cx="266429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D32BE533-1214-4C51-8F6F-A181048C2A31}"/>
                  </a:ext>
                </a:extLst>
              </p:cNvPr>
              <p:cNvCxnSpPr/>
              <p:nvPr/>
            </p:nvCxnSpPr>
            <p:spPr>
              <a:xfrm flipV="1">
                <a:off x="5436096" y="2467729"/>
                <a:ext cx="0" cy="237626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D3887F-280C-45BB-840D-85875CB9FAA6}"/>
                  </a:ext>
                </a:extLst>
              </p:cNvPr>
              <p:cNvSpPr txBox="1"/>
              <p:nvPr/>
            </p:nvSpPr>
            <p:spPr>
              <a:xfrm>
                <a:off x="5189830" y="4234944"/>
                <a:ext cx="351175" cy="3785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8DF177-F95E-4D68-9E05-6D4885900308}"/>
                  </a:ext>
                </a:extLst>
              </p:cNvPr>
              <p:cNvSpPr txBox="1"/>
              <p:nvPr/>
            </p:nvSpPr>
            <p:spPr>
              <a:xfrm>
                <a:off x="7473276" y="4126835"/>
                <a:ext cx="314816" cy="3785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t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55DA1C0-777D-49F5-8CD5-33462EBED0EE}"/>
                  </a:ext>
                </a:extLst>
              </p:cNvPr>
              <p:cNvSpPr txBox="1"/>
              <p:nvPr/>
            </p:nvSpPr>
            <p:spPr>
              <a:xfrm>
                <a:off x="5141472" y="2160566"/>
                <a:ext cx="545794" cy="3785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sz="1200" dirty="0"/>
                  <a:t>δ</a:t>
                </a:r>
                <a:r>
                  <a:rPr lang="en-GB" sz="1200" dirty="0"/>
                  <a:t>(t)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2BFD745-3946-4365-9F6D-D2C0E1595EB0}"/>
                  </a:ext>
                </a:extLst>
              </p:cNvPr>
              <p:cNvSpPr txBox="1"/>
              <p:nvPr/>
            </p:nvSpPr>
            <p:spPr>
              <a:xfrm>
                <a:off x="5040148" y="3034691"/>
                <a:ext cx="351175" cy="3785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200" dirty="0"/>
                  <a:t>1</a:t>
                </a:r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9494760-1EE0-4676-9351-9B24EB23B275}"/>
                </a:ext>
              </a:extLst>
            </p:cNvPr>
            <p:cNvCxnSpPr/>
            <p:nvPr/>
          </p:nvCxnSpPr>
          <p:spPr>
            <a:xfrm flipV="1">
              <a:off x="6739268" y="3138235"/>
              <a:ext cx="0" cy="116598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8931C2B-7F8E-4024-80D7-40DF7E2A60FC}"/>
              </a:ext>
            </a:extLst>
          </p:cNvPr>
          <p:cNvGrpSpPr/>
          <p:nvPr/>
        </p:nvGrpSpPr>
        <p:grpSpPr>
          <a:xfrm>
            <a:off x="2483768" y="1092837"/>
            <a:ext cx="5962166" cy="1008732"/>
            <a:chOff x="1763688" y="2276872"/>
            <a:chExt cx="5962166" cy="100873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798E8D4-6367-4AC7-B6AB-C1E835C1C19E}"/>
                </a:ext>
              </a:extLst>
            </p:cNvPr>
            <p:cNvGrpSpPr/>
            <p:nvPr/>
          </p:nvGrpSpPr>
          <p:grpSpPr>
            <a:xfrm>
              <a:off x="3923928" y="2276872"/>
              <a:ext cx="1584176" cy="1008732"/>
              <a:chOff x="3635896" y="4508500"/>
              <a:chExt cx="1584176" cy="1008732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9CC68B1-948B-44EA-A0CA-CB562F0B3124}"/>
                  </a:ext>
                </a:extLst>
              </p:cNvPr>
              <p:cNvSpPr/>
              <p:nvPr/>
            </p:nvSpPr>
            <p:spPr>
              <a:xfrm>
                <a:off x="3635896" y="4509120"/>
                <a:ext cx="1584176" cy="10081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28" name="Object 4">
                <a:extLst>
                  <a:ext uri="{FF2B5EF4-FFF2-40B4-BE49-F238E27FC236}">
                    <a16:creationId xmlns:a16="http://schemas.microsoft.com/office/drawing/2014/main" id="{831A26D5-3A7A-4B1A-94D9-340E2796DBE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67163" y="4508500"/>
              <a:ext cx="958850" cy="958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55292" imgH="355292" progId="Equation.3">
                      <p:embed/>
                    </p:oleObj>
                  </mc:Choice>
                  <mc:Fallback>
                    <p:oleObj name="Equation" r:id="rId2" imgW="355292" imgH="355292" progId="Equation.3">
                      <p:embed/>
                      <p:pic>
                        <p:nvPicPr>
                          <p:cNvPr id="21299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7163" y="4508500"/>
                            <a:ext cx="958850" cy="9588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EDACFB3-8241-41AC-931A-37641A210F7E}"/>
                </a:ext>
              </a:extLst>
            </p:cNvPr>
            <p:cNvCxnSpPr/>
            <p:nvPr/>
          </p:nvCxnSpPr>
          <p:spPr>
            <a:xfrm>
              <a:off x="2483768" y="2757400"/>
              <a:ext cx="14401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50E38D9-BDBC-40C3-9CB3-051DC7365FC7}"/>
                </a:ext>
              </a:extLst>
            </p:cNvPr>
            <p:cNvCxnSpPr/>
            <p:nvPr/>
          </p:nvCxnSpPr>
          <p:spPr>
            <a:xfrm>
              <a:off x="5508104" y="2767280"/>
              <a:ext cx="14401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1" name="Object 5">
              <a:extLst>
                <a:ext uri="{FF2B5EF4-FFF2-40B4-BE49-F238E27FC236}">
                  <a16:creationId xmlns:a16="http://schemas.microsoft.com/office/drawing/2014/main" id="{A798CCAF-92B5-49ED-AB6C-03C03FDF6AB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2598050"/>
                </p:ext>
              </p:extLst>
            </p:nvPr>
          </p:nvGraphicFramePr>
          <p:xfrm>
            <a:off x="6971792" y="2492896"/>
            <a:ext cx="754062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9158" imgH="177646" progId="Equation.3">
                    <p:embed/>
                  </p:oleObj>
                </mc:Choice>
                <mc:Fallback>
                  <p:oleObj name="Equation" r:id="rId4" imgW="279158" imgH="177646" progId="Equation.3">
                    <p:embed/>
                    <p:pic>
                      <p:nvPicPr>
                        <p:cNvPr id="21299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1792" y="2492896"/>
                          <a:ext cx="754062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6">
              <a:extLst>
                <a:ext uri="{FF2B5EF4-FFF2-40B4-BE49-F238E27FC236}">
                  <a16:creationId xmlns:a16="http://schemas.microsoft.com/office/drawing/2014/main" id="{944EF305-B1F5-4154-9085-1961BE4FD93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2720324"/>
                </p:ext>
              </p:extLst>
            </p:nvPr>
          </p:nvGraphicFramePr>
          <p:xfrm>
            <a:off x="1763688" y="2513759"/>
            <a:ext cx="754063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158" imgH="177646" progId="Equation.3">
                    <p:embed/>
                  </p:oleObj>
                </mc:Choice>
                <mc:Fallback>
                  <p:oleObj name="Equation" r:id="rId6" imgW="279158" imgH="177646" progId="Equation.3">
                    <p:embed/>
                    <p:pic>
                      <p:nvPicPr>
                        <p:cNvPr id="212998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2513759"/>
                          <a:ext cx="754063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7">
            <a:extLst>
              <a:ext uri="{FF2B5EF4-FFF2-40B4-BE49-F238E27FC236}">
                <a16:creationId xmlns:a16="http://schemas.microsoft.com/office/drawing/2014/main" id="{E8BA007B-0C58-4B84-9EAF-56FEE838AA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195502"/>
              </p:ext>
            </p:extLst>
          </p:nvPr>
        </p:nvGraphicFramePr>
        <p:xfrm>
          <a:off x="1140292" y="2605543"/>
          <a:ext cx="22272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25142" imgH="177723" progId="Equation.3">
                  <p:embed/>
                </p:oleObj>
              </mc:Choice>
              <mc:Fallback>
                <p:oleObj name="Equation" r:id="rId8" imgW="825142" imgH="177723" progId="Equation.3">
                  <p:embed/>
                  <p:pic>
                    <p:nvPicPr>
                      <p:cNvPr id="2129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292" y="2605543"/>
                        <a:ext cx="2227263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8">
            <a:extLst>
              <a:ext uri="{FF2B5EF4-FFF2-40B4-BE49-F238E27FC236}">
                <a16:creationId xmlns:a16="http://schemas.microsoft.com/office/drawing/2014/main" id="{5A6CF61A-1669-4ACF-963B-2B6C5C771B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282016"/>
              </p:ext>
            </p:extLst>
          </p:nvPr>
        </p:nvGraphicFramePr>
        <p:xfrm>
          <a:off x="6434069" y="2271132"/>
          <a:ext cx="198596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36280" imgH="355446" progId="Equation.3">
                  <p:embed/>
                </p:oleObj>
              </mc:Choice>
              <mc:Fallback>
                <p:oleObj name="Equation" r:id="rId10" imgW="736280" imgH="355446" progId="Equation.3">
                  <p:embed/>
                  <p:pic>
                    <p:nvPicPr>
                      <p:cNvPr id="2130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4069" y="2271132"/>
                        <a:ext cx="1985963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8">
            <a:extLst>
              <a:ext uri="{FF2B5EF4-FFF2-40B4-BE49-F238E27FC236}">
                <a16:creationId xmlns:a16="http://schemas.microsoft.com/office/drawing/2014/main" id="{9388FDDC-0946-4E3B-9342-6B7A40047E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230812"/>
              </p:ext>
            </p:extLst>
          </p:nvPr>
        </p:nvGraphicFramePr>
        <p:xfrm>
          <a:off x="3598799" y="3617468"/>
          <a:ext cx="22256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25142" imgH="355446" progId="Equation.3">
                  <p:embed/>
                </p:oleObj>
              </mc:Choice>
              <mc:Fallback>
                <p:oleObj name="Equation" r:id="rId12" imgW="825142" imgH="355446" progId="Equation.3">
                  <p:embed/>
                  <p:pic>
                    <p:nvPicPr>
                      <p:cNvPr id="21402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8799" y="3617468"/>
                        <a:ext cx="2225675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FE228E5-56A4-420A-9350-10DEE5140927}"/>
              </a:ext>
            </a:extLst>
          </p:cNvPr>
          <p:cNvSpPr/>
          <p:nvPr/>
        </p:nvSpPr>
        <p:spPr>
          <a:xfrm>
            <a:off x="469392" y="4691759"/>
            <a:ext cx="81097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000" dirty="0"/>
              <a:t>In order to represent the response of the system in time domain we need to compute inverse Laplace transform of the above equation. </a:t>
            </a:r>
          </a:p>
        </p:txBody>
      </p:sp>
      <p:graphicFrame>
        <p:nvGraphicFramePr>
          <p:cNvPr id="37" name="Object 9">
            <a:extLst>
              <a:ext uri="{FF2B5EF4-FFF2-40B4-BE49-F238E27FC236}">
                <a16:creationId xmlns:a16="http://schemas.microsoft.com/office/drawing/2014/main" id="{765600EE-C3EA-4BF4-AA0A-1CB550CF9B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2875130"/>
              </p:ext>
            </p:extLst>
          </p:nvPr>
        </p:nvGraphicFramePr>
        <p:xfrm>
          <a:off x="840832" y="5580700"/>
          <a:ext cx="2420268" cy="916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3000" imgH="431640" progId="Equation.3">
                  <p:embed/>
                </p:oleObj>
              </mc:Choice>
              <mc:Fallback>
                <p:oleObj name="Equation" r:id="rId14" imgW="1143000" imgH="431640" progId="Equation.3">
                  <p:embed/>
                  <p:pic>
                    <p:nvPicPr>
                      <p:cNvPr id="2140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832" y="5580700"/>
                        <a:ext cx="2420268" cy="91618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8">
            <a:extLst>
              <a:ext uri="{FF2B5EF4-FFF2-40B4-BE49-F238E27FC236}">
                <a16:creationId xmlns:a16="http://schemas.microsoft.com/office/drawing/2014/main" id="{A61A62B9-9E5D-413E-A8A4-ABE7511704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453918"/>
              </p:ext>
            </p:extLst>
          </p:nvPr>
        </p:nvGraphicFramePr>
        <p:xfrm>
          <a:off x="5741511" y="5524372"/>
          <a:ext cx="2087562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74364" imgH="342751" progId="Equation.3">
                  <p:embed/>
                </p:oleObj>
              </mc:Choice>
              <mc:Fallback>
                <p:oleObj name="Equation" r:id="rId16" imgW="774364" imgH="342751" progId="Equation.3">
                  <p:embed/>
                  <p:pic>
                    <p:nvPicPr>
                      <p:cNvPr id="2140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1511" y="5524372"/>
                        <a:ext cx="2087562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327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0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881488"/>
              </p:ext>
            </p:extLst>
          </p:nvPr>
        </p:nvGraphicFramePr>
        <p:xfrm>
          <a:off x="4165283" y="916323"/>
          <a:ext cx="2087562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4" imgH="342751" progId="Equation.3">
                  <p:embed/>
                </p:oleObj>
              </mc:Choice>
              <mc:Fallback>
                <p:oleObj name="Equation" r:id="rId2" imgW="774364" imgH="342751" progId="Equation.3">
                  <p:embed/>
                  <p:pic>
                    <p:nvPicPr>
                      <p:cNvPr id="2140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283" y="916323"/>
                        <a:ext cx="2087562" cy="925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/>
          <p:cNvSpPr/>
          <p:nvPr/>
        </p:nvSpPr>
        <p:spPr>
          <a:xfrm>
            <a:off x="395536" y="1196752"/>
            <a:ext cx="83529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000" dirty="0"/>
              <a:t>If </a:t>
            </a:r>
            <a:r>
              <a:rPr lang="en-GB" sz="2000" dirty="0">
                <a:solidFill>
                  <a:srgbClr val="FF0000"/>
                </a:solidFill>
              </a:rPr>
              <a:t>K=3</a:t>
            </a:r>
            <a:r>
              <a:rPr lang="en-GB" sz="2000" dirty="0"/>
              <a:t> and </a:t>
            </a:r>
            <a:r>
              <a:rPr lang="en-GB" sz="2000" dirty="0">
                <a:solidFill>
                  <a:srgbClr val="FF0000"/>
                </a:solidFill>
              </a:rPr>
              <a:t>T=</a:t>
            </a:r>
            <a:r>
              <a:rPr lang="en-GB" sz="2000" dirty="0" err="1">
                <a:solidFill>
                  <a:srgbClr val="FF0000"/>
                </a:solidFill>
              </a:rPr>
              <a:t>2s</a:t>
            </a:r>
            <a:r>
              <a:rPr lang="en-GB" sz="2000" dirty="0"/>
              <a:t> then </a:t>
            </a:r>
          </a:p>
        </p:txBody>
      </p:sp>
      <p:pic>
        <p:nvPicPr>
          <p:cNvPr id="21504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14492" y="2033552"/>
            <a:ext cx="6125860" cy="4797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5C41BE2-882B-4024-9ABF-D488D03ADD20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Impulse Response of First Order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7C7250-11E6-4DB6-89EB-BE5F3E5E09E2}"/>
              </a:ext>
            </a:extLst>
          </p:cNvPr>
          <p:cNvSpPr/>
          <p:nvPr/>
        </p:nvSpPr>
        <p:spPr>
          <a:xfrm>
            <a:off x="353504" y="645597"/>
            <a:ext cx="8109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Example. </a:t>
            </a:r>
          </a:p>
        </p:txBody>
      </p:sp>
    </p:spTree>
    <p:extLst>
      <p:ext uri="{BB962C8B-B14F-4D97-AF65-F5344CB8AC3E}">
        <p14:creationId xmlns:p14="http://schemas.microsoft.com/office/powerpoint/2010/main" val="383170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70783C3-43B0-4B11-A47B-2D9A70A018AC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Step Response of First Order System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931C2B-7F8E-4024-80D7-40DF7E2A60FC}"/>
              </a:ext>
            </a:extLst>
          </p:cNvPr>
          <p:cNvGrpSpPr/>
          <p:nvPr/>
        </p:nvGrpSpPr>
        <p:grpSpPr>
          <a:xfrm>
            <a:off x="2843391" y="1304783"/>
            <a:ext cx="5962166" cy="1008732"/>
            <a:chOff x="1763688" y="2276872"/>
            <a:chExt cx="5962166" cy="100873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798E8D4-6367-4AC7-B6AB-C1E835C1C19E}"/>
                </a:ext>
              </a:extLst>
            </p:cNvPr>
            <p:cNvGrpSpPr/>
            <p:nvPr/>
          </p:nvGrpSpPr>
          <p:grpSpPr>
            <a:xfrm>
              <a:off x="3923928" y="2276872"/>
              <a:ext cx="1584176" cy="1008732"/>
              <a:chOff x="3635896" y="4508500"/>
              <a:chExt cx="1584176" cy="1008732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9CC68B1-948B-44EA-A0CA-CB562F0B3124}"/>
                  </a:ext>
                </a:extLst>
              </p:cNvPr>
              <p:cNvSpPr/>
              <p:nvPr/>
            </p:nvSpPr>
            <p:spPr>
              <a:xfrm>
                <a:off x="3635896" y="4509120"/>
                <a:ext cx="1584176" cy="10081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28" name="Object 4">
                <a:extLst>
                  <a:ext uri="{FF2B5EF4-FFF2-40B4-BE49-F238E27FC236}">
                    <a16:creationId xmlns:a16="http://schemas.microsoft.com/office/drawing/2014/main" id="{831A26D5-3A7A-4B1A-94D9-340E2796DBE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67163" y="4508500"/>
              <a:ext cx="958850" cy="958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55292" imgH="355292" progId="Equation.3">
                      <p:embed/>
                    </p:oleObj>
                  </mc:Choice>
                  <mc:Fallback>
                    <p:oleObj name="Equation" r:id="rId2" imgW="355292" imgH="355292" progId="Equation.3">
                      <p:embed/>
                      <p:pic>
                        <p:nvPicPr>
                          <p:cNvPr id="28" name="Object 4">
                            <a:extLst>
                              <a:ext uri="{FF2B5EF4-FFF2-40B4-BE49-F238E27FC236}">
                                <a16:creationId xmlns:a16="http://schemas.microsoft.com/office/drawing/2014/main" id="{831A26D5-3A7A-4B1A-94D9-340E2796DBE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7163" y="4508500"/>
                            <a:ext cx="958850" cy="9588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EDACFB3-8241-41AC-931A-37641A210F7E}"/>
                </a:ext>
              </a:extLst>
            </p:cNvPr>
            <p:cNvCxnSpPr/>
            <p:nvPr/>
          </p:nvCxnSpPr>
          <p:spPr>
            <a:xfrm>
              <a:off x="2483768" y="2757400"/>
              <a:ext cx="14401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50E38D9-BDBC-40C3-9CB3-051DC7365FC7}"/>
                </a:ext>
              </a:extLst>
            </p:cNvPr>
            <p:cNvCxnSpPr/>
            <p:nvPr/>
          </p:nvCxnSpPr>
          <p:spPr>
            <a:xfrm>
              <a:off x="5508104" y="2767280"/>
              <a:ext cx="14401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1" name="Object 5">
              <a:extLst>
                <a:ext uri="{FF2B5EF4-FFF2-40B4-BE49-F238E27FC236}">
                  <a16:creationId xmlns:a16="http://schemas.microsoft.com/office/drawing/2014/main" id="{A798CCAF-92B5-49ED-AB6C-03C03FDF6A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71792" y="2492896"/>
            <a:ext cx="754062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9158" imgH="177646" progId="Equation.3">
                    <p:embed/>
                  </p:oleObj>
                </mc:Choice>
                <mc:Fallback>
                  <p:oleObj name="Equation" r:id="rId4" imgW="279158" imgH="177646" progId="Equation.3">
                    <p:embed/>
                    <p:pic>
                      <p:nvPicPr>
                        <p:cNvPr id="31" name="Object 5">
                          <a:extLst>
                            <a:ext uri="{FF2B5EF4-FFF2-40B4-BE49-F238E27FC236}">
                              <a16:creationId xmlns:a16="http://schemas.microsoft.com/office/drawing/2014/main" id="{A798CCAF-92B5-49ED-AB6C-03C03FDF6A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1792" y="2492896"/>
                          <a:ext cx="754062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6">
              <a:extLst>
                <a:ext uri="{FF2B5EF4-FFF2-40B4-BE49-F238E27FC236}">
                  <a16:creationId xmlns:a16="http://schemas.microsoft.com/office/drawing/2014/main" id="{944EF305-B1F5-4154-9085-1961BE4FD9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3688" y="2513759"/>
            <a:ext cx="754063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158" imgH="177646" progId="Equation.3">
                    <p:embed/>
                  </p:oleObj>
                </mc:Choice>
                <mc:Fallback>
                  <p:oleObj name="Equation" r:id="rId6" imgW="279158" imgH="177646" progId="Equation.3">
                    <p:embed/>
                    <p:pic>
                      <p:nvPicPr>
                        <p:cNvPr id="32" name="Object 6">
                          <a:extLst>
                            <a:ext uri="{FF2B5EF4-FFF2-40B4-BE49-F238E27FC236}">
                              <a16:creationId xmlns:a16="http://schemas.microsoft.com/office/drawing/2014/main" id="{944EF305-B1F5-4154-9085-1961BE4FD9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2513759"/>
                          <a:ext cx="754063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FE228E5-56A4-420A-9350-10DEE5140927}"/>
              </a:ext>
            </a:extLst>
          </p:cNvPr>
          <p:cNvSpPr/>
          <p:nvPr/>
        </p:nvSpPr>
        <p:spPr>
          <a:xfrm>
            <a:off x="469392" y="4691759"/>
            <a:ext cx="8109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000" dirty="0"/>
              <a:t>Taking inverse Laplace transform of the above equation. </a:t>
            </a:r>
          </a:p>
        </p:txBody>
      </p:sp>
      <p:grpSp>
        <p:nvGrpSpPr>
          <p:cNvPr id="36" name="Group 16">
            <a:extLst>
              <a:ext uri="{FF2B5EF4-FFF2-40B4-BE49-F238E27FC236}">
                <a16:creationId xmlns:a16="http://schemas.microsoft.com/office/drawing/2014/main" id="{4F045B7B-3977-4670-A394-EAE63658ECDF}"/>
              </a:ext>
            </a:extLst>
          </p:cNvPr>
          <p:cNvGrpSpPr/>
          <p:nvPr/>
        </p:nvGrpSpPr>
        <p:grpSpPr>
          <a:xfrm>
            <a:off x="469392" y="344696"/>
            <a:ext cx="2874854" cy="2683427"/>
            <a:chOff x="5657586" y="2160566"/>
            <a:chExt cx="2874854" cy="2683427"/>
          </a:xfrm>
        </p:grpSpPr>
        <p:grpSp>
          <p:nvGrpSpPr>
            <p:cNvPr id="39" name="Group 13">
              <a:extLst>
                <a:ext uri="{FF2B5EF4-FFF2-40B4-BE49-F238E27FC236}">
                  <a16:creationId xmlns:a16="http://schemas.microsoft.com/office/drawing/2014/main" id="{AD2EDCDF-3E15-4E04-80C6-7E2BE3AA73A9}"/>
                </a:ext>
              </a:extLst>
            </p:cNvPr>
            <p:cNvGrpSpPr/>
            <p:nvPr/>
          </p:nvGrpSpPr>
          <p:grpSpPr>
            <a:xfrm>
              <a:off x="5657586" y="2160566"/>
              <a:ext cx="2874854" cy="2683427"/>
              <a:chOff x="4860032" y="2160566"/>
              <a:chExt cx="2874854" cy="2683427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D9C5554A-A141-4ECF-BBFC-087813ADFF5E}"/>
                  </a:ext>
                </a:extLst>
              </p:cNvPr>
              <p:cNvCxnSpPr/>
              <p:nvPr/>
            </p:nvCxnSpPr>
            <p:spPr>
              <a:xfrm>
                <a:off x="4860032" y="4293096"/>
                <a:ext cx="2664296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F82BE59D-EDDF-4048-8651-849321B53456}"/>
                  </a:ext>
                </a:extLst>
              </p:cNvPr>
              <p:cNvCxnSpPr/>
              <p:nvPr/>
            </p:nvCxnSpPr>
            <p:spPr>
              <a:xfrm flipV="1">
                <a:off x="5436096" y="2467729"/>
                <a:ext cx="0" cy="237626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D89B93C-AFBE-4842-A20C-9E360427D9A2}"/>
                  </a:ext>
                </a:extLst>
              </p:cNvPr>
              <p:cNvSpPr txBox="1"/>
              <p:nvPr/>
            </p:nvSpPr>
            <p:spPr>
              <a:xfrm>
                <a:off x="5189830" y="423494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0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4D444BC-92D0-4B27-B233-AA7DDBA6852C}"/>
                  </a:ext>
                </a:extLst>
              </p:cNvPr>
              <p:cNvSpPr txBox="1"/>
              <p:nvPr/>
            </p:nvSpPr>
            <p:spPr>
              <a:xfrm>
                <a:off x="7473276" y="4126836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t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F776EC3-489A-407C-AFF3-B3B75DF8A4A2}"/>
                  </a:ext>
                </a:extLst>
              </p:cNvPr>
              <p:cNvSpPr txBox="1"/>
              <p:nvPr/>
            </p:nvSpPr>
            <p:spPr>
              <a:xfrm>
                <a:off x="5141472" y="2160566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GB" dirty="0"/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9E28A90F-FE7C-4494-9C31-243E7203B149}"/>
                  </a:ext>
                </a:extLst>
              </p:cNvPr>
              <p:cNvCxnSpPr/>
              <p:nvPr/>
            </p:nvCxnSpPr>
            <p:spPr>
              <a:xfrm>
                <a:off x="5436096" y="3140968"/>
                <a:ext cx="1872208" cy="0"/>
              </a:xfrm>
              <a:prstGeom prst="line">
                <a:avLst/>
              </a:pr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151EB2C-EB05-49CF-90E8-5CE886281910}"/>
                  </a:ext>
                </a:extLst>
              </p:cNvPr>
              <p:cNvSpPr txBox="1"/>
              <p:nvPr/>
            </p:nvSpPr>
            <p:spPr>
              <a:xfrm>
                <a:off x="5148265" y="2955387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1</a:t>
                </a:r>
              </a:p>
            </p:txBody>
          </p: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A43975F-6D73-436D-A771-7A25B4EE804A}"/>
                </a:ext>
              </a:extLst>
            </p:cNvPr>
            <p:cNvCxnSpPr/>
            <p:nvPr/>
          </p:nvCxnSpPr>
          <p:spPr>
            <a:xfrm flipH="1">
              <a:off x="6241832" y="3153701"/>
              <a:ext cx="0" cy="1153043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7B20388-5722-4E2B-9881-C0084C3E6835}"/>
                </a:ext>
              </a:extLst>
            </p:cNvPr>
            <p:cNvCxnSpPr/>
            <p:nvPr/>
          </p:nvCxnSpPr>
          <p:spPr>
            <a:xfrm>
              <a:off x="5868216" y="4293096"/>
              <a:ext cx="360000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49" name="Object 7">
            <a:extLst>
              <a:ext uri="{FF2B5EF4-FFF2-40B4-BE49-F238E27FC236}">
                <a16:creationId xmlns:a16="http://schemas.microsoft.com/office/drawing/2014/main" id="{5A2002DE-93A8-4BEF-AC81-241421B5E9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806085"/>
              </p:ext>
            </p:extLst>
          </p:nvPr>
        </p:nvGraphicFramePr>
        <p:xfrm>
          <a:off x="1258198" y="2481435"/>
          <a:ext cx="23987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614" imgH="355446" progId="Equation.3">
                  <p:embed/>
                </p:oleObj>
              </mc:Choice>
              <mc:Fallback>
                <p:oleObj name="Equation" r:id="rId8" imgW="888614" imgH="355446" progId="Equation.3">
                  <p:embed/>
                  <p:pic>
                    <p:nvPicPr>
                      <p:cNvPr id="2129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198" y="2481435"/>
                        <a:ext cx="2398713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8">
            <a:extLst>
              <a:ext uri="{FF2B5EF4-FFF2-40B4-BE49-F238E27FC236}">
                <a16:creationId xmlns:a16="http://schemas.microsoft.com/office/drawing/2014/main" id="{AC2C97B2-6A4A-4951-BC85-32CE4CEFDE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210217"/>
              </p:ext>
            </p:extLst>
          </p:nvPr>
        </p:nvGraphicFramePr>
        <p:xfrm>
          <a:off x="6532674" y="2419073"/>
          <a:ext cx="2328862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225" imgH="368140" progId="Equation.3">
                  <p:embed/>
                </p:oleObj>
              </mc:Choice>
              <mc:Fallback>
                <p:oleObj name="Equation" r:id="rId10" imgW="863225" imgH="368140" progId="Equation.3">
                  <p:embed/>
                  <p:pic>
                    <p:nvPicPr>
                      <p:cNvPr id="2130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2674" y="2419073"/>
                        <a:ext cx="2328862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7">
            <a:extLst>
              <a:ext uri="{FF2B5EF4-FFF2-40B4-BE49-F238E27FC236}">
                <a16:creationId xmlns:a16="http://schemas.microsoft.com/office/drawing/2014/main" id="{1B7F139D-5657-4B4E-BC3D-C8C903E239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682884"/>
              </p:ext>
            </p:extLst>
          </p:nvPr>
        </p:nvGraphicFramePr>
        <p:xfrm>
          <a:off x="1161615" y="3615150"/>
          <a:ext cx="2636837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77476" imgH="355446" progId="Equation.3">
                  <p:embed/>
                </p:oleObj>
              </mc:Choice>
              <mc:Fallback>
                <p:oleObj name="Equation" r:id="rId12" imgW="977476" imgH="355446" progId="Equation.3">
                  <p:embed/>
                  <p:pic>
                    <p:nvPicPr>
                      <p:cNvPr id="2160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1615" y="3615150"/>
                        <a:ext cx="2636837" cy="960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Group 51">
            <a:extLst>
              <a:ext uri="{FF2B5EF4-FFF2-40B4-BE49-F238E27FC236}">
                <a16:creationId xmlns:a16="http://schemas.microsoft.com/office/drawing/2014/main" id="{492E0D6A-B160-4484-84EF-BFF83960E5B4}"/>
              </a:ext>
            </a:extLst>
          </p:cNvPr>
          <p:cNvGrpSpPr/>
          <p:nvPr/>
        </p:nvGrpSpPr>
        <p:grpSpPr>
          <a:xfrm>
            <a:off x="155424" y="3461813"/>
            <a:ext cx="2554398" cy="1156430"/>
            <a:chOff x="2377642" y="5701570"/>
            <a:chExt cx="2554398" cy="115643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91456FA-09C7-4D17-A68C-325949964058}"/>
                </a:ext>
              </a:extLst>
            </p:cNvPr>
            <p:cNvSpPr/>
            <p:nvPr/>
          </p:nvSpPr>
          <p:spPr>
            <a:xfrm>
              <a:off x="4283968" y="5949280"/>
              <a:ext cx="648072" cy="90872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E39FD5A7-977B-455A-9CEB-103944BF8F48}"/>
                </a:ext>
              </a:extLst>
            </p:cNvPr>
            <p:cNvCxnSpPr/>
            <p:nvPr/>
          </p:nvCxnSpPr>
          <p:spPr>
            <a:xfrm>
              <a:off x="3419968" y="6093296"/>
              <a:ext cx="864000" cy="7200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831DE61-AA9D-4908-9578-3D575A52FD5C}"/>
                </a:ext>
              </a:extLst>
            </p:cNvPr>
            <p:cNvSpPr/>
            <p:nvPr/>
          </p:nvSpPr>
          <p:spPr>
            <a:xfrm>
              <a:off x="2377642" y="5701570"/>
              <a:ext cx="128753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Forced</a:t>
              </a:r>
            </a:p>
            <a:p>
              <a:r>
                <a:rPr lang="en-GB" b="1" dirty="0">
                  <a:solidFill>
                    <a:srgbClr val="FF0000"/>
                  </a:solidFill>
                </a:rPr>
                <a:t>Response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A9F5A12-3102-4F1B-BFB7-352764D6D9D0}"/>
              </a:ext>
            </a:extLst>
          </p:cNvPr>
          <p:cNvGrpSpPr/>
          <p:nvPr/>
        </p:nvGrpSpPr>
        <p:grpSpPr>
          <a:xfrm>
            <a:off x="2872566" y="3600313"/>
            <a:ext cx="3211242" cy="1035320"/>
            <a:chOff x="4980520" y="5877272"/>
            <a:chExt cx="3211242" cy="103532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6177092-FFE6-4FA3-823E-82F080D97008}"/>
                </a:ext>
              </a:extLst>
            </p:cNvPr>
            <p:cNvSpPr/>
            <p:nvPr/>
          </p:nvSpPr>
          <p:spPr>
            <a:xfrm>
              <a:off x="4980520" y="5931864"/>
              <a:ext cx="1035408" cy="98072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B24C653-0D98-4BC5-96DE-779431D7E3D0}"/>
                </a:ext>
              </a:extLst>
            </p:cNvPr>
            <p:cNvCxnSpPr/>
            <p:nvPr/>
          </p:nvCxnSpPr>
          <p:spPr>
            <a:xfrm flipH="1">
              <a:off x="6084168" y="6245696"/>
              <a:ext cx="576160" cy="636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BCC9E321-7B4D-4C5E-81B7-9A1C80FC0B46}"/>
                </a:ext>
              </a:extLst>
            </p:cNvPr>
            <p:cNvSpPr/>
            <p:nvPr/>
          </p:nvSpPr>
          <p:spPr>
            <a:xfrm>
              <a:off x="6329714" y="5877272"/>
              <a:ext cx="186204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Natural Response</a:t>
              </a:r>
            </a:p>
          </p:txBody>
        </p:sp>
      </p:grpSp>
      <p:graphicFrame>
        <p:nvGraphicFramePr>
          <p:cNvPr id="60" name="Object 7">
            <a:extLst>
              <a:ext uri="{FF2B5EF4-FFF2-40B4-BE49-F238E27FC236}">
                <a16:creationId xmlns:a16="http://schemas.microsoft.com/office/drawing/2014/main" id="{BFA5F2F5-865D-48C8-8D4D-13324E3DBE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816347"/>
              </p:ext>
            </p:extLst>
          </p:nvPr>
        </p:nvGraphicFramePr>
        <p:xfrm>
          <a:off x="5674496" y="3677012"/>
          <a:ext cx="311626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55700" imgH="393700" progId="Equation.3">
                  <p:embed/>
                </p:oleObj>
              </mc:Choice>
              <mc:Fallback>
                <p:oleObj name="Equation" r:id="rId14" imgW="1155700" imgH="393700" progId="Equation.3">
                  <p:embed/>
                  <p:pic>
                    <p:nvPicPr>
                      <p:cNvPr id="2160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4496" y="3677012"/>
                        <a:ext cx="3116262" cy="106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7">
            <a:extLst>
              <a:ext uri="{FF2B5EF4-FFF2-40B4-BE49-F238E27FC236}">
                <a16:creationId xmlns:a16="http://schemas.microsoft.com/office/drawing/2014/main" id="{6FB15F9C-0537-45DF-B576-7E8CE8CBB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494504"/>
              </p:ext>
            </p:extLst>
          </p:nvPr>
        </p:nvGraphicFramePr>
        <p:xfrm>
          <a:off x="610499" y="5351958"/>
          <a:ext cx="304641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29810" imgH="215806" progId="Equation.3">
                  <p:embed/>
                </p:oleObj>
              </mc:Choice>
              <mc:Fallback>
                <p:oleObj name="Equation" r:id="rId16" imgW="1129810" imgH="215806" progId="Equation.3">
                  <p:embed/>
                  <p:pic>
                    <p:nvPicPr>
                      <p:cNvPr id="21709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499" y="5351958"/>
                        <a:ext cx="3046412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47830BC8-4A71-4498-8716-F0B3ECD16FC4}"/>
              </a:ext>
            </a:extLst>
          </p:cNvPr>
          <p:cNvSpPr txBox="1">
            <a:spLocks/>
          </p:cNvSpPr>
          <p:nvPr/>
        </p:nvSpPr>
        <p:spPr>
          <a:xfrm>
            <a:off x="4017146" y="5391227"/>
            <a:ext cx="8568952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400" dirty="0">
                <a:latin typeface="+mn-lt"/>
                <a:ea typeface="+mn-ea"/>
              </a:rPr>
              <a:t>if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u(t)=1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3" name="Object 7">
            <a:extLst>
              <a:ext uri="{FF2B5EF4-FFF2-40B4-BE49-F238E27FC236}">
                <a16:creationId xmlns:a16="http://schemas.microsoft.com/office/drawing/2014/main" id="{8B368138-E94E-4CFE-9B16-FC91B63C6B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006063"/>
              </p:ext>
            </p:extLst>
          </p:nvPr>
        </p:nvGraphicFramePr>
        <p:xfrm>
          <a:off x="5509599" y="5304967"/>
          <a:ext cx="2636838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77476" imgH="215806" progId="Equation.3">
                  <p:embed/>
                </p:oleObj>
              </mc:Choice>
              <mc:Fallback>
                <p:oleObj name="Equation" r:id="rId18" imgW="977476" imgH="215806" progId="Equation.3">
                  <p:embed/>
                  <p:pic>
                    <p:nvPicPr>
                      <p:cNvPr id="21709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9599" y="5304967"/>
                        <a:ext cx="2636838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E5C0754-E50A-41E1-BDA4-C25465DACD21}"/>
              </a:ext>
            </a:extLst>
          </p:cNvPr>
          <p:cNvCxnSpPr/>
          <p:nvPr/>
        </p:nvCxnSpPr>
        <p:spPr>
          <a:xfrm>
            <a:off x="3798452" y="5651025"/>
            <a:ext cx="256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C4C4884-FC79-4CBF-A70B-54A34F4D73D8}"/>
              </a:ext>
            </a:extLst>
          </p:cNvPr>
          <p:cNvCxnSpPr/>
          <p:nvPr/>
        </p:nvCxnSpPr>
        <p:spPr>
          <a:xfrm>
            <a:off x="5206452" y="5651025"/>
            <a:ext cx="256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FA0665D-5A16-49C9-8E37-C209A19C29D1}"/>
              </a:ext>
            </a:extLst>
          </p:cNvPr>
          <p:cNvCxnSpPr>
            <a:cxnSpLocks/>
          </p:cNvCxnSpPr>
          <p:nvPr/>
        </p:nvCxnSpPr>
        <p:spPr>
          <a:xfrm>
            <a:off x="4132646" y="4145269"/>
            <a:ext cx="1541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949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 txBox="1">
            <a:spLocks/>
          </p:cNvSpPr>
          <p:nvPr/>
        </p:nvSpPr>
        <p:spPr>
          <a:xfrm>
            <a:off x="343915" y="1128018"/>
            <a:ext cx="8568952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K=10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T=1.5s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then using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17098" name="Object 7"/>
          <p:cNvGraphicFramePr>
            <a:graphicFrameLocks noChangeAspect="1"/>
          </p:cNvGraphicFramePr>
          <p:nvPr/>
        </p:nvGraphicFramePr>
        <p:xfrm>
          <a:off x="4689104" y="1005165"/>
          <a:ext cx="2636838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476" imgH="215806" progId="Equation.3">
                  <p:embed/>
                </p:oleObj>
              </mc:Choice>
              <mc:Fallback>
                <p:oleObj name="Equation" r:id="rId2" imgW="977476" imgH="215806" progId="Equation.3">
                  <p:embed/>
                  <p:pic>
                    <p:nvPicPr>
                      <p:cNvPr id="21709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9104" y="1005165"/>
                        <a:ext cx="2636838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7C96C623-F866-4B9E-BF6E-A63E1F45E3B7}"/>
              </a:ext>
            </a:extLst>
          </p:cNvPr>
          <p:cNvGrpSpPr/>
          <p:nvPr/>
        </p:nvGrpSpPr>
        <p:grpSpPr>
          <a:xfrm>
            <a:off x="1228399" y="1670088"/>
            <a:ext cx="6799985" cy="5187912"/>
            <a:chOff x="1228399" y="1670088"/>
            <a:chExt cx="6799985" cy="5187912"/>
          </a:xfrm>
        </p:grpSpPr>
        <p:pic>
          <p:nvPicPr>
            <p:cNvPr id="219141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 l="5160" r="8404" b="1420"/>
            <a:stretch>
              <a:fillRect/>
            </a:stretch>
          </p:blipFill>
          <p:spPr bwMode="auto">
            <a:xfrm>
              <a:off x="1228399" y="1670088"/>
              <a:ext cx="6799985" cy="5187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9" name="Group 8"/>
            <p:cNvGrpSpPr/>
            <p:nvPr/>
          </p:nvGrpSpPr>
          <p:grpSpPr>
            <a:xfrm>
              <a:off x="1835696" y="2438304"/>
              <a:ext cx="6048672" cy="1395831"/>
              <a:chOff x="1835696" y="2438304"/>
              <a:chExt cx="6048672" cy="1395831"/>
            </a:xfrm>
          </p:grpSpPr>
          <p:cxnSp>
            <p:nvCxnSpPr>
              <p:cNvPr id="7" name="Straight Connector 6"/>
              <p:cNvCxnSpPr/>
              <p:nvPr/>
            </p:nvCxnSpPr>
            <p:spPr>
              <a:xfrm flipH="1">
                <a:off x="1835696" y="2438304"/>
                <a:ext cx="6048672" cy="0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19142" name="Object 10"/>
              <p:cNvGraphicFramePr>
                <a:graphicFrameLocks noChangeAspect="1"/>
              </p:cNvGraphicFramePr>
              <p:nvPr/>
            </p:nvGraphicFramePr>
            <p:xfrm>
              <a:off x="3417143" y="3068960"/>
              <a:ext cx="4467225" cy="765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2222500" imgH="381000" progId="Equation.3">
                      <p:embed/>
                    </p:oleObj>
                  </mc:Choice>
                  <mc:Fallback>
                    <p:oleObj name="Equation" r:id="rId5" imgW="2222500" imgH="381000" progId="Equation.3">
                      <p:embed/>
                      <p:pic>
                        <p:nvPicPr>
                          <p:cNvPr id="219142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17143" y="3068960"/>
                            <a:ext cx="4467225" cy="7651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7" name="Group 16"/>
            <p:cNvGrpSpPr/>
            <p:nvPr/>
          </p:nvGrpSpPr>
          <p:grpSpPr>
            <a:xfrm>
              <a:off x="1822048" y="3717032"/>
              <a:ext cx="1642820" cy="2637000"/>
              <a:chOff x="1822048" y="3717032"/>
              <a:chExt cx="1642820" cy="2637000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822048" y="3833752"/>
                <a:ext cx="949752" cy="2520280"/>
                <a:chOff x="1822048" y="3833752"/>
                <a:chExt cx="949752" cy="2520280"/>
              </a:xfrm>
            </p:grpSpPr>
            <p:cxnSp>
              <p:nvCxnSpPr>
                <p:cNvPr id="11" name="Straight Connector 10"/>
                <p:cNvCxnSpPr/>
                <p:nvPr/>
              </p:nvCxnSpPr>
              <p:spPr>
                <a:xfrm flipV="1">
                  <a:off x="2771800" y="3833752"/>
                  <a:ext cx="0" cy="252028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/>
                <p:cNvCxnSpPr/>
                <p:nvPr/>
              </p:nvCxnSpPr>
              <p:spPr>
                <a:xfrm flipH="1">
                  <a:off x="1822048" y="3847400"/>
                  <a:ext cx="936104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aphicFrame>
            <p:nvGraphicFramePr>
              <p:cNvPr id="219143" name="Object 10"/>
              <p:cNvGraphicFramePr>
                <a:graphicFrameLocks noChangeAspect="1"/>
              </p:cNvGraphicFramePr>
              <p:nvPr/>
            </p:nvGraphicFramePr>
            <p:xfrm>
              <a:off x="2843808" y="3717032"/>
              <a:ext cx="621060" cy="3383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7" imgW="279279" imgH="152334" progId="Equation.3">
                      <p:embed/>
                    </p:oleObj>
                  </mc:Choice>
                  <mc:Fallback>
                    <p:oleObj name="Equation" r:id="rId7" imgW="279279" imgH="152334" progId="Equation.3">
                      <p:embed/>
                      <p:pic>
                        <p:nvPicPr>
                          <p:cNvPr id="219143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3808" y="3717032"/>
                            <a:ext cx="621060" cy="3383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Oval 15"/>
              <p:cNvSpPr/>
              <p:nvPr/>
            </p:nvSpPr>
            <p:spPr>
              <a:xfrm>
                <a:off x="2699792" y="3807640"/>
                <a:ext cx="108000" cy="108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65D1AD39-E724-4600-A6CB-10F40EF512D7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Step Response of First Order 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5FB086-AB29-4079-8438-1BD4C6AED959}"/>
              </a:ext>
            </a:extLst>
          </p:cNvPr>
          <p:cNvSpPr/>
          <p:nvPr/>
        </p:nvSpPr>
        <p:spPr>
          <a:xfrm>
            <a:off x="353504" y="645597"/>
            <a:ext cx="8109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Example. </a:t>
            </a:r>
          </a:p>
        </p:txBody>
      </p:sp>
    </p:spTree>
    <p:extLst>
      <p:ext uri="{BB962C8B-B14F-4D97-AF65-F5344CB8AC3E}">
        <p14:creationId xmlns:p14="http://schemas.microsoft.com/office/powerpoint/2010/main" val="165175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7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 txBox="1">
            <a:spLocks/>
          </p:cNvSpPr>
          <p:nvPr/>
        </p:nvSpPr>
        <p:spPr>
          <a:xfrm>
            <a:off x="287524" y="767978"/>
            <a:ext cx="8568952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K=10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T=1, 3, 5, 7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using</a:t>
            </a:r>
          </a:p>
        </p:txBody>
      </p:sp>
      <p:graphicFrame>
        <p:nvGraphicFramePr>
          <p:cNvPr id="21709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857806"/>
              </p:ext>
            </p:extLst>
          </p:nvPr>
        </p:nvGraphicFramePr>
        <p:xfrm>
          <a:off x="5245872" y="703635"/>
          <a:ext cx="2636838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476" imgH="215806" progId="Equation.3">
                  <p:embed/>
                </p:oleObj>
              </mc:Choice>
              <mc:Fallback>
                <p:oleObj name="Equation" r:id="rId2" imgW="977476" imgH="215806" progId="Equation.3">
                  <p:embed/>
                  <p:pic>
                    <p:nvPicPr>
                      <p:cNvPr id="21709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872" y="703635"/>
                        <a:ext cx="2636838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3477" name="Picture 5"/>
          <p:cNvPicPr>
            <a:picLocks noChangeAspect="1" noChangeArrowheads="1"/>
          </p:cNvPicPr>
          <p:nvPr/>
        </p:nvPicPr>
        <p:blipFill>
          <a:blip r:embed="rId4" cstate="print"/>
          <a:srcRect l="4478" r="7090"/>
          <a:stretch>
            <a:fillRect/>
          </a:stretch>
        </p:blipFill>
        <p:spPr bwMode="auto">
          <a:xfrm>
            <a:off x="1331640" y="1628800"/>
            <a:ext cx="6480720" cy="5089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E45C377-0071-47E3-B85D-65C8A8C69BEA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Step Response of First Order System</a:t>
            </a:r>
          </a:p>
        </p:txBody>
      </p:sp>
    </p:spTree>
    <p:extLst>
      <p:ext uri="{BB962C8B-B14F-4D97-AF65-F5344CB8AC3E}">
        <p14:creationId xmlns:p14="http://schemas.microsoft.com/office/powerpoint/2010/main" val="110336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7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 txBox="1">
            <a:spLocks/>
          </p:cNvSpPr>
          <p:nvPr/>
        </p:nvSpPr>
        <p:spPr>
          <a:xfrm>
            <a:off x="287524" y="767978"/>
            <a:ext cx="8568952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</a:t>
            </a:r>
            <a:r>
              <a:rPr lang="en-GB" sz="2400" dirty="0">
                <a:solidFill>
                  <a:srgbClr val="FF0000"/>
                </a:solidFill>
                <a:latin typeface="+mn-lt"/>
                <a:ea typeface="+mn-ea"/>
              </a:rPr>
              <a:t>T=1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lang="en-GB" sz="2400" dirty="0">
                <a:solidFill>
                  <a:srgbClr val="FF0000"/>
                </a:solidFill>
                <a:latin typeface="+mn-lt"/>
                <a:ea typeface="+mn-ea"/>
              </a:rPr>
              <a:t>K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=1, 3, 5, 7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using</a:t>
            </a:r>
          </a:p>
        </p:txBody>
      </p:sp>
      <p:graphicFrame>
        <p:nvGraphicFramePr>
          <p:cNvPr id="217098" name="Object 7"/>
          <p:cNvGraphicFramePr>
            <a:graphicFrameLocks noChangeAspect="1"/>
          </p:cNvGraphicFramePr>
          <p:nvPr/>
        </p:nvGraphicFramePr>
        <p:xfrm>
          <a:off x="5245872" y="703635"/>
          <a:ext cx="2636838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476" imgH="215806" progId="Equation.3">
                  <p:embed/>
                </p:oleObj>
              </mc:Choice>
              <mc:Fallback>
                <p:oleObj name="Equation" r:id="rId2" imgW="977476" imgH="215806" progId="Equation.3">
                  <p:embed/>
                  <p:pic>
                    <p:nvPicPr>
                      <p:cNvPr id="21709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5872" y="703635"/>
                        <a:ext cx="2636838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2E45C377-0071-47E3-B85D-65C8A8C69BEA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Impulse Response of First Order System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C15529C0-D797-4436-9770-B7F8818B6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l="4202" r="8604"/>
          <a:stretch>
            <a:fillRect/>
          </a:stretch>
        </p:blipFill>
        <p:spPr bwMode="auto">
          <a:xfrm>
            <a:off x="1331640" y="1709232"/>
            <a:ext cx="6408712" cy="5104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91056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7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70783C3-43B0-4B11-A47B-2D9A70A018AC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Ramp Response of First Order System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8931C2B-7F8E-4024-80D7-40DF7E2A60FC}"/>
              </a:ext>
            </a:extLst>
          </p:cNvPr>
          <p:cNvGrpSpPr/>
          <p:nvPr/>
        </p:nvGrpSpPr>
        <p:grpSpPr>
          <a:xfrm>
            <a:off x="2843391" y="1304783"/>
            <a:ext cx="5962166" cy="1008732"/>
            <a:chOff x="1763688" y="2276872"/>
            <a:chExt cx="5962166" cy="100873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798E8D4-6367-4AC7-B6AB-C1E835C1C19E}"/>
                </a:ext>
              </a:extLst>
            </p:cNvPr>
            <p:cNvGrpSpPr/>
            <p:nvPr/>
          </p:nvGrpSpPr>
          <p:grpSpPr>
            <a:xfrm>
              <a:off x="3923928" y="2276872"/>
              <a:ext cx="1584176" cy="1008732"/>
              <a:chOff x="3635896" y="4508500"/>
              <a:chExt cx="1584176" cy="1008732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9CC68B1-948B-44EA-A0CA-CB562F0B3124}"/>
                  </a:ext>
                </a:extLst>
              </p:cNvPr>
              <p:cNvSpPr/>
              <p:nvPr/>
            </p:nvSpPr>
            <p:spPr>
              <a:xfrm>
                <a:off x="3635896" y="4509120"/>
                <a:ext cx="1584176" cy="100811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aphicFrame>
            <p:nvGraphicFramePr>
              <p:cNvPr id="28" name="Object 4">
                <a:extLst>
                  <a:ext uri="{FF2B5EF4-FFF2-40B4-BE49-F238E27FC236}">
                    <a16:creationId xmlns:a16="http://schemas.microsoft.com/office/drawing/2014/main" id="{831A26D5-3A7A-4B1A-94D9-340E2796DBE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67163" y="4508500"/>
              <a:ext cx="958850" cy="9588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55292" imgH="355292" progId="Equation.3">
                      <p:embed/>
                    </p:oleObj>
                  </mc:Choice>
                  <mc:Fallback>
                    <p:oleObj name="Equation" r:id="rId2" imgW="355292" imgH="355292" progId="Equation.3">
                      <p:embed/>
                      <p:pic>
                        <p:nvPicPr>
                          <p:cNvPr id="28" name="Object 4">
                            <a:extLst>
                              <a:ext uri="{FF2B5EF4-FFF2-40B4-BE49-F238E27FC236}">
                                <a16:creationId xmlns:a16="http://schemas.microsoft.com/office/drawing/2014/main" id="{831A26D5-3A7A-4B1A-94D9-340E2796DBE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7163" y="4508500"/>
                            <a:ext cx="958850" cy="9588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EDACFB3-8241-41AC-931A-37641A210F7E}"/>
                </a:ext>
              </a:extLst>
            </p:cNvPr>
            <p:cNvCxnSpPr/>
            <p:nvPr/>
          </p:nvCxnSpPr>
          <p:spPr>
            <a:xfrm>
              <a:off x="2483768" y="2757400"/>
              <a:ext cx="14401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50E38D9-BDBC-40C3-9CB3-051DC7365FC7}"/>
                </a:ext>
              </a:extLst>
            </p:cNvPr>
            <p:cNvCxnSpPr/>
            <p:nvPr/>
          </p:nvCxnSpPr>
          <p:spPr>
            <a:xfrm>
              <a:off x="5508104" y="2767280"/>
              <a:ext cx="144016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1" name="Object 5">
              <a:extLst>
                <a:ext uri="{FF2B5EF4-FFF2-40B4-BE49-F238E27FC236}">
                  <a16:creationId xmlns:a16="http://schemas.microsoft.com/office/drawing/2014/main" id="{A798CCAF-92B5-49ED-AB6C-03C03FDF6A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71792" y="2492896"/>
            <a:ext cx="754062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79158" imgH="177646" progId="Equation.3">
                    <p:embed/>
                  </p:oleObj>
                </mc:Choice>
                <mc:Fallback>
                  <p:oleObj name="Equation" r:id="rId4" imgW="279158" imgH="177646" progId="Equation.3">
                    <p:embed/>
                    <p:pic>
                      <p:nvPicPr>
                        <p:cNvPr id="31" name="Object 5">
                          <a:extLst>
                            <a:ext uri="{FF2B5EF4-FFF2-40B4-BE49-F238E27FC236}">
                              <a16:creationId xmlns:a16="http://schemas.microsoft.com/office/drawing/2014/main" id="{A798CCAF-92B5-49ED-AB6C-03C03FDF6A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71792" y="2492896"/>
                          <a:ext cx="754062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6">
              <a:extLst>
                <a:ext uri="{FF2B5EF4-FFF2-40B4-BE49-F238E27FC236}">
                  <a16:creationId xmlns:a16="http://schemas.microsoft.com/office/drawing/2014/main" id="{944EF305-B1F5-4154-9085-1961BE4FD9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3688" y="2513759"/>
            <a:ext cx="754063" cy="479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158" imgH="177646" progId="Equation.3">
                    <p:embed/>
                  </p:oleObj>
                </mc:Choice>
                <mc:Fallback>
                  <p:oleObj name="Equation" r:id="rId6" imgW="279158" imgH="177646" progId="Equation.3">
                    <p:embed/>
                    <p:pic>
                      <p:nvPicPr>
                        <p:cNvPr id="32" name="Object 6">
                          <a:extLst>
                            <a:ext uri="{FF2B5EF4-FFF2-40B4-BE49-F238E27FC236}">
                              <a16:creationId xmlns:a16="http://schemas.microsoft.com/office/drawing/2014/main" id="{944EF305-B1F5-4154-9085-1961BE4FD9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2513759"/>
                          <a:ext cx="754063" cy="479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FE228E5-56A4-420A-9350-10DEE5140927}"/>
              </a:ext>
            </a:extLst>
          </p:cNvPr>
          <p:cNvSpPr/>
          <p:nvPr/>
        </p:nvSpPr>
        <p:spPr>
          <a:xfrm>
            <a:off x="455020" y="4825757"/>
            <a:ext cx="8109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 algn="just">
              <a:buFont typeface="Arial" pitchFamily="34" charset="0"/>
              <a:buChar char="•"/>
            </a:pPr>
            <a:r>
              <a:rPr lang="en-GB" sz="2000" dirty="0"/>
              <a:t>Taking inverse Laplace transform of the above equation. </a:t>
            </a:r>
          </a:p>
        </p:txBody>
      </p:sp>
      <p:graphicFrame>
        <p:nvGraphicFramePr>
          <p:cNvPr id="49" name="Object 7">
            <a:extLst>
              <a:ext uri="{FF2B5EF4-FFF2-40B4-BE49-F238E27FC236}">
                <a16:creationId xmlns:a16="http://schemas.microsoft.com/office/drawing/2014/main" id="{5A2002DE-93A8-4BEF-AC81-241421B5E9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0540768"/>
              </p:ext>
            </p:extLst>
          </p:nvPr>
        </p:nvGraphicFramePr>
        <p:xfrm>
          <a:off x="1077193" y="2469254"/>
          <a:ext cx="297815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280" imgH="393480" progId="Equation.3">
                  <p:embed/>
                </p:oleObj>
              </mc:Choice>
              <mc:Fallback>
                <p:oleObj name="Equation" r:id="rId8" imgW="1079280" imgH="393480" progId="Equation.3">
                  <p:embed/>
                  <p:pic>
                    <p:nvPicPr>
                      <p:cNvPr id="49" name="Object 7">
                        <a:extLst>
                          <a:ext uri="{FF2B5EF4-FFF2-40B4-BE49-F238E27FC236}">
                            <a16:creationId xmlns:a16="http://schemas.microsoft.com/office/drawing/2014/main" id="{5A2002DE-93A8-4BEF-AC81-241421B5E9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193" y="2469254"/>
                        <a:ext cx="2978150" cy="1085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8">
            <a:extLst>
              <a:ext uri="{FF2B5EF4-FFF2-40B4-BE49-F238E27FC236}">
                <a16:creationId xmlns:a16="http://schemas.microsoft.com/office/drawing/2014/main" id="{AC2C97B2-6A4A-4951-BC85-32CE4CEFDE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549181"/>
              </p:ext>
            </p:extLst>
          </p:nvPr>
        </p:nvGraphicFramePr>
        <p:xfrm>
          <a:off x="6275388" y="2351088"/>
          <a:ext cx="2843212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54080" imgH="419040" progId="Equation.3">
                  <p:embed/>
                </p:oleObj>
              </mc:Choice>
              <mc:Fallback>
                <p:oleObj name="Equation" r:id="rId10" imgW="1054080" imgH="419040" progId="Equation.3">
                  <p:embed/>
                  <p:pic>
                    <p:nvPicPr>
                      <p:cNvPr id="50" name="Object 8">
                        <a:extLst>
                          <a:ext uri="{FF2B5EF4-FFF2-40B4-BE49-F238E27FC236}">
                            <a16:creationId xmlns:a16="http://schemas.microsoft.com/office/drawing/2014/main" id="{AC2C97B2-6A4A-4951-BC85-32CE4CEFDE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5388" y="2351088"/>
                        <a:ext cx="2843212" cy="1131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7">
            <a:extLst>
              <a:ext uri="{FF2B5EF4-FFF2-40B4-BE49-F238E27FC236}">
                <a16:creationId xmlns:a16="http://schemas.microsoft.com/office/drawing/2014/main" id="{BFA5F2F5-865D-48C8-8D4D-13324E3DBE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569060"/>
              </p:ext>
            </p:extLst>
          </p:nvPr>
        </p:nvGraphicFramePr>
        <p:xfrm>
          <a:off x="2349500" y="3658944"/>
          <a:ext cx="434975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12800" imgH="431640" progId="Equation.3">
                  <p:embed/>
                </p:oleObj>
              </mc:Choice>
              <mc:Fallback>
                <p:oleObj name="Equation" r:id="rId12" imgW="1612800" imgH="431640" progId="Equation.3">
                  <p:embed/>
                  <p:pic>
                    <p:nvPicPr>
                      <p:cNvPr id="60" name="Object 7">
                        <a:extLst>
                          <a:ext uri="{FF2B5EF4-FFF2-40B4-BE49-F238E27FC236}">
                            <a16:creationId xmlns:a16="http://schemas.microsoft.com/office/drawing/2014/main" id="{BFA5F2F5-865D-48C8-8D4D-13324E3DBE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3658944"/>
                        <a:ext cx="4349750" cy="1166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" name="Group 13">
            <a:extLst>
              <a:ext uri="{FF2B5EF4-FFF2-40B4-BE49-F238E27FC236}">
                <a16:creationId xmlns:a16="http://schemas.microsoft.com/office/drawing/2014/main" id="{AE43D205-FF86-480F-A5F8-C76DF4480918}"/>
              </a:ext>
            </a:extLst>
          </p:cNvPr>
          <p:cNvGrpSpPr/>
          <p:nvPr/>
        </p:nvGrpSpPr>
        <p:grpSpPr>
          <a:xfrm>
            <a:off x="414101" y="337608"/>
            <a:ext cx="2840311" cy="2682968"/>
            <a:chOff x="4894575" y="2160566"/>
            <a:chExt cx="2840311" cy="2682968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DE6276C-D2F7-4B13-8FC2-29D856C79E6C}"/>
                </a:ext>
              </a:extLst>
            </p:cNvPr>
            <p:cNvCxnSpPr/>
            <p:nvPr/>
          </p:nvCxnSpPr>
          <p:spPr>
            <a:xfrm>
              <a:off x="4894575" y="4276094"/>
              <a:ext cx="2664296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D9C35DC8-5A4B-46EC-AF02-4D56BCC13409}"/>
                </a:ext>
              </a:extLst>
            </p:cNvPr>
            <p:cNvCxnSpPr/>
            <p:nvPr/>
          </p:nvCxnSpPr>
          <p:spPr>
            <a:xfrm flipV="1">
              <a:off x="5450780" y="2467270"/>
              <a:ext cx="0" cy="237626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0D81434-840D-41DF-A1F4-E2E9EACA8945}"/>
                </a:ext>
              </a:extLst>
            </p:cNvPr>
            <p:cNvSpPr txBox="1"/>
            <p:nvPr/>
          </p:nvSpPr>
          <p:spPr>
            <a:xfrm>
              <a:off x="5189830" y="42349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0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E2DD308-9206-4CA1-83CD-C6196611B091}"/>
                </a:ext>
              </a:extLst>
            </p:cNvPr>
            <p:cNvSpPr txBox="1"/>
            <p:nvPr/>
          </p:nvSpPr>
          <p:spPr>
            <a:xfrm>
              <a:off x="7473276" y="4126836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0C97025-BEF8-4D78-8F54-4FAF9D9AC379}"/>
                </a:ext>
              </a:extLst>
            </p:cNvPr>
            <p:cNvSpPr txBox="1"/>
            <p:nvPr/>
          </p:nvSpPr>
          <p:spPr>
            <a:xfrm>
              <a:off x="5141472" y="2160566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dirty="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D2D6EF9-4A0E-455F-AA7A-5EEE31ACDD16}"/>
                </a:ext>
              </a:extLst>
            </p:cNvPr>
            <p:cNvCxnSpPr/>
            <p:nvPr/>
          </p:nvCxnSpPr>
          <p:spPr>
            <a:xfrm flipV="1">
              <a:off x="5434398" y="3168264"/>
              <a:ext cx="1805666" cy="110783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87" name="Object 8">
            <a:extLst>
              <a:ext uri="{FF2B5EF4-FFF2-40B4-BE49-F238E27FC236}">
                <a16:creationId xmlns:a16="http://schemas.microsoft.com/office/drawing/2014/main" id="{896AF6C0-FDB9-469E-BBF4-29AA3C9A9D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659859"/>
              </p:ext>
            </p:extLst>
          </p:nvPr>
        </p:nvGraphicFramePr>
        <p:xfrm>
          <a:off x="3123607" y="5458879"/>
          <a:ext cx="3111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44060" imgH="215806" progId="Equation.3">
                  <p:embed/>
                </p:oleObj>
              </mc:Choice>
              <mc:Fallback>
                <p:oleObj name="Equation" r:id="rId14" imgW="1244060" imgH="215806" progId="Equation.3">
                  <p:embed/>
                  <p:pic>
                    <p:nvPicPr>
                      <p:cNvPr id="2263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3607" y="5458879"/>
                        <a:ext cx="31115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7535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 txBox="1">
            <a:spLocks/>
          </p:cNvSpPr>
          <p:nvPr/>
        </p:nvSpPr>
        <p:spPr>
          <a:xfrm>
            <a:off x="343915" y="1128018"/>
            <a:ext cx="8568952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K=1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T=1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then using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5D1AD39-E724-4600-A6CB-10F40EF512D7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Ramp Response of First Order 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5FB086-AB29-4079-8438-1BD4C6AED959}"/>
              </a:ext>
            </a:extLst>
          </p:cNvPr>
          <p:cNvSpPr/>
          <p:nvPr/>
        </p:nvSpPr>
        <p:spPr>
          <a:xfrm>
            <a:off x="353504" y="645597"/>
            <a:ext cx="8109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Example. </a:t>
            </a:r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1A36C962-3109-4206-9B75-574E9E626C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401828"/>
              </p:ext>
            </p:extLst>
          </p:nvPr>
        </p:nvGraphicFramePr>
        <p:xfrm>
          <a:off x="4473321" y="1045707"/>
          <a:ext cx="3111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060" imgH="215806" progId="Equation.3">
                  <p:embed/>
                </p:oleObj>
              </mc:Choice>
              <mc:Fallback>
                <p:oleObj name="Equation" r:id="rId2" imgW="1244060" imgH="215806" progId="Equation.3">
                  <p:embed/>
                  <p:pic>
                    <p:nvPicPr>
                      <p:cNvPr id="2263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3321" y="1045707"/>
                        <a:ext cx="31115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11">
            <a:extLst>
              <a:ext uri="{FF2B5EF4-FFF2-40B4-BE49-F238E27FC236}">
                <a16:creationId xmlns:a16="http://schemas.microsoft.com/office/drawing/2014/main" id="{89C6B20C-097F-456B-A4A9-D521B463941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35422" y="1706563"/>
            <a:ext cx="5981700" cy="4537075"/>
            <a:chOff x="1066" y="1389"/>
            <a:chExt cx="3768" cy="2858"/>
          </a:xfrm>
        </p:grpSpPr>
        <p:sp>
          <p:nvSpPr>
            <p:cNvPr id="23" name="AutoShape 10">
              <a:extLst>
                <a:ext uri="{FF2B5EF4-FFF2-40B4-BE49-F238E27FC236}">
                  <a16:creationId xmlns:a16="http://schemas.microsoft.com/office/drawing/2014/main" id="{747BA063-402B-470D-B3AD-992FD5FAA19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066" y="1389"/>
              <a:ext cx="3719" cy="28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Rectangle 12">
              <a:extLst>
                <a:ext uri="{FF2B5EF4-FFF2-40B4-BE49-F238E27FC236}">
                  <a16:creationId xmlns:a16="http://schemas.microsoft.com/office/drawing/2014/main" id="{0251D65E-7643-4995-BCA1-39B053BD8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604"/>
              <a:ext cx="3252" cy="230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Rectangle 13">
              <a:extLst>
                <a:ext uri="{FF2B5EF4-FFF2-40B4-BE49-F238E27FC236}">
                  <a16:creationId xmlns:a16="http://schemas.microsoft.com/office/drawing/2014/main" id="{3480CA43-AEB8-4E38-95B0-99D4028B0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" y="1604"/>
              <a:ext cx="3252" cy="2302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Line 14">
              <a:extLst>
                <a:ext uri="{FF2B5EF4-FFF2-40B4-BE49-F238E27FC236}">
                  <a16:creationId xmlns:a16="http://schemas.microsoft.com/office/drawing/2014/main" id="{82E6569C-6B01-404E-9404-FE3EE85AF1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1604"/>
              <a:ext cx="32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Line 15">
              <a:extLst>
                <a:ext uri="{FF2B5EF4-FFF2-40B4-BE49-F238E27FC236}">
                  <a16:creationId xmlns:a16="http://schemas.microsoft.com/office/drawing/2014/main" id="{9CF946FC-B106-4DBA-B055-C7410AD52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3906"/>
              <a:ext cx="32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Line 16">
              <a:extLst>
                <a:ext uri="{FF2B5EF4-FFF2-40B4-BE49-F238E27FC236}">
                  <a16:creationId xmlns:a16="http://schemas.microsoft.com/office/drawing/2014/main" id="{EDC3709C-F0AF-47FF-A0A7-1D1709B6EA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9" y="1604"/>
              <a:ext cx="1" cy="230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Line 17">
              <a:extLst>
                <a:ext uri="{FF2B5EF4-FFF2-40B4-BE49-F238E27FC236}">
                  <a16:creationId xmlns:a16="http://schemas.microsoft.com/office/drawing/2014/main" id="{56335709-5B28-4494-9096-BD4F342356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7" y="1604"/>
              <a:ext cx="1" cy="230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Line 18">
              <a:extLst>
                <a:ext uri="{FF2B5EF4-FFF2-40B4-BE49-F238E27FC236}">
                  <a16:creationId xmlns:a16="http://schemas.microsoft.com/office/drawing/2014/main" id="{BF33923D-A3AD-4E66-A87F-95B085B2AD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3906"/>
              <a:ext cx="32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Line 19">
              <a:extLst>
                <a:ext uri="{FF2B5EF4-FFF2-40B4-BE49-F238E27FC236}">
                  <a16:creationId xmlns:a16="http://schemas.microsoft.com/office/drawing/2014/main" id="{7BCDA915-CC69-4693-BA28-9789B19860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7" y="1604"/>
              <a:ext cx="1" cy="230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Line 20">
              <a:extLst>
                <a:ext uri="{FF2B5EF4-FFF2-40B4-BE49-F238E27FC236}">
                  <a16:creationId xmlns:a16="http://schemas.microsoft.com/office/drawing/2014/main" id="{E48094B1-3695-47AF-9E47-04556FF57F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7" y="38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Line 21">
              <a:extLst>
                <a:ext uri="{FF2B5EF4-FFF2-40B4-BE49-F238E27FC236}">
                  <a16:creationId xmlns:a16="http://schemas.microsoft.com/office/drawing/2014/main" id="{7C6AE8A7-D4BB-4710-AFD1-327CC40023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1604"/>
              <a:ext cx="1" cy="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Rectangle 22">
              <a:extLst>
                <a:ext uri="{FF2B5EF4-FFF2-40B4-BE49-F238E27FC236}">
                  <a16:creationId xmlns:a16="http://schemas.microsoft.com/office/drawing/2014/main" id="{EA61C67F-E6A1-48D1-8BE3-AFDAF0AE0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0" y="3933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Line 23">
              <a:extLst>
                <a:ext uri="{FF2B5EF4-FFF2-40B4-BE49-F238E27FC236}">
                  <a16:creationId xmlns:a16="http://schemas.microsoft.com/office/drawing/2014/main" id="{82469AF6-20B9-4EEB-8E09-88956158FE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1" y="38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6" name="Line 24">
              <a:extLst>
                <a:ext uri="{FF2B5EF4-FFF2-40B4-BE49-F238E27FC236}">
                  <a16:creationId xmlns:a16="http://schemas.microsoft.com/office/drawing/2014/main" id="{CAA7A036-ADFB-47A4-8D55-87271DCBF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" y="1604"/>
              <a:ext cx="1" cy="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88D27707-93CC-4649-B527-C12B926F7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" y="3933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5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Line 26">
              <a:extLst>
                <a:ext uri="{FF2B5EF4-FFF2-40B4-BE49-F238E27FC236}">
                  <a16:creationId xmlns:a16="http://schemas.microsoft.com/office/drawing/2014/main" id="{A4DB2C51-24A5-42D5-B00D-88D99F07F2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25" y="38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Line 27">
              <a:extLst>
                <a:ext uri="{FF2B5EF4-FFF2-40B4-BE49-F238E27FC236}">
                  <a16:creationId xmlns:a16="http://schemas.microsoft.com/office/drawing/2014/main" id="{3816BD4C-49E3-411B-ACFF-A677DC9DC6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5" y="1604"/>
              <a:ext cx="1" cy="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Rectangle 28">
              <a:extLst>
                <a:ext uri="{FF2B5EF4-FFF2-40B4-BE49-F238E27FC236}">
                  <a16:creationId xmlns:a16="http://schemas.microsoft.com/office/drawing/2014/main" id="{E8940EC4-1E2F-4C15-BA8C-D010FCFE2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2" y="3933"/>
              <a:ext cx="188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10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" name="Line 29">
              <a:extLst>
                <a:ext uri="{FF2B5EF4-FFF2-40B4-BE49-F238E27FC236}">
                  <a16:creationId xmlns:a16="http://schemas.microsoft.com/office/drawing/2014/main" id="{95E7A652-A6E8-4277-BEFC-797A0F9D7B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9" y="3871"/>
              <a:ext cx="1" cy="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Line 30">
              <a:extLst>
                <a:ext uri="{FF2B5EF4-FFF2-40B4-BE49-F238E27FC236}">
                  <a16:creationId xmlns:a16="http://schemas.microsoft.com/office/drawing/2014/main" id="{E2035B13-8FB7-4573-922A-5E10C1F44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9" y="1604"/>
              <a:ext cx="1" cy="2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Rectangle 31">
              <a:extLst>
                <a:ext uri="{FF2B5EF4-FFF2-40B4-BE49-F238E27FC236}">
                  <a16:creationId xmlns:a16="http://schemas.microsoft.com/office/drawing/2014/main" id="{85855EE7-AB85-4D92-89D1-CE6405850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6" y="3933"/>
              <a:ext cx="188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15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4" name="Line 32">
              <a:extLst>
                <a:ext uri="{FF2B5EF4-FFF2-40B4-BE49-F238E27FC236}">
                  <a16:creationId xmlns:a16="http://schemas.microsoft.com/office/drawing/2014/main" id="{B8A39A08-3295-4F55-83D9-C88438F5EF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3906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Line 33">
              <a:extLst>
                <a:ext uri="{FF2B5EF4-FFF2-40B4-BE49-F238E27FC236}">
                  <a16:creationId xmlns:a16="http://schemas.microsoft.com/office/drawing/2014/main" id="{55C21234-9383-4E47-8D5A-D077AD1EA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3" y="3906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Rectangle 34">
              <a:extLst>
                <a:ext uri="{FF2B5EF4-FFF2-40B4-BE49-F238E27FC236}">
                  <a16:creationId xmlns:a16="http://schemas.microsoft.com/office/drawing/2014/main" id="{446B3B8F-2822-46D5-9170-CC6F1A028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3835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7" name="Line 35">
              <a:extLst>
                <a:ext uri="{FF2B5EF4-FFF2-40B4-BE49-F238E27FC236}">
                  <a16:creationId xmlns:a16="http://schemas.microsoft.com/office/drawing/2014/main" id="{02AF4385-0456-4AAF-84B6-2B446909B6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3485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Line 36">
              <a:extLst>
                <a:ext uri="{FF2B5EF4-FFF2-40B4-BE49-F238E27FC236}">
                  <a16:creationId xmlns:a16="http://schemas.microsoft.com/office/drawing/2014/main" id="{20D58DAC-1316-4A1F-A79B-6765B1ED5C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3" y="3485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Rectangle 37">
              <a:extLst>
                <a:ext uri="{FF2B5EF4-FFF2-40B4-BE49-F238E27FC236}">
                  <a16:creationId xmlns:a16="http://schemas.microsoft.com/office/drawing/2014/main" id="{34E3659F-3671-45D0-96A3-BC481591C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3414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Line 38">
              <a:extLst>
                <a:ext uri="{FF2B5EF4-FFF2-40B4-BE49-F238E27FC236}">
                  <a16:creationId xmlns:a16="http://schemas.microsoft.com/office/drawing/2014/main" id="{8DCD4A06-B90B-4555-B13E-1E7F9CA3A7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3064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Line 39">
              <a:extLst>
                <a:ext uri="{FF2B5EF4-FFF2-40B4-BE49-F238E27FC236}">
                  <a16:creationId xmlns:a16="http://schemas.microsoft.com/office/drawing/2014/main" id="{913B7ED2-5866-4F6A-B126-ABC815B015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3" y="3064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Rectangle 40">
              <a:extLst>
                <a:ext uri="{FF2B5EF4-FFF2-40B4-BE49-F238E27FC236}">
                  <a16:creationId xmlns:a16="http://schemas.microsoft.com/office/drawing/2014/main" id="{55F55A93-7004-4E90-BA99-78DBADCD9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993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3" name="Line 41">
              <a:extLst>
                <a:ext uri="{FF2B5EF4-FFF2-40B4-BE49-F238E27FC236}">
                  <a16:creationId xmlns:a16="http://schemas.microsoft.com/office/drawing/2014/main" id="{736776D8-D447-4B3E-B535-464597374D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2643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Line 42">
              <a:extLst>
                <a:ext uri="{FF2B5EF4-FFF2-40B4-BE49-F238E27FC236}">
                  <a16:creationId xmlns:a16="http://schemas.microsoft.com/office/drawing/2014/main" id="{37E0A537-104D-4950-B9B1-CCF0DA2E5D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3" y="2643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Rectangle 43">
              <a:extLst>
                <a:ext uri="{FF2B5EF4-FFF2-40B4-BE49-F238E27FC236}">
                  <a16:creationId xmlns:a16="http://schemas.microsoft.com/office/drawing/2014/main" id="{360152D1-7BCC-458A-ADBA-EA3AFD34D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572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6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" name="Line 44">
              <a:extLst>
                <a:ext uri="{FF2B5EF4-FFF2-40B4-BE49-F238E27FC236}">
                  <a16:creationId xmlns:a16="http://schemas.microsoft.com/office/drawing/2014/main" id="{A8E009FA-04D9-4646-9EF4-711E2E3224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2231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Line 45">
              <a:extLst>
                <a:ext uri="{FF2B5EF4-FFF2-40B4-BE49-F238E27FC236}">
                  <a16:creationId xmlns:a16="http://schemas.microsoft.com/office/drawing/2014/main" id="{65BF2C6F-660F-46FD-A318-457C114F8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3" y="2231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B85A1ED0-661A-4CAB-B46D-D5062DCC9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9" y="2159"/>
              <a:ext cx="11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8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" name="Line 47">
              <a:extLst>
                <a:ext uri="{FF2B5EF4-FFF2-40B4-BE49-F238E27FC236}">
                  <a16:creationId xmlns:a16="http://schemas.microsoft.com/office/drawing/2014/main" id="{C953AB5D-EE9D-4506-B64E-3914C6756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1810"/>
              <a:ext cx="2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Line 48">
              <a:extLst>
                <a:ext uri="{FF2B5EF4-FFF2-40B4-BE49-F238E27FC236}">
                  <a16:creationId xmlns:a16="http://schemas.microsoft.com/office/drawing/2014/main" id="{AEB52467-28A5-48E5-86DC-A5FE61D0D7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3" y="1810"/>
              <a:ext cx="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Rectangle 49">
              <a:extLst>
                <a:ext uri="{FF2B5EF4-FFF2-40B4-BE49-F238E27FC236}">
                  <a16:creationId xmlns:a16="http://schemas.microsoft.com/office/drawing/2014/main" id="{344943D9-A348-4912-B98A-734B941D7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738"/>
              <a:ext cx="188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10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2" name="Line 50">
              <a:extLst>
                <a:ext uri="{FF2B5EF4-FFF2-40B4-BE49-F238E27FC236}">
                  <a16:creationId xmlns:a16="http://schemas.microsoft.com/office/drawing/2014/main" id="{C52F6933-5674-4C21-A1AD-F6B38B46E0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1604"/>
              <a:ext cx="32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Line 51">
              <a:extLst>
                <a:ext uri="{FF2B5EF4-FFF2-40B4-BE49-F238E27FC236}">
                  <a16:creationId xmlns:a16="http://schemas.microsoft.com/office/drawing/2014/main" id="{84A3E141-FFA4-44FB-862E-10285DC0B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7" y="3906"/>
              <a:ext cx="325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Line 52">
              <a:extLst>
                <a:ext uri="{FF2B5EF4-FFF2-40B4-BE49-F238E27FC236}">
                  <a16:creationId xmlns:a16="http://schemas.microsoft.com/office/drawing/2014/main" id="{E87FE801-83F7-4CAA-A899-DC9C390093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9" y="1604"/>
              <a:ext cx="1" cy="230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Line 53">
              <a:extLst>
                <a:ext uri="{FF2B5EF4-FFF2-40B4-BE49-F238E27FC236}">
                  <a16:creationId xmlns:a16="http://schemas.microsoft.com/office/drawing/2014/main" id="{337EC372-B2D4-4583-AB67-3F252022FC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57" y="1604"/>
              <a:ext cx="1" cy="230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54">
              <a:extLst>
                <a:ext uri="{FF2B5EF4-FFF2-40B4-BE49-F238E27FC236}">
                  <a16:creationId xmlns:a16="http://schemas.microsoft.com/office/drawing/2014/main" id="{6FAA7533-E87B-4B0F-BFCD-6B03551CD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2813"/>
              <a:ext cx="1120" cy="1093"/>
            </a:xfrm>
            <a:custGeom>
              <a:avLst/>
              <a:gdLst/>
              <a:ahLst/>
              <a:cxnLst>
                <a:cxn ang="0">
                  <a:pos x="9" y="1076"/>
                </a:cxn>
                <a:cxn ang="0">
                  <a:pos x="36" y="1049"/>
                </a:cxn>
                <a:cxn ang="0">
                  <a:pos x="63" y="1022"/>
                </a:cxn>
                <a:cxn ang="0">
                  <a:pos x="90" y="995"/>
                </a:cxn>
                <a:cxn ang="0">
                  <a:pos x="117" y="968"/>
                </a:cxn>
                <a:cxn ang="0">
                  <a:pos x="144" y="941"/>
                </a:cxn>
                <a:cxn ang="0">
                  <a:pos x="171" y="914"/>
                </a:cxn>
                <a:cxn ang="0">
                  <a:pos x="197" y="887"/>
                </a:cxn>
                <a:cxn ang="0">
                  <a:pos x="224" y="870"/>
                </a:cxn>
                <a:cxn ang="0">
                  <a:pos x="251" y="843"/>
                </a:cxn>
                <a:cxn ang="0">
                  <a:pos x="278" y="816"/>
                </a:cxn>
                <a:cxn ang="0">
                  <a:pos x="305" y="789"/>
                </a:cxn>
                <a:cxn ang="0">
                  <a:pos x="332" y="762"/>
                </a:cxn>
                <a:cxn ang="0">
                  <a:pos x="359" y="735"/>
                </a:cxn>
                <a:cxn ang="0">
                  <a:pos x="386" y="708"/>
                </a:cxn>
                <a:cxn ang="0">
                  <a:pos x="412" y="681"/>
                </a:cxn>
                <a:cxn ang="0">
                  <a:pos x="439" y="654"/>
                </a:cxn>
                <a:cxn ang="0">
                  <a:pos x="475" y="628"/>
                </a:cxn>
                <a:cxn ang="0">
                  <a:pos x="493" y="610"/>
                </a:cxn>
                <a:cxn ang="0">
                  <a:pos x="520" y="583"/>
                </a:cxn>
                <a:cxn ang="0">
                  <a:pos x="547" y="556"/>
                </a:cxn>
                <a:cxn ang="0">
                  <a:pos x="574" y="529"/>
                </a:cxn>
                <a:cxn ang="0">
                  <a:pos x="600" y="502"/>
                </a:cxn>
                <a:cxn ang="0">
                  <a:pos x="627" y="475"/>
                </a:cxn>
                <a:cxn ang="0">
                  <a:pos x="654" y="448"/>
                </a:cxn>
                <a:cxn ang="0">
                  <a:pos x="681" y="422"/>
                </a:cxn>
                <a:cxn ang="0">
                  <a:pos x="708" y="395"/>
                </a:cxn>
                <a:cxn ang="0">
                  <a:pos x="735" y="377"/>
                </a:cxn>
                <a:cxn ang="0">
                  <a:pos x="762" y="350"/>
                </a:cxn>
                <a:cxn ang="0">
                  <a:pos x="789" y="323"/>
                </a:cxn>
                <a:cxn ang="0">
                  <a:pos x="815" y="296"/>
                </a:cxn>
                <a:cxn ang="0">
                  <a:pos x="842" y="269"/>
                </a:cxn>
                <a:cxn ang="0">
                  <a:pos x="869" y="242"/>
                </a:cxn>
                <a:cxn ang="0">
                  <a:pos x="896" y="216"/>
                </a:cxn>
                <a:cxn ang="0">
                  <a:pos x="923" y="189"/>
                </a:cxn>
                <a:cxn ang="0">
                  <a:pos x="950" y="162"/>
                </a:cxn>
                <a:cxn ang="0">
                  <a:pos x="977" y="135"/>
                </a:cxn>
                <a:cxn ang="0">
                  <a:pos x="1004" y="117"/>
                </a:cxn>
                <a:cxn ang="0">
                  <a:pos x="1021" y="99"/>
                </a:cxn>
                <a:cxn ang="0">
                  <a:pos x="1048" y="72"/>
                </a:cxn>
                <a:cxn ang="0">
                  <a:pos x="1075" y="45"/>
                </a:cxn>
                <a:cxn ang="0">
                  <a:pos x="1102" y="18"/>
                </a:cxn>
              </a:cxnLst>
              <a:rect l="0" t="0" r="r" b="b"/>
              <a:pathLst>
                <a:path w="1120" h="1093">
                  <a:moveTo>
                    <a:pt x="0" y="1093"/>
                  </a:moveTo>
                  <a:lnTo>
                    <a:pt x="0" y="1085"/>
                  </a:lnTo>
                  <a:lnTo>
                    <a:pt x="9" y="1076"/>
                  </a:lnTo>
                  <a:lnTo>
                    <a:pt x="18" y="1067"/>
                  </a:lnTo>
                  <a:lnTo>
                    <a:pt x="27" y="1058"/>
                  </a:lnTo>
                  <a:lnTo>
                    <a:pt x="36" y="1049"/>
                  </a:lnTo>
                  <a:lnTo>
                    <a:pt x="45" y="1040"/>
                  </a:lnTo>
                  <a:lnTo>
                    <a:pt x="54" y="1031"/>
                  </a:lnTo>
                  <a:lnTo>
                    <a:pt x="63" y="1022"/>
                  </a:lnTo>
                  <a:lnTo>
                    <a:pt x="72" y="1013"/>
                  </a:lnTo>
                  <a:lnTo>
                    <a:pt x="81" y="1004"/>
                  </a:lnTo>
                  <a:lnTo>
                    <a:pt x="90" y="995"/>
                  </a:lnTo>
                  <a:lnTo>
                    <a:pt x="99" y="986"/>
                  </a:lnTo>
                  <a:lnTo>
                    <a:pt x="108" y="977"/>
                  </a:lnTo>
                  <a:lnTo>
                    <a:pt x="117" y="968"/>
                  </a:lnTo>
                  <a:lnTo>
                    <a:pt x="126" y="959"/>
                  </a:lnTo>
                  <a:lnTo>
                    <a:pt x="135" y="950"/>
                  </a:lnTo>
                  <a:lnTo>
                    <a:pt x="144" y="941"/>
                  </a:lnTo>
                  <a:lnTo>
                    <a:pt x="153" y="932"/>
                  </a:lnTo>
                  <a:lnTo>
                    <a:pt x="162" y="923"/>
                  </a:lnTo>
                  <a:lnTo>
                    <a:pt x="171" y="914"/>
                  </a:lnTo>
                  <a:lnTo>
                    <a:pt x="180" y="905"/>
                  </a:lnTo>
                  <a:lnTo>
                    <a:pt x="188" y="896"/>
                  </a:lnTo>
                  <a:lnTo>
                    <a:pt x="197" y="887"/>
                  </a:lnTo>
                  <a:lnTo>
                    <a:pt x="206" y="878"/>
                  </a:lnTo>
                  <a:lnTo>
                    <a:pt x="215" y="870"/>
                  </a:lnTo>
                  <a:lnTo>
                    <a:pt x="224" y="870"/>
                  </a:lnTo>
                  <a:lnTo>
                    <a:pt x="233" y="861"/>
                  </a:lnTo>
                  <a:lnTo>
                    <a:pt x="242" y="852"/>
                  </a:lnTo>
                  <a:lnTo>
                    <a:pt x="251" y="843"/>
                  </a:lnTo>
                  <a:lnTo>
                    <a:pt x="260" y="834"/>
                  </a:lnTo>
                  <a:lnTo>
                    <a:pt x="269" y="825"/>
                  </a:lnTo>
                  <a:lnTo>
                    <a:pt x="278" y="816"/>
                  </a:lnTo>
                  <a:lnTo>
                    <a:pt x="287" y="807"/>
                  </a:lnTo>
                  <a:lnTo>
                    <a:pt x="296" y="798"/>
                  </a:lnTo>
                  <a:lnTo>
                    <a:pt x="305" y="789"/>
                  </a:lnTo>
                  <a:lnTo>
                    <a:pt x="314" y="780"/>
                  </a:lnTo>
                  <a:lnTo>
                    <a:pt x="323" y="771"/>
                  </a:lnTo>
                  <a:lnTo>
                    <a:pt x="332" y="762"/>
                  </a:lnTo>
                  <a:lnTo>
                    <a:pt x="341" y="753"/>
                  </a:lnTo>
                  <a:lnTo>
                    <a:pt x="350" y="744"/>
                  </a:lnTo>
                  <a:lnTo>
                    <a:pt x="359" y="735"/>
                  </a:lnTo>
                  <a:lnTo>
                    <a:pt x="368" y="726"/>
                  </a:lnTo>
                  <a:lnTo>
                    <a:pt x="377" y="717"/>
                  </a:lnTo>
                  <a:lnTo>
                    <a:pt x="386" y="708"/>
                  </a:lnTo>
                  <a:lnTo>
                    <a:pt x="394" y="699"/>
                  </a:lnTo>
                  <a:lnTo>
                    <a:pt x="403" y="690"/>
                  </a:lnTo>
                  <a:lnTo>
                    <a:pt x="412" y="681"/>
                  </a:lnTo>
                  <a:lnTo>
                    <a:pt x="421" y="672"/>
                  </a:lnTo>
                  <a:lnTo>
                    <a:pt x="430" y="663"/>
                  </a:lnTo>
                  <a:lnTo>
                    <a:pt x="439" y="654"/>
                  </a:lnTo>
                  <a:lnTo>
                    <a:pt x="448" y="646"/>
                  </a:lnTo>
                  <a:lnTo>
                    <a:pt x="457" y="646"/>
                  </a:lnTo>
                  <a:lnTo>
                    <a:pt x="475" y="628"/>
                  </a:lnTo>
                  <a:lnTo>
                    <a:pt x="475" y="619"/>
                  </a:lnTo>
                  <a:lnTo>
                    <a:pt x="484" y="610"/>
                  </a:lnTo>
                  <a:lnTo>
                    <a:pt x="493" y="610"/>
                  </a:lnTo>
                  <a:lnTo>
                    <a:pt x="502" y="601"/>
                  </a:lnTo>
                  <a:lnTo>
                    <a:pt x="511" y="592"/>
                  </a:lnTo>
                  <a:lnTo>
                    <a:pt x="520" y="583"/>
                  </a:lnTo>
                  <a:lnTo>
                    <a:pt x="529" y="574"/>
                  </a:lnTo>
                  <a:lnTo>
                    <a:pt x="538" y="565"/>
                  </a:lnTo>
                  <a:lnTo>
                    <a:pt x="547" y="556"/>
                  </a:lnTo>
                  <a:lnTo>
                    <a:pt x="556" y="547"/>
                  </a:lnTo>
                  <a:lnTo>
                    <a:pt x="565" y="538"/>
                  </a:lnTo>
                  <a:lnTo>
                    <a:pt x="574" y="529"/>
                  </a:lnTo>
                  <a:lnTo>
                    <a:pt x="583" y="520"/>
                  </a:lnTo>
                  <a:lnTo>
                    <a:pt x="592" y="511"/>
                  </a:lnTo>
                  <a:lnTo>
                    <a:pt x="600" y="502"/>
                  </a:lnTo>
                  <a:lnTo>
                    <a:pt x="609" y="493"/>
                  </a:lnTo>
                  <a:lnTo>
                    <a:pt x="618" y="484"/>
                  </a:lnTo>
                  <a:lnTo>
                    <a:pt x="627" y="475"/>
                  </a:lnTo>
                  <a:lnTo>
                    <a:pt x="636" y="466"/>
                  </a:lnTo>
                  <a:lnTo>
                    <a:pt x="645" y="457"/>
                  </a:lnTo>
                  <a:lnTo>
                    <a:pt x="654" y="448"/>
                  </a:lnTo>
                  <a:lnTo>
                    <a:pt x="663" y="439"/>
                  </a:lnTo>
                  <a:lnTo>
                    <a:pt x="672" y="431"/>
                  </a:lnTo>
                  <a:lnTo>
                    <a:pt x="681" y="422"/>
                  </a:lnTo>
                  <a:lnTo>
                    <a:pt x="690" y="413"/>
                  </a:lnTo>
                  <a:lnTo>
                    <a:pt x="699" y="404"/>
                  </a:lnTo>
                  <a:lnTo>
                    <a:pt x="708" y="395"/>
                  </a:lnTo>
                  <a:lnTo>
                    <a:pt x="717" y="386"/>
                  </a:lnTo>
                  <a:lnTo>
                    <a:pt x="726" y="386"/>
                  </a:lnTo>
                  <a:lnTo>
                    <a:pt x="735" y="377"/>
                  </a:lnTo>
                  <a:lnTo>
                    <a:pt x="753" y="359"/>
                  </a:lnTo>
                  <a:lnTo>
                    <a:pt x="753" y="350"/>
                  </a:lnTo>
                  <a:lnTo>
                    <a:pt x="762" y="350"/>
                  </a:lnTo>
                  <a:lnTo>
                    <a:pt x="771" y="341"/>
                  </a:lnTo>
                  <a:lnTo>
                    <a:pt x="780" y="332"/>
                  </a:lnTo>
                  <a:lnTo>
                    <a:pt x="789" y="323"/>
                  </a:lnTo>
                  <a:lnTo>
                    <a:pt x="798" y="314"/>
                  </a:lnTo>
                  <a:lnTo>
                    <a:pt x="806" y="305"/>
                  </a:lnTo>
                  <a:lnTo>
                    <a:pt x="815" y="296"/>
                  </a:lnTo>
                  <a:lnTo>
                    <a:pt x="824" y="287"/>
                  </a:lnTo>
                  <a:lnTo>
                    <a:pt x="833" y="278"/>
                  </a:lnTo>
                  <a:lnTo>
                    <a:pt x="842" y="269"/>
                  </a:lnTo>
                  <a:lnTo>
                    <a:pt x="851" y="260"/>
                  </a:lnTo>
                  <a:lnTo>
                    <a:pt x="860" y="251"/>
                  </a:lnTo>
                  <a:lnTo>
                    <a:pt x="869" y="242"/>
                  </a:lnTo>
                  <a:lnTo>
                    <a:pt x="878" y="233"/>
                  </a:lnTo>
                  <a:lnTo>
                    <a:pt x="887" y="224"/>
                  </a:lnTo>
                  <a:lnTo>
                    <a:pt x="896" y="216"/>
                  </a:lnTo>
                  <a:lnTo>
                    <a:pt x="905" y="207"/>
                  </a:lnTo>
                  <a:lnTo>
                    <a:pt x="914" y="198"/>
                  </a:lnTo>
                  <a:lnTo>
                    <a:pt x="923" y="189"/>
                  </a:lnTo>
                  <a:lnTo>
                    <a:pt x="932" y="180"/>
                  </a:lnTo>
                  <a:lnTo>
                    <a:pt x="941" y="171"/>
                  </a:lnTo>
                  <a:lnTo>
                    <a:pt x="950" y="162"/>
                  </a:lnTo>
                  <a:lnTo>
                    <a:pt x="959" y="153"/>
                  </a:lnTo>
                  <a:lnTo>
                    <a:pt x="968" y="144"/>
                  </a:lnTo>
                  <a:lnTo>
                    <a:pt x="977" y="135"/>
                  </a:lnTo>
                  <a:lnTo>
                    <a:pt x="986" y="126"/>
                  </a:lnTo>
                  <a:lnTo>
                    <a:pt x="995" y="126"/>
                  </a:lnTo>
                  <a:lnTo>
                    <a:pt x="1004" y="117"/>
                  </a:lnTo>
                  <a:lnTo>
                    <a:pt x="1021" y="99"/>
                  </a:lnTo>
                  <a:lnTo>
                    <a:pt x="1012" y="99"/>
                  </a:lnTo>
                  <a:lnTo>
                    <a:pt x="1021" y="99"/>
                  </a:lnTo>
                  <a:lnTo>
                    <a:pt x="1030" y="90"/>
                  </a:lnTo>
                  <a:lnTo>
                    <a:pt x="1039" y="81"/>
                  </a:lnTo>
                  <a:lnTo>
                    <a:pt x="1048" y="72"/>
                  </a:lnTo>
                  <a:lnTo>
                    <a:pt x="1057" y="63"/>
                  </a:lnTo>
                  <a:lnTo>
                    <a:pt x="1066" y="54"/>
                  </a:lnTo>
                  <a:lnTo>
                    <a:pt x="1075" y="45"/>
                  </a:lnTo>
                  <a:lnTo>
                    <a:pt x="1084" y="36"/>
                  </a:lnTo>
                  <a:lnTo>
                    <a:pt x="1093" y="27"/>
                  </a:lnTo>
                  <a:lnTo>
                    <a:pt x="1102" y="18"/>
                  </a:lnTo>
                  <a:lnTo>
                    <a:pt x="1111" y="9"/>
                  </a:lnTo>
                  <a:lnTo>
                    <a:pt x="1120" y="0"/>
                  </a:lnTo>
                </a:path>
              </a:pathLst>
            </a:custGeom>
            <a:noFill/>
            <a:ln w="28575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Freeform 55">
              <a:extLst>
                <a:ext uri="{FF2B5EF4-FFF2-40B4-BE49-F238E27FC236}">
                  <a16:creationId xmlns:a16="http://schemas.microsoft.com/office/drawing/2014/main" id="{33E11328-56E6-4034-AA76-E48B4A2F3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1720"/>
              <a:ext cx="1129" cy="1093"/>
            </a:xfrm>
            <a:custGeom>
              <a:avLst/>
              <a:gdLst/>
              <a:ahLst/>
              <a:cxnLst>
                <a:cxn ang="0">
                  <a:pos x="18" y="1076"/>
                </a:cxn>
                <a:cxn ang="0">
                  <a:pos x="45" y="1049"/>
                </a:cxn>
                <a:cxn ang="0">
                  <a:pos x="72" y="1022"/>
                </a:cxn>
                <a:cxn ang="0">
                  <a:pos x="99" y="995"/>
                </a:cxn>
                <a:cxn ang="0">
                  <a:pos x="125" y="968"/>
                </a:cxn>
                <a:cxn ang="0">
                  <a:pos x="152" y="950"/>
                </a:cxn>
                <a:cxn ang="0">
                  <a:pos x="170" y="932"/>
                </a:cxn>
                <a:cxn ang="0">
                  <a:pos x="197" y="905"/>
                </a:cxn>
                <a:cxn ang="0">
                  <a:pos x="224" y="878"/>
                </a:cxn>
                <a:cxn ang="0">
                  <a:pos x="251" y="852"/>
                </a:cxn>
                <a:cxn ang="0">
                  <a:pos x="278" y="825"/>
                </a:cxn>
                <a:cxn ang="0">
                  <a:pos x="305" y="798"/>
                </a:cxn>
                <a:cxn ang="0">
                  <a:pos x="331" y="771"/>
                </a:cxn>
                <a:cxn ang="0">
                  <a:pos x="358" y="744"/>
                </a:cxn>
                <a:cxn ang="0">
                  <a:pos x="385" y="717"/>
                </a:cxn>
                <a:cxn ang="0">
                  <a:pos x="412" y="699"/>
                </a:cxn>
                <a:cxn ang="0">
                  <a:pos x="439" y="672"/>
                </a:cxn>
                <a:cxn ang="0">
                  <a:pos x="466" y="646"/>
                </a:cxn>
                <a:cxn ang="0">
                  <a:pos x="493" y="619"/>
                </a:cxn>
                <a:cxn ang="0">
                  <a:pos x="519" y="592"/>
                </a:cxn>
                <a:cxn ang="0">
                  <a:pos x="546" y="565"/>
                </a:cxn>
                <a:cxn ang="0">
                  <a:pos x="573" y="538"/>
                </a:cxn>
                <a:cxn ang="0">
                  <a:pos x="600" y="511"/>
                </a:cxn>
                <a:cxn ang="0">
                  <a:pos x="627" y="484"/>
                </a:cxn>
                <a:cxn ang="0">
                  <a:pos x="654" y="457"/>
                </a:cxn>
                <a:cxn ang="0">
                  <a:pos x="681" y="439"/>
                </a:cxn>
                <a:cxn ang="0">
                  <a:pos x="708" y="413"/>
                </a:cxn>
                <a:cxn ang="0">
                  <a:pos x="734" y="386"/>
                </a:cxn>
                <a:cxn ang="0">
                  <a:pos x="761" y="359"/>
                </a:cxn>
                <a:cxn ang="0">
                  <a:pos x="788" y="332"/>
                </a:cxn>
                <a:cxn ang="0">
                  <a:pos x="815" y="305"/>
                </a:cxn>
                <a:cxn ang="0">
                  <a:pos x="842" y="278"/>
                </a:cxn>
                <a:cxn ang="0">
                  <a:pos x="869" y="251"/>
                </a:cxn>
                <a:cxn ang="0">
                  <a:pos x="896" y="233"/>
                </a:cxn>
                <a:cxn ang="0">
                  <a:pos x="923" y="198"/>
                </a:cxn>
                <a:cxn ang="0">
                  <a:pos x="949" y="180"/>
                </a:cxn>
                <a:cxn ang="0">
                  <a:pos x="976" y="153"/>
                </a:cxn>
                <a:cxn ang="0">
                  <a:pos x="1003" y="126"/>
                </a:cxn>
                <a:cxn ang="0">
                  <a:pos x="1030" y="99"/>
                </a:cxn>
                <a:cxn ang="0">
                  <a:pos x="1057" y="72"/>
                </a:cxn>
                <a:cxn ang="0">
                  <a:pos x="1084" y="45"/>
                </a:cxn>
                <a:cxn ang="0">
                  <a:pos x="1111" y="18"/>
                </a:cxn>
              </a:cxnLst>
              <a:rect l="0" t="0" r="r" b="b"/>
              <a:pathLst>
                <a:path w="1129" h="1093">
                  <a:moveTo>
                    <a:pt x="0" y="1093"/>
                  </a:moveTo>
                  <a:lnTo>
                    <a:pt x="9" y="1085"/>
                  </a:lnTo>
                  <a:lnTo>
                    <a:pt x="18" y="1076"/>
                  </a:lnTo>
                  <a:lnTo>
                    <a:pt x="27" y="1067"/>
                  </a:lnTo>
                  <a:lnTo>
                    <a:pt x="36" y="1058"/>
                  </a:lnTo>
                  <a:lnTo>
                    <a:pt x="45" y="1049"/>
                  </a:lnTo>
                  <a:lnTo>
                    <a:pt x="54" y="1040"/>
                  </a:lnTo>
                  <a:lnTo>
                    <a:pt x="63" y="1031"/>
                  </a:lnTo>
                  <a:lnTo>
                    <a:pt x="72" y="1022"/>
                  </a:lnTo>
                  <a:lnTo>
                    <a:pt x="81" y="1013"/>
                  </a:lnTo>
                  <a:lnTo>
                    <a:pt x="90" y="1004"/>
                  </a:lnTo>
                  <a:lnTo>
                    <a:pt x="99" y="995"/>
                  </a:lnTo>
                  <a:lnTo>
                    <a:pt x="107" y="986"/>
                  </a:lnTo>
                  <a:lnTo>
                    <a:pt x="116" y="977"/>
                  </a:lnTo>
                  <a:lnTo>
                    <a:pt x="125" y="968"/>
                  </a:lnTo>
                  <a:lnTo>
                    <a:pt x="134" y="968"/>
                  </a:lnTo>
                  <a:lnTo>
                    <a:pt x="143" y="959"/>
                  </a:lnTo>
                  <a:lnTo>
                    <a:pt x="152" y="950"/>
                  </a:lnTo>
                  <a:lnTo>
                    <a:pt x="170" y="932"/>
                  </a:lnTo>
                  <a:lnTo>
                    <a:pt x="161" y="932"/>
                  </a:lnTo>
                  <a:lnTo>
                    <a:pt x="170" y="932"/>
                  </a:lnTo>
                  <a:lnTo>
                    <a:pt x="179" y="923"/>
                  </a:lnTo>
                  <a:lnTo>
                    <a:pt x="188" y="914"/>
                  </a:lnTo>
                  <a:lnTo>
                    <a:pt x="197" y="905"/>
                  </a:lnTo>
                  <a:lnTo>
                    <a:pt x="206" y="896"/>
                  </a:lnTo>
                  <a:lnTo>
                    <a:pt x="215" y="887"/>
                  </a:lnTo>
                  <a:lnTo>
                    <a:pt x="224" y="878"/>
                  </a:lnTo>
                  <a:lnTo>
                    <a:pt x="233" y="870"/>
                  </a:lnTo>
                  <a:lnTo>
                    <a:pt x="242" y="861"/>
                  </a:lnTo>
                  <a:lnTo>
                    <a:pt x="251" y="852"/>
                  </a:lnTo>
                  <a:lnTo>
                    <a:pt x="260" y="843"/>
                  </a:lnTo>
                  <a:lnTo>
                    <a:pt x="269" y="834"/>
                  </a:lnTo>
                  <a:lnTo>
                    <a:pt x="278" y="825"/>
                  </a:lnTo>
                  <a:lnTo>
                    <a:pt x="287" y="816"/>
                  </a:lnTo>
                  <a:lnTo>
                    <a:pt x="296" y="807"/>
                  </a:lnTo>
                  <a:lnTo>
                    <a:pt x="305" y="798"/>
                  </a:lnTo>
                  <a:lnTo>
                    <a:pt x="313" y="789"/>
                  </a:lnTo>
                  <a:lnTo>
                    <a:pt x="322" y="780"/>
                  </a:lnTo>
                  <a:lnTo>
                    <a:pt x="331" y="771"/>
                  </a:lnTo>
                  <a:lnTo>
                    <a:pt x="340" y="762"/>
                  </a:lnTo>
                  <a:lnTo>
                    <a:pt x="349" y="753"/>
                  </a:lnTo>
                  <a:lnTo>
                    <a:pt x="358" y="744"/>
                  </a:lnTo>
                  <a:lnTo>
                    <a:pt x="367" y="735"/>
                  </a:lnTo>
                  <a:lnTo>
                    <a:pt x="376" y="726"/>
                  </a:lnTo>
                  <a:lnTo>
                    <a:pt x="385" y="717"/>
                  </a:lnTo>
                  <a:lnTo>
                    <a:pt x="394" y="708"/>
                  </a:lnTo>
                  <a:lnTo>
                    <a:pt x="403" y="708"/>
                  </a:lnTo>
                  <a:lnTo>
                    <a:pt x="412" y="699"/>
                  </a:lnTo>
                  <a:lnTo>
                    <a:pt x="421" y="690"/>
                  </a:lnTo>
                  <a:lnTo>
                    <a:pt x="430" y="681"/>
                  </a:lnTo>
                  <a:lnTo>
                    <a:pt x="439" y="672"/>
                  </a:lnTo>
                  <a:lnTo>
                    <a:pt x="448" y="663"/>
                  </a:lnTo>
                  <a:lnTo>
                    <a:pt x="457" y="654"/>
                  </a:lnTo>
                  <a:lnTo>
                    <a:pt x="466" y="646"/>
                  </a:lnTo>
                  <a:lnTo>
                    <a:pt x="475" y="637"/>
                  </a:lnTo>
                  <a:lnTo>
                    <a:pt x="484" y="628"/>
                  </a:lnTo>
                  <a:lnTo>
                    <a:pt x="493" y="619"/>
                  </a:lnTo>
                  <a:lnTo>
                    <a:pt x="502" y="610"/>
                  </a:lnTo>
                  <a:lnTo>
                    <a:pt x="511" y="601"/>
                  </a:lnTo>
                  <a:lnTo>
                    <a:pt x="519" y="592"/>
                  </a:lnTo>
                  <a:lnTo>
                    <a:pt x="528" y="583"/>
                  </a:lnTo>
                  <a:lnTo>
                    <a:pt x="537" y="574"/>
                  </a:lnTo>
                  <a:lnTo>
                    <a:pt x="546" y="565"/>
                  </a:lnTo>
                  <a:lnTo>
                    <a:pt x="555" y="556"/>
                  </a:lnTo>
                  <a:lnTo>
                    <a:pt x="564" y="547"/>
                  </a:lnTo>
                  <a:lnTo>
                    <a:pt x="573" y="538"/>
                  </a:lnTo>
                  <a:lnTo>
                    <a:pt x="582" y="529"/>
                  </a:lnTo>
                  <a:lnTo>
                    <a:pt x="591" y="520"/>
                  </a:lnTo>
                  <a:lnTo>
                    <a:pt x="600" y="511"/>
                  </a:lnTo>
                  <a:lnTo>
                    <a:pt x="609" y="502"/>
                  </a:lnTo>
                  <a:lnTo>
                    <a:pt x="618" y="493"/>
                  </a:lnTo>
                  <a:lnTo>
                    <a:pt x="627" y="484"/>
                  </a:lnTo>
                  <a:lnTo>
                    <a:pt x="636" y="475"/>
                  </a:lnTo>
                  <a:lnTo>
                    <a:pt x="645" y="466"/>
                  </a:lnTo>
                  <a:lnTo>
                    <a:pt x="654" y="457"/>
                  </a:lnTo>
                  <a:lnTo>
                    <a:pt x="663" y="457"/>
                  </a:lnTo>
                  <a:lnTo>
                    <a:pt x="672" y="448"/>
                  </a:lnTo>
                  <a:lnTo>
                    <a:pt x="681" y="439"/>
                  </a:lnTo>
                  <a:lnTo>
                    <a:pt x="690" y="431"/>
                  </a:lnTo>
                  <a:lnTo>
                    <a:pt x="699" y="422"/>
                  </a:lnTo>
                  <a:lnTo>
                    <a:pt x="708" y="413"/>
                  </a:lnTo>
                  <a:lnTo>
                    <a:pt x="717" y="404"/>
                  </a:lnTo>
                  <a:lnTo>
                    <a:pt x="725" y="395"/>
                  </a:lnTo>
                  <a:lnTo>
                    <a:pt x="734" y="386"/>
                  </a:lnTo>
                  <a:lnTo>
                    <a:pt x="743" y="377"/>
                  </a:lnTo>
                  <a:lnTo>
                    <a:pt x="752" y="368"/>
                  </a:lnTo>
                  <a:lnTo>
                    <a:pt x="761" y="359"/>
                  </a:lnTo>
                  <a:lnTo>
                    <a:pt x="770" y="350"/>
                  </a:lnTo>
                  <a:lnTo>
                    <a:pt x="779" y="341"/>
                  </a:lnTo>
                  <a:lnTo>
                    <a:pt x="788" y="332"/>
                  </a:lnTo>
                  <a:lnTo>
                    <a:pt x="797" y="323"/>
                  </a:lnTo>
                  <a:lnTo>
                    <a:pt x="806" y="314"/>
                  </a:lnTo>
                  <a:lnTo>
                    <a:pt x="815" y="305"/>
                  </a:lnTo>
                  <a:lnTo>
                    <a:pt x="824" y="296"/>
                  </a:lnTo>
                  <a:lnTo>
                    <a:pt x="833" y="287"/>
                  </a:lnTo>
                  <a:lnTo>
                    <a:pt x="842" y="278"/>
                  </a:lnTo>
                  <a:lnTo>
                    <a:pt x="851" y="269"/>
                  </a:lnTo>
                  <a:lnTo>
                    <a:pt x="860" y="260"/>
                  </a:lnTo>
                  <a:lnTo>
                    <a:pt x="869" y="251"/>
                  </a:lnTo>
                  <a:lnTo>
                    <a:pt x="878" y="242"/>
                  </a:lnTo>
                  <a:lnTo>
                    <a:pt x="887" y="233"/>
                  </a:lnTo>
                  <a:lnTo>
                    <a:pt x="896" y="233"/>
                  </a:lnTo>
                  <a:lnTo>
                    <a:pt x="914" y="216"/>
                  </a:lnTo>
                  <a:lnTo>
                    <a:pt x="914" y="207"/>
                  </a:lnTo>
                  <a:lnTo>
                    <a:pt x="923" y="198"/>
                  </a:lnTo>
                  <a:lnTo>
                    <a:pt x="931" y="198"/>
                  </a:lnTo>
                  <a:lnTo>
                    <a:pt x="940" y="189"/>
                  </a:lnTo>
                  <a:lnTo>
                    <a:pt x="949" y="180"/>
                  </a:lnTo>
                  <a:lnTo>
                    <a:pt x="958" y="171"/>
                  </a:lnTo>
                  <a:lnTo>
                    <a:pt x="967" y="162"/>
                  </a:lnTo>
                  <a:lnTo>
                    <a:pt x="976" y="153"/>
                  </a:lnTo>
                  <a:lnTo>
                    <a:pt x="985" y="144"/>
                  </a:lnTo>
                  <a:lnTo>
                    <a:pt x="994" y="135"/>
                  </a:lnTo>
                  <a:lnTo>
                    <a:pt x="1003" y="126"/>
                  </a:lnTo>
                  <a:lnTo>
                    <a:pt x="1012" y="117"/>
                  </a:lnTo>
                  <a:lnTo>
                    <a:pt x="1021" y="108"/>
                  </a:lnTo>
                  <a:lnTo>
                    <a:pt x="1030" y="99"/>
                  </a:lnTo>
                  <a:lnTo>
                    <a:pt x="1039" y="90"/>
                  </a:lnTo>
                  <a:lnTo>
                    <a:pt x="1048" y="81"/>
                  </a:lnTo>
                  <a:lnTo>
                    <a:pt x="1057" y="72"/>
                  </a:lnTo>
                  <a:lnTo>
                    <a:pt x="1066" y="63"/>
                  </a:lnTo>
                  <a:lnTo>
                    <a:pt x="1075" y="54"/>
                  </a:lnTo>
                  <a:lnTo>
                    <a:pt x="1084" y="45"/>
                  </a:lnTo>
                  <a:lnTo>
                    <a:pt x="1093" y="36"/>
                  </a:lnTo>
                  <a:lnTo>
                    <a:pt x="1102" y="27"/>
                  </a:lnTo>
                  <a:lnTo>
                    <a:pt x="1111" y="18"/>
                  </a:lnTo>
                  <a:lnTo>
                    <a:pt x="1120" y="9"/>
                  </a:lnTo>
                  <a:lnTo>
                    <a:pt x="1129" y="0"/>
                  </a:lnTo>
                </a:path>
              </a:pathLst>
            </a:custGeom>
            <a:noFill/>
            <a:ln w="28575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Freeform 56">
              <a:extLst>
                <a:ext uri="{FF2B5EF4-FFF2-40B4-BE49-F238E27FC236}">
                  <a16:creationId xmlns:a16="http://schemas.microsoft.com/office/drawing/2014/main" id="{CD8F24AE-4EB5-49B2-8319-3AA1D8445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604"/>
              <a:ext cx="134" cy="116"/>
            </a:xfrm>
            <a:custGeom>
              <a:avLst/>
              <a:gdLst/>
              <a:ahLst/>
              <a:cxnLst>
                <a:cxn ang="0">
                  <a:pos x="0" y="116"/>
                </a:cxn>
                <a:cxn ang="0">
                  <a:pos x="8" y="108"/>
                </a:cxn>
                <a:cxn ang="0">
                  <a:pos x="17" y="99"/>
                </a:cxn>
                <a:cxn ang="0">
                  <a:pos x="26" y="90"/>
                </a:cxn>
                <a:cxn ang="0">
                  <a:pos x="35" y="90"/>
                </a:cxn>
                <a:cxn ang="0">
                  <a:pos x="44" y="81"/>
                </a:cxn>
                <a:cxn ang="0">
                  <a:pos x="62" y="63"/>
                </a:cxn>
                <a:cxn ang="0">
                  <a:pos x="53" y="63"/>
                </a:cxn>
                <a:cxn ang="0">
                  <a:pos x="62" y="63"/>
                </a:cxn>
                <a:cxn ang="0">
                  <a:pos x="71" y="54"/>
                </a:cxn>
                <a:cxn ang="0">
                  <a:pos x="80" y="45"/>
                </a:cxn>
                <a:cxn ang="0">
                  <a:pos x="89" y="36"/>
                </a:cxn>
                <a:cxn ang="0">
                  <a:pos x="98" y="27"/>
                </a:cxn>
                <a:cxn ang="0">
                  <a:pos x="107" y="18"/>
                </a:cxn>
                <a:cxn ang="0">
                  <a:pos x="116" y="9"/>
                </a:cxn>
                <a:cxn ang="0">
                  <a:pos x="125" y="0"/>
                </a:cxn>
                <a:cxn ang="0">
                  <a:pos x="134" y="0"/>
                </a:cxn>
              </a:cxnLst>
              <a:rect l="0" t="0" r="r" b="b"/>
              <a:pathLst>
                <a:path w="134" h="116">
                  <a:moveTo>
                    <a:pt x="0" y="116"/>
                  </a:moveTo>
                  <a:lnTo>
                    <a:pt x="8" y="108"/>
                  </a:lnTo>
                  <a:lnTo>
                    <a:pt x="17" y="99"/>
                  </a:lnTo>
                  <a:lnTo>
                    <a:pt x="26" y="90"/>
                  </a:lnTo>
                  <a:lnTo>
                    <a:pt x="35" y="90"/>
                  </a:lnTo>
                  <a:lnTo>
                    <a:pt x="44" y="81"/>
                  </a:lnTo>
                  <a:lnTo>
                    <a:pt x="62" y="63"/>
                  </a:lnTo>
                  <a:lnTo>
                    <a:pt x="53" y="63"/>
                  </a:lnTo>
                  <a:lnTo>
                    <a:pt x="62" y="63"/>
                  </a:lnTo>
                  <a:lnTo>
                    <a:pt x="71" y="54"/>
                  </a:lnTo>
                  <a:lnTo>
                    <a:pt x="80" y="45"/>
                  </a:lnTo>
                  <a:lnTo>
                    <a:pt x="89" y="36"/>
                  </a:lnTo>
                  <a:lnTo>
                    <a:pt x="98" y="27"/>
                  </a:lnTo>
                  <a:lnTo>
                    <a:pt x="107" y="18"/>
                  </a:lnTo>
                  <a:lnTo>
                    <a:pt x="116" y="9"/>
                  </a:lnTo>
                  <a:lnTo>
                    <a:pt x="125" y="0"/>
                  </a:lnTo>
                  <a:lnTo>
                    <a:pt x="134" y="0"/>
                  </a:lnTo>
                </a:path>
              </a:pathLst>
            </a:custGeom>
            <a:noFill/>
            <a:ln w="28575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57">
              <a:extLst>
                <a:ext uri="{FF2B5EF4-FFF2-40B4-BE49-F238E27FC236}">
                  <a16:creationId xmlns:a16="http://schemas.microsoft.com/office/drawing/2014/main" id="{EDE306D4-0E9F-4E5E-B8E9-3BC1279C3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" y="3029"/>
              <a:ext cx="1111" cy="869"/>
            </a:xfrm>
            <a:custGeom>
              <a:avLst/>
              <a:gdLst/>
              <a:ahLst/>
              <a:cxnLst>
                <a:cxn ang="0">
                  <a:pos x="9" y="869"/>
                </a:cxn>
                <a:cxn ang="0">
                  <a:pos x="36" y="869"/>
                </a:cxn>
                <a:cxn ang="0">
                  <a:pos x="63" y="860"/>
                </a:cxn>
                <a:cxn ang="0">
                  <a:pos x="90" y="851"/>
                </a:cxn>
                <a:cxn ang="0">
                  <a:pos x="117" y="842"/>
                </a:cxn>
                <a:cxn ang="0">
                  <a:pos x="144" y="833"/>
                </a:cxn>
                <a:cxn ang="0">
                  <a:pos x="171" y="815"/>
                </a:cxn>
                <a:cxn ang="0">
                  <a:pos x="197" y="806"/>
                </a:cxn>
                <a:cxn ang="0">
                  <a:pos x="224" y="788"/>
                </a:cxn>
                <a:cxn ang="0">
                  <a:pos x="251" y="770"/>
                </a:cxn>
                <a:cxn ang="0">
                  <a:pos x="278" y="752"/>
                </a:cxn>
                <a:cxn ang="0">
                  <a:pos x="305" y="734"/>
                </a:cxn>
                <a:cxn ang="0">
                  <a:pos x="332" y="707"/>
                </a:cxn>
                <a:cxn ang="0">
                  <a:pos x="359" y="689"/>
                </a:cxn>
                <a:cxn ang="0">
                  <a:pos x="386" y="671"/>
                </a:cxn>
                <a:cxn ang="0">
                  <a:pos x="412" y="645"/>
                </a:cxn>
                <a:cxn ang="0">
                  <a:pos x="439" y="627"/>
                </a:cxn>
                <a:cxn ang="0">
                  <a:pos x="466" y="600"/>
                </a:cxn>
                <a:cxn ang="0">
                  <a:pos x="493" y="582"/>
                </a:cxn>
                <a:cxn ang="0">
                  <a:pos x="520" y="555"/>
                </a:cxn>
                <a:cxn ang="0">
                  <a:pos x="547" y="528"/>
                </a:cxn>
                <a:cxn ang="0">
                  <a:pos x="574" y="510"/>
                </a:cxn>
                <a:cxn ang="0">
                  <a:pos x="600" y="483"/>
                </a:cxn>
                <a:cxn ang="0">
                  <a:pos x="627" y="456"/>
                </a:cxn>
                <a:cxn ang="0">
                  <a:pos x="654" y="430"/>
                </a:cxn>
                <a:cxn ang="0">
                  <a:pos x="672" y="412"/>
                </a:cxn>
                <a:cxn ang="0">
                  <a:pos x="699" y="394"/>
                </a:cxn>
                <a:cxn ang="0">
                  <a:pos x="726" y="367"/>
                </a:cxn>
                <a:cxn ang="0">
                  <a:pos x="753" y="340"/>
                </a:cxn>
                <a:cxn ang="0">
                  <a:pos x="780" y="313"/>
                </a:cxn>
                <a:cxn ang="0">
                  <a:pos x="815" y="286"/>
                </a:cxn>
                <a:cxn ang="0">
                  <a:pos x="824" y="277"/>
                </a:cxn>
                <a:cxn ang="0">
                  <a:pos x="851" y="250"/>
                </a:cxn>
                <a:cxn ang="0">
                  <a:pos x="878" y="223"/>
                </a:cxn>
                <a:cxn ang="0">
                  <a:pos x="905" y="197"/>
                </a:cxn>
                <a:cxn ang="0">
                  <a:pos x="932" y="170"/>
                </a:cxn>
                <a:cxn ang="0">
                  <a:pos x="959" y="143"/>
                </a:cxn>
                <a:cxn ang="0">
                  <a:pos x="986" y="125"/>
                </a:cxn>
                <a:cxn ang="0">
                  <a:pos x="1012" y="98"/>
                </a:cxn>
                <a:cxn ang="0">
                  <a:pos x="1039" y="71"/>
                </a:cxn>
                <a:cxn ang="0">
                  <a:pos x="1066" y="44"/>
                </a:cxn>
                <a:cxn ang="0">
                  <a:pos x="1093" y="17"/>
                </a:cxn>
              </a:cxnLst>
              <a:rect l="0" t="0" r="r" b="b"/>
              <a:pathLst>
                <a:path w="1111" h="869">
                  <a:moveTo>
                    <a:pt x="9" y="869"/>
                  </a:moveTo>
                  <a:lnTo>
                    <a:pt x="0" y="869"/>
                  </a:lnTo>
                  <a:lnTo>
                    <a:pt x="9" y="869"/>
                  </a:lnTo>
                  <a:lnTo>
                    <a:pt x="18" y="869"/>
                  </a:lnTo>
                  <a:lnTo>
                    <a:pt x="27" y="869"/>
                  </a:lnTo>
                  <a:lnTo>
                    <a:pt x="36" y="869"/>
                  </a:lnTo>
                  <a:lnTo>
                    <a:pt x="45" y="869"/>
                  </a:lnTo>
                  <a:lnTo>
                    <a:pt x="54" y="869"/>
                  </a:lnTo>
                  <a:lnTo>
                    <a:pt x="63" y="860"/>
                  </a:lnTo>
                  <a:lnTo>
                    <a:pt x="72" y="860"/>
                  </a:lnTo>
                  <a:lnTo>
                    <a:pt x="81" y="860"/>
                  </a:lnTo>
                  <a:lnTo>
                    <a:pt x="90" y="851"/>
                  </a:lnTo>
                  <a:lnTo>
                    <a:pt x="99" y="851"/>
                  </a:lnTo>
                  <a:lnTo>
                    <a:pt x="108" y="851"/>
                  </a:lnTo>
                  <a:lnTo>
                    <a:pt x="117" y="842"/>
                  </a:lnTo>
                  <a:lnTo>
                    <a:pt x="126" y="842"/>
                  </a:lnTo>
                  <a:lnTo>
                    <a:pt x="135" y="833"/>
                  </a:lnTo>
                  <a:lnTo>
                    <a:pt x="144" y="833"/>
                  </a:lnTo>
                  <a:lnTo>
                    <a:pt x="153" y="824"/>
                  </a:lnTo>
                  <a:lnTo>
                    <a:pt x="162" y="824"/>
                  </a:lnTo>
                  <a:lnTo>
                    <a:pt x="171" y="815"/>
                  </a:lnTo>
                  <a:lnTo>
                    <a:pt x="180" y="815"/>
                  </a:lnTo>
                  <a:lnTo>
                    <a:pt x="188" y="806"/>
                  </a:lnTo>
                  <a:lnTo>
                    <a:pt x="197" y="806"/>
                  </a:lnTo>
                  <a:lnTo>
                    <a:pt x="206" y="797"/>
                  </a:lnTo>
                  <a:lnTo>
                    <a:pt x="215" y="788"/>
                  </a:lnTo>
                  <a:lnTo>
                    <a:pt x="224" y="788"/>
                  </a:lnTo>
                  <a:lnTo>
                    <a:pt x="233" y="779"/>
                  </a:lnTo>
                  <a:lnTo>
                    <a:pt x="242" y="779"/>
                  </a:lnTo>
                  <a:lnTo>
                    <a:pt x="251" y="770"/>
                  </a:lnTo>
                  <a:lnTo>
                    <a:pt x="260" y="761"/>
                  </a:lnTo>
                  <a:lnTo>
                    <a:pt x="269" y="752"/>
                  </a:lnTo>
                  <a:lnTo>
                    <a:pt x="278" y="752"/>
                  </a:lnTo>
                  <a:lnTo>
                    <a:pt x="287" y="743"/>
                  </a:lnTo>
                  <a:lnTo>
                    <a:pt x="296" y="734"/>
                  </a:lnTo>
                  <a:lnTo>
                    <a:pt x="305" y="734"/>
                  </a:lnTo>
                  <a:lnTo>
                    <a:pt x="314" y="725"/>
                  </a:lnTo>
                  <a:lnTo>
                    <a:pt x="323" y="716"/>
                  </a:lnTo>
                  <a:lnTo>
                    <a:pt x="332" y="707"/>
                  </a:lnTo>
                  <a:lnTo>
                    <a:pt x="341" y="707"/>
                  </a:lnTo>
                  <a:lnTo>
                    <a:pt x="350" y="698"/>
                  </a:lnTo>
                  <a:lnTo>
                    <a:pt x="359" y="689"/>
                  </a:lnTo>
                  <a:lnTo>
                    <a:pt x="368" y="680"/>
                  </a:lnTo>
                  <a:lnTo>
                    <a:pt x="377" y="680"/>
                  </a:lnTo>
                  <a:lnTo>
                    <a:pt x="386" y="671"/>
                  </a:lnTo>
                  <a:lnTo>
                    <a:pt x="394" y="662"/>
                  </a:lnTo>
                  <a:lnTo>
                    <a:pt x="403" y="654"/>
                  </a:lnTo>
                  <a:lnTo>
                    <a:pt x="412" y="645"/>
                  </a:lnTo>
                  <a:lnTo>
                    <a:pt x="421" y="636"/>
                  </a:lnTo>
                  <a:lnTo>
                    <a:pt x="430" y="636"/>
                  </a:lnTo>
                  <a:lnTo>
                    <a:pt x="439" y="627"/>
                  </a:lnTo>
                  <a:lnTo>
                    <a:pt x="448" y="618"/>
                  </a:lnTo>
                  <a:lnTo>
                    <a:pt x="457" y="609"/>
                  </a:lnTo>
                  <a:lnTo>
                    <a:pt x="466" y="600"/>
                  </a:lnTo>
                  <a:lnTo>
                    <a:pt x="475" y="591"/>
                  </a:lnTo>
                  <a:lnTo>
                    <a:pt x="484" y="582"/>
                  </a:lnTo>
                  <a:lnTo>
                    <a:pt x="493" y="582"/>
                  </a:lnTo>
                  <a:lnTo>
                    <a:pt x="502" y="573"/>
                  </a:lnTo>
                  <a:lnTo>
                    <a:pt x="511" y="564"/>
                  </a:lnTo>
                  <a:lnTo>
                    <a:pt x="520" y="555"/>
                  </a:lnTo>
                  <a:lnTo>
                    <a:pt x="529" y="546"/>
                  </a:lnTo>
                  <a:lnTo>
                    <a:pt x="538" y="537"/>
                  </a:lnTo>
                  <a:lnTo>
                    <a:pt x="547" y="528"/>
                  </a:lnTo>
                  <a:lnTo>
                    <a:pt x="556" y="519"/>
                  </a:lnTo>
                  <a:lnTo>
                    <a:pt x="565" y="519"/>
                  </a:lnTo>
                  <a:lnTo>
                    <a:pt x="574" y="510"/>
                  </a:lnTo>
                  <a:lnTo>
                    <a:pt x="583" y="501"/>
                  </a:lnTo>
                  <a:lnTo>
                    <a:pt x="592" y="492"/>
                  </a:lnTo>
                  <a:lnTo>
                    <a:pt x="600" y="483"/>
                  </a:lnTo>
                  <a:lnTo>
                    <a:pt x="609" y="474"/>
                  </a:lnTo>
                  <a:lnTo>
                    <a:pt x="618" y="465"/>
                  </a:lnTo>
                  <a:lnTo>
                    <a:pt x="627" y="456"/>
                  </a:lnTo>
                  <a:lnTo>
                    <a:pt x="636" y="447"/>
                  </a:lnTo>
                  <a:lnTo>
                    <a:pt x="645" y="438"/>
                  </a:lnTo>
                  <a:lnTo>
                    <a:pt x="654" y="430"/>
                  </a:lnTo>
                  <a:lnTo>
                    <a:pt x="663" y="430"/>
                  </a:lnTo>
                  <a:lnTo>
                    <a:pt x="681" y="412"/>
                  </a:lnTo>
                  <a:lnTo>
                    <a:pt x="672" y="412"/>
                  </a:lnTo>
                  <a:lnTo>
                    <a:pt x="681" y="412"/>
                  </a:lnTo>
                  <a:lnTo>
                    <a:pt x="690" y="403"/>
                  </a:lnTo>
                  <a:lnTo>
                    <a:pt x="699" y="394"/>
                  </a:lnTo>
                  <a:lnTo>
                    <a:pt x="708" y="385"/>
                  </a:lnTo>
                  <a:lnTo>
                    <a:pt x="717" y="376"/>
                  </a:lnTo>
                  <a:lnTo>
                    <a:pt x="726" y="367"/>
                  </a:lnTo>
                  <a:lnTo>
                    <a:pt x="735" y="358"/>
                  </a:lnTo>
                  <a:lnTo>
                    <a:pt x="744" y="349"/>
                  </a:lnTo>
                  <a:lnTo>
                    <a:pt x="753" y="340"/>
                  </a:lnTo>
                  <a:lnTo>
                    <a:pt x="762" y="331"/>
                  </a:lnTo>
                  <a:lnTo>
                    <a:pt x="771" y="322"/>
                  </a:lnTo>
                  <a:lnTo>
                    <a:pt x="780" y="313"/>
                  </a:lnTo>
                  <a:lnTo>
                    <a:pt x="789" y="313"/>
                  </a:lnTo>
                  <a:lnTo>
                    <a:pt x="798" y="304"/>
                  </a:lnTo>
                  <a:lnTo>
                    <a:pt x="815" y="286"/>
                  </a:lnTo>
                  <a:lnTo>
                    <a:pt x="806" y="286"/>
                  </a:lnTo>
                  <a:lnTo>
                    <a:pt x="815" y="286"/>
                  </a:lnTo>
                  <a:lnTo>
                    <a:pt x="824" y="277"/>
                  </a:lnTo>
                  <a:lnTo>
                    <a:pt x="833" y="268"/>
                  </a:lnTo>
                  <a:lnTo>
                    <a:pt x="842" y="259"/>
                  </a:lnTo>
                  <a:lnTo>
                    <a:pt x="851" y="250"/>
                  </a:lnTo>
                  <a:lnTo>
                    <a:pt x="860" y="241"/>
                  </a:lnTo>
                  <a:lnTo>
                    <a:pt x="869" y="232"/>
                  </a:lnTo>
                  <a:lnTo>
                    <a:pt x="878" y="223"/>
                  </a:lnTo>
                  <a:lnTo>
                    <a:pt x="887" y="215"/>
                  </a:lnTo>
                  <a:lnTo>
                    <a:pt x="896" y="206"/>
                  </a:lnTo>
                  <a:lnTo>
                    <a:pt x="905" y="197"/>
                  </a:lnTo>
                  <a:lnTo>
                    <a:pt x="914" y="188"/>
                  </a:lnTo>
                  <a:lnTo>
                    <a:pt x="923" y="179"/>
                  </a:lnTo>
                  <a:lnTo>
                    <a:pt x="932" y="170"/>
                  </a:lnTo>
                  <a:lnTo>
                    <a:pt x="941" y="161"/>
                  </a:lnTo>
                  <a:lnTo>
                    <a:pt x="950" y="152"/>
                  </a:lnTo>
                  <a:lnTo>
                    <a:pt x="959" y="143"/>
                  </a:lnTo>
                  <a:lnTo>
                    <a:pt x="968" y="134"/>
                  </a:lnTo>
                  <a:lnTo>
                    <a:pt x="977" y="134"/>
                  </a:lnTo>
                  <a:lnTo>
                    <a:pt x="986" y="125"/>
                  </a:lnTo>
                  <a:lnTo>
                    <a:pt x="995" y="116"/>
                  </a:lnTo>
                  <a:lnTo>
                    <a:pt x="1004" y="107"/>
                  </a:lnTo>
                  <a:lnTo>
                    <a:pt x="1012" y="98"/>
                  </a:lnTo>
                  <a:lnTo>
                    <a:pt x="1021" y="89"/>
                  </a:lnTo>
                  <a:lnTo>
                    <a:pt x="1030" y="80"/>
                  </a:lnTo>
                  <a:lnTo>
                    <a:pt x="1039" y="71"/>
                  </a:lnTo>
                  <a:lnTo>
                    <a:pt x="1048" y="62"/>
                  </a:lnTo>
                  <a:lnTo>
                    <a:pt x="1057" y="53"/>
                  </a:lnTo>
                  <a:lnTo>
                    <a:pt x="1066" y="44"/>
                  </a:lnTo>
                  <a:lnTo>
                    <a:pt x="1075" y="35"/>
                  </a:lnTo>
                  <a:lnTo>
                    <a:pt x="1084" y="26"/>
                  </a:lnTo>
                  <a:lnTo>
                    <a:pt x="1093" y="17"/>
                  </a:lnTo>
                  <a:lnTo>
                    <a:pt x="1102" y="8"/>
                  </a:lnTo>
                  <a:lnTo>
                    <a:pt x="1111" y="0"/>
                  </a:lnTo>
                </a:path>
              </a:pathLst>
            </a:custGeom>
            <a:noFill/>
            <a:ln w="28575" cap="flat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58">
              <a:extLst>
                <a:ext uri="{FF2B5EF4-FFF2-40B4-BE49-F238E27FC236}">
                  <a16:creationId xmlns:a16="http://schemas.microsoft.com/office/drawing/2014/main" id="{C6A206F1-751B-45F5-9341-07273E021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1953"/>
              <a:ext cx="1120" cy="1076"/>
            </a:xfrm>
            <a:custGeom>
              <a:avLst/>
              <a:gdLst/>
              <a:ahLst/>
              <a:cxnLst>
                <a:cxn ang="0">
                  <a:pos x="18" y="1058"/>
                </a:cxn>
                <a:cxn ang="0">
                  <a:pos x="45" y="1031"/>
                </a:cxn>
                <a:cxn ang="0">
                  <a:pos x="72" y="1013"/>
                </a:cxn>
                <a:cxn ang="0">
                  <a:pos x="99" y="986"/>
                </a:cxn>
                <a:cxn ang="0">
                  <a:pos x="125" y="959"/>
                </a:cxn>
                <a:cxn ang="0">
                  <a:pos x="152" y="932"/>
                </a:cxn>
                <a:cxn ang="0">
                  <a:pos x="179" y="905"/>
                </a:cxn>
                <a:cxn ang="0">
                  <a:pos x="206" y="878"/>
                </a:cxn>
                <a:cxn ang="0">
                  <a:pos x="233" y="852"/>
                </a:cxn>
                <a:cxn ang="0">
                  <a:pos x="260" y="825"/>
                </a:cxn>
                <a:cxn ang="0">
                  <a:pos x="287" y="798"/>
                </a:cxn>
                <a:cxn ang="0">
                  <a:pos x="314" y="771"/>
                </a:cxn>
                <a:cxn ang="0">
                  <a:pos x="340" y="753"/>
                </a:cxn>
                <a:cxn ang="0">
                  <a:pos x="367" y="726"/>
                </a:cxn>
                <a:cxn ang="0">
                  <a:pos x="394" y="699"/>
                </a:cxn>
                <a:cxn ang="0">
                  <a:pos x="421" y="672"/>
                </a:cxn>
                <a:cxn ang="0">
                  <a:pos x="448" y="645"/>
                </a:cxn>
                <a:cxn ang="0">
                  <a:pos x="475" y="619"/>
                </a:cxn>
                <a:cxn ang="0">
                  <a:pos x="502" y="592"/>
                </a:cxn>
                <a:cxn ang="0">
                  <a:pos x="528" y="565"/>
                </a:cxn>
                <a:cxn ang="0">
                  <a:pos x="555" y="538"/>
                </a:cxn>
                <a:cxn ang="0">
                  <a:pos x="591" y="511"/>
                </a:cxn>
                <a:cxn ang="0">
                  <a:pos x="600" y="502"/>
                </a:cxn>
                <a:cxn ang="0">
                  <a:pos x="627" y="475"/>
                </a:cxn>
                <a:cxn ang="0">
                  <a:pos x="654" y="448"/>
                </a:cxn>
                <a:cxn ang="0">
                  <a:pos x="681" y="421"/>
                </a:cxn>
                <a:cxn ang="0">
                  <a:pos x="708" y="395"/>
                </a:cxn>
                <a:cxn ang="0">
                  <a:pos x="734" y="368"/>
                </a:cxn>
                <a:cxn ang="0">
                  <a:pos x="761" y="341"/>
                </a:cxn>
                <a:cxn ang="0">
                  <a:pos x="788" y="314"/>
                </a:cxn>
                <a:cxn ang="0">
                  <a:pos x="815" y="287"/>
                </a:cxn>
                <a:cxn ang="0">
                  <a:pos x="842" y="269"/>
                </a:cxn>
                <a:cxn ang="0">
                  <a:pos x="860" y="251"/>
                </a:cxn>
                <a:cxn ang="0">
                  <a:pos x="887" y="224"/>
                </a:cxn>
                <a:cxn ang="0">
                  <a:pos x="914" y="198"/>
                </a:cxn>
                <a:cxn ang="0">
                  <a:pos x="940" y="171"/>
                </a:cxn>
                <a:cxn ang="0">
                  <a:pos x="967" y="144"/>
                </a:cxn>
                <a:cxn ang="0">
                  <a:pos x="994" y="117"/>
                </a:cxn>
                <a:cxn ang="0">
                  <a:pos x="1021" y="90"/>
                </a:cxn>
                <a:cxn ang="0">
                  <a:pos x="1048" y="63"/>
                </a:cxn>
                <a:cxn ang="0">
                  <a:pos x="1075" y="36"/>
                </a:cxn>
                <a:cxn ang="0">
                  <a:pos x="1102" y="18"/>
                </a:cxn>
              </a:cxnLst>
              <a:rect l="0" t="0" r="r" b="b"/>
              <a:pathLst>
                <a:path w="1120" h="1076">
                  <a:moveTo>
                    <a:pt x="0" y="1076"/>
                  </a:moveTo>
                  <a:lnTo>
                    <a:pt x="9" y="1067"/>
                  </a:lnTo>
                  <a:lnTo>
                    <a:pt x="18" y="1058"/>
                  </a:lnTo>
                  <a:lnTo>
                    <a:pt x="27" y="1049"/>
                  </a:lnTo>
                  <a:lnTo>
                    <a:pt x="36" y="1040"/>
                  </a:lnTo>
                  <a:lnTo>
                    <a:pt x="45" y="1031"/>
                  </a:lnTo>
                  <a:lnTo>
                    <a:pt x="54" y="1022"/>
                  </a:lnTo>
                  <a:lnTo>
                    <a:pt x="63" y="1013"/>
                  </a:lnTo>
                  <a:lnTo>
                    <a:pt x="72" y="1013"/>
                  </a:lnTo>
                  <a:lnTo>
                    <a:pt x="81" y="1004"/>
                  </a:lnTo>
                  <a:lnTo>
                    <a:pt x="90" y="995"/>
                  </a:lnTo>
                  <a:lnTo>
                    <a:pt x="99" y="986"/>
                  </a:lnTo>
                  <a:lnTo>
                    <a:pt x="108" y="977"/>
                  </a:lnTo>
                  <a:lnTo>
                    <a:pt x="116" y="968"/>
                  </a:lnTo>
                  <a:lnTo>
                    <a:pt x="125" y="959"/>
                  </a:lnTo>
                  <a:lnTo>
                    <a:pt x="134" y="950"/>
                  </a:lnTo>
                  <a:lnTo>
                    <a:pt x="143" y="941"/>
                  </a:lnTo>
                  <a:lnTo>
                    <a:pt x="152" y="932"/>
                  </a:lnTo>
                  <a:lnTo>
                    <a:pt x="161" y="923"/>
                  </a:lnTo>
                  <a:lnTo>
                    <a:pt x="170" y="914"/>
                  </a:lnTo>
                  <a:lnTo>
                    <a:pt x="179" y="905"/>
                  </a:lnTo>
                  <a:lnTo>
                    <a:pt x="188" y="896"/>
                  </a:lnTo>
                  <a:lnTo>
                    <a:pt x="197" y="887"/>
                  </a:lnTo>
                  <a:lnTo>
                    <a:pt x="206" y="878"/>
                  </a:lnTo>
                  <a:lnTo>
                    <a:pt x="215" y="869"/>
                  </a:lnTo>
                  <a:lnTo>
                    <a:pt x="224" y="860"/>
                  </a:lnTo>
                  <a:lnTo>
                    <a:pt x="233" y="852"/>
                  </a:lnTo>
                  <a:lnTo>
                    <a:pt x="242" y="843"/>
                  </a:lnTo>
                  <a:lnTo>
                    <a:pt x="251" y="834"/>
                  </a:lnTo>
                  <a:lnTo>
                    <a:pt x="260" y="825"/>
                  </a:lnTo>
                  <a:lnTo>
                    <a:pt x="269" y="816"/>
                  </a:lnTo>
                  <a:lnTo>
                    <a:pt x="278" y="807"/>
                  </a:lnTo>
                  <a:lnTo>
                    <a:pt x="287" y="798"/>
                  </a:lnTo>
                  <a:lnTo>
                    <a:pt x="296" y="789"/>
                  </a:lnTo>
                  <a:lnTo>
                    <a:pt x="305" y="780"/>
                  </a:lnTo>
                  <a:lnTo>
                    <a:pt x="314" y="771"/>
                  </a:lnTo>
                  <a:lnTo>
                    <a:pt x="322" y="762"/>
                  </a:lnTo>
                  <a:lnTo>
                    <a:pt x="331" y="762"/>
                  </a:lnTo>
                  <a:lnTo>
                    <a:pt x="340" y="753"/>
                  </a:lnTo>
                  <a:lnTo>
                    <a:pt x="349" y="744"/>
                  </a:lnTo>
                  <a:lnTo>
                    <a:pt x="358" y="735"/>
                  </a:lnTo>
                  <a:lnTo>
                    <a:pt x="367" y="726"/>
                  </a:lnTo>
                  <a:lnTo>
                    <a:pt x="376" y="717"/>
                  </a:lnTo>
                  <a:lnTo>
                    <a:pt x="385" y="708"/>
                  </a:lnTo>
                  <a:lnTo>
                    <a:pt x="394" y="699"/>
                  </a:lnTo>
                  <a:lnTo>
                    <a:pt x="403" y="690"/>
                  </a:lnTo>
                  <a:lnTo>
                    <a:pt x="412" y="681"/>
                  </a:lnTo>
                  <a:lnTo>
                    <a:pt x="421" y="672"/>
                  </a:lnTo>
                  <a:lnTo>
                    <a:pt x="430" y="663"/>
                  </a:lnTo>
                  <a:lnTo>
                    <a:pt x="439" y="654"/>
                  </a:lnTo>
                  <a:lnTo>
                    <a:pt x="448" y="645"/>
                  </a:lnTo>
                  <a:lnTo>
                    <a:pt x="457" y="637"/>
                  </a:lnTo>
                  <a:lnTo>
                    <a:pt x="466" y="628"/>
                  </a:lnTo>
                  <a:lnTo>
                    <a:pt x="475" y="619"/>
                  </a:lnTo>
                  <a:lnTo>
                    <a:pt x="484" y="610"/>
                  </a:lnTo>
                  <a:lnTo>
                    <a:pt x="493" y="601"/>
                  </a:lnTo>
                  <a:lnTo>
                    <a:pt x="502" y="592"/>
                  </a:lnTo>
                  <a:lnTo>
                    <a:pt x="511" y="583"/>
                  </a:lnTo>
                  <a:lnTo>
                    <a:pt x="520" y="574"/>
                  </a:lnTo>
                  <a:lnTo>
                    <a:pt x="528" y="565"/>
                  </a:lnTo>
                  <a:lnTo>
                    <a:pt x="537" y="556"/>
                  </a:lnTo>
                  <a:lnTo>
                    <a:pt x="546" y="547"/>
                  </a:lnTo>
                  <a:lnTo>
                    <a:pt x="555" y="538"/>
                  </a:lnTo>
                  <a:lnTo>
                    <a:pt x="564" y="538"/>
                  </a:lnTo>
                  <a:lnTo>
                    <a:pt x="573" y="529"/>
                  </a:lnTo>
                  <a:lnTo>
                    <a:pt x="591" y="511"/>
                  </a:lnTo>
                  <a:lnTo>
                    <a:pt x="582" y="511"/>
                  </a:lnTo>
                  <a:lnTo>
                    <a:pt x="591" y="511"/>
                  </a:lnTo>
                  <a:lnTo>
                    <a:pt x="600" y="502"/>
                  </a:lnTo>
                  <a:lnTo>
                    <a:pt x="609" y="493"/>
                  </a:lnTo>
                  <a:lnTo>
                    <a:pt x="618" y="484"/>
                  </a:lnTo>
                  <a:lnTo>
                    <a:pt x="627" y="475"/>
                  </a:lnTo>
                  <a:lnTo>
                    <a:pt x="636" y="466"/>
                  </a:lnTo>
                  <a:lnTo>
                    <a:pt x="645" y="457"/>
                  </a:lnTo>
                  <a:lnTo>
                    <a:pt x="654" y="448"/>
                  </a:lnTo>
                  <a:lnTo>
                    <a:pt x="663" y="439"/>
                  </a:lnTo>
                  <a:lnTo>
                    <a:pt x="672" y="430"/>
                  </a:lnTo>
                  <a:lnTo>
                    <a:pt x="681" y="421"/>
                  </a:lnTo>
                  <a:lnTo>
                    <a:pt x="690" y="413"/>
                  </a:lnTo>
                  <a:lnTo>
                    <a:pt x="699" y="404"/>
                  </a:lnTo>
                  <a:lnTo>
                    <a:pt x="708" y="395"/>
                  </a:lnTo>
                  <a:lnTo>
                    <a:pt x="717" y="386"/>
                  </a:lnTo>
                  <a:lnTo>
                    <a:pt x="726" y="377"/>
                  </a:lnTo>
                  <a:lnTo>
                    <a:pt x="734" y="368"/>
                  </a:lnTo>
                  <a:lnTo>
                    <a:pt x="743" y="359"/>
                  </a:lnTo>
                  <a:lnTo>
                    <a:pt x="752" y="350"/>
                  </a:lnTo>
                  <a:lnTo>
                    <a:pt x="761" y="341"/>
                  </a:lnTo>
                  <a:lnTo>
                    <a:pt x="770" y="332"/>
                  </a:lnTo>
                  <a:lnTo>
                    <a:pt x="779" y="323"/>
                  </a:lnTo>
                  <a:lnTo>
                    <a:pt x="788" y="314"/>
                  </a:lnTo>
                  <a:lnTo>
                    <a:pt x="797" y="305"/>
                  </a:lnTo>
                  <a:lnTo>
                    <a:pt x="806" y="296"/>
                  </a:lnTo>
                  <a:lnTo>
                    <a:pt x="815" y="287"/>
                  </a:lnTo>
                  <a:lnTo>
                    <a:pt x="824" y="287"/>
                  </a:lnTo>
                  <a:lnTo>
                    <a:pt x="833" y="278"/>
                  </a:lnTo>
                  <a:lnTo>
                    <a:pt x="842" y="269"/>
                  </a:lnTo>
                  <a:lnTo>
                    <a:pt x="860" y="251"/>
                  </a:lnTo>
                  <a:lnTo>
                    <a:pt x="851" y="251"/>
                  </a:lnTo>
                  <a:lnTo>
                    <a:pt x="860" y="251"/>
                  </a:lnTo>
                  <a:lnTo>
                    <a:pt x="869" y="242"/>
                  </a:lnTo>
                  <a:lnTo>
                    <a:pt x="878" y="233"/>
                  </a:lnTo>
                  <a:lnTo>
                    <a:pt x="887" y="224"/>
                  </a:lnTo>
                  <a:lnTo>
                    <a:pt x="896" y="215"/>
                  </a:lnTo>
                  <a:lnTo>
                    <a:pt x="905" y="206"/>
                  </a:lnTo>
                  <a:lnTo>
                    <a:pt x="914" y="198"/>
                  </a:lnTo>
                  <a:lnTo>
                    <a:pt x="923" y="189"/>
                  </a:lnTo>
                  <a:lnTo>
                    <a:pt x="932" y="180"/>
                  </a:lnTo>
                  <a:lnTo>
                    <a:pt x="940" y="171"/>
                  </a:lnTo>
                  <a:lnTo>
                    <a:pt x="949" y="162"/>
                  </a:lnTo>
                  <a:lnTo>
                    <a:pt x="958" y="153"/>
                  </a:lnTo>
                  <a:lnTo>
                    <a:pt x="967" y="144"/>
                  </a:lnTo>
                  <a:lnTo>
                    <a:pt x="976" y="135"/>
                  </a:lnTo>
                  <a:lnTo>
                    <a:pt x="985" y="126"/>
                  </a:lnTo>
                  <a:lnTo>
                    <a:pt x="994" y="117"/>
                  </a:lnTo>
                  <a:lnTo>
                    <a:pt x="1003" y="108"/>
                  </a:lnTo>
                  <a:lnTo>
                    <a:pt x="1012" y="99"/>
                  </a:lnTo>
                  <a:lnTo>
                    <a:pt x="1021" y="90"/>
                  </a:lnTo>
                  <a:lnTo>
                    <a:pt x="1030" y="81"/>
                  </a:lnTo>
                  <a:lnTo>
                    <a:pt x="1039" y="72"/>
                  </a:lnTo>
                  <a:lnTo>
                    <a:pt x="1048" y="63"/>
                  </a:lnTo>
                  <a:lnTo>
                    <a:pt x="1057" y="54"/>
                  </a:lnTo>
                  <a:lnTo>
                    <a:pt x="1066" y="45"/>
                  </a:lnTo>
                  <a:lnTo>
                    <a:pt x="1075" y="36"/>
                  </a:lnTo>
                  <a:lnTo>
                    <a:pt x="1084" y="27"/>
                  </a:lnTo>
                  <a:lnTo>
                    <a:pt x="1093" y="27"/>
                  </a:lnTo>
                  <a:lnTo>
                    <a:pt x="1102" y="18"/>
                  </a:lnTo>
                  <a:lnTo>
                    <a:pt x="1111" y="9"/>
                  </a:lnTo>
                  <a:lnTo>
                    <a:pt x="1120" y="0"/>
                  </a:lnTo>
                </a:path>
              </a:pathLst>
            </a:custGeom>
            <a:noFill/>
            <a:ln w="28575" cap="flat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Freeform 59">
              <a:extLst>
                <a:ext uri="{FF2B5EF4-FFF2-40B4-BE49-F238E27FC236}">
                  <a16:creationId xmlns:a16="http://schemas.microsoft.com/office/drawing/2014/main" id="{3A2B5C0F-05BE-46AD-B141-890D1882D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8" y="1604"/>
              <a:ext cx="367" cy="349"/>
            </a:xfrm>
            <a:custGeom>
              <a:avLst/>
              <a:gdLst/>
              <a:ahLst/>
              <a:cxnLst>
                <a:cxn ang="0">
                  <a:pos x="0" y="349"/>
                </a:cxn>
                <a:cxn ang="0">
                  <a:pos x="9" y="340"/>
                </a:cxn>
                <a:cxn ang="0">
                  <a:pos x="18" y="332"/>
                </a:cxn>
                <a:cxn ang="0">
                  <a:pos x="26" y="323"/>
                </a:cxn>
                <a:cxn ang="0">
                  <a:pos x="35" y="314"/>
                </a:cxn>
                <a:cxn ang="0">
                  <a:pos x="44" y="305"/>
                </a:cxn>
                <a:cxn ang="0">
                  <a:pos x="53" y="296"/>
                </a:cxn>
                <a:cxn ang="0">
                  <a:pos x="62" y="287"/>
                </a:cxn>
                <a:cxn ang="0">
                  <a:pos x="71" y="278"/>
                </a:cxn>
                <a:cxn ang="0">
                  <a:pos x="80" y="269"/>
                </a:cxn>
                <a:cxn ang="0">
                  <a:pos x="89" y="260"/>
                </a:cxn>
                <a:cxn ang="0">
                  <a:pos x="98" y="251"/>
                </a:cxn>
                <a:cxn ang="0">
                  <a:pos x="107" y="242"/>
                </a:cxn>
                <a:cxn ang="0">
                  <a:pos x="116" y="233"/>
                </a:cxn>
                <a:cxn ang="0">
                  <a:pos x="125" y="224"/>
                </a:cxn>
                <a:cxn ang="0">
                  <a:pos x="134" y="215"/>
                </a:cxn>
                <a:cxn ang="0">
                  <a:pos x="143" y="206"/>
                </a:cxn>
                <a:cxn ang="0">
                  <a:pos x="152" y="197"/>
                </a:cxn>
                <a:cxn ang="0">
                  <a:pos x="161" y="188"/>
                </a:cxn>
                <a:cxn ang="0">
                  <a:pos x="170" y="179"/>
                </a:cxn>
                <a:cxn ang="0">
                  <a:pos x="179" y="170"/>
                </a:cxn>
                <a:cxn ang="0">
                  <a:pos x="188" y="161"/>
                </a:cxn>
                <a:cxn ang="0">
                  <a:pos x="197" y="152"/>
                </a:cxn>
                <a:cxn ang="0">
                  <a:pos x="206" y="143"/>
                </a:cxn>
                <a:cxn ang="0">
                  <a:pos x="215" y="134"/>
                </a:cxn>
                <a:cxn ang="0">
                  <a:pos x="224" y="125"/>
                </a:cxn>
                <a:cxn ang="0">
                  <a:pos x="233" y="125"/>
                </a:cxn>
                <a:cxn ang="0">
                  <a:pos x="241" y="116"/>
                </a:cxn>
                <a:cxn ang="0">
                  <a:pos x="250" y="108"/>
                </a:cxn>
                <a:cxn ang="0">
                  <a:pos x="259" y="99"/>
                </a:cxn>
                <a:cxn ang="0">
                  <a:pos x="268" y="90"/>
                </a:cxn>
                <a:cxn ang="0">
                  <a:pos x="277" y="81"/>
                </a:cxn>
                <a:cxn ang="0">
                  <a:pos x="286" y="72"/>
                </a:cxn>
                <a:cxn ang="0">
                  <a:pos x="295" y="63"/>
                </a:cxn>
                <a:cxn ang="0">
                  <a:pos x="304" y="54"/>
                </a:cxn>
                <a:cxn ang="0">
                  <a:pos x="313" y="45"/>
                </a:cxn>
                <a:cxn ang="0">
                  <a:pos x="322" y="36"/>
                </a:cxn>
                <a:cxn ang="0">
                  <a:pos x="331" y="27"/>
                </a:cxn>
                <a:cxn ang="0">
                  <a:pos x="340" y="18"/>
                </a:cxn>
                <a:cxn ang="0">
                  <a:pos x="349" y="9"/>
                </a:cxn>
                <a:cxn ang="0">
                  <a:pos x="358" y="0"/>
                </a:cxn>
                <a:cxn ang="0">
                  <a:pos x="367" y="0"/>
                </a:cxn>
              </a:cxnLst>
              <a:rect l="0" t="0" r="r" b="b"/>
              <a:pathLst>
                <a:path w="367" h="349">
                  <a:moveTo>
                    <a:pt x="0" y="349"/>
                  </a:moveTo>
                  <a:lnTo>
                    <a:pt x="9" y="340"/>
                  </a:lnTo>
                  <a:lnTo>
                    <a:pt x="18" y="332"/>
                  </a:lnTo>
                  <a:lnTo>
                    <a:pt x="26" y="323"/>
                  </a:lnTo>
                  <a:lnTo>
                    <a:pt x="35" y="314"/>
                  </a:lnTo>
                  <a:lnTo>
                    <a:pt x="44" y="305"/>
                  </a:lnTo>
                  <a:lnTo>
                    <a:pt x="53" y="296"/>
                  </a:lnTo>
                  <a:lnTo>
                    <a:pt x="62" y="287"/>
                  </a:lnTo>
                  <a:lnTo>
                    <a:pt x="71" y="278"/>
                  </a:lnTo>
                  <a:lnTo>
                    <a:pt x="80" y="269"/>
                  </a:lnTo>
                  <a:lnTo>
                    <a:pt x="89" y="260"/>
                  </a:lnTo>
                  <a:lnTo>
                    <a:pt x="98" y="251"/>
                  </a:lnTo>
                  <a:lnTo>
                    <a:pt x="107" y="242"/>
                  </a:lnTo>
                  <a:lnTo>
                    <a:pt x="116" y="233"/>
                  </a:lnTo>
                  <a:lnTo>
                    <a:pt x="125" y="224"/>
                  </a:lnTo>
                  <a:lnTo>
                    <a:pt x="134" y="215"/>
                  </a:lnTo>
                  <a:lnTo>
                    <a:pt x="143" y="206"/>
                  </a:lnTo>
                  <a:lnTo>
                    <a:pt x="152" y="197"/>
                  </a:lnTo>
                  <a:lnTo>
                    <a:pt x="161" y="188"/>
                  </a:lnTo>
                  <a:lnTo>
                    <a:pt x="170" y="179"/>
                  </a:lnTo>
                  <a:lnTo>
                    <a:pt x="179" y="170"/>
                  </a:lnTo>
                  <a:lnTo>
                    <a:pt x="188" y="161"/>
                  </a:lnTo>
                  <a:lnTo>
                    <a:pt x="197" y="152"/>
                  </a:lnTo>
                  <a:lnTo>
                    <a:pt x="206" y="143"/>
                  </a:lnTo>
                  <a:lnTo>
                    <a:pt x="215" y="134"/>
                  </a:lnTo>
                  <a:lnTo>
                    <a:pt x="224" y="125"/>
                  </a:lnTo>
                  <a:lnTo>
                    <a:pt x="233" y="125"/>
                  </a:lnTo>
                  <a:lnTo>
                    <a:pt x="241" y="116"/>
                  </a:lnTo>
                  <a:lnTo>
                    <a:pt x="250" y="108"/>
                  </a:lnTo>
                  <a:lnTo>
                    <a:pt x="259" y="99"/>
                  </a:lnTo>
                  <a:lnTo>
                    <a:pt x="268" y="90"/>
                  </a:lnTo>
                  <a:lnTo>
                    <a:pt x="277" y="81"/>
                  </a:lnTo>
                  <a:lnTo>
                    <a:pt x="286" y="72"/>
                  </a:lnTo>
                  <a:lnTo>
                    <a:pt x="295" y="63"/>
                  </a:lnTo>
                  <a:lnTo>
                    <a:pt x="304" y="54"/>
                  </a:lnTo>
                  <a:lnTo>
                    <a:pt x="313" y="45"/>
                  </a:lnTo>
                  <a:lnTo>
                    <a:pt x="322" y="36"/>
                  </a:lnTo>
                  <a:lnTo>
                    <a:pt x="331" y="27"/>
                  </a:lnTo>
                  <a:lnTo>
                    <a:pt x="340" y="18"/>
                  </a:lnTo>
                  <a:lnTo>
                    <a:pt x="349" y="9"/>
                  </a:lnTo>
                  <a:lnTo>
                    <a:pt x="358" y="0"/>
                  </a:lnTo>
                  <a:lnTo>
                    <a:pt x="367" y="0"/>
                  </a:lnTo>
                </a:path>
              </a:pathLst>
            </a:custGeom>
            <a:noFill/>
            <a:ln w="28575" cap="flat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Rectangle 60">
              <a:extLst>
                <a:ext uri="{FF2B5EF4-FFF2-40B4-BE49-F238E27FC236}">
                  <a16:creationId xmlns:a16="http://schemas.microsoft.com/office/drawing/2014/main" id="{3122C9B3-ABA7-45FE-9A04-A0794E2CF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" y="4086"/>
              <a:ext cx="31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Time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Rectangle 61">
              <a:extLst>
                <a:ext uri="{FF2B5EF4-FFF2-40B4-BE49-F238E27FC236}">
                  <a16:creationId xmlns:a16="http://schemas.microsoft.com/office/drawing/2014/main" id="{4C093B2E-BAC2-4292-8004-B3C30DA73E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1058" y="2656"/>
              <a:ext cx="224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c(t)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4" name="Rectangle 62">
              <a:extLst>
                <a:ext uri="{FF2B5EF4-FFF2-40B4-BE49-F238E27FC236}">
                  <a16:creationId xmlns:a16="http://schemas.microsoft.com/office/drawing/2014/main" id="{10574EC1-A5D7-445C-8856-FCFBCCFC0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3" y="1398"/>
              <a:ext cx="1164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Unit Ramp Response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5" name="Rectangle 63">
              <a:extLst>
                <a:ext uri="{FF2B5EF4-FFF2-40B4-BE49-F238E27FC236}">
                  <a16:creationId xmlns:a16="http://schemas.microsoft.com/office/drawing/2014/main" id="{667557A2-1E4D-4AB5-9969-64A04A83B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" y="3844"/>
              <a:ext cx="90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6" name="Rectangle 64">
              <a:extLst>
                <a:ext uri="{FF2B5EF4-FFF2-40B4-BE49-F238E27FC236}">
                  <a16:creationId xmlns:a16="http://schemas.microsoft.com/office/drawing/2014/main" id="{ECEE1464-F438-4386-B537-D042798A4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0" y="1532"/>
              <a:ext cx="90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" name="Rectangle 65">
              <a:extLst>
                <a:ext uri="{FF2B5EF4-FFF2-40B4-BE49-F238E27FC236}">
                  <a16:creationId xmlns:a16="http://schemas.microsoft.com/office/drawing/2014/main" id="{2C5D8D41-C8D4-419D-AF2D-AD38B72E7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1774"/>
              <a:ext cx="1379" cy="377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Rectangle 66">
              <a:extLst>
                <a:ext uri="{FF2B5EF4-FFF2-40B4-BE49-F238E27FC236}">
                  <a16:creationId xmlns:a16="http://schemas.microsoft.com/office/drawing/2014/main" id="{8DF0A912-33F2-409B-9AFC-B05EBB4EF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1" y="1774"/>
              <a:ext cx="1379" cy="377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Line 67">
              <a:extLst>
                <a:ext uri="{FF2B5EF4-FFF2-40B4-BE49-F238E27FC236}">
                  <a16:creationId xmlns:a16="http://schemas.microsoft.com/office/drawing/2014/main" id="{FC517B35-1F2A-4556-A6F8-4429F96B5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" y="1774"/>
              <a:ext cx="13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0" name="Line 68">
              <a:extLst>
                <a:ext uri="{FF2B5EF4-FFF2-40B4-BE49-F238E27FC236}">
                  <a16:creationId xmlns:a16="http://schemas.microsoft.com/office/drawing/2014/main" id="{156D6745-818E-4048-8A0E-76974D498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" y="2151"/>
              <a:ext cx="13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1" name="Line 69">
              <a:extLst>
                <a:ext uri="{FF2B5EF4-FFF2-40B4-BE49-F238E27FC236}">
                  <a16:creationId xmlns:a16="http://schemas.microsoft.com/office/drawing/2014/main" id="{541A49A3-C067-4C26-8336-48249501DA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0" y="1774"/>
              <a:ext cx="1" cy="3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2" name="Line 70">
              <a:extLst>
                <a:ext uri="{FF2B5EF4-FFF2-40B4-BE49-F238E27FC236}">
                  <a16:creationId xmlns:a16="http://schemas.microsoft.com/office/drawing/2014/main" id="{AE234732-AB84-469F-9FFF-5CD5D66EE1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" y="1774"/>
              <a:ext cx="1" cy="3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3" name="Line 71">
              <a:extLst>
                <a:ext uri="{FF2B5EF4-FFF2-40B4-BE49-F238E27FC236}">
                  <a16:creationId xmlns:a16="http://schemas.microsoft.com/office/drawing/2014/main" id="{6296D243-D466-45AE-B5FF-A4CD88299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" y="2151"/>
              <a:ext cx="13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4" name="Line 72">
              <a:extLst>
                <a:ext uri="{FF2B5EF4-FFF2-40B4-BE49-F238E27FC236}">
                  <a16:creationId xmlns:a16="http://schemas.microsoft.com/office/drawing/2014/main" id="{7361A23E-A004-44D0-B72F-107B14EAF9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" y="1774"/>
              <a:ext cx="1" cy="3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5" name="Line 73">
              <a:extLst>
                <a:ext uri="{FF2B5EF4-FFF2-40B4-BE49-F238E27FC236}">
                  <a16:creationId xmlns:a16="http://schemas.microsoft.com/office/drawing/2014/main" id="{D37DC4CC-2EF6-4140-8C57-204706BA2E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" y="1774"/>
              <a:ext cx="13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6" name="Line 74">
              <a:extLst>
                <a:ext uri="{FF2B5EF4-FFF2-40B4-BE49-F238E27FC236}">
                  <a16:creationId xmlns:a16="http://schemas.microsoft.com/office/drawing/2014/main" id="{9D180E8A-9F05-4557-88DC-A7700584CA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1" y="2151"/>
              <a:ext cx="13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7" name="Line 75">
              <a:extLst>
                <a:ext uri="{FF2B5EF4-FFF2-40B4-BE49-F238E27FC236}">
                  <a16:creationId xmlns:a16="http://schemas.microsoft.com/office/drawing/2014/main" id="{7DEE14F9-1D45-4042-9FC5-9211D6E7C2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0" y="1774"/>
              <a:ext cx="1" cy="3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8" name="Line 76">
              <a:extLst>
                <a:ext uri="{FF2B5EF4-FFF2-40B4-BE49-F238E27FC236}">
                  <a16:creationId xmlns:a16="http://schemas.microsoft.com/office/drawing/2014/main" id="{C5EC9B29-8D4C-4838-AFB1-626E8D6881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1" y="1774"/>
              <a:ext cx="1" cy="37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9" name="Rectangle 77">
              <a:extLst>
                <a:ext uri="{FF2B5EF4-FFF2-40B4-BE49-F238E27FC236}">
                  <a16:creationId xmlns:a16="http://schemas.microsoft.com/office/drawing/2014/main" id="{6E6DA4A9-9EF0-418C-84FF-F3588FEAE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" y="1810"/>
              <a:ext cx="574" cy="1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Unit Ramp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0" name="Line 78">
              <a:extLst>
                <a:ext uri="{FF2B5EF4-FFF2-40B4-BE49-F238E27FC236}">
                  <a16:creationId xmlns:a16="http://schemas.microsoft.com/office/drawing/2014/main" id="{BB50FF9C-ECA8-454D-B476-63EC61618A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2" y="1873"/>
              <a:ext cx="359" cy="1"/>
            </a:xfrm>
            <a:prstGeom prst="line">
              <a:avLst/>
            </a:prstGeom>
            <a:noFill/>
            <a:ln w="28575" cap="flat">
              <a:solidFill>
                <a:srgbClr val="0000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1" name="Rectangle 79">
              <a:extLst>
                <a:ext uri="{FF2B5EF4-FFF2-40B4-BE49-F238E27FC236}">
                  <a16:creationId xmlns:a16="http://schemas.microsoft.com/office/drawing/2014/main" id="{5A999FDD-0574-4DAE-B586-494F9D3EE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" y="1980"/>
              <a:ext cx="92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Ramp Response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" name="Line 80">
              <a:extLst>
                <a:ext uri="{FF2B5EF4-FFF2-40B4-BE49-F238E27FC236}">
                  <a16:creationId xmlns:a16="http://schemas.microsoft.com/office/drawing/2014/main" id="{9C423C96-1FFB-42AF-ABA7-F76C61116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2" y="2043"/>
              <a:ext cx="359" cy="1"/>
            </a:xfrm>
            <a:prstGeom prst="line">
              <a:avLst/>
            </a:prstGeom>
            <a:noFill/>
            <a:ln w="28575" cap="flat">
              <a:solidFill>
                <a:srgbClr val="007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aphicFrame>
        <p:nvGraphicFramePr>
          <p:cNvPr id="93" name="Object 24">
            <a:extLst>
              <a:ext uri="{FF2B5EF4-FFF2-40B4-BE49-F238E27FC236}">
                <a16:creationId xmlns:a16="http://schemas.microsoft.com/office/drawing/2014/main" id="{02B41477-12D6-40DA-87D3-7CA75E8E00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025450"/>
              </p:ext>
            </p:extLst>
          </p:nvPr>
        </p:nvGraphicFramePr>
        <p:xfrm>
          <a:off x="2176727" y="6203156"/>
          <a:ext cx="44767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640" imgH="228600" progId="Equation.3">
                  <p:embed/>
                </p:oleObj>
              </mc:Choice>
              <mc:Fallback>
                <p:oleObj name="Equation" r:id="rId4" imgW="1790640" imgH="228600" progId="Equation.3">
                  <p:embed/>
                  <p:pic>
                    <p:nvPicPr>
                      <p:cNvPr id="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727" y="6203156"/>
                        <a:ext cx="447675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" name="Group 93">
            <a:extLst>
              <a:ext uri="{FF2B5EF4-FFF2-40B4-BE49-F238E27FC236}">
                <a16:creationId xmlns:a16="http://schemas.microsoft.com/office/drawing/2014/main" id="{FC886E6B-8623-4437-9FE5-2000E8229B31}"/>
              </a:ext>
            </a:extLst>
          </p:cNvPr>
          <p:cNvGrpSpPr/>
          <p:nvPr/>
        </p:nvGrpSpPr>
        <p:grpSpPr>
          <a:xfrm>
            <a:off x="4087466" y="3693892"/>
            <a:ext cx="1090690" cy="2016224"/>
            <a:chOff x="4355976" y="4193792"/>
            <a:chExt cx="1090690" cy="2016224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2517B787-DFF8-45A2-87E1-280288220D39}"/>
                </a:ext>
              </a:extLst>
            </p:cNvPr>
            <p:cNvGrpSpPr/>
            <p:nvPr/>
          </p:nvGrpSpPr>
          <p:grpSpPr>
            <a:xfrm>
              <a:off x="4355976" y="4221088"/>
              <a:ext cx="1090690" cy="1034820"/>
              <a:chOff x="4355976" y="4221088"/>
              <a:chExt cx="1090690" cy="1034820"/>
            </a:xfrm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8974F641-8418-4947-99DE-4BC10CE0F3FB}"/>
                  </a:ext>
                </a:extLst>
              </p:cNvPr>
              <p:cNvCxnSpPr/>
              <p:nvPr/>
            </p:nvCxnSpPr>
            <p:spPr>
              <a:xfrm flipH="1">
                <a:off x="4355976" y="4221088"/>
                <a:ext cx="360040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7F82DBF6-E1E7-4298-9538-131004FEE4D9}"/>
                  </a:ext>
                </a:extLst>
              </p:cNvPr>
              <p:cNvCxnSpPr/>
              <p:nvPr/>
            </p:nvCxnSpPr>
            <p:spPr>
              <a:xfrm flipH="1" flipV="1">
                <a:off x="4788024" y="4365104"/>
                <a:ext cx="216024" cy="57606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0479570-BD41-4FF3-BEBF-638DA96F5849}"/>
                  </a:ext>
                </a:extLst>
              </p:cNvPr>
              <p:cNvSpPr txBox="1"/>
              <p:nvPr/>
            </p:nvSpPr>
            <p:spPr>
              <a:xfrm>
                <a:off x="4788024" y="4886576"/>
                <a:ext cx="658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error</a:t>
                </a:r>
              </a:p>
            </p:txBody>
          </p:sp>
        </p:grp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68EC2B7-4D62-4C17-B953-38173BFB9C06}"/>
                </a:ext>
              </a:extLst>
            </p:cNvPr>
            <p:cNvCxnSpPr/>
            <p:nvPr/>
          </p:nvCxnSpPr>
          <p:spPr>
            <a:xfrm>
              <a:off x="4355976" y="4193792"/>
              <a:ext cx="0" cy="20162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C881D27-336E-4DDA-9FBE-EB9E3FB4535B}"/>
                </a:ext>
              </a:extLst>
            </p:cNvPr>
            <p:cNvCxnSpPr/>
            <p:nvPr/>
          </p:nvCxnSpPr>
          <p:spPr>
            <a:xfrm>
              <a:off x="4725896" y="4221088"/>
              <a:ext cx="0" cy="198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494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/>
          <p:cNvSpPr txBox="1">
            <a:spLocks/>
          </p:cNvSpPr>
          <p:nvPr/>
        </p:nvSpPr>
        <p:spPr>
          <a:xfrm>
            <a:off x="343915" y="1128018"/>
            <a:ext cx="8568952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K=1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T=</a:t>
            </a:r>
            <a:r>
              <a:rPr lang="en-GB" sz="2000" dirty="0">
                <a:solidFill>
                  <a:srgbClr val="FF0000"/>
                </a:solidFill>
                <a:latin typeface="+mn-lt"/>
                <a:ea typeface="+mn-ea"/>
              </a:rPr>
              <a:t>3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then using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5D1AD39-E724-4600-A6CB-10F40EF512D7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Ramp Response of First Order 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5FB086-AB29-4079-8438-1BD4C6AED959}"/>
              </a:ext>
            </a:extLst>
          </p:cNvPr>
          <p:cNvSpPr/>
          <p:nvPr/>
        </p:nvSpPr>
        <p:spPr>
          <a:xfrm>
            <a:off x="353504" y="645597"/>
            <a:ext cx="8109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Example. </a:t>
            </a:r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1A36C962-3109-4206-9B75-574E9E626C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3321" y="1045707"/>
          <a:ext cx="31115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060" imgH="215806" progId="Equation.3">
                  <p:embed/>
                </p:oleObj>
              </mc:Choice>
              <mc:Fallback>
                <p:oleObj name="Equation" r:id="rId2" imgW="1244060" imgH="215806" progId="Equation.3">
                  <p:embed/>
                  <p:pic>
                    <p:nvPicPr>
                      <p:cNvPr id="21" name="Object 8">
                        <a:extLst>
                          <a:ext uri="{FF2B5EF4-FFF2-40B4-BE49-F238E27FC236}">
                            <a16:creationId xmlns:a16="http://schemas.microsoft.com/office/drawing/2014/main" id="{1A36C962-3109-4206-9B75-574E9E626C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3321" y="1045707"/>
                        <a:ext cx="31115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ct 24">
            <a:extLst>
              <a:ext uri="{FF2B5EF4-FFF2-40B4-BE49-F238E27FC236}">
                <a16:creationId xmlns:a16="http://schemas.microsoft.com/office/drawing/2014/main" id="{02B41477-12D6-40DA-87D3-7CA75E8E00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6727" y="6203156"/>
          <a:ext cx="44767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640" imgH="228600" progId="Equation.3">
                  <p:embed/>
                </p:oleObj>
              </mc:Choice>
              <mc:Fallback>
                <p:oleObj name="Equation" r:id="rId4" imgW="1790640" imgH="228600" progId="Equation.3">
                  <p:embed/>
                  <p:pic>
                    <p:nvPicPr>
                      <p:cNvPr id="93" name="Object 24">
                        <a:extLst>
                          <a:ext uri="{FF2B5EF4-FFF2-40B4-BE49-F238E27FC236}">
                            <a16:creationId xmlns:a16="http://schemas.microsoft.com/office/drawing/2014/main" id="{02B41477-12D6-40DA-87D3-7CA75E8E00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6727" y="6203156"/>
                        <a:ext cx="447675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A5CB25AA-F62B-427A-BBBD-C2207D499B79}"/>
              </a:ext>
            </a:extLst>
          </p:cNvPr>
          <p:cNvGrpSpPr/>
          <p:nvPr/>
        </p:nvGrpSpPr>
        <p:grpSpPr>
          <a:xfrm>
            <a:off x="1194509" y="1784128"/>
            <a:ext cx="6343650" cy="4324350"/>
            <a:chOff x="1194509" y="1784128"/>
            <a:chExt cx="6343650" cy="4324350"/>
          </a:xfrm>
        </p:grpSpPr>
        <p:grpSp>
          <p:nvGrpSpPr>
            <p:cNvPr id="101" name="Group 6">
              <a:extLst>
                <a:ext uri="{FF2B5EF4-FFF2-40B4-BE49-F238E27FC236}">
                  <a16:creationId xmlns:a16="http://schemas.microsoft.com/office/drawing/2014/main" id="{ECD34620-7477-4462-B270-8E1E11D3E5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94509" y="1784128"/>
              <a:ext cx="6343650" cy="4324350"/>
              <a:chOff x="930" y="1250"/>
              <a:chExt cx="3996" cy="2724"/>
            </a:xfrm>
          </p:grpSpPr>
          <p:sp>
            <p:nvSpPr>
              <p:cNvPr id="102" name="AutoShape 5">
                <a:extLst>
                  <a:ext uri="{FF2B5EF4-FFF2-40B4-BE49-F238E27FC236}">
                    <a16:creationId xmlns:a16="http://schemas.microsoft.com/office/drawing/2014/main" id="{3B78DE38-D7CC-41CD-AF9E-783FD53E0819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930" y="1250"/>
                <a:ext cx="3996" cy="27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3" name="Rectangle 7">
                <a:extLst>
                  <a:ext uri="{FF2B5EF4-FFF2-40B4-BE49-F238E27FC236}">
                    <a16:creationId xmlns:a16="http://schemas.microsoft.com/office/drawing/2014/main" id="{7249689A-73F2-4936-AD9A-AC084144F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1" y="1455"/>
                <a:ext cx="3099" cy="2194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4" name="Rectangle 8">
                <a:extLst>
                  <a:ext uri="{FF2B5EF4-FFF2-40B4-BE49-F238E27FC236}">
                    <a16:creationId xmlns:a16="http://schemas.microsoft.com/office/drawing/2014/main" id="{708DE091-5948-4FCB-8F94-CE25C3CEAA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1" y="1455"/>
                <a:ext cx="3099" cy="2194"/>
              </a:xfrm>
              <a:prstGeom prst="rect">
                <a:avLst/>
              </a:prstGeom>
              <a:noFill/>
              <a:ln w="0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5" name="Line 9">
                <a:extLst>
                  <a:ext uri="{FF2B5EF4-FFF2-40B4-BE49-F238E27FC236}">
                    <a16:creationId xmlns:a16="http://schemas.microsoft.com/office/drawing/2014/main" id="{4395651A-A38D-4BCA-B40A-9E211FB861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1455"/>
                <a:ext cx="309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6" name="Line 10">
                <a:extLst>
                  <a:ext uri="{FF2B5EF4-FFF2-40B4-BE49-F238E27FC236}">
                    <a16:creationId xmlns:a16="http://schemas.microsoft.com/office/drawing/2014/main" id="{ADD584BE-5010-4F3A-A2D3-6404317D1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3649"/>
                <a:ext cx="309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7" name="Line 11">
                <a:extLst>
                  <a:ext uri="{FF2B5EF4-FFF2-40B4-BE49-F238E27FC236}">
                    <a16:creationId xmlns:a16="http://schemas.microsoft.com/office/drawing/2014/main" id="{E9637297-AD7F-4C71-86E8-46ABF03C7B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50" y="1455"/>
                <a:ext cx="1" cy="219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8" name="Line 12">
                <a:extLst>
                  <a:ext uri="{FF2B5EF4-FFF2-40B4-BE49-F238E27FC236}">
                    <a16:creationId xmlns:a16="http://schemas.microsoft.com/office/drawing/2014/main" id="{8CA27E03-58EC-46AE-AFF1-EC51F90B4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1" y="1455"/>
                <a:ext cx="1" cy="219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9" name="Line 13">
                <a:extLst>
                  <a:ext uri="{FF2B5EF4-FFF2-40B4-BE49-F238E27FC236}">
                    <a16:creationId xmlns:a16="http://schemas.microsoft.com/office/drawing/2014/main" id="{D2EE9EA9-C5C0-4F8F-B921-56721F114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3649"/>
                <a:ext cx="309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0" name="Line 14">
                <a:extLst>
                  <a:ext uri="{FF2B5EF4-FFF2-40B4-BE49-F238E27FC236}">
                    <a16:creationId xmlns:a16="http://schemas.microsoft.com/office/drawing/2014/main" id="{BA55D52B-1C14-4A9F-BA8B-FAE1DCF5C2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1" y="1455"/>
                <a:ext cx="1" cy="219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1" name="Line 15">
                <a:extLst>
                  <a:ext uri="{FF2B5EF4-FFF2-40B4-BE49-F238E27FC236}">
                    <a16:creationId xmlns:a16="http://schemas.microsoft.com/office/drawing/2014/main" id="{FA41E95B-1A5C-4019-A4A0-B22F8CFB1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1" y="3615"/>
                <a:ext cx="1" cy="3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2" name="Line 16">
                <a:extLst>
                  <a:ext uri="{FF2B5EF4-FFF2-40B4-BE49-F238E27FC236}">
                    <a16:creationId xmlns:a16="http://schemas.microsoft.com/office/drawing/2014/main" id="{BDFFDAB4-1978-45C6-AFD9-ADC98765DA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1455"/>
                <a:ext cx="1" cy="2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3" name="Rectangle 17">
                <a:extLst>
                  <a:ext uri="{FF2B5EF4-FFF2-40B4-BE49-F238E27FC236}">
                    <a16:creationId xmlns:a16="http://schemas.microsoft.com/office/drawing/2014/main" id="{51076C7B-AB4C-4954-B9A5-0AD720114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5" y="3675"/>
                <a:ext cx="111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Helvetica" charset="0"/>
                  </a:rPr>
                  <a:t>0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14" name="Line 18">
                <a:extLst>
                  <a:ext uri="{FF2B5EF4-FFF2-40B4-BE49-F238E27FC236}">
                    <a16:creationId xmlns:a16="http://schemas.microsoft.com/office/drawing/2014/main" id="{2FA8A83F-BC8F-450B-B0E8-FF264D633D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4" y="3615"/>
                <a:ext cx="1" cy="3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5" name="Line 19">
                <a:extLst>
                  <a:ext uri="{FF2B5EF4-FFF2-40B4-BE49-F238E27FC236}">
                    <a16:creationId xmlns:a16="http://schemas.microsoft.com/office/drawing/2014/main" id="{F64EA766-D6DF-4B6D-AE4A-E244A69E4C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84" y="1455"/>
                <a:ext cx="1" cy="2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6" name="Rectangle 20">
                <a:extLst>
                  <a:ext uri="{FF2B5EF4-FFF2-40B4-BE49-F238E27FC236}">
                    <a16:creationId xmlns:a16="http://schemas.microsoft.com/office/drawing/2014/main" id="{B4217202-DC73-408A-B6B0-58C601A9D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8" y="3675"/>
                <a:ext cx="111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5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17" name="Line 21">
                <a:extLst>
                  <a:ext uri="{FF2B5EF4-FFF2-40B4-BE49-F238E27FC236}">
                    <a16:creationId xmlns:a16="http://schemas.microsoft.com/office/drawing/2014/main" id="{5BCF3B42-768A-42A1-A26E-386D60C32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7" y="3615"/>
                <a:ext cx="1" cy="3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8" name="Line 22">
                <a:extLst>
                  <a:ext uri="{FF2B5EF4-FFF2-40B4-BE49-F238E27FC236}">
                    <a16:creationId xmlns:a16="http://schemas.microsoft.com/office/drawing/2014/main" id="{1AFFCF64-F00C-4325-B0E6-AED1B9926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7" y="1455"/>
                <a:ext cx="1" cy="2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9" name="Rectangle 23">
                <a:extLst>
                  <a:ext uri="{FF2B5EF4-FFF2-40B4-BE49-F238E27FC236}">
                    <a16:creationId xmlns:a16="http://schemas.microsoft.com/office/drawing/2014/main" id="{63AD9227-AEDD-414B-B982-7C01FC9B21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7" y="3675"/>
                <a:ext cx="179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10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0" name="Line 24">
                <a:extLst>
                  <a:ext uri="{FF2B5EF4-FFF2-40B4-BE49-F238E27FC236}">
                    <a16:creationId xmlns:a16="http://schemas.microsoft.com/office/drawing/2014/main" id="{AF7762D6-9FFB-492C-A715-F76F0478E6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50" y="3615"/>
                <a:ext cx="1" cy="3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1" name="Line 25">
                <a:extLst>
                  <a:ext uri="{FF2B5EF4-FFF2-40B4-BE49-F238E27FC236}">
                    <a16:creationId xmlns:a16="http://schemas.microsoft.com/office/drawing/2014/main" id="{4A869A5B-7796-46A9-ABFC-9CC4E63056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0" y="1455"/>
                <a:ext cx="1" cy="2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2" name="Rectangle 26">
                <a:extLst>
                  <a:ext uri="{FF2B5EF4-FFF2-40B4-BE49-F238E27FC236}">
                    <a16:creationId xmlns:a16="http://schemas.microsoft.com/office/drawing/2014/main" id="{59458315-9916-40B2-A937-E107F9FD7D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0" y="3675"/>
                <a:ext cx="179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15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3" name="Line 27">
                <a:extLst>
                  <a:ext uri="{FF2B5EF4-FFF2-40B4-BE49-F238E27FC236}">
                    <a16:creationId xmlns:a16="http://schemas.microsoft.com/office/drawing/2014/main" id="{B75A0C21-5DAA-41D8-9B21-11D029A370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3649"/>
                <a:ext cx="2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4" name="Line 28">
                <a:extLst>
                  <a:ext uri="{FF2B5EF4-FFF2-40B4-BE49-F238E27FC236}">
                    <a16:creationId xmlns:a16="http://schemas.microsoft.com/office/drawing/2014/main" id="{574824D5-B048-49E3-8B40-95197B29C0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6" y="3649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5" name="Rectangle 29">
                <a:extLst>
                  <a:ext uri="{FF2B5EF4-FFF2-40B4-BE49-F238E27FC236}">
                    <a16:creationId xmlns:a16="http://schemas.microsoft.com/office/drawing/2014/main" id="{55271C60-4C03-4728-91B4-11FDE60894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7" y="3581"/>
                <a:ext cx="111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0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6" name="Line 30">
                <a:extLst>
                  <a:ext uri="{FF2B5EF4-FFF2-40B4-BE49-F238E27FC236}">
                    <a16:creationId xmlns:a16="http://schemas.microsoft.com/office/drawing/2014/main" id="{6683C4A2-277A-444A-A73F-14FA40B522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3248"/>
                <a:ext cx="2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7" name="Line 31">
                <a:extLst>
                  <a:ext uri="{FF2B5EF4-FFF2-40B4-BE49-F238E27FC236}">
                    <a16:creationId xmlns:a16="http://schemas.microsoft.com/office/drawing/2014/main" id="{8A05CC15-BB80-4350-A307-EBC8C7EB7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6" y="3248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8" name="Rectangle 32">
                <a:extLst>
                  <a:ext uri="{FF2B5EF4-FFF2-40B4-BE49-F238E27FC236}">
                    <a16:creationId xmlns:a16="http://schemas.microsoft.com/office/drawing/2014/main" id="{E7A7BBA0-0A9A-4781-8ED6-2E3A8E6BB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7" y="3180"/>
                <a:ext cx="111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2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29" name="Line 33">
                <a:extLst>
                  <a:ext uri="{FF2B5EF4-FFF2-40B4-BE49-F238E27FC236}">
                    <a16:creationId xmlns:a16="http://schemas.microsoft.com/office/drawing/2014/main" id="{E225DA72-9778-42EA-A8E1-EAEE2CE116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2847"/>
                <a:ext cx="2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0" name="Line 34">
                <a:extLst>
                  <a:ext uri="{FF2B5EF4-FFF2-40B4-BE49-F238E27FC236}">
                    <a16:creationId xmlns:a16="http://schemas.microsoft.com/office/drawing/2014/main" id="{3F9734C4-28CD-4F83-855C-34C66A3D44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6" y="2847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1" name="Rectangle 35">
                <a:extLst>
                  <a:ext uri="{FF2B5EF4-FFF2-40B4-BE49-F238E27FC236}">
                    <a16:creationId xmlns:a16="http://schemas.microsoft.com/office/drawing/2014/main" id="{E54A24DB-B9B5-4CF8-A90E-23886C918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7" y="2778"/>
                <a:ext cx="111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4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32" name="Line 36">
                <a:extLst>
                  <a:ext uri="{FF2B5EF4-FFF2-40B4-BE49-F238E27FC236}">
                    <a16:creationId xmlns:a16="http://schemas.microsoft.com/office/drawing/2014/main" id="{38ABFD80-F81A-473E-B8B6-2A45D2B007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2445"/>
                <a:ext cx="2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3" name="Line 37">
                <a:extLst>
                  <a:ext uri="{FF2B5EF4-FFF2-40B4-BE49-F238E27FC236}">
                    <a16:creationId xmlns:a16="http://schemas.microsoft.com/office/drawing/2014/main" id="{5AB616B9-386D-4020-8032-BC84F3937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6" y="2445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4" name="Rectangle 38">
                <a:extLst>
                  <a:ext uri="{FF2B5EF4-FFF2-40B4-BE49-F238E27FC236}">
                    <a16:creationId xmlns:a16="http://schemas.microsoft.com/office/drawing/2014/main" id="{A997348E-9EE6-48DA-B524-0CFC39994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7" y="2377"/>
                <a:ext cx="111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6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35" name="Line 39">
                <a:extLst>
                  <a:ext uri="{FF2B5EF4-FFF2-40B4-BE49-F238E27FC236}">
                    <a16:creationId xmlns:a16="http://schemas.microsoft.com/office/drawing/2014/main" id="{1EB56D6F-BEF0-4360-B036-18E873E4C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2053"/>
                <a:ext cx="2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6" name="Line 40">
                <a:extLst>
                  <a:ext uri="{FF2B5EF4-FFF2-40B4-BE49-F238E27FC236}">
                    <a16:creationId xmlns:a16="http://schemas.microsoft.com/office/drawing/2014/main" id="{BBE7285B-D264-4C88-82C6-4D5531904F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6" y="2053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7" name="Rectangle 41">
                <a:extLst>
                  <a:ext uri="{FF2B5EF4-FFF2-40B4-BE49-F238E27FC236}">
                    <a16:creationId xmlns:a16="http://schemas.microsoft.com/office/drawing/2014/main" id="{A16B103E-C05F-487C-9B94-B1DA043DC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7" y="1984"/>
                <a:ext cx="111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8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38" name="Line 42">
                <a:extLst>
                  <a:ext uri="{FF2B5EF4-FFF2-40B4-BE49-F238E27FC236}">
                    <a16:creationId xmlns:a16="http://schemas.microsoft.com/office/drawing/2014/main" id="{AD3C2332-0999-478B-8F8E-379CB41C04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1651"/>
                <a:ext cx="2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9" name="Line 43">
                <a:extLst>
                  <a:ext uri="{FF2B5EF4-FFF2-40B4-BE49-F238E27FC236}">
                    <a16:creationId xmlns:a16="http://schemas.microsoft.com/office/drawing/2014/main" id="{ADE91D39-E74B-48E8-A0A0-DC59FF74D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6" y="1651"/>
                <a:ext cx="3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0" name="Rectangle 44">
                <a:extLst>
                  <a:ext uri="{FF2B5EF4-FFF2-40B4-BE49-F238E27FC236}">
                    <a16:creationId xmlns:a16="http://schemas.microsoft.com/office/drawing/2014/main" id="{659F64E7-7288-4D39-9324-D3030D576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7" y="1583"/>
                <a:ext cx="179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10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41" name="Line 45">
                <a:extLst>
                  <a:ext uri="{FF2B5EF4-FFF2-40B4-BE49-F238E27FC236}">
                    <a16:creationId xmlns:a16="http://schemas.microsoft.com/office/drawing/2014/main" id="{9028D656-AF36-4531-A972-66753BA64C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1455"/>
                <a:ext cx="309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2" name="Line 46">
                <a:extLst>
                  <a:ext uri="{FF2B5EF4-FFF2-40B4-BE49-F238E27FC236}">
                    <a16:creationId xmlns:a16="http://schemas.microsoft.com/office/drawing/2014/main" id="{1E6F65AB-C771-4349-8D87-E8D91813C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3649"/>
                <a:ext cx="3099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3" name="Line 47">
                <a:extLst>
                  <a:ext uri="{FF2B5EF4-FFF2-40B4-BE49-F238E27FC236}">
                    <a16:creationId xmlns:a16="http://schemas.microsoft.com/office/drawing/2014/main" id="{6C0AD3D0-8F40-4A85-AB32-A98D4AD9FD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50" y="1455"/>
                <a:ext cx="1" cy="219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4" name="Line 48">
                <a:extLst>
                  <a:ext uri="{FF2B5EF4-FFF2-40B4-BE49-F238E27FC236}">
                    <a16:creationId xmlns:a16="http://schemas.microsoft.com/office/drawing/2014/main" id="{EF5E7544-2627-4F9F-A223-FBA8960E54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1" y="1455"/>
                <a:ext cx="1" cy="219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5" name="Freeform 49">
                <a:extLst>
                  <a:ext uri="{FF2B5EF4-FFF2-40B4-BE49-F238E27FC236}">
                    <a16:creationId xmlns:a16="http://schemas.microsoft.com/office/drawing/2014/main" id="{A85F4414-72C6-4577-844A-ECAC2371E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1" y="2608"/>
                <a:ext cx="1067" cy="1041"/>
              </a:xfrm>
              <a:custGeom>
                <a:avLst/>
                <a:gdLst/>
                <a:ahLst/>
                <a:cxnLst>
                  <a:cxn ang="0">
                    <a:pos x="8" y="1024"/>
                  </a:cxn>
                  <a:cxn ang="0">
                    <a:pos x="34" y="999"/>
                  </a:cxn>
                  <a:cxn ang="0">
                    <a:pos x="60" y="973"/>
                  </a:cxn>
                  <a:cxn ang="0">
                    <a:pos x="85" y="948"/>
                  </a:cxn>
                  <a:cxn ang="0">
                    <a:pos x="111" y="922"/>
                  </a:cxn>
                  <a:cxn ang="0">
                    <a:pos x="136" y="896"/>
                  </a:cxn>
                  <a:cxn ang="0">
                    <a:pos x="162" y="871"/>
                  </a:cxn>
                  <a:cxn ang="0">
                    <a:pos x="188" y="845"/>
                  </a:cxn>
                  <a:cxn ang="0">
                    <a:pos x="213" y="828"/>
                  </a:cxn>
                  <a:cxn ang="0">
                    <a:pos x="239" y="802"/>
                  </a:cxn>
                  <a:cxn ang="0">
                    <a:pos x="265" y="777"/>
                  </a:cxn>
                  <a:cxn ang="0">
                    <a:pos x="290" y="751"/>
                  </a:cxn>
                  <a:cxn ang="0">
                    <a:pos x="316" y="726"/>
                  </a:cxn>
                  <a:cxn ang="0">
                    <a:pos x="341" y="700"/>
                  </a:cxn>
                  <a:cxn ang="0">
                    <a:pos x="367" y="674"/>
                  </a:cxn>
                  <a:cxn ang="0">
                    <a:pos x="393" y="649"/>
                  </a:cxn>
                  <a:cxn ang="0">
                    <a:pos x="418" y="623"/>
                  </a:cxn>
                  <a:cxn ang="0">
                    <a:pos x="452" y="597"/>
                  </a:cxn>
                  <a:cxn ang="0">
                    <a:pos x="469" y="580"/>
                  </a:cxn>
                  <a:cxn ang="0">
                    <a:pos x="495" y="555"/>
                  </a:cxn>
                  <a:cxn ang="0">
                    <a:pos x="521" y="529"/>
                  </a:cxn>
                  <a:cxn ang="0">
                    <a:pos x="546" y="504"/>
                  </a:cxn>
                  <a:cxn ang="0">
                    <a:pos x="572" y="478"/>
                  </a:cxn>
                  <a:cxn ang="0">
                    <a:pos x="597" y="452"/>
                  </a:cxn>
                  <a:cxn ang="0">
                    <a:pos x="623" y="427"/>
                  </a:cxn>
                  <a:cxn ang="0">
                    <a:pos x="649" y="401"/>
                  </a:cxn>
                  <a:cxn ang="0">
                    <a:pos x="674" y="375"/>
                  </a:cxn>
                  <a:cxn ang="0">
                    <a:pos x="700" y="358"/>
                  </a:cxn>
                  <a:cxn ang="0">
                    <a:pos x="726" y="333"/>
                  </a:cxn>
                  <a:cxn ang="0">
                    <a:pos x="751" y="307"/>
                  </a:cxn>
                  <a:cxn ang="0">
                    <a:pos x="777" y="281"/>
                  </a:cxn>
                  <a:cxn ang="0">
                    <a:pos x="802" y="256"/>
                  </a:cxn>
                  <a:cxn ang="0">
                    <a:pos x="828" y="230"/>
                  </a:cxn>
                  <a:cxn ang="0">
                    <a:pos x="854" y="205"/>
                  </a:cxn>
                  <a:cxn ang="0">
                    <a:pos x="879" y="179"/>
                  </a:cxn>
                  <a:cxn ang="0">
                    <a:pos x="905" y="153"/>
                  </a:cxn>
                  <a:cxn ang="0">
                    <a:pos x="930" y="128"/>
                  </a:cxn>
                  <a:cxn ang="0">
                    <a:pos x="956" y="111"/>
                  </a:cxn>
                  <a:cxn ang="0">
                    <a:pos x="973" y="94"/>
                  </a:cxn>
                  <a:cxn ang="0">
                    <a:pos x="999" y="68"/>
                  </a:cxn>
                  <a:cxn ang="0">
                    <a:pos x="1024" y="42"/>
                  </a:cxn>
                  <a:cxn ang="0">
                    <a:pos x="1050" y="17"/>
                  </a:cxn>
                </a:cxnLst>
                <a:rect l="0" t="0" r="r" b="b"/>
                <a:pathLst>
                  <a:path w="1067" h="1041">
                    <a:moveTo>
                      <a:pt x="0" y="1041"/>
                    </a:moveTo>
                    <a:lnTo>
                      <a:pt x="0" y="1033"/>
                    </a:lnTo>
                    <a:lnTo>
                      <a:pt x="8" y="1024"/>
                    </a:lnTo>
                    <a:lnTo>
                      <a:pt x="17" y="1016"/>
                    </a:lnTo>
                    <a:lnTo>
                      <a:pt x="25" y="1007"/>
                    </a:lnTo>
                    <a:lnTo>
                      <a:pt x="34" y="999"/>
                    </a:lnTo>
                    <a:lnTo>
                      <a:pt x="43" y="990"/>
                    </a:lnTo>
                    <a:lnTo>
                      <a:pt x="51" y="982"/>
                    </a:lnTo>
                    <a:lnTo>
                      <a:pt x="60" y="973"/>
                    </a:lnTo>
                    <a:lnTo>
                      <a:pt x="68" y="965"/>
                    </a:lnTo>
                    <a:lnTo>
                      <a:pt x="77" y="956"/>
                    </a:lnTo>
                    <a:lnTo>
                      <a:pt x="85" y="948"/>
                    </a:lnTo>
                    <a:lnTo>
                      <a:pt x="94" y="939"/>
                    </a:lnTo>
                    <a:lnTo>
                      <a:pt x="102" y="930"/>
                    </a:lnTo>
                    <a:lnTo>
                      <a:pt x="111" y="922"/>
                    </a:lnTo>
                    <a:lnTo>
                      <a:pt x="119" y="913"/>
                    </a:lnTo>
                    <a:lnTo>
                      <a:pt x="128" y="905"/>
                    </a:lnTo>
                    <a:lnTo>
                      <a:pt x="136" y="896"/>
                    </a:lnTo>
                    <a:lnTo>
                      <a:pt x="145" y="888"/>
                    </a:lnTo>
                    <a:lnTo>
                      <a:pt x="154" y="879"/>
                    </a:lnTo>
                    <a:lnTo>
                      <a:pt x="162" y="871"/>
                    </a:lnTo>
                    <a:lnTo>
                      <a:pt x="171" y="862"/>
                    </a:lnTo>
                    <a:lnTo>
                      <a:pt x="179" y="854"/>
                    </a:lnTo>
                    <a:lnTo>
                      <a:pt x="188" y="845"/>
                    </a:lnTo>
                    <a:lnTo>
                      <a:pt x="196" y="837"/>
                    </a:lnTo>
                    <a:lnTo>
                      <a:pt x="205" y="828"/>
                    </a:lnTo>
                    <a:lnTo>
                      <a:pt x="213" y="828"/>
                    </a:lnTo>
                    <a:lnTo>
                      <a:pt x="222" y="819"/>
                    </a:lnTo>
                    <a:lnTo>
                      <a:pt x="230" y="811"/>
                    </a:lnTo>
                    <a:lnTo>
                      <a:pt x="239" y="802"/>
                    </a:lnTo>
                    <a:lnTo>
                      <a:pt x="247" y="794"/>
                    </a:lnTo>
                    <a:lnTo>
                      <a:pt x="256" y="785"/>
                    </a:lnTo>
                    <a:lnTo>
                      <a:pt x="265" y="777"/>
                    </a:lnTo>
                    <a:lnTo>
                      <a:pt x="273" y="768"/>
                    </a:lnTo>
                    <a:lnTo>
                      <a:pt x="282" y="760"/>
                    </a:lnTo>
                    <a:lnTo>
                      <a:pt x="290" y="751"/>
                    </a:lnTo>
                    <a:lnTo>
                      <a:pt x="299" y="743"/>
                    </a:lnTo>
                    <a:lnTo>
                      <a:pt x="307" y="734"/>
                    </a:lnTo>
                    <a:lnTo>
                      <a:pt x="316" y="726"/>
                    </a:lnTo>
                    <a:lnTo>
                      <a:pt x="324" y="717"/>
                    </a:lnTo>
                    <a:lnTo>
                      <a:pt x="333" y="708"/>
                    </a:lnTo>
                    <a:lnTo>
                      <a:pt x="341" y="700"/>
                    </a:lnTo>
                    <a:lnTo>
                      <a:pt x="350" y="691"/>
                    </a:lnTo>
                    <a:lnTo>
                      <a:pt x="358" y="683"/>
                    </a:lnTo>
                    <a:lnTo>
                      <a:pt x="367" y="674"/>
                    </a:lnTo>
                    <a:lnTo>
                      <a:pt x="375" y="666"/>
                    </a:lnTo>
                    <a:lnTo>
                      <a:pt x="384" y="657"/>
                    </a:lnTo>
                    <a:lnTo>
                      <a:pt x="393" y="649"/>
                    </a:lnTo>
                    <a:lnTo>
                      <a:pt x="401" y="640"/>
                    </a:lnTo>
                    <a:lnTo>
                      <a:pt x="410" y="632"/>
                    </a:lnTo>
                    <a:lnTo>
                      <a:pt x="418" y="623"/>
                    </a:lnTo>
                    <a:lnTo>
                      <a:pt x="427" y="615"/>
                    </a:lnTo>
                    <a:lnTo>
                      <a:pt x="435" y="615"/>
                    </a:lnTo>
                    <a:lnTo>
                      <a:pt x="452" y="597"/>
                    </a:lnTo>
                    <a:lnTo>
                      <a:pt x="452" y="589"/>
                    </a:lnTo>
                    <a:lnTo>
                      <a:pt x="461" y="580"/>
                    </a:lnTo>
                    <a:lnTo>
                      <a:pt x="469" y="580"/>
                    </a:lnTo>
                    <a:lnTo>
                      <a:pt x="478" y="572"/>
                    </a:lnTo>
                    <a:lnTo>
                      <a:pt x="486" y="563"/>
                    </a:lnTo>
                    <a:lnTo>
                      <a:pt x="495" y="555"/>
                    </a:lnTo>
                    <a:lnTo>
                      <a:pt x="504" y="546"/>
                    </a:lnTo>
                    <a:lnTo>
                      <a:pt x="512" y="538"/>
                    </a:lnTo>
                    <a:lnTo>
                      <a:pt x="521" y="529"/>
                    </a:lnTo>
                    <a:lnTo>
                      <a:pt x="529" y="521"/>
                    </a:lnTo>
                    <a:lnTo>
                      <a:pt x="538" y="512"/>
                    </a:lnTo>
                    <a:lnTo>
                      <a:pt x="546" y="504"/>
                    </a:lnTo>
                    <a:lnTo>
                      <a:pt x="555" y="495"/>
                    </a:lnTo>
                    <a:lnTo>
                      <a:pt x="563" y="486"/>
                    </a:lnTo>
                    <a:lnTo>
                      <a:pt x="572" y="478"/>
                    </a:lnTo>
                    <a:lnTo>
                      <a:pt x="580" y="469"/>
                    </a:lnTo>
                    <a:lnTo>
                      <a:pt x="589" y="461"/>
                    </a:lnTo>
                    <a:lnTo>
                      <a:pt x="597" y="452"/>
                    </a:lnTo>
                    <a:lnTo>
                      <a:pt x="606" y="444"/>
                    </a:lnTo>
                    <a:lnTo>
                      <a:pt x="615" y="435"/>
                    </a:lnTo>
                    <a:lnTo>
                      <a:pt x="623" y="427"/>
                    </a:lnTo>
                    <a:lnTo>
                      <a:pt x="632" y="418"/>
                    </a:lnTo>
                    <a:lnTo>
                      <a:pt x="640" y="410"/>
                    </a:lnTo>
                    <a:lnTo>
                      <a:pt x="649" y="401"/>
                    </a:lnTo>
                    <a:lnTo>
                      <a:pt x="657" y="392"/>
                    </a:lnTo>
                    <a:lnTo>
                      <a:pt x="666" y="384"/>
                    </a:lnTo>
                    <a:lnTo>
                      <a:pt x="674" y="375"/>
                    </a:lnTo>
                    <a:lnTo>
                      <a:pt x="683" y="367"/>
                    </a:lnTo>
                    <a:lnTo>
                      <a:pt x="691" y="367"/>
                    </a:lnTo>
                    <a:lnTo>
                      <a:pt x="700" y="358"/>
                    </a:lnTo>
                    <a:lnTo>
                      <a:pt x="717" y="341"/>
                    </a:lnTo>
                    <a:lnTo>
                      <a:pt x="717" y="333"/>
                    </a:lnTo>
                    <a:lnTo>
                      <a:pt x="726" y="333"/>
                    </a:lnTo>
                    <a:lnTo>
                      <a:pt x="734" y="324"/>
                    </a:lnTo>
                    <a:lnTo>
                      <a:pt x="743" y="316"/>
                    </a:lnTo>
                    <a:lnTo>
                      <a:pt x="751" y="307"/>
                    </a:lnTo>
                    <a:lnTo>
                      <a:pt x="760" y="299"/>
                    </a:lnTo>
                    <a:lnTo>
                      <a:pt x="768" y="290"/>
                    </a:lnTo>
                    <a:lnTo>
                      <a:pt x="777" y="281"/>
                    </a:lnTo>
                    <a:lnTo>
                      <a:pt x="785" y="273"/>
                    </a:lnTo>
                    <a:lnTo>
                      <a:pt x="794" y="264"/>
                    </a:lnTo>
                    <a:lnTo>
                      <a:pt x="802" y="256"/>
                    </a:lnTo>
                    <a:lnTo>
                      <a:pt x="811" y="247"/>
                    </a:lnTo>
                    <a:lnTo>
                      <a:pt x="819" y="239"/>
                    </a:lnTo>
                    <a:lnTo>
                      <a:pt x="828" y="230"/>
                    </a:lnTo>
                    <a:lnTo>
                      <a:pt x="837" y="222"/>
                    </a:lnTo>
                    <a:lnTo>
                      <a:pt x="845" y="213"/>
                    </a:lnTo>
                    <a:lnTo>
                      <a:pt x="854" y="205"/>
                    </a:lnTo>
                    <a:lnTo>
                      <a:pt x="862" y="196"/>
                    </a:lnTo>
                    <a:lnTo>
                      <a:pt x="871" y="188"/>
                    </a:lnTo>
                    <a:lnTo>
                      <a:pt x="879" y="179"/>
                    </a:lnTo>
                    <a:lnTo>
                      <a:pt x="888" y="170"/>
                    </a:lnTo>
                    <a:lnTo>
                      <a:pt x="896" y="162"/>
                    </a:lnTo>
                    <a:lnTo>
                      <a:pt x="905" y="153"/>
                    </a:lnTo>
                    <a:lnTo>
                      <a:pt x="913" y="145"/>
                    </a:lnTo>
                    <a:lnTo>
                      <a:pt x="922" y="136"/>
                    </a:lnTo>
                    <a:lnTo>
                      <a:pt x="930" y="128"/>
                    </a:lnTo>
                    <a:lnTo>
                      <a:pt x="939" y="119"/>
                    </a:lnTo>
                    <a:lnTo>
                      <a:pt x="948" y="119"/>
                    </a:lnTo>
                    <a:lnTo>
                      <a:pt x="956" y="111"/>
                    </a:lnTo>
                    <a:lnTo>
                      <a:pt x="973" y="94"/>
                    </a:lnTo>
                    <a:lnTo>
                      <a:pt x="965" y="94"/>
                    </a:lnTo>
                    <a:lnTo>
                      <a:pt x="973" y="94"/>
                    </a:lnTo>
                    <a:lnTo>
                      <a:pt x="982" y="85"/>
                    </a:lnTo>
                    <a:lnTo>
                      <a:pt x="990" y="77"/>
                    </a:lnTo>
                    <a:lnTo>
                      <a:pt x="999" y="68"/>
                    </a:lnTo>
                    <a:lnTo>
                      <a:pt x="1007" y="59"/>
                    </a:lnTo>
                    <a:lnTo>
                      <a:pt x="1016" y="51"/>
                    </a:lnTo>
                    <a:lnTo>
                      <a:pt x="1024" y="42"/>
                    </a:lnTo>
                    <a:lnTo>
                      <a:pt x="1033" y="34"/>
                    </a:lnTo>
                    <a:lnTo>
                      <a:pt x="1041" y="25"/>
                    </a:lnTo>
                    <a:lnTo>
                      <a:pt x="1050" y="17"/>
                    </a:lnTo>
                    <a:lnTo>
                      <a:pt x="1059" y="8"/>
                    </a:lnTo>
                    <a:lnTo>
                      <a:pt x="1067" y="0"/>
                    </a:lnTo>
                  </a:path>
                </a:pathLst>
              </a:custGeom>
              <a:noFill/>
              <a:ln w="26988" cap="flat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6" name="Freeform 50">
                <a:extLst>
                  <a:ext uri="{FF2B5EF4-FFF2-40B4-BE49-F238E27FC236}">
                    <a16:creationId xmlns:a16="http://schemas.microsoft.com/office/drawing/2014/main" id="{3341237B-3189-4B2F-B586-770A6CD005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8" y="1566"/>
                <a:ext cx="1076" cy="1042"/>
              </a:xfrm>
              <a:custGeom>
                <a:avLst/>
                <a:gdLst/>
                <a:ahLst/>
                <a:cxnLst>
                  <a:cxn ang="0">
                    <a:pos x="17" y="1025"/>
                  </a:cxn>
                  <a:cxn ang="0">
                    <a:pos x="43" y="999"/>
                  </a:cxn>
                  <a:cxn ang="0">
                    <a:pos x="68" y="973"/>
                  </a:cxn>
                  <a:cxn ang="0">
                    <a:pos x="94" y="948"/>
                  </a:cxn>
                  <a:cxn ang="0">
                    <a:pos x="120" y="922"/>
                  </a:cxn>
                  <a:cxn ang="0">
                    <a:pos x="145" y="905"/>
                  </a:cxn>
                  <a:cxn ang="0">
                    <a:pos x="162" y="888"/>
                  </a:cxn>
                  <a:cxn ang="0">
                    <a:pos x="188" y="862"/>
                  </a:cxn>
                  <a:cxn ang="0">
                    <a:pos x="214" y="837"/>
                  </a:cxn>
                  <a:cxn ang="0">
                    <a:pos x="239" y="811"/>
                  </a:cxn>
                  <a:cxn ang="0">
                    <a:pos x="265" y="786"/>
                  </a:cxn>
                  <a:cxn ang="0">
                    <a:pos x="290" y="760"/>
                  </a:cxn>
                  <a:cxn ang="0">
                    <a:pos x="316" y="734"/>
                  </a:cxn>
                  <a:cxn ang="0">
                    <a:pos x="342" y="709"/>
                  </a:cxn>
                  <a:cxn ang="0">
                    <a:pos x="367" y="683"/>
                  </a:cxn>
                  <a:cxn ang="0">
                    <a:pos x="393" y="666"/>
                  </a:cxn>
                  <a:cxn ang="0">
                    <a:pos x="418" y="640"/>
                  </a:cxn>
                  <a:cxn ang="0">
                    <a:pos x="444" y="615"/>
                  </a:cxn>
                  <a:cxn ang="0">
                    <a:pos x="470" y="589"/>
                  </a:cxn>
                  <a:cxn ang="0">
                    <a:pos x="495" y="564"/>
                  </a:cxn>
                  <a:cxn ang="0">
                    <a:pos x="521" y="538"/>
                  </a:cxn>
                  <a:cxn ang="0">
                    <a:pos x="547" y="512"/>
                  </a:cxn>
                  <a:cxn ang="0">
                    <a:pos x="572" y="487"/>
                  </a:cxn>
                  <a:cxn ang="0">
                    <a:pos x="598" y="461"/>
                  </a:cxn>
                  <a:cxn ang="0">
                    <a:pos x="623" y="435"/>
                  </a:cxn>
                  <a:cxn ang="0">
                    <a:pos x="649" y="418"/>
                  </a:cxn>
                  <a:cxn ang="0">
                    <a:pos x="675" y="393"/>
                  </a:cxn>
                  <a:cxn ang="0">
                    <a:pos x="700" y="367"/>
                  </a:cxn>
                  <a:cxn ang="0">
                    <a:pos x="726" y="342"/>
                  </a:cxn>
                  <a:cxn ang="0">
                    <a:pos x="751" y="316"/>
                  </a:cxn>
                  <a:cxn ang="0">
                    <a:pos x="777" y="290"/>
                  </a:cxn>
                  <a:cxn ang="0">
                    <a:pos x="803" y="265"/>
                  </a:cxn>
                  <a:cxn ang="0">
                    <a:pos x="828" y="239"/>
                  </a:cxn>
                  <a:cxn ang="0">
                    <a:pos x="854" y="222"/>
                  </a:cxn>
                  <a:cxn ang="0">
                    <a:pos x="880" y="188"/>
                  </a:cxn>
                  <a:cxn ang="0">
                    <a:pos x="905" y="171"/>
                  </a:cxn>
                  <a:cxn ang="0">
                    <a:pos x="931" y="145"/>
                  </a:cxn>
                  <a:cxn ang="0">
                    <a:pos x="956" y="119"/>
                  </a:cxn>
                  <a:cxn ang="0">
                    <a:pos x="982" y="94"/>
                  </a:cxn>
                  <a:cxn ang="0">
                    <a:pos x="1008" y="68"/>
                  </a:cxn>
                  <a:cxn ang="0">
                    <a:pos x="1033" y="43"/>
                  </a:cxn>
                  <a:cxn ang="0">
                    <a:pos x="1059" y="17"/>
                  </a:cxn>
                </a:cxnLst>
                <a:rect l="0" t="0" r="r" b="b"/>
                <a:pathLst>
                  <a:path w="1076" h="1042">
                    <a:moveTo>
                      <a:pt x="0" y="1042"/>
                    </a:moveTo>
                    <a:lnTo>
                      <a:pt x="9" y="1033"/>
                    </a:lnTo>
                    <a:lnTo>
                      <a:pt x="17" y="1025"/>
                    </a:lnTo>
                    <a:lnTo>
                      <a:pt x="26" y="1016"/>
                    </a:lnTo>
                    <a:lnTo>
                      <a:pt x="34" y="1008"/>
                    </a:lnTo>
                    <a:lnTo>
                      <a:pt x="43" y="999"/>
                    </a:lnTo>
                    <a:lnTo>
                      <a:pt x="51" y="990"/>
                    </a:lnTo>
                    <a:lnTo>
                      <a:pt x="60" y="982"/>
                    </a:lnTo>
                    <a:lnTo>
                      <a:pt x="68" y="973"/>
                    </a:lnTo>
                    <a:lnTo>
                      <a:pt x="77" y="965"/>
                    </a:lnTo>
                    <a:lnTo>
                      <a:pt x="85" y="956"/>
                    </a:lnTo>
                    <a:lnTo>
                      <a:pt x="94" y="948"/>
                    </a:lnTo>
                    <a:lnTo>
                      <a:pt x="103" y="939"/>
                    </a:lnTo>
                    <a:lnTo>
                      <a:pt x="111" y="931"/>
                    </a:lnTo>
                    <a:lnTo>
                      <a:pt x="120" y="922"/>
                    </a:lnTo>
                    <a:lnTo>
                      <a:pt x="128" y="922"/>
                    </a:lnTo>
                    <a:lnTo>
                      <a:pt x="137" y="914"/>
                    </a:lnTo>
                    <a:lnTo>
                      <a:pt x="145" y="905"/>
                    </a:lnTo>
                    <a:lnTo>
                      <a:pt x="162" y="888"/>
                    </a:lnTo>
                    <a:lnTo>
                      <a:pt x="154" y="888"/>
                    </a:lnTo>
                    <a:lnTo>
                      <a:pt x="162" y="888"/>
                    </a:lnTo>
                    <a:lnTo>
                      <a:pt x="171" y="879"/>
                    </a:lnTo>
                    <a:lnTo>
                      <a:pt x="179" y="871"/>
                    </a:lnTo>
                    <a:lnTo>
                      <a:pt x="188" y="862"/>
                    </a:lnTo>
                    <a:lnTo>
                      <a:pt x="196" y="854"/>
                    </a:lnTo>
                    <a:lnTo>
                      <a:pt x="205" y="845"/>
                    </a:lnTo>
                    <a:lnTo>
                      <a:pt x="214" y="837"/>
                    </a:lnTo>
                    <a:lnTo>
                      <a:pt x="222" y="828"/>
                    </a:lnTo>
                    <a:lnTo>
                      <a:pt x="231" y="820"/>
                    </a:lnTo>
                    <a:lnTo>
                      <a:pt x="239" y="811"/>
                    </a:lnTo>
                    <a:lnTo>
                      <a:pt x="248" y="803"/>
                    </a:lnTo>
                    <a:lnTo>
                      <a:pt x="256" y="794"/>
                    </a:lnTo>
                    <a:lnTo>
                      <a:pt x="265" y="786"/>
                    </a:lnTo>
                    <a:lnTo>
                      <a:pt x="273" y="777"/>
                    </a:lnTo>
                    <a:lnTo>
                      <a:pt x="282" y="768"/>
                    </a:lnTo>
                    <a:lnTo>
                      <a:pt x="290" y="760"/>
                    </a:lnTo>
                    <a:lnTo>
                      <a:pt x="299" y="751"/>
                    </a:lnTo>
                    <a:lnTo>
                      <a:pt x="307" y="743"/>
                    </a:lnTo>
                    <a:lnTo>
                      <a:pt x="316" y="734"/>
                    </a:lnTo>
                    <a:lnTo>
                      <a:pt x="325" y="726"/>
                    </a:lnTo>
                    <a:lnTo>
                      <a:pt x="333" y="717"/>
                    </a:lnTo>
                    <a:lnTo>
                      <a:pt x="342" y="709"/>
                    </a:lnTo>
                    <a:lnTo>
                      <a:pt x="350" y="700"/>
                    </a:lnTo>
                    <a:lnTo>
                      <a:pt x="359" y="692"/>
                    </a:lnTo>
                    <a:lnTo>
                      <a:pt x="367" y="683"/>
                    </a:lnTo>
                    <a:lnTo>
                      <a:pt x="376" y="675"/>
                    </a:lnTo>
                    <a:lnTo>
                      <a:pt x="384" y="675"/>
                    </a:lnTo>
                    <a:lnTo>
                      <a:pt x="393" y="666"/>
                    </a:lnTo>
                    <a:lnTo>
                      <a:pt x="401" y="657"/>
                    </a:lnTo>
                    <a:lnTo>
                      <a:pt x="410" y="649"/>
                    </a:lnTo>
                    <a:lnTo>
                      <a:pt x="418" y="640"/>
                    </a:lnTo>
                    <a:lnTo>
                      <a:pt x="427" y="632"/>
                    </a:lnTo>
                    <a:lnTo>
                      <a:pt x="436" y="623"/>
                    </a:lnTo>
                    <a:lnTo>
                      <a:pt x="444" y="615"/>
                    </a:lnTo>
                    <a:lnTo>
                      <a:pt x="453" y="606"/>
                    </a:lnTo>
                    <a:lnTo>
                      <a:pt x="461" y="598"/>
                    </a:lnTo>
                    <a:lnTo>
                      <a:pt x="470" y="589"/>
                    </a:lnTo>
                    <a:lnTo>
                      <a:pt x="478" y="581"/>
                    </a:lnTo>
                    <a:lnTo>
                      <a:pt x="487" y="572"/>
                    </a:lnTo>
                    <a:lnTo>
                      <a:pt x="495" y="564"/>
                    </a:lnTo>
                    <a:lnTo>
                      <a:pt x="504" y="555"/>
                    </a:lnTo>
                    <a:lnTo>
                      <a:pt x="512" y="546"/>
                    </a:lnTo>
                    <a:lnTo>
                      <a:pt x="521" y="538"/>
                    </a:lnTo>
                    <a:lnTo>
                      <a:pt x="529" y="529"/>
                    </a:lnTo>
                    <a:lnTo>
                      <a:pt x="538" y="521"/>
                    </a:lnTo>
                    <a:lnTo>
                      <a:pt x="547" y="512"/>
                    </a:lnTo>
                    <a:lnTo>
                      <a:pt x="555" y="504"/>
                    </a:lnTo>
                    <a:lnTo>
                      <a:pt x="564" y="495"/>
                    </a:lnTo>
                    <a:lnTo>
                      <a:pt x="572" y="487"/>
                    </a:lnTo>
                    <a:lnTo>
                      <a:pt x="581" y="478"/>
                    </a:lnTo>
                    <a:lnTo>
                      <a:pt x="589" y="470"/>
                    </a:lnTo>
                    <a:lnTo>
                      <a:pt x="598" y="461"/>
                    </a:lnTo>
                    <a:lnTo>
                      <a:pt x="606" y="453"/>
                    </a:lnTo>
                    <a:lnTo>
                      <a:pt x="615" y="444"/>
                    </a:lnTo>
                    <a:lnTo>
                      <a:pt x="623" y="435"/>
                    </a:lnTo>
                    <a:lnTo>
                      <a:pt x="632" y="435"/>
                    </a:lnTo>
                    <a:lnTo>
                      <a:pt x="640" y="427"/>
                    </a:lnTo>
                    <a:lnTo>
                      <a:pt x="649" y="418"/>
                    </a:lnTo>
                    <a:lnTo>
                      <a:pt x="658" y="410"/>
                    </a:lnTo>
                    <a:lnTo>
                      <a:pt x="666" y="401"/>
                    </a:lnTo>
                    <a:lnTo>
                      <a:pt x="675" y="393"/>
                    </a:lnTo>
                    <a:lnTo>
                      <a:pt x="683" y="384"/>
                    </a:lnTo>
                    <a:lnTo>
                      <a:pt x="692" y="376"/>
                    </a:lnTo>
                    <a:lnTo>
                      <a:pt x="700" y="367"/>
                    </a:lnTo>
                    <a:lnTo>
                      <a:pt x="709" y="359"/>
                    </a:lnTo>
                    <a:lnTo>
                      <a:pt x="717" y="350"/>
                    </a:lnTo>
                    <a:lnTo>
                      <a:pt x="726" y="342"/>
                    </a:lnTo>
                    <a:lnTo>
                      <a:pt x="734" y="333"/>
                    </a:lnTo>
                    <a:lnTo>
                      <a:pt x="743" y="324"/>
                    </a:lnTo>
                    <a:lnTo>
                      <a:pt x="751" y="316"/>
                    </a:lnTo>
                    <a:lnTo>
                      <a:pt x="760" y="307"/>
                    </a:lnTo>
                    <a:lnTo>
                      <a:pt x="769" y="299"/>
                    </a:lnTo>
                    <a:lnTo>
                      <a:pt x="777" y="290"/>
                    </a:lnTo>
                    <a:lnTo>
                      <a:pt x="786" y="282"/>
                    </a:lnTo>
                    <a:lnTo>
                      <a:pt x="794" y="273"/>
                    </a:lnTo>
                    <a:lnTo>
                      <a:pt x="803" y="265"/>
                    </a:lnTo>
                    <a:lnTo>
                      <a:pt x="811" y="256"/>
                    </a:lnTo>
                    <a:lnTo>
                      <a:pt x="820" y="248"/>
                    </a:lnTo>
                    <a:lnTo>
                      <a:pt x="828" y="239"/>
                    </a:lnTo>
                    <a:lnTo>
                      <a:pt x="837" y="230"/>
                    </a:lnTo>
                    <a:lnTo>
                      <a:pt x="845" y="222"/>
                    </a:lnTo>
                    <a:lnTo>
                      <a:pt x="854" y="222"/>
                    </a:lnTo>
                    <a:lnTo>
                      <a:pt x="871" y="205"/>
                    </a:lnTo>
                    <a:lnTo>
                      <a:pt x="871" y="196"/>
                    </a:lnTo>
                    <a:lnTo>
                      <a:pt x="880" y="188"/>
                    </a:lnTo>
                    <a:lnTo>
                      <a:pt x="888" y="188"/>
                    </a:lnTo>
                    <a:lnTo>
                      <a:pt x="897" y="179"/>
                    </a:lnTo>
                    <a:lnTo>
                      <a:pt x="905" y="171"/>
                    </a:lnTo>
                    <a:lnTo>
                      <a:pt x="914" y="162"/>
                    </a:lnTo>
                    <a:lnTo>
                      <a:pt x="922" y="154"/>
                    </a:lnTo>
                    <a:lnTo>
                      <a:pt x="931" y="145"/>
                    </a:lnTo>
                    <a:lnTo>
                      <a:pt x="939" y="137"/>
                    </a:lnTo>
                    <a:lnTo>
                      <a:pt x="948" y="128"/>
                    </a:lnTo>
                    <a:lnTo>
                      <a:pt x="956" y="119"/>
                    </a:lnTo>
                    <a:lnTo>
                      <a:pt x="965" y="111"/>
                    </a:lnTo>
                    <a:lnTo>
                      <a:pt x="973" y="102"/>
                    </a:lnTo>
                    <a:lnTo>
                      <a:pt x="982" y="94"/>
                    </a:lnTo>
                    <a:lnTo>
                      <a:pt x="990" y="85"/>
                    </a:lnTo>
                    <a:lnTo>
                      <a:pt x="999" y="77"/>
                    </a:lnTo>
                    <a:lnTo>
                      <a:pt x="1008" y="68"/>
                    </a:lnTo>
                    <a:lnTo>
                      <a:pt x="1016" y="60"/>
                    </a:lnTo>
                    <a:lnTo>
                      <a:pt x="1025" y="51"/>
                    </a:lnTo>
                    <a:lnTo>
                      <a:pt x="1033" y="43"/>
                    </a:lnTo>
                    <a:lnTo>
                      <a:pt x="1042" y="34"/>
                    </a:lnTo>
                    <a:lnTo>
                      <a:pt x="1050" y="26"/>
                    </a:lnTo>
                    <a:lnTo>
                      <a:pt x="1059" y="17"/>
                    </a:lnTo>
                    <a:lnTo>
                      <a:pt x="1067" y="8"/>
                    </a:lnTo>
                    <a:lnTo>
                      <a:pt x="1076" y="0"/>
                    </a:lnTo>
                  </a:path>
                </a:pathLst>
              </a:custGeom>
              <a:noFill/>
              <a:ln w="26988" cap="flat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7" name="Freeform 51">
                <a:extLst>
                  <a:ext uri="{FF2B5EF4-FFF2-40B4-BE49-F238E27FC236}">
                    <a16:creationId xmlns:a16="http://schemas.microsoft.com/office/drawing/2014/main" id="{C714CC1C-7173-4042-B272-715D156EA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455"/>
                <a:ext cx="128" cy="111"/>
              </a:xfrm>
              <a:custGeom>
                <a:avLst/>
                <a:gdLst/>
                <a:ahLst/>
                <a:cxnLst>
                  <a:cxn ang="0">
                    <a:pos x="0" y="111"/>
                  </a:cxn>
                  <a:cxn ang="0">
                    <a:pos x="8" y="102"/>
                  </a:cxn>
                  <a:cxn ang="0">
                    <a:pos x="17" y="94"/>
                  </a:cxn>
                  <a:cxn ang="0">
                    <a:pos x="25" y="85"/>
                  </a:cxn>
                  <a:cxn ang="0">
                    <a:pos x="34" y="85"/>
                  </a:cxn>
                  <a:cxn ang="0">
                    <a:pos x="43" y="77"/>
                  </a:cxn>
                  <a:cxn ang="0">
                    <a:pos x="60" y="60"/>
                  </a:cxn>
                  <a:cxn ang="0">
                    <a:pos x="51" y="60"/>
                  </a:cxn>
                  <a:cxn ang="0">
                    <a:pos x="60" y="60"/>
                  </a:cxn>
                  <a:cxn ang="0">
                    <a:pos x="68" y="51"/>
                  </a:cxn>
                  <a:cxn ang="0">
                    <a:pos x="77" y="43"/>
                  </a:cxn>
                  <a:cxn ang="0">
                    <a:pos x="85" y="34"/>
                  </a:cxn>
                  <a:cxn ang="0">
                    <a:pos x="94" y="26"/>
                  </a:cxn>
                  <a:cxn ang="0">
                    <a:pos x="102" y="17"/>
                  </a:cxn>
                  <a:cxn ang="0">
                    <a:pos x="111" y="8"/>
                  </a:cxn>
                  <a:cxn ang="0">
                    <a:pos x="119" y="0"/>
                  </a:cxn>
                  <a:cxn ang="0">
                    <a:pos x="128" y="0"/>
                  </a:cxn>
                </a:cxnLst>
                <a:rect l="0" t="0" r="r" b="b"/>
                <a:pathLst>
                  <a:path w="128" h="111">
                    <a:moveTo>
                      <a:pt x="0" y="111"/>
                    </a:moveTo>
                    <a:lnTo>
                      <a:pt x="8" y="102"/>
                    </a:lnTo>
                    <a:lnTo>
                      <a:pt x="17" y="94"/>
                    </a:lnTo>
                    <a:lnTo>
                      <a:pt x="25" y="85"/>
                    </a:lnTo>
                    <a:lnTo>
                      <a:pt x="34" y="85"/>
                    </a:lnTo>
                    <a:lnTo>
                      <a:pt x="43" y="77"/>
                    </a:lnTo>
                    <a:lnTo>
                      <a:pt x="60" y="60"/>
                    </a:lnTo>
                    <a:lnTo>
                      <a:pt x="51" y="60"/>
                    </a:lnTo>
                    <a:lnTo>
                      <a:pt x="60" y="60"/>
                    </a:lnTo>
                    <a:lnTo>
                      <a:pt x="68" y="51"/>
                    </a:lnTo>
                    <a:lnTo>
                      <a:pt x="77" y="43"/>
                    </a:lnTo>
                    <a:lnTo>
                      <a:pt x="85" y="34"/>
                    </a:lnTo>
                    <a:lnTo>
                      <a:pt x="94" y="26"/>
                    </a:lnTo>
                    <a:lnTo>
                      <a:pt x="102" y="17"/>
                    </a:lnTo>
                    <a:lnTo>
                      <a:pt x="111" y="8"/>
                    </a:lnTo>
                    <a:lnTo>
                      <a:pt x="119" y="0"/>
                    </a:lnTo>
                    <a:lnTo>
                      <a:pt x="128" y="0"/>
                    </a:lnTo>
                  </a:path>
                </a:pathLst>
              </a:custGeom>
              <a:noFill/>
              <a:ln w="26988" cap="flat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8" name="Freeform 52">
                <a:extLst>
                  <a:ext uri="{FF2B5EF4-FFF2-40B4-BE49-F238E27FC236}">
                    <a16:creationId xmlns:a16="http://schemas.microsoft.com/office/drawing/2014/main" id="{DB55ED7A-B23B-49C1-9785-5EA361EB65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1" y="3094"/>
                <a:ext cx="1076" cy="547"/>
              </a:xfrm>
              <a:custGeom>
                <a:avLst/>
                <a:gdLst/>
                <a:ahLst/>
                <a:cxnLst>
                  <a:cxn ang="0">
                    <a:pos x="8" y="547"/>
                  </a:cxn>
                  <a:cxn ang="0">
                    <a:pos x="34" y="547"/>
                  </a:cxn>
                  <a:cxn ang="0">
                    <a:pos x="60" y="547"/>
                  </a:cxn>
                  <a:cxn ang="0">
                    <a:pos x="85" y="547"/>
                  </a:cxn>
                  <a:cxn ang="0">
                    <a:pos x="111" y="538"/>
                  </a:cxn>
                  <a:cxn ang="0">
                    <a:pos x="136" y="538"/>
                  </a:cxn>
                  <a:cxn ang="0">
                    <a:pos x="162" y="530"/>
                  </a:cxn>
                  <a:cxn ang="0">
                    <a:pos x="188" y="521"/>
                  </a:cxn>
                  <a:cxn ang="0">
                    <a:pos x="213" y="521"/>
                  </a:cxn>
                  <a:cxn ang="0">
                    <a:pos x="239" y="513"/>
                  </a:cxn>
                  <a:cxn ang="0">
                    <a:pos x="265" y="504"/>
                  </a:cxn>
                  <a:cxn ang="0">
                    <a:pos x="290" y="496"/>
                  </a:cxn>
                  <a:cxn ang="0">
                    <a:pos x="316" y="479"/>
                  </a:cxn>
                  <a:cxn ang="0">
                    <a:pos x="341" y="470"/>
                  </a:cxn>
                  <a:cxn ang="0">
                    <a:pos x="367" y="462"/>
                  </a:cxn>
                  <a:cxn ang="0">
                    <a:pos x="393" y="453"/>
                  </a:cxn>
                  <a:cxn ang="0">
                    <a:pos x="418" y="436"/>
                  </a:cxn>
                  <a:cxn ang="0">
                    <a:pos x="444" y="427"/>
                  </a:cxn>
                  <a:cxn ang="0">
                    <a:pos x="469" y="410"/>
                  </a:cxn>
                  <a:cxn ang="0">
                    <a:pos x="495" y="402"/>
                  </a:cxn>
                  <a:cxn ang="0">
                    <a:pos x="521" y="385"/>
                  </a:cxn>
                  <a:cxn ang="0">
                    <a:pos x="546" y="368"/>
                  </a:cxn>
                  <a:cxn ang="0">
                    <a:pos x="572" y="359"/>
                  </a:cxn>
                  <a:cxn ang="0">
                    <a:pos x="597" y="342"/>
                  </a:cxn>
                  <a:cxn ang="0">
                    <a:pos x="623" y="325"/>
                  </a:cxn>
                  <a:cxn ang="0">
                    <a:pos x="649" y="308"/>
                  </a:cxn>
                  <a:cxn ang="0">
                    <a:pos x="674" y="291"/>
                  </a:cxn>
                  <a:cxn ang="0">
                    <a:pos x="700" y="274"/>
                  </a:cxn>
                  <a:cxn ang="0">
                    <a:pos x="726" y="257"/>
                  </a:cxn>
                  <a:cxn ang="0">
                    <a:pos x="751" y="240"/>
                  </a:cxn>
                  <a:cxn ang="0">
                    <a:pos x="777" y="222"/>
                  </a:cxn>
                  <a:cxn ang="0">
                    <a:pos x="802" y="205"/>
                  </a:cxn>
                  <a:cxn ang="0">
                    <a:pos x="828" y="188"/>
                  </a:cxn>
                  <a:cxn ang="0">
                    <a:pos x="854" y="171"/>
                  </a:cxn>
                  <a:cxn ang="0">
                    <a:pos x="879" y="154"/>
                  </a:cxn>
                  <a:cxn ang="0">
                    <a:pos x="905" y="129"/>
                  </a:cxn>
                  <a:cxn ang="0">
                    <a:pos x="930" y="111"/>
                  </a:cxn>
                  <a:cxn ang="0">
                    <a:pos x="956" y="94"/>
                  </a:cxn>
                  <a:cxn ang="0">
                    <a:pos x="982" y="69"/>
                  </a:cxn>
                  <a:cxn ang="0">
                    <a:pos x="1007" y="52"/>
                  </a:cxn>
                  <a:cxn ang="0">
                    <a:pos x="1033" y="35"/>
                  </a:cxn>
                  <a:cxn ang="0">
                    <a:pos x="1059" y="9"/>
                  </a:cxn>
                </a:cxnLst>
                <a:rect l="0" t="0" r="r" b="b"/>
                <a:pathLst>
                  <a:path w="1076" h="547">
                    <a:moveTo>
                      <a:pt x="8" y="547"/>
                    </a:moveTo>
                    <a:lnTo>
                      <a:pt x="0" y="547"/>
                    </a:lnTo>
                    <a:lnTo>
                      <a:pt x="8" y="547"/>
                    </a:lnTo>
                    <a:lnTo>
                      <a:pt x="17" y="547"/>
                    </a:lnTo>
                    <a:lnTo>
                      <a:pt x="25" y="547"/>
                    </a:lnTo>
                    <a:lnTo>
                      <a:pt x="34" y="547"/>
                    </a:lnTo>
                    <a:lnTo>
                      <a:pt x="43" y="547"/>
                    </a:lnTo>
                    <a:lnTo>
                      <a:pt x="51" y="547"/>
                    </a:lnTo>
                    <a:lnTo>
                      <a:pt x="60" y="547"/>
                    </a:lnTo>
                    <a:lnTo>
                      <a:pt x="68" y="547"/>
                    </a:lnTo>
                    <a:lnTo>
                      <a:pt x="77" y="547"/>
                    </a:lnTo>
                    <a:lnTo>
                      <a:pt x="85" y="547"/>
                    </a:lnTo>
                    <a:lnTo>
                      <a:pt x="94" y="547"/>
                    </a:lnTo>
                    <a:lnTo>
                      <a:pt x="102" y="538"/>
                    </a:lnTo>
                    <a:lnTo>
                      <a:pt x="111" y="538"/>
                    </a:lnTo>
                    <a:lnTo>
                      <a:pt x="119" y="538"/>
                    </a:lnTo>
                    <a:lnTo>
                      <a:pt x="128" y="538"/>
                    </a:lnTo>
                    <a:lnTo>
                      <a:pt x="136" y="538"/>
                    </a:lnTo>
                    <a:lnTo>
                      <a:pt x="145" y="538"/>
                    </a:lnTo>
                    <a:lnTo>
                      <a:pt x="154" y="530"/>
                    </a:lnTo>
                    <a:lnTo>
                      <a:pt x="162" y="530"/>
                    </a:lnTo>
                    <a:lnTo>
                      <a:pt x="171" y="530"/>
                    </a:lnTo>
                    <a:lnTo>
                      <a:pt x="179" y="530"/>
                    </a:lnTo>
                    <a:lnTo>
                      <a:pt x="188" y="521"/>
                    </a:lnTo>
                    <a:lnTo>
                      <a:pt x="196" y="521"/>
                    </a:lnTo>
                    <a:lnTo>
                      <a:pt x="205" y="521"/>
                    </a:lnTo>
                    <a:lnTo>
                      <a:pt x="213" y="521"/>
                    </a:lnTo>
                    <a:lnTo>
                      <a:pt x="222" y="513"/>
                    </a:lnTo>
                    <a:lnTo>
                      <a:pt x="230" y="513"/>
                    </a:lnTo>
                    <a:lnTo>
                      <a:pt x="239" y="513"/>
                    </a:lnTo>
                    <a:lnTo>
                      <a:pt x="247" y="504"/>
                    </a:lnTo>
                    <a:lnTo>
                      <a:pt x="256" y="504"/>
                    </a:lnTo>
                    <a:lnTo>
                      <a:pt x="265" y="504"/>
                    </a:lnTo>
                    <a:lnTo>
                      <a:pt x="273" y="496"/>
                    </a:lnTo>
                    <a:lnTo>
                      <a:pt x="282" y="496"/>
                    </a:lnTo>
                    <a:lnTo>
                      <a:pt x="290" y="496"/>
                    </a:lnTo>
                    <a:lnTo>
                      <a:pt x="299" y="487"/>
                    </a:lnTo>
                    <a:lnTo>
                      <a:pt x="307" y="487"/>
                    </a:lnTo>
                    <a:lnTo>
                      <a:pt x="316" y="479"/>
                    </a:lnTo>
                    <a:lnTo>
                      <a:pt x="324" y="479"/>
                    </a:lnTo>
                    <a:lnTo>
                      <a:pt x="333" y="479"/>
                    </a:lnTo>
                    <a:lnTo>
                      <a:pt x="341" y="470"/>
                    </a:lnTo>
                    <a:lnTo>
                      <a:pt x="350" y="470"/>
                    </a:lnTo>
                    <a:lnTo>
                      <a:pt x="358" y="462"/>
                    </a:lnTo>
                    <a:lnTo>
                      <a:pt x="367" y="462"/>
                    </a:lnTo>
                    <a:lnTo>
                      <a:pt x="375" y="462"/>
                    </a:lnTo>
                    <a:lnTo>
                      <a:pt x="384" y="453"/>
                    </a:lnTo>
                    <a:lnTo>
                      <a:pt x="393" y="453"/>
                    </a:lnTo>
                    <a:lnTo>
                      <a:pt x="401" y="444"/>
                    </a:lnTo>
                    <a:lnTo>
                      <a:pt x="410" y="444"/>
                    </a:lnTo>
                    <a:lnTo>
                      <a:pt x="418" y="436"/>
                    </a:lnTo>
                    <a:lnTo>
                      <a:pt x="427" y="436"/>
                    </a:lnTo>
                    <a:lnTo>
                      <a:pt x="435" y="427"/>
                    </a:lnTo>
                    <a:lnTo>
                      <a:pt x="444" y="427"/>
                    </a:lnTo>
                    <a:lnTo>
                      <a:pt x="452" y="419"/>
                    </a:lnTo>
                    <a:lnTo>
                      <a:pt x="461" y="419"/>
                    </a:lnTo>
                    <a:lnTo>
                      <a:pt x="469" y="410"/>
                    </a:lnTo>
                    <a:lnTo>
                      <a:pt x="478" y="410"/>
                    </a:lnTo>
                    <a:lnTo>
                      <a:pt x="486" y="402"/>
                    </a:lnTo>
                    <a:lnTo>
                      <a:pt x="495" y="402"/>
                    </a:lnTo>
                    <a:lnTo>
                      <a:pt x="504" y="393"/>
                    </a:lnTo>
                    <a:lnTo>
                      <a:pt x="512" y="385"/>
                    </a:lnTo>
                    <a:lnTo>
                      <a:pt x="521" y="385"/>
                    </a:lnTo>
                    <a:lnTo>
                      <a:pt x="529" y="376"/>
                    </a:lnTo>
                    <a:lnTo>
                      <a:pt x="538" y="376"/>
                    </a:lnTo>
                    <a:lnTo>
                      <a:pt x="546" y="368"/>
                    </a:lnTo>
                    <a:lnTo>
                      <a:pt x="555" y="368"/>
                    </a:lnTo>
                    <a:lnTo>
                      <a:pt x="563" y="359"/>
                    </a:lnTo>
                    <a:lnTo>
                      <a:pt x="572" y="359"/>
                    </a:lnTo>
                    <a:lnTo>
                      <a:pt x="580" y="351"/>
                    </a:lnTo>
                    <a:lnTo>
                      <a:pt x="589" y="342"/>
                    </a:lnTo>
                    <a:lnTo>
                      <a:pt x="597" y="342"/>
                    </a:lnTo>
                    <a:lnTo>
                      <a:pt x="606" y="333"/>
                    </a:lnTo>
                    <a:lnTo>
                      <a:pt x="615" y="333"/>
                    </a:lnTo>
                    <a:lnTo>
                      <a:pt x="623" y="325"/>
                    </a:lnTo>
                    <a:lnTo>
                      <a:pt x="632" y="316"/>
                    </a:lnTo>
                    <a:lnTo>
                      <a:pt x="640" y="316"/>
                    </a:lnTo>
                    <a:lnTo>
                      <a:pt x="649" y="308"/>
                    </a:lnTo>
                    <a:lnTo>
                      <a:pt x="657" y="299"/>
                    </a:lnTo>
                    <a:lnTo>
                      <a:pt x="666" y="299"/>
                    </a:lnTo>
                    <a:lnTo>
                      <a:pt x="674" y="291"/>
                    </a:lnTo>
                    <a:lnTo>
                      <a:pt x="683" y="291"/>
                    </a:lnTo>
                    <a:lnTo>
                      <a:pt x="691" y="282"/>
                    </a:lnTo>
                    <a:lnTo>
                      <a:pt x="700" y="274"/>
                    </a:lnTo>
                    <a:lnTo>
                      <a:pt x="708" y="265"/>
                    </a:lnTo>
                    <a:lnTo>
                      <a:pt x="717" y="265"/>
                    </a:lnTo>
                    <a:lnTo>
                      <a:pt x="726" y="257"/>
                    </a:lnTo>
                    <a:lnTo>
                      <a:pt x="734" y="257"/>
                    </a:lnTo>
                    <a:lnTo>
                      <a:pt x="743" y="248"/>
                    </a:lnTo>
                    <a:lnTo>
                      <a:pt x="751" y="240"/>
                    </a:lnTo>
                    <a:lnTo>
                      <a:pt x="760" y="240"/>
                    </a:lnTo>
                    <a:lnTo>
                      <a:pt x="768" y="231"/>
                    </a:lnTo>
                    <a:lnTo>
                      <a:pt x="777" y="222"/>
                    </a:lnTo>
                    <a:lnTo>
                      <a:pt x="785" y="214"/>
                    </a:lnTo>
                    <a:lnTo>
                      <a:pt x="794" y="214"/>
                    </a:lnTo>
                    <a:lnTo>
                      <a:pt x="802" y="205"/>
                    </a:lnTo>
                    <a:lnTo>
                      <a:pt x="811" y="197"/>
                    </a:lnTo>
                    <a:lnTo>
                      <a:pt x="819" y="197"/>
                    </a:lnTo>
                    <a:lnTo>
                      <a:pt x="828" y="188"/>
                    </a:lnTo>
                    <a:lnTo>
                      <a:pt x="837" y="180"/>
                    </a:lnTo>
                    <a:lnTo>
                      <a:pt x="845" y="171"/>
                    </a:lnTo>
                    <a:lnTo>
                      <a:pt x="854" y="171"/>
                    </a:lnTo>
                    <a:lnTo>
                      <a:pt x="862" y="163"/>
                    </a:lnTo>
                    <a:lnTo>
                      <a:pt x="871" y="154"/>
                    </a:lnTo>
                    <a:lnTo>
                      <a:pt x="879" y="154"/>
                    </a:lnTo>
                    <a:lnTo>
                      <a:pt x="888" y="146"/>
                    </a:lnTo>
                    <a:lnTo>
                      <a:pt x="896" y="137"/>
                    </a:lnTo>
                    <a:lnTo>
                      <a:pt x="905" y="129"/>
                    </a:lnTo>
                    <a:lnTo>
                      <a:pt x="913" y="129"/>
                    </a:lnTo>
                    <a:lnTo>
                      <a:pt x="922" y="120"/>
                    </a:lnTo>
                    <a:lnTo>
                      <a:pt x="930" y="111"/>
                    </a:lnTo>
                    <a:lnTo>
                      <a:pt x="939" y="103"/>
                    </a:lnTo>
                    <a:lnTo>
                      <a:pt x="948" y="103"/>
                    </a:lnTo>
                    <a:lnTo>
                      <a:pt x="956" y="94"/>
                    </a:lnTo>
                    <a:lnTo>
                      <a:pt x="965" y="86"/>
                    </a:lnTo>
                    <a:lnTo>
                      <a:pt x="973" y="77"/>
                    </a:lnTo>
                    <a:lnTo>
                      <a:pt x="982" y="69"/>
                    </a:lnTo>
                    <a:lnTo>
                      <a:pt x="990" y="69"/>
                    </a:lnTo>
                    <a:lnTo>
                      <a:pt x="999" y="60"/>
                    </a:lnTo>
                    <a:lnTo>
                      <a:pt x="1007" y="52"/>
                    </a:lnTo>
                    <a:lnTo>
                      <a:pt x="1016" y="43"/>
                    </a:lnTo>
                    <a:lnTo>
                      <a:pt x="1024" y="43"/>
                    </a:lnTo>
                    <a:lnTo>
                      <a:pt x="1033" y="35"/>
                    </a:lnTo>
                    <a:lnTo>
                      <a:pt x="1041" y="26"/>
                    </a:lnTo>
                    <a:lnTo>
                      <a:pt x="1050" y="18"/>
                    </a:lnTo>
                    <a:lnTo>
                      <a:pt x="1059" y="9"/>
                    </a:lnTo>
                    <a:lnTo>
                      <a:pt x="1067" y="9"/>
                    </a:lnTo>
                    <a:lnTo>
                      <a:pt x="1076" y="0"/>
                    </a:lnTo>
                  </a:path>
                </a:pathLst>
              </a:custGeom>
              <a:noFill/>
              <a:ln w="26988" cap="flat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9" name="Freeform 53">
                <a:extLst>
                  <a:ext uri="{FF2B5EF4-FFF2-40B4-BE49-F238E27FC236}">
                    <a16:creationId xmlns:a16="http://schemas.microsoft.com/office/drawing/2014/main" id="{30D4C4A3-7FE9-4E49-8BEC-F080EEC676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7" y="2130"/>
                <a:ext cx="1084" cy="964"/>
              </a:xfrm>
              <a:custGeom>
                <a:avLst/>
                <a:gdLst/>
                <a:ahLst/>
                <a:cxnLst>
                  <a:cxn ang="0">
                    <a:pos x="17" y="947"/>
                  </a:cxn>
                  <a:cxn ang="0">
                    <a:pos x="42" y="930"/>
                  </a:cxn>
                  <a:cxn ang="0">
                    <a:pos x="68" y="913"/>
                  </a:cxn>
                  <a:cxn ang="0">
                    <a:pos x="94" y="888"/>
                  </a:cxn>
                  <a:cxn ang="0">
                    <a:pos x="119" y="870"/>
                  </a:cxn>
                  <a:cxn ang="0">
                    <a:pos x="145" y="845"/>
                  </a:cxn>
                  <a:cxn ang="0">
                    <a:pos x="170" y="828"/>
                  </a:cxn>
                  <a:cxn ang="0">
                    <a:pos x="196" y="802"/>
                  </a:cxn>
                  <a:cxn ang="0">
                    <a:pos x="222" y="777"/>
                  </a:cxn>
                  <a:cxn ang="0">
                    <a:pos x="247" y="759"/>
                  </a:cxn>
                  <a:cxn ang="0">
                    <a:pos x="273" y="734"/>
                  </a:cxn>
                  <a:cxn ang="0">
                    <a:pos x="298" y="717"/>
                  </a:cxn>
                  <a:cxn ang="0">
                    <a:pos x="324" y="691"/>
                  </a:cxn>
                  <a:cxn ang="0">
                    <a:pos x="350" y="674"/>
                  </a:cxn>
                  <a:cxn ang="0">
                    <a:pos x="375" y="648"/>
                  </a:cxn>
                  <a:cxn ang="0">
                    <a:pos x="401" y="623"/>
                  </a:cxn>
                  <a:cxn ang="0">
                    <a:pos x="427" y="606"/>
                  </a:cxn>
                  <a:cxn ang="0">
                    <a:pos x="452" y="580"/>
                  </a:cxn>
                  <a:cxn ang="0">
                    <a:pos x="478" y="555"/>
                  </a:cxn>
                  <a:cxn ang="0">
                    <a:pos x="503" y="537"/>
                  </a:cxn>
                  <a:cxn ang="0">
                    <a:pos x="529" y="512"/>
                  </a:cxn>
                  <a:cxn ang="0">
                    <a:pos x="555" y="486"/>
                  </a:cxn>
                  <a:cxn ang="0">
                    <a:pos x="580" y="469"/>
                  </a:cxn>
                  <a:cxn ang="0">
                    <a:pos x="606" y="444"/>
                  </a:cxn>
                  <a:cxn ang="0">
                    <a:pos x="631" y="418"/>
                  </a:cxn>
                  <a:cxn ang="0">
                    <a:pos x="657" y="401"/>
                  </a:cxn>
                  <a:cxn ang="0">
                    <a:pos x="683" y="375"/>
                  </a:cxn>
                  <a:cxn ang="0">
                    <a:pos x="708" y="350"/>
                  </a:cxn>
                  <a:cxn ang="0">
                    <a:pos x="734" y="324"/>
                  </a:cxn>
                  <a:cxn ang="0">
                    <a:pos x="760" y="307"/>
                  </a:cxn>
                  <a:cxn ang="0">
                    <a:pos x="785" y="281"/>
                  </a:cxn>
                  <a:cxn ang="0">
                    <a:pos x="811" y="256"/>
                  </a:cxn>
                  <a:cxn ang="0">
                    <a:pos x="836" y="230"/>
                  </a:cxn>
                  <a:cxn ang="0">
                    <a:pos x="862" y="204"/>
                  </a:cxn>
                  <a:cxn ang="0">
                    <a:pos x="888" y="187"/>
                  </a:cxn>
                  <a:cxn ang="0">
                    <a:pos x="913" y="162"/>
                  </a:cxn>
                  <a:cxn ang="0">
                    <a:pos x="939" y="136"/>
                  </a:cxn>
                  <a:cxn ang="0">
                    <a:pos x="964" y="111"/>
                  </a:cxn>
                  <a:cxn ang="0">
                    <a:pos x="990" y="93"/>
                  </a:cxn>
                  <a:cxn ang="0">
                    <a:pos x="1016" y="68"/>
                  </a:cxn>
                  <a:cxn ang="0">
                    <a:pos x="1041" y="42"/>
                  </a:cxn>
                  <a:cxn ang="0">
                    <a:pos x="1067" y="17"/>
                  </a:cxn>
                </a:cxnLst>
                <a:rect l="0" t="0" r="r" b="b"/>
                <a:pathLst>
                  <a:path w="1084" h="964">
                    <a:moveTo>
                      <a:pt x="0" y="964"/>
                    </a:moveTo>
                    <a:lnTo>
                      <a:pt x="8" y="956"/>
                    </a:lnTo>
                    <a:lnTo>
                      <a:pt x="17" y="947"/>
                    </a:lnTo>
                    <a:lnTo>
                      <a:pt x="25" y="939"/>
                    </a:lnTo>
                    <a:lnTo>
                      <a:pt x="34" y="939"/>
                    </a:lnTo>
                    <a:lnTo>
                      <a:pt x="42" y="930"/>
                    </a:lnTo>
                    <a:lnTo>
                      <a:pt x="51" y="922"/>
                    </a:lnTo>
                    <a:lnTo>
                      <a:pt x="59" y="913"/>
                    </a:lnTo>
                    <a:lnTo>
                      <a:pt x="68" y="913"/>
                    </a:lnTo>
                    <a:lnTo>
                      <a:pt x="76" y="905"/>
                    </a:lnTo>
                    <a:lnTo>
                      <a:pt x="85" y="896"/>
                    </a:lnTo>
                    <a:lnTo>
                      <a:pt x="94" y="888"/>
                    </a:lnTo>
                    <a:lnTo>
                      <a:pt x="102" y="879"/>
                    </a:lnTo>
                    <a:lnTo>
                      <a:pt x="111" y="870"/>
                    </a:lnTo>
                    <a:lnTo>
                      <a:pt x="119" y="870"/>
                    </a:lnTo>
                    <a:lnTo>
                      <a:pt x="128" y="862"/>
                    </a:lnTo>
                    <a:lnTo>
                      <a:pt x="136" y="853"/>
                    </a:lnTo>
                    <a:lnTo>
                      <a:pt x="145" y="845"/>
                    </a:lnTo>
                    <a:lnTo>
                      <a:pt x="153" y="836"/>
                    </a:lnTo>
                    <a:lnTo>
                      <a:pt x="162" y="828"/>
                    </a:lnTo>
                    <a:lnTo>
                      <a:pt x="170" y="828"/>
                    </a:lnTo>
                    <a:lnTo>
                      <a:pt x="179" y="819"/>
                    </a:lnTo>
                    <a:lnTo>
                      <a:pt x="187" y="811"/>
                    </a:lnTo>
                    <a:lnTo>
                      <a:pt x="196" y="802"/>
                    </a:lnTo>
                    <a:lnTo>
                      <a:pt x="205" y="794"/>
                    </a:lnTo>
                    <a:lnTo>
                      <a:pt x="213" y="785"/>
                    </a:lnTo>
                    <a:lnTo>
                      <a:pt x="222" y="777"/>
                    </a:lnTo>
                    <a:lnTo>
                      <a:pt x="230" y="777"/>
                    </a:lnTo>
                    <a:lnTo>
                      <a:pt x="239" y="768"/>
                    </a:lnTo>
                    <a:lnTo>
                      <a:pt x="247" y="759"/>
                    </a:lnTo>
                    <a:lnTo>
                      <a:pt x="256" y="751"/>
                    </a:lnTo>
                    <a:lnTo>
                      <a:pt x="264" y="742"/>
                    </a:lnTo>
                    <a:lnTo>
                      <a:pt x="273" y="734"/>
                    </a:lnTo>
                    <a:lnTo>
                      <a:pt x="281" y="725"/>
                    </a:lnTo>
                    <a:lnTo>
                      <a:pt x="290" y="725"/>
                    </a:lnTo>
                    <a:lnTo>
                      <a:pt x="298" y="717"/>
                    </a:lnTo>
                    <a:lnTo>
                      <a:pt x="307" y="708"/>
                    </a:lnTo>
                    <a:lnTo>
                      <a:pt x="316" y="700"/>
                    </a:lnTo>
                    <a:lnTo>
                      <a:pt x="324" y="691"/>
                    </a:lnTo>
                    <a:lnTo>
                      <a:pt x="333" y="683"/>
                    </a:lnTo>
                    <a:lnTo>
                      <a:pt x="341" y="674"/>
                    </a:lnTo>
                    <a:lnTo>
                      <a:pt x="350" y="674"/>
                    </a:lnTo>
                    <a:lnTo>
                      <a:pt x="358" y="666"/>
                    </a:lnTo>
                    <a:lnTo>
                      <a:pt x="367" y="657"/>
                    </a:lnTo>
                    <a:lnTo>
                      <a:pt x="375" y="648"/>
                    </a:lnTo>
                    <a:lnTo>
                      <a:pt x="384" y="640"/>
                    </a:lnTo>
                    <a:lnTo>
                      <a:pt x="392" y="631"/>
                    </a:lnTo>
                    <a:lnTo>
                      <a:pt x="401" y="623"/>
                    </a:lnTo>
                    <a:lnTo>
                      <a:pt x="409" y="614"/>
                    </a:lnTo>
                    <a:lnTo>
                      <a:pt x="418" y="614"/>
                    </a:lnTo>
                    <a:lnTo>
                      <a:pt x="427" y="606"/>
                    </a:lnTo>
                    <a:lnTo>
                      <a:pt x="435" y="597"/>
                    </a:lnTo>
                    <a:lnTo>
                      <a:pt x="444" y="589"/>
                    </a:lnTo>
                    <a:lnTo>
                      <a:pt x="452" y="580"/>
                    </a:lnTo>
                    <a:lnTo>
                      <a:pt x="461" y="572"/>
                    </a:lnTo>
                    <a:lnTo>
                      <a:pt x="469" y="563"/>
                    </a:lnTo>
                    <a:lnTo>
                      <a:pt x="478" y="555"/>
                    </a:lnTo>
                    <a:lnTo>
                      <a:pt x="486" y="546"/>
                    </a:lnTo>
                    <a:lnTo>
                      <a:pt x="495" y="546"/>
                    </a:lnTo>
                    <a:lnTo>
                      <a:pt x="503" y="537"/>
                    </a:lnTo>
                    <a:lnTo>
                      <a:pt x="512" y="529"/>
                    </a:lnTo>
                    <a:lnTo>
                      <a:pt x="520" y="520"/>
                    </a:lnTo>
                    <a:lnTo>
                      <a:pt x="529" y="512"/>
                    </a:lnTo>
                    <a:lnTo>
                      <a:pt x="538" y="503"/>
                    </a:lnTo>
                    <a:lnTo>
                      <a:pt x="546" y="495"/>
                    </a:lnTo>
                    <a:lnTo>
                      <a:pt x="555" y="486"/>
                    </a:lnTo>
                    <a:lnTo>
                      <a:pt x="563" y="478"/>
                    </a:lnTo>
                    <a:lnTo>
                      <a:pt x="572" y="478"/>
                    </a:lnTo>
                    <a:lnTo>
                      <a:pt x="580" y="469"/>
                    </a:lnTo>
                    <a:lnTo>
                      <a:pt x="589" y="461"/>
                    </a:lnTo>
                    <a:lnTo>
                      <a:pt x="597" y="452"/>
                    </a:lnTo>
                    <a:lnTo>
                      <a:pt x="606" y="444"/>
                    </a:lnTo>
                    <a:lnTo>
                      <a:pt x="614" y="435"/>
                    </a:lnTo>
                    <a:lnTo>
                      <a:pt x="623" y="426"/>
                    </a:lnTo>
                    <a:lnTo>
                      <a:pt x="631" y="418"/>
                    </a:lnTo>
                    <a:lnTo>
                      <a:pt x="640" y="409"/>
                    </a:lnTo>
                    <a:lnTo>
                      <a:pt x="649" y="409"/>
                    </a:lnTo>
                    <a:lnTo>
                      <a:pt x="657" y="401"/>
                    </a:lnTo>
                    <a:lnTo>
                      <a:pt x="666" y="392"/>
                    </a:lnTo>
                    <a:lnTo>
                      <a:pt x="674" y="384"/>
                    </a:lnTo>
                    <a:lnTo>
                      <a:pt x="683" y="375"/>
                    </a:lnTo>
                    <a:lnTo>
                      <a:pt x="691" y="367"/>
                    </a:lnTo>
                    <a:lnTo>
                      <a:pt x="700" y="358"/>
                    </a:lnTo>
                    <a:lnTo>
                      <a:pt x="708" y="350"/>
                    </a:lnTo>
                    <a:lnTo>
                      <a:pt x="717" y="341"/>
                    </a:lnTo>
                    <a:lnTo>
                      <a:pt x="725" y="333"/>
                    </a:lnTo>
                    <a:lnTo>
                      <a:pt x="734" y="324"/>
                    </a:lnTo>
                    <a:lnTo>
                      <a:pt x="742" y="315"/>
                    </a:lnTo>
                    <a:lnTo>
                      <a:pt x="751" y="307"/>
                    </a:lnTo>
                    <a:lnTo>
                      <a:pt x="760" y="307"/>
                    </a:lnTo>
                    <a:lnTo>
                      <a:pt x="768" y="298"/>
                    </a:lnTo>
                    <a:lnTo>
                      <a:pt x="777" y="290"/>
                    </a:lnTo>
                    <a:lnTo>
                      <a:pt x="785" y="281"/>
                    </a:lnTo>
                    <a:lnTo>
                      <a:pt x="794" y="273"/>
                    </a:lnTo>
                    <a:lnTo>
                      <a:pt x="802" y="264"/>
                    </a:lnTo>
                    <a:lnTo>
                      <a:pt x="811" y="256"/>
                    </a:lnTo>
                    <a:lnTo>
                      <a:pt x="819" y="247"/>
                    </a:lnTo>
                    <a:lnTo>
                      <a:pt x="828" y="239"/>
                    </a:lnTo>
                    <a:lnTo>
                      <a:pt x="836" y="230"/>
                    </a:lnTo>
                    <a:lnTo>
                      <a:pt x="845" y="222"/>
                    </a:lnTo>
                    <a:lnTo>
                      <a:pt x="853" y="213"/>
                    </a:lnTo>
                    <a:lnTo>
                      <a:pt x="862" y="204"/>
                    </a:lnTo>
                    <a:lnTo>
                      <a:pt x="871" y="204"/>
                    </a:lnTo>
                    <a:lnTo>
                      <a:pt x="879" y="196"/>
                    </a:lnTo>
                    <a:lnTo>
                      <a:pt x="888" y="187"/>
                    </a:lnTo>
                    <a:lnTo>
                      <a:pt x="896" y="179"/>
                    </a:lnTo>
                    <a:lnTo>
                      <a:pt x="905" y="170"/>
                    </a:lnTo>
                    <a:lnTo>
                      <a:pt x="913" y="162"/>
                    </a:lnTo>
                    <a:lnTo>
                      <a:pt x="922" y="153"/>
                    </a:lnTo>
                    <a:lnTo>
                      <a:pt x="930" y="145"/>
                    </a:lnTo>
                    <a:lnTo>
                      <a:pt x="939" y="136"/>
                    </a:lnTo>
                    <a:lnTo>
                      <a:pt x="947" y="128"/>
                    </a:lnTo>
                    <a:lnTo>
                      <a:pt x="956" y="119"/>
                    </a:lnTo>
                    <a:lnTo>
                      <a:pt x="964" y="111"/>
                    </a:lnTo>
                    <a:lnTo>
                      <a:pt x="973" y="111"/>
                    </a:lnTo>
                    <a:lnTo>
                      <a:pt x="981" y="102"/>
                    </a:lnTo>
                    <a:lnTo>
                      <a:pt x="990" y="93"/>
                    </a:lnTo>
                    <a:lnTo>
                      <a:pt x="999" y="85"/>
                    </a:lnTo>
                    <a:lnTo>
                      <a:pt x="1007" y="76"/>
                    </a:lnTo>
                    <a:lnTo>
                      <a:pt x="1016" y="68"/>
                    </a:lnTo>
                    <a:lnTo>
                      <a:pt x="1024" y="59"/>
                    </a:lnTo>
                    <a:lnTo>
                      <a:pt x="1033" y="51"/>
                    </a:lnTo>
                    <a:lnTo>
                      <a:pt x="1041" y="42"/>
                    </a:lnTo>
                    <a:lnTo>
                      <a:pt x="1050" y="34"/>
                    </a:lnTo>
                    <a:lnTo>
                      <a:pt x="1058" y="25"/>
                    </a:lnTo>
                    <a:lnTo>
                      <a:pt x="1067" y="17"/>
                    </a:lnTo>
                    <a:lnTo>
                      <a:pt x="1075" y="8"/>
                    </a:lnTo>
                    <a:lnTo>
                      <a:pt x="1084" y="0"/>
                    </a:lnTo>
                  </a:path>
                </a:pathLst>
              </a:custGeom>
              <a:noFill/>
              <a:ln w="26988" cap="flat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0" name="Freeform 54">
                <a:extLst>
                  <a:ext uri="{FF2B5EF4-FFF2-40B4-BE49-F238E27FC236}">
                    <a16:creationId xmlns:a16="http://schemas.microsoft.com/office/drawing/2014/main" id="{B6B3F8F8-6612-4B37-88C7-6656A5795D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1" y="1455"/>
                <a:ext cx="726" cy="675"/>
              </a:xfrm>
              <a:custGeom>
                <a:avLst/>
                <a:gdLst/>
                <a:ahLst/>
                <a:cxnLst>
                  <a:cxn ang="0">
                    <a:pos x="8" y="666"/>
                  </a:cxn>
                  <a:cxn ang="0">
                    <a:pos x="26" y="657"/>
                  </a:cxn>
                  <a:cxn ang="0">
                    <a:pos x="43" y="640"/>
                  </a:cxn>
                  <a:cxn ang="0">
                    <a:pos x="60" y="623"/>
                  </a:cxn>
                  <a:cxn ang="0">
                    <a:pos x="77" y="606"/>
                  </a:cxn>
                  <a:cxn ang="0">
                    <a:pos x="94" y="589"/>
                  </a:cxn>
                  <a:cxn ang="0">
                    <a:pos x="111" y="572"/>
                  </a:cxn>
                  <a:cxn ang="0">
                    <a:pos x="128" y="555"/>
                  </a:cxn>
                  <a:cxn ang="0">
                    <a:pos x="145" y="538"/>
                  </a:cxn>
                  <a:cxn ang="0">
                    <a:pos x="171" y="521"/>
                  </a:cxn>
                  <a:cxn ang="0">
                    <a:pos x="171" y="521"/>
                  </a:cxn>
                  <a:cxn ang="0">
                    <a:pos x="188" y="504"/>
                  </a:cxn>
                  <a:cxn ang="0">
                    <a:pos x="205" y="487"/>
                  </a:cxn>
                  <a:cxn ang="0">
                    <a:pos x="222" y="470"/>
                  </a:cxn>
                  <a:cxn ang="0">
                    <a:pos x="239" y="453"/>
                  </a:cxn>
                  <a:cxn ang="0">
                    <a:pos x="256" y="435"/>
                  </a:cxn>
                  <a:cxn ang="0">
                    <a:pos x="273" y="418"/>
                  </a:cxn>
                  <a:cxn ang="0">
                    <a:pos x="290" y="401"/>
                  </a:cxn>
                  <a:cxn ang="0">
                    <a:pos x="307" y="384"/>
                  </a:cxn>
                  <a:cxn ang="0">
                    <a:pos x="324" y="376"/>
                  </a:cxn>
                  <a:cxn ang="0">
                    <a:pos x="341" y="359"/>
                  </a:cxn>
                  <a:cxn ang="0">
                    <a:pos x="359" y="341"/>
                  </a:cxn>
                  <a:cxn ang="0">
                    <a:pos x="376" y="324"/>
                  </a:cxn>
                  <a:cxn ang="0">
                    <a:pos x="393" y="307"/>
                  </a:cxn>
                  <a:cxn ang="0">
                    <a:pos x="410" y="290"/>
                  </a:cxn>
                  <a:cxn ang="0">
                    <a:pos x="427" y="273"/>
                  </a:cxn>
                  <a:cxn ang="0">
                    <a:pos x="444" y="256"/>
                  </a:cxn>
                  <a:cxn ang="0">
                    <a:pos x="461" y="239"/>
                  </a:cxn>
                  <a:cxn ang="0">
                    <a:pos x="478" y="230"/>
                  </a:cxn>
                  <a:cxn ang="0">
                    <a:pos x="495" y="205"/>
                  </a:cxn>
                  <a:cxn ang="0">
                    <a:pos x="512" y="196"/>
                  </a:cxn>
                  <a:cxn ang="0">
                    <a:pos x="529" y="179"/>
                  </a:cxn>
                  <a:cxn ang="0">
                    <a:pos x="546" y="162"/>
                  </a:cxn>
                  <a:cxn ang="0">
                    <a:pos x="563" y="145"/>
                  </a:cxn>
                  <a:cxn ang="0">
                    <a:pos x="581" y="128"/>
                  </a:cxn>
                  <a:cxn ang="0">
                    <a:pos x="598" y="111"/>
                  </a:cxn>
                  <a:cxn ang="0">
                    <a:pos x="615" y="94"/>
                  </a:cxn>
                  <a:cxn ang="0">
                    <a:pos x="632" y="77"/>
                  </a:cxn>
                  <a:cxn ang="0">
                    <a:pos x="649" y="60"/>
                  </a:cxn>
                  <a:cxn ang="0">
                    <a:pos x="666" y="51"/>
                  </a:cxn>
                  <a:cxn ang="0">
                    <a:pos x="683" y="26"/>
                  </a:cxn>
                  <a:cxn ang="0">
                    <a:pos x="700" y="17"/>
                  </a:cxn>
                  <a:cxn ang="0">
                    <a:pos x="717" y="0"/>
                  </a:cxn>
                </a:cxnLst>
                <a:rect l="0" t="0" r="r" b="b"/>
                <a:pathLst>
                  <a:path w="726" h="675">
                    <a:moveTo>
                      <a:pt x="0" y="675"/>
                    </a:moveTo>
                    <a:lnTo>
                      <a:pt x="8" y="666"/>
                    </a:lnTo>
                    <a:lnTo>
                      <a:pt x="17" y="666"/>
                    </a:lnTo>
                    <a:lnTo>
                      <a:pt x="26" y="657"/>
                    </a:lnTo>
                    <a:lnTo>
                      <a:pt x="34" y="649"/>
                    </a:lnTo>
                    <a:lnTo>
                      <a:pt x="43" y="640"/>
                    </a:lnTo>
                    <a:lnTo>
                      <a:pt x="51" y="632"/>
                    </a:lnTo>
                    <a:lnTo>
                      <a:pt x="60" y="623"/>
                    </a:lnTo>
                    <a:lnTo>
                      <a:pt x="68" y="615"/>
                    </a:lnTo>
                    <a:lnTo>
                      <a:pt x="77" y="606"/>
                    </a:lnTo>
                    <a:lnTo>
                      <a:pt x="85" y="598"/>
                    </a:lnTo>
                    <a:lnTo>
                      <a:pt x="94" y="589"/>
                    </a:lnTo>
                    <a:lnTo>
                      <a:pt x="102" y="581"/>
                    </a:lnTo>
                    <a:lnTo>
                      <a:pt x="111" y="572"/>
                    </a:lnTo>
                    <a:lnTo>
                      <a:pt x="119" y="564"/>
                    </a:lnTo>
                    <a:lnTo>
                      <a:pt x="128" y="555"/>
                    </a:lnTo>
                    <a:lnTo>
                      <a:pt x="137" y="546"/>
                    </a:lnTo>
                    <a:lnTo>
                      <a:pt x="145" y="538"/>
                    </a:lnTo>
                    <a:lnTo>
                      <a:pt x="154" y="538"/>
                    </a:lnTo>
                    <a:lnTo>
                      <a:pt x="171" y="521"/>
                    </a:lnTo>
                    <a:lnTo>
                      <a:pt x="162" y="521"/>
                    </a:lnTo>
                    <a:lnTo>
                      <a:pt x="171" y="521"/>
                    </a:lnTo>
                    <a:lnTo>
                      <a:pt x="179" y="512"/>
                    </a:lnTo>
                    <a:lnTo>
                      <a:pt x="188" y="504"/>
                    </a:lnTo>
                    <a:lnTo>
                      <a:pt x="196" y="495"/>
                    </a:lnTo>
                    <a:lnTo>
                      <a:pt x="205" y="487"/>
                    </a:lnTo>
                    <a:lnTo>
                      <a:pt x="213" y="478"/>
                    </a:lnTo>
                    <a:lnTo>
                      <a:pt x="222" y="470"/>
                    </a:lnTo>
                    <a:lnTo>
                      <a:pt x="230" y="461"/>
                    </a:lnTo>
                    <a:lnTo>
                      <a:pt x="239" y="453"/>
                    </a:lnTo>
                    <a:lnTo>
                      <a:pt x="248" y="444"/>
                    </a:lnTo>
                    <a:lnTo>
                      <a:pt x="256" y="435"/>
                    </a:lnTo>
                    <a:lnTo>
                      <a:pt x="265" y="427"/>
                    </a:lnTo>
                    <a:lnTo>
                      <a:pt x="273" y="418"/>
                    </a:lnTo>
                    <a:lnTo>
                      <a:pt x="282" y="410"/>
                    </a:lnTo>
                    <a:lnTo>
                      <a:pt x="290" y="401"/>
                    </a:lnTo>
                    <a:lnTo>
                      <a:pt x="299" y="393"/>
                    </a:lnTo>
                    <a:lnTo>
                      <a:pt x="307" y="384"/>
                    </a:lnTo>
                    <a:lnTo>
                      <a:pt x="316" y="376"/>
                    </a:lnTo>
                    <a:lnTo>
                      <a:pt x="324" y="376"/>
                    </a:lnTo>
                    <a:lnTo>
                      <a:pt x="333" y="367"/>
                    </a:lnTo>
                    <a:lnTo>
                      <a:pt x="341" y="359"/>
                    </a:lnTo>
                    <a:lnTo>
                      <a:pt x="350" y="350"/>
                    </a:lnTo>
                    <a:lnTo>
                      <a:pt x="359" y="341"/>
                    </a:lnTo>
                    <a:lnTo>
                      <a:pt x="367" y="333"/>
                    </a:lnTo>
                    <a:lnTo>
                      <a:pt x="376" y="324"/>
                    </a:lnTo>
                    <a:lnTo>
                      <a:pt x="384" y="316"/>
                    </a:lnTo>
                    <a:lnTo>
                      <a:pt x="393" y="307"/>
                    </a:lnTo>
                    <a:lnTo>
                      <a:pt x="401" y="299"/>
                    </a:lnTo>
                    <a:lnTo>
                      <a:pt x="410" y="290"/>
                    </a:lnTo>
                    <a:lnTo>
                      <a:pt x="418" y="282"/>
                    </a:lnTo>
                    <a:lnTo>
                      <a:pt x="427" y="273"/>
                    </a:lnTo>
                    <a:lnTo>
                      <a:pt x="435" y="265"/>
                    </a:lnTo>
                    <a:lnTo>
                      <a:pt x="444" y="256"/>
                    </a:lnTo>
                    <a:lnTo>
                      <a:pt x="452" y="248"/>
                    </a:lnTo>
                    <a:lnTo>
                      <a:pt x="461" y="239"/>
                    </a:lnTo>
                    <a:lnTo>
                      <a:pt x="470" y="230"/>
                    </a:lnTo>
                    <a:lnTo>
                      <a:pt x="478" y="230"/>
                    </a:lnTo>
                    <a:lnTo>
                      <a:pt x="495" y="213"/>
                    </a:lnTo>
                    <a:lnTo>
                      <a:pt x="495" y="205"/>
                    </a:lnTo>
                    <a:lnTo>
                      <a:pt x="504" y="205"/>
                    </a:lnTo>
                    <a:lnTo>
                      <a:pt x="512" y="196"/>
                    </a:lnTo>
                    <a:lnTo>
                      <a:pt x="521" y="188"/>
                    </a:lnTo>
                    <a:lnTo>
                      <a:pt x="529" y="179"/>
                    </a:lnTo>
                    <a:lnTo>
                      <a:pt x="538" y="171"/>
                    </a:lnTo>
                    <a:lnTo>
                      <a:pt x="546" y="162"/>
                    </a:lnTo>
                    <a:lnTo>
                      <a:pt x="555" y="154"/>
                    </a:lnTo>
                    <a:lnTo>
                      <a:pt x="563" y="145"/>
                    </a:lnTo>
                    <a:lnTo>
                      <a:pt x="572" y="137"/>
                    </a:lnTo>
                    <a:lnTo>
                      <a:pt x="581" y="128"/>
                    </a:lnTo>
                    <a:lnTo>
                      <a:pt x="589" y="119"/>
                    </a:lnTo>
                    <a:lnTo>
                      <a:pt x="598" y="111"/>
                    </a:lnTo>
                    <a:lnTo>
                      <a:pt x="606" y="102"/>
                    </a:lnTo>
                    <a:lnTo>
                      <a:pt x="615" y="94"/>
                    </a:lnTo>
                    <a:lnTo>
                      <a:pt x="623" y="85"/>
                    </a:lnTo>
                    <a:lnTo>
                      <a:pt x="632" y="77"/>
                    </a:lnTo>
                    <a:lnTo>
                      <a:pt x="640" y="68"/>
                    </a:lnTo>
                    <a:lnTo>
                      <a:pt x="649" y="60"/>
                    </a:lnTo>
                    <a:lnTo>
                      <a:pt x="657" y="51"/>
                    </a:lnTo>
                    <a:lnTo>
                      <a:pt x="666" y="51"/>
                    </a:lnTo>
                    <a:lnTo>
                      <a:pt x="683" y="34"/>
                    </a:lnTo>
                    <a:lnTo>
                      <a:pt x="683" y="26"/>
                    </a:lnTo>
                    <a:lnTo>
                      <a:pt x="692" y="26"/>
                    </a:lnTo>
                    <a:lnTo>
                      <a:pt x="700" y="17"/>
                    </a:lnTo>
                    <a:lnTo>
                      <a:pt x="709" y="8"/>
                    </a:lnTo>
                    <a:lnTo>
                      <a:pt x="717" y="0"/>
                    </a:lnTo>
                    <a:lnTo>
                      <a:pt x="726" y="0"/>
                    </a:lnTo>
                  </a:path>
                </a:pathLst>
              </a:custGeom>
              <a:noFill/>
              <a:ln w="26988" cap="flat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1" name="Rectangle 55">
                <a:extLst>
                  <a:ext uri="{FF2B5EF4-FFF2-40B4-BE49-F238E27FC236}">
                    <a16:creationId xmlns:a16="http://schemas.microsoft.com/office/drawing/2014/main" id="{9DFB9301-FF51-45AF-9303-EA26F84230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8" y="3820"/>
                <a:ext cx="299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Time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52" name="Rectangle 56">
                <a:extLst>
                  <a:ext uri="{FF2B5EF4-FFF2-40B4-BE49-F238E27FC236}">
                    <a16:creationId xmlns:a16="http://schemas.microsoft.com/office/drawing/2014/main" id="{03A4AE2D-5FC7-43A2-8FF0-10BB03427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1062" y="2466"/>
                <a:ext cx="213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c(t)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53" name="Rectangle 57">
                <a:extLst>
                  <a:ext uri="{FF2B5EF4-FFF2-40B4-BE49-F238E27FC236}">
                    <a16:creationId xmlns:a16="http://schemas.microsoft.com/office/drawing/2014/main" id="{F7D64A79-1263-4C8F-9857-329A8D4F1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7" y="1259"/>
                <a:ext cx="1110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Unit Ramp Response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54" name="Rectangle 58">
                <a:extLst>
                  <a:ext uri="{FF2B5EF4-FFF2-40B4-BE49-F238E27FC236}">
                    <a16:creationId xmlns:a16="http://schemas.microsoft.com/office/drawing/2014/main" id="{B4DF8F81-75A6-4631-A146-C9AF94810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4" y="3590"/>
                <a:ext cx="85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 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55" name="Rectangle 59">
                <a:extLst>
                  <a:ext uri="{FF2B5EF4-FFF2-40B4-BE49-F238E27FC236}">
                    <a16:creationId xmlns:a16="http://schemas.microsoft.com/office/drawing/2014/main" id="{72A478B5-CE81-4C67-ADD2-9E6168FA7D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2" y="1387"/>
                <a:ext cx="85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 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56" name="Rectangle 60">
                <a:extLst>
                  <a:ext uri="{FF2B5EF4-FFF2-40B4-BE49-F238E27FC236}">
                    <a16:creationId xmlns:a16="http://schemas.microsoft.com/office/drawing/2014/main" id="{5A4DAEC9-711B-4E8F-AAE4-38C99B5AF5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" y="1574"/>
                <a:ext cx="1315" cy="35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7" name="Rectangle 61">
                <a:extLst>
                  <a:ext uri="{FF2B5EF4-FFF2-40B4-BE49-F238E27FC236}">
                    <a16:creationId xmlns:a16="http://schemas.microsoft.com/office/drawing/2014/main" id="{2E043F4C-8C61-4FCE-8066-D6DA53481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8" y="1574"/>
                <a:ext cx="1315" cy="359"/>
              </a:xfrm>
              <a:prstGeom prst="rect">
                <a:avLst/>
              </a:prstGeom>
              <a:noFill/>
              <a:ln w="0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8" name="Line 62">
                <a:extLst>
                  <a:ext uri="{FF2B5EF4-FFF2-40B4-BE49-F238E27FC236}">
                    <a16:creationId xmlns:a16="http://schemas.microsoft.com/office/drawing/2014/main" id="{4274990E-30AB-4E21-AE72-5618E57812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8" y="1574"/>
                <a:ext cx="131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9" name="Line 63">
                <a:extLst>
                  <a:ext uri="{FF2B5EF4-FFF2-40B4-BE49-F238E27FC236}">
                    <a16:creationId xmlns:a16="http://schemas.microsoft.com/office/drawing/2014/main" id="{B76F1255-EEA6-4A9D-B811-D21A5DF813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8" y="1933"/>
                <a:ext cx="131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0" name="Line 64">
                <a:extLst>
                  <a:ext uri="{FF2B5EF4-FFF2-40B4-BE49-F238E27FC236}">
                    <a16:creationId xmlns:a16="http://schemas.microsoft.com/office/drawing/2014/main" id="{6E6F2F10-A454-442F-89F8-F960FBFC6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3" y="1574"/>
                <a:ext cx="1" cy="35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1" name="Line 65">
                <a:extLst>
                  <a:ext uri="{FF2B5EF4-FFF2-40B4-BE49-F238E27FC236}">
                    <a16:creationId xmlns:a16="http://schemas.microsoft.com/office/drawing/2014/main" id="{766CE8C9-A943-4978-A9B4-D8C6FCDD15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8" y="1574"/>
                <a:ext cx="1" cy="35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2" name="Line 66">
                <a:extLst>
                  <a:ext uri="{FF2B5EF4-FFF2-40B4-BE49-F238E27FC236}">
                    <a16:creationId xmlns:a16="http://schemas.microsoft.com/office/drawing/2014/main" id="{3047C423-2637-404F-B57F-B780F94A9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8" y="1933"/>
                <a:ext cx="131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3" name="Line 67">
                <a:extLst>
                  <a:ext uri="{FF2B5EF4-FFF2-40B4-BE49-F238E27FC236}">
                    <a16:creationId xmlns:a16="http://schemas.microsoft.com/office/drawing/2014/main" id="{41FD244E-DBE9-49AD-A580-B9708346B1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8" y="1574"/>
                <a:ext cx="1" cy="35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4" name="Line 68">
                <a:extLst>
                  <a:ext uri="{FF2B5EF4-FFF2-40B4-BE49-F238E27FC236}">
                    <a16:creationId xmlns:a16="http://schemas.microsoft.com/office/drawing/2014/main" id="{D736D9B5-5E91-4118-9705-F93C505B0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8" y="1574"/>
                <a:ext cx="131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5" name="Line 69">
                <a:extLst>
                  <a:ext uri="{FF2B5EF4-FFF2-40B4-BE49-F238E27FC236}">
                    <a16:creationId xmlns:a16="http://schemas.microsoft.com/office/drawing/2014/main" id="{59A59715-57A2-44D3-834A-E6D5EE2329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8" y="1933"/>
                <a:ext cx="1315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6" name="Line 70">
                <a:extLst>
                  <a:ext uri="{FF2B5EF4-FFF2-40B4-BE49-F238E27FC236}">
                    <a16:creationId xmlns:a16="http://schemas.microsoft.com/office/drawing/2014/main" id="{4B784739-A1C6-478E-B633-FAE770908D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3" y="1574"/>
                <a:ext cx="1" cy="35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7" name="Line 71">
                <a:extLst>
                  <a:ext uri="{FF2B5EF4-FFF2-40B4-BE49-F238E27FC236}">
                    <a16:creationId xmlns:a16="http://schemas.microsoft.com/office/drawing/2014/main" id="{DEDBBC5D-E8AA-4F9D-BD35-6384D60618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8" y="1574"/>
                <a:ext cx="1" cy="359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8" name="Rectangle 72">
                <a:extLst>
                  <a:ext uri="{FF2B5EF4-FFF2-40B4-BE49-F238E27FC236}">
                    <a16:creationId xmlns:a16="http://schemas.microsoft.com/office/drawing/2014/main" id="{4EB52814-F0D6-45DE-BC8A-D778113AB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" y="1609"/>
                <a:ext cx="533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Unit Ramp</a:t>
                </a: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69" name="Line 73">
                <a:extLst>
                  <a:ext uri="{FF2B5EF4-FFF2-40B4-BE49-F238E27FC236}">
                    <a16:creationId xmlns:a16="http://schemas.microsoft.com/office/drawing/2014/main" id="{B96C1E07-FD1C-4DEF-9655-9F2746C8F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7" y="1668"/>
                <a:ext cx="341" cy="1"/>
              </a:xfrm>
              <a:prstGeom prst="line">
                <a:avLst/>
              </a:prstGeom>
              <a:noFill/>
              <a:ln w="26988" cap="flat">
                <a:solidFill>
                  <a:srgbClr val="0000FF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0" name="Rectangle 74">
                <a:extLst>
                  <a:ext uri="{FF2B5EF4-FFF2-40B4-BE49-F238E27FC236}">
                    <a16:creationId xmlns:a16="http://schemas.microsoft.com/office/drawing/2014/main" id="{F8163393-5375-4314-97D1-6BD268C6B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" y="1771"/>
                <a:ext cx="879" cy="1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Ramp Response</a:t>
                </a: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1" name="Line 75">
                <a:extLst>
                  <a:ext uri="{FF2B5EF4-FFF2-40B4-BE49-F238E27FC236}">
                    <a16:creationId xmlns:a16="http://schemas.microsoft.com/office/drawing/2014/main" id="{FB4C5000-F51F-4F52-962B-5E6E5F821A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7" y="1831"/>
                <a:ext cx="341" cy="1"/>
              </a:xfrm>
              <a:prstGeom prst="line">
                <a:avLst/>
              </a:prstGeom>
              <a:noFill/>
              <a:ln w="26988" cap="flat">
                <a:solidFill>
                  <a:srgbClr val="007F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1EC9C1C2-9EC0-42A1-A9B0-953D96052089}"/>
                </a:ext>
              </a:extLst>
            </p:cNvPr>
            <p:cNvGrpSpPr/>
            <p:nvPr/>
          </p:nvGrpSpPr>
          <p:grpSpPr>
            <a:xfrm>
              <a:off x="3810710" y="3855529"/>
              <a:ext cx="900000" cy="1764000"/>
              <a:chOff x="4139952" y="4005064"/>
              <a:chExt cx="900000" cy="1764000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4CF8B7F7-DE06-444D-AD01-B51D92E6F937}"/>
                  </a:ext>
                </a:extLst>
              </p:cNvPr>
              <p:cNvCxnSpPr/>
              <p:nvPr/>
            </p:nvCxnSpPr>
            <p:spPr>
              <a:xfrm flipH="1">
                <a:off x="4139952" y="4005064"/>
                <a:ext cx="900000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6C9E464D-5A07-4662-8FDB-AE1AA0CB106E}"/>
                  </a:ext>
                </a:extLst>
              </p:cNvPr>
              <p:cNvSpPr txBox="1"/>
              <p:nvPr/>
            </p:nvSpPr>
            <p:spPr>
              <a:xfrm>
                <a:off x="4283968" y="4941168"/>
                <a:ext cx="658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error</a:t>
                </a:r>
              </a:p>
            </p:txBody>
          </p: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2211A1E5-4E34-4E32-88D6-7AC2C927BD1B}"/>
                  </a:ext>
                </a:extLst>
              </p:cNvPr>
              <p:cNvCxnSpPr/>
              <p:nvPr/>
            </p:nvCxnSpPr>
            <p:spPr>
              <a:xfrm>
                <a:off x="4139952" y="4005064"/>
                <a:ext cx="0" cy="1764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33A56C20-6893-4A5B-A8CE-7482514A33F8}"/>
                  </a:ext>
                </a:extLst>
              </p:cNvPr>
              <p:cNvCxnSpPr/>
              <p:nvPr/>
            </p:nvCxnSpPr>
            <p:spPr>
              <a:xfrm>
                <a:off x="5004048" y="4005064"/>
                <a:ext cx="0" cy="1764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9871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65D1AD39-E724-4600-A6CB-10F40EF512D7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Parabolic Response of First Order 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5FB086-AB29-4079-8438-1BD4C6AED959}"/>
              </a:ext>
            </a:extLst>
          </p:cNvPr>
          <p:cNvSpPr/>
          <p:nvPr/>
        </p:nvSpPr>
        <p:spPr>
          <a:xfrm>
            <a:off x="426572" y="671114"/>
            <a:ext cx="810971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The parabolic response is much the same as the ramp response for a first order system as it just produce the curve with a delay based on the time constant. 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25FB086-AB29-4079-8438-1BD4C6AED959}"/>
              </a:ext>
            </a:extLst>
          </p:cNvPr>
          <p:cNvSpPr/>
          <p:nvPr/>
        </p:nvSpPr>
        <p:spPr>
          <a:xfrm>
            <a:off x="652863" y="1931878"/>
            <a:ext cx="81097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The ramp and parabolic inputs are known as unbounded  as they keep changing and do not lead to a steady state response.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25FB086-AB29-4079-8438-1BD4C6AED959}"/>
              </a:ext>
            </a:extLst>
          </p:cNvPr>
          <p:cNvSpPr/>
          <p:nvPr/>
        </p:nvSpPr>
        <p:spPr>
          <a:xfrm>
            <a:off x="805263" y="2924787"/>
            <a:ext cx="81097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So it is the step response that is most useful to us in this case.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25FB086-AB29-4079-8438-1BD4C6AED959}"/>
              </a:ext>
            </a:extLst>
          </p:cNvPr>
          <p:cNvSpPr/>
          <p:nvPr/>
        </p:nvSpPr>
        <p:spPr>
          <a:xfrm>
            <a:off x="1448424" y="3550147"/>
            <a:ext cx="73107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This can be useful if the system is closed, and the component parts are not easily identifiable.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1488939" y="4426444"/>
            <a:ext cx="72736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 system's step response can lead to a representation even though the inner construction is not known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8939" y="5304180"/>
            <a:ext cx="68737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With a step input, we can measure the time constant and the steady-state value, from which the transfer function can be calculated</a:t>
            </a:r>
          </a:p>
        </p:txBody>
      </p:sp>
    </p:spTree>
    <p:extLst>
      <p:ext uri="{BB962C8B-B14F-4D97-AF65-F5344CB8AC3E}">
        <p14:creationId xmlns:p14="http://schemas.microsoft.com/office/powerpoint/2010/main" val="423472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84" grpId="0"/>
      <p:bldP spid="85" grpId="0"/>
      <p:bldP spid="86" grpId="0"/>
      <p:bldP spid="3" grpId="0"/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882" name="Object 2"/>
          <p:cNvGraphicFramePr>
            <a:graphicFrameLocks noChangeAspect="1"/>
          </p:cNvGraphicFramePr>
          <p:nvPr/>
        </p:nvGraphicFramePr>
        <p:xfrm>
          <a:off x="468313" y="1700213"/>
          <a:ext cx="2178050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669" imgH="355446" progId="Equation.3">
                  <p:embed/>
                </p:oleObj>
              </mc:Choice>
              <mc:Fallback>
                <p:oleObj name="Equation" r:id="rId2" imgW="761669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700213"/>
                        <a:ext cx="2178050" cy="1017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9"/>
          <p:cNvGrpSpPr/>
          <p:nvPr/>
        </p:nvGrpSpPr>
        <p:grpSpPr>
          <a:xfrm>
            <a:off x="4067944" y="1556792"/>
            <a:ext cx="5056654" cy="4176464"/>
            <a:chOff x="4090552" y="1556792"/>
            <a:chExt cx="5056654" cy="4176464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6399496" y="1916832"/>
              <a:ext cx="0" cy="3816424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575142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5031344" y="3751864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31126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535400" y="3851168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01672" y="387469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90552" y="387469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28184" y="1556792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665768" y="3717032"/>
            <a:ext cx="144017" cy="145470"/>
            <a:chOff x="3203847" y="4809330"/>
            <a:chExt cx="144017" cy="145470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50883" name="Object 2"/>
          <p:cNvGraphicFramePr>
            <a:graphicFrameLocks noChangeAspect="1"/>
          </p:cNvGraphicFramePr>
          <p:nvPr/>
        </p:nvGraphicFramePr>
        <p:xfrm>
          <a:off x="539552" y="3212976"/>
          <a:ext cx="19970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197" imgH="355446" progId="Equation.3">
                  <p:embed/>
                </p:oleObj>
              </mc:Choice>
              <mc:Fallback>
                <p:oleObj name="Equation" r:id="rId4" imgW="698197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3212976"/>
                        <a:ext cx="1997075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4" name="Object 2"/>
          <p:cNvGraphicFramePr>
            <a:graphicFrameLocks noChangeAspect="1"/>
          </p:cNvGraphicFramePr>
          <p:nvPr/>
        </p:nvGraphicFramePr>
        <p:xfrm>
          <a:off x="5292080" y="3140968"/>
          <a:ext cx="821978" cy="340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68140" imgH="152334" progId="Equation.3">
                  <p:embed/>
                </p:oleObj>
              </mc:Choice>
              <mc:Fallback>
                <p:oleObj name="Equation" r:id="rId6" imgW="368140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3140968"/>
                        <a:ext cx="821978" cy="3409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id="{65D1AD39-E724-4600-A6CB-10F40EF512D7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PZ-map and Step Response</a:t>
            </a:r>
          </a:p>
        </p:txBody>
      </p:sp>
    </p:spTree>
    <p:extLst>
      <p:ext uri="{BB962C8B-B14F-4D97-AF65-F5344CB8AC3E}">
        <p14:creationId xmlns:p14="http://schemas.microsoft.com/office/powerpoint/2010/main" val="273174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882" name="Object 2"/>
          <p:cNvGraphicFramePr>
            <a:graphicFrameLocks noChangeAspect="1"/>
          </p:cNvGraphicFramePr>
          <p:nvPr/>
        </p:nvGraphicFramePr>
        <p:xfrm>
          <a:off x="468313" y="1700213"/>
          <a:ext cx="2178050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669" imgH="355446" progId="Equation.3">
                  <p:embed/>
                </p:oleObj>
              </mc:Choice>
              <mc:Fallback>
                <p:oleObj name="Equation" r:id="rId2" imgW="761669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700213"/>
                        <a:ext cx="2178050" cy="1017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/>
          <p:nvPr/>
        </p:nvGrpSpPr>
        <p:grpSpPr>
          <a:xfrm>
            <a:off x="4067944" y="1556792"/>
            <a:ext cx="5056654" cy="4176464"/>
            <a:chOff x="4090552" y="1556792"/>
            <a:chExt cx="5056654" cy="4176464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6399496" y="1916832"/>
              <a:ext cx="0" cy="3816424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575142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5031344" y="3751864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31126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535400" y="3851168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01672" y="387469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90552" y="387469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28184" y="1556792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grpSp>
        <p:nvGrpSpPr>
          <p:cNvPr id="4" name="Group 25"/>
          <p:cNvGrpSpPr/>
          <p:nvPr/>
        </p:nvGrpSpPr>
        <p:grpSpPr>
          <a:xfrm>
            <a:off x="4935808" y="3717032"/>
            <a:ext cx="144017" cy="145470"/>
            <a:chOff x="3203847" y="4809330"/>
            <a:chExt cx="144017" cy="145470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50883" name="Object 2"/>
          <p:cNvGraphicFramePr>
            <a:graphicFrameLocks noChangeAspect="1"/>
          </p:cNvGraphicFramePr>
          <p:nvPr/>
        </p:nvGraphicFramePr>
        <p:xfrm>
          <a:off x="503238" y="3213100"/>
          <a:ext cx="2070100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586" imgH="355446" progId="Equation.3">
                  <p:embed/>
                </p:oleObj>
              </mc:Choice>
              <mc:Fallback>
                <p:oleObj name="Equation" r:id="rId4" imgW="723586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3213100"/>
                        <a:ext cx="2070100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4" name="Object 2"/>
          <p:cNvGraphicFramePr>
            <a:graphicFrameLocks noChangeAspect="1"/>
          </p:cNvGraphicFramePr>
          <p:nvPr/>
        </p:nvGraphicFramePr>
        <p:xfrm>
          <a:off x="4499992" y="3247616"/>
          <a:ext cx="933896" cy="294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82391" imgH="152334" progId="Equation.3">
                  <p:embed/>
                </p:oleObj>
              </mc:Choice>
              <mc:Fallback>
                <p:oleObj name="Equation" r:id="rId6" imgW="482391" imgH="152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3247616"/>
                        <a:ext cx="933896" cy="2943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09" name="Object 3"/>
          <p:cNvGraphicFramePr>
            <a:graphicFrameLocks noChangeAspect="1"/>
          </p:cNvGraphicFramePr>
          <p:nvPr/>
        </p:nvGraphicFramePr>
        <p:xfrm>
          <a:off x="467544" y="4581128"/>
          <a:ext cx="2433637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50531" imgH="355446" progId="Equation.3">
                  <p:embed/>
                </p:oleObj>
              </mc:Choice>
              <mc:Fallback>
                <p:oleObj name="Equation" r:id="rId8" imgW="850531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4581128"/>
                        <a:ext cx="2433637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itle 1">
            <a:extLst>
              <a:ext uri="{FF2B5EF4-FFF2-40B4-BE49-F238E27FC236}">
                <a16:creationId xmlns:a16="http://schemas.microsoft.com/office/drawing/2014/main" id="{65D1AD39-E724-4600-A6CB-10F40EF512D7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PZ-map and Step Response</a:t>
            </a:r>
          </a:p>
        </p:txBody>
      </p:sp>
    </p:spTree>
    <p:extLst>
      <p:ext uri="{BB962C8B-B14F-4D97-AF65-F5344CB8AC3E}">
        <p14:creationId xmlns:p14="http://schemas.microsoft.com/office/powerpoint/2010/main" val="288667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882" name="Object 2"/>
          <p:cNvGraphicFramePr>
            <a:graphicFrameLocks noChangeAspect="1"/>
          </p:cNvGraphicFramePr>
          <p:nvPr/>
        </p:nvGraphicFramePr>
        <p:xfrm>
          <a:off x="468313" y="1700213"/>
          <a:ext cx="2178050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669" imgH="355446" progId="Equation.3">
                  <p:embed/>
                </p:oleObj>
              </mc:Choice>
              <mc:Fallback>
                <p:oleObj name="Equation" r:id="rId2" imgW="761669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700213"/>
                        <a:ext cx="2178050" cy="1017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/>
          <p:nvPr/>
        </p:nvGrpSpPr>
        <p:grpSpPr>
          <a:xfrm>
            <a:off x="4067944" y="1556792"/>
            <a:ext cx="5056654" cy="4176464"/>
            <a:chOff x="4090552" y="1556792"/>
            <a:chExt cx="5056654" cy="4176464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6399496" y="1916832"/>
              <a:ext cx="0" cy="3816424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5400000">
              <a:off x="6480472" y="1449040"/>
              <a:ext cx="0" cy="4680000"/>
            </a:xfrm>
            <a:prstGeom prst="straightConnector1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575142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5031344" y="3751864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4311264" y="3748096"/>
              <a:ext cx="0" cy="72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535400" y="3851168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-1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801672" y="387469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-2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90552" y="3874696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-3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839108" y="362760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b="1" dirty="0"/>
                <a:t>δ</a:t>
              </a:r>
              <a:endParaRPr lang="en-GB" b="1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28184" y="1556792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j</a:t>
              </a:r>
              <a:r>
                <a:rPr lang="el-GR" b="1" dirty="0"/>
                <a:t>ω</a:t>
              </a:r>
              <a:endParaRPr lang="en-GB" b="1" dirty="0"/>
            </a:p>
          </p:txBody>
        </p:sp>
      </p:grpSp>
      <p:grpSp>
        <p:nvGrpSpPr>
          <p:cNvPr id="4" name="Group 25"/>
          <p:cNvGrpSpPr/>
          <p:nvPr/>
        </p:nvGrpSpPr>
        <p:grpSpPr>
          <a:xfrm>
            <a:off x="4211960" y="3717032"/>
            <a:ext cx="144017" cy="145470"/>
            <a:chOff x="3203847" y="4809330"/>
            <a:chExt cx="144017" cy="145470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3203847" y="480933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3203864" y="4810800"/>
              <a:ext cx="144000" cy="1440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250883" name="Object 2"/>
          <p:cNvGraphicFramePr>
            <a:graphicFrameLocks noChangeAspect="1"/>
          </p:cNvGraphicFramePr>
          <p:nvPr/>
        </p:nvGraphicFramePr>
        <p:xfrm>
          <a:off x="520700" y="3213100"/>
          <a:ext cx="20351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0891" imgH="355446" progId="Equation.3">
                  <p:embed/>
                </p:oleObj>
              </mc:Choice>
              <mc:Fallback>
                <p:oleObj name="Equation" r:id="rId4" imgW="710891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3213100"/>
                        <a:ext cx="2035175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884" name="Object 2"/>
          <p:cNvGraphicFramePr>
            <a:graphicFrameLocks noChangeAspect="1"/>
          </p:cNvGraphicFramePr>
          <p:nvPr/>
        </p:nvGraphicFramePr>
        <p:xfrm>
          <a:off x="3789363" y="3248025"/>
          <a:ext cx="1058862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626" imgH="152268" progId="Equation.3">
                  <p:embed/>
                </p:oleObj>
              </mc:Choice>
              <mc:Fallback>
                <p:oleObj name="Equation" r:id="rId6" imgW="545626" imgH="1522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363" y="3248025"/>
                        <a:ext cx="1058862" cy="293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09" name="Object 3"/>
          <p:cNvGraphicFramePr>
            <a:graphicFrameLocks noChangeAspect="1"/>
          </p:cNvGraphicFramePr>
          <p:nvPr/>
        </p:nvGraphicFramePr>
        <p:xfrm>
          <a:off x="377825" y="4581525"/>
          <a:ext cx="2614613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003" imgH="355446" progId="Equation.3">
                  <p:embed/>
                </p:oleObj>
              </mc:Choice>
              <mc:Fallback>
                <p:oleObj name="Equation" r:id="rId8" imgW="914003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4581525"/>
                        <a:ext cx="2614613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itle 1">
            <a:extLst>
              <a:ext uri="{FF2B5EF4-FFF2-40B4-BE49-F238E27FC236}">
                <a16:creationId xmlns:a16="http://schemas.microsoft.com/office/drawing/2014/main" id="{65D1AD39-E724-4600-A6CB-10F40EF512D7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PZ-map and Step Response</a:t>
            </a:r>
          </a:p>
        </p:txBody>
      </p:sp>
    </p:spTree>
    <p:extLst>
      <p:ext uri="{BB962C8B-B14F-4D97-AF65-F5344CB8AC3E}">
        <p14:creationId xmlns:p14="http://schemas.microsoft.com/office/powerpoint/2010/main" val="405709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1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954" name="Object 2"/>
          <p:cNvGraphicFramePr>
            <a:graphicFrameLocks noChangeAspect="1"/>
          </p:cNvGraphicFramePr>
          <p:nvPr/>
        </p:nvGraphicFramePr>
        <p:xfrm>
          <a:off x="899592" y="1340768"/>
          <a:ext cx="19970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197" imgH="355446" progId="Equation.3">
                  <p:embed/>
                </p:oleObj>
              </mc:Choice>
              <mc:Fallback>
                <p:oleObj name="Equation" r:id="rId2" imgW="698197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1340768"/>
                        <a:ext cx="1997075" cy="1017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5" name="Object 3"/>
          <p:cNvGraphicFramePr>
            <a:graphicFrameLocks noChangeAspect="1"/>
          </p:cNvGraphicFramePr>
          <p:nvPr/>
        </p:nvGraphicFramePr>
        <p:xfrm>
          <a:off x="5776913" y="1341438"/>
          <a:ext cx="2178050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61669" imgH="355446" progId="Equation.3">
                  <p:embed/>
                </p:oleObj>
              </mc:Choice>
              <mc:Fallback>
                <p:oleObj name="Equation" r:id="rId4" imgW="761669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6913" y="1341438"/>
                        <a:ext cx="2178050" cy="1017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3956" name="Picture 4"/>
          <p:cNvPicPr>
            <a:picLocks noChangeAspect="1" noChangeArrowheads="1"/>
          </p:cNvPicPr>
          <p:nvPr/>
        </p:nvPicPr>
        <p:blipFill>
          <a:blip r:embed="rId6" cstate="print"/>
          <a:srcRect l="9426" t="4974" r="7622"/>
          <a:stretch>
            <a:fillRect/>
          </a:stretch>
        </p:blipFill>
        <p:spPr bwMode="auto">
          <a:xfrm>
            <a:off x="323528" y="2852936"/>
            <a:ext cx="4104456" cy="3564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3957" name="Picture 5"/>
          <p:cNvPicPr>
            <a:picLocks noChangeAspect="1" noChangeArrowheads="1"/>
          </p:cNvPicPr>
          <p:nvPr/>
        </p:nvPicPr>
        <p:blipFill>
          <a:blip r:embed="rId7" cstate="print"/>
          <a:srcRect l="7541" t="4974" r="7622"/>
          <a:stretch>
            <a:fillRect/>
          </a:stretch>
        </p:blipFill>
        <p:spPr bwMode="auto">
          <a:xfrm>
            <a:off x="4788024" y="2924944"/>
            <a:ext cx="4176464" cy="3546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5D1AD39-E724-4600-A6CB-10F40EF512D7}"/>
              </a:ext>
            </a:extLst>
          </p:cNvPr>
          <p:cNvSpPr txBox="1">
            <a:spLocks/>
          </p:cNvSpPr>
          <p:nvPr/>
        </p:nvSpPr>
        <p:spPr bwMode="auto">
          <a:xfrm>
            <a:off x="320548" y="31600"/>
            <a:ext cx="8175625" cy="50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C60C30"/>
                </a:solidFill>
                <a:latin typeface="Arial Bold"/>
                <a:ea typeface="ＭＳ Ｐゴシック" charset="-128"/>
                <a:cs typeface="Arial Bold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  <a:cs typeface="Arial Bold" pitchFamily="34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C60C30"/>
                </a:solidFill>
                <a:latin typeface="Arial Bold" charset="0"/>
                <a:ea typeface="ＭＳ Ｐゴシック" charset="-128"/>
              </a:defRPr>
            </a:lvl9pPr>
          </a:lstStyle>
          <a:p>
            <a:r>
              <a:rPr lang="en-GB" sz="2400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523293619"/>
      </p:ext>
    </p:extLst>
  </p:cSld>
  <p:clrMapOvr>
    <a:masterClrMapping/>
  </p:clrMapOvr>
</p:sld>
</file>

<file path=ppt/theme/theme1.xml><?xml version="1.0" encoding="utf-8"?>
<a:theme xmlns:a="http://schemas.openxmlformats.org/drawingml/2006/main" name="UoS template_no_logo_white">
  <a:themeElements>
    <a:clrScheme name="UoS01">
      <a:dk1>
        <a:sysClr val="windowText" lastClr="000000"/>
      </a:dk1>
      <a:lt1>
        <a:sysClr val="window" lastClr="FFFFFF"/>
      </a:lt1>
      <a:dk2>
        <a:srgbClr val="C60C30"/>
      </a:dk2>
      <a:lt2>
        <a:srgbClr val="FFFFFF"/>
      </a:lt2>
      <a:accent1>
        <a:srgbClr val="C60C30"/>
      </a:accent1>
      <a:accent2>
        <a:srgbClr val="009AA6"/>
      </a:accent2>
      <a:accent3>
        <a:srgbClr val="920075"/>
      </a:accent3>
      <a:accent4>
        <a:srgbClr val="BED600"/>
      </a:accent4>
      <a:accent5>
        <a:srgbClr val="E37222"/>
      </a:accent5>
      <a:accent6>
        <a:srgbClr val="782327"/>
      </a:accent6>
      <a:hlink>
        <a:srgbClr val="002060"/>
      </a:hlink>
      <a:folHlink>
        <a:srgbClr val="C2BDB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UoS template_no_logo_white</Template>
  <TotalTime>3972</TotalTime>
  <Words>2342</Words>
  <Application>Microsoft Office PowerPoint</Application>
  <PresentationFormat>On-screen Show (4:3)</PresentationFormat>
  <Paragraphs>487</Paragraphs>
  <Slides>52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3" baseType="lpstr">
      <vt:lpstr>Arial</vt:lpstr>
      <vt:lpstr>Arial Bold</vt:lpstr>
      <vt:lpstr>Calibri</vt:lpstr>
      <vt:lpstr>Cambria Math</vt:lpstr>
      <vt:lpstr>Century</vt:lpstr>
      <vt:lpstr>Helvetica</vt:lpstr>
      <vt:lpstr>MT Extra</vt:lpstr>
      <vt:lpstr>Times New Roman</vt:lpstr>
      <vt:lpstr>Verdana</vt:lpstr>
      <vt:lpstr>UoS template_no_logo_white</vt:lpstr>
      <vt:lpstr>Equation</vt:lpstr>
      <vt:lpstr>BEng (Hons) Control and Automation</vt:lpstr>
      <vt:lpstr>Lecture Content:      Transfer Functions</vt:lpstr>
      <vt:lpstr>Transfer Functions</vt:lpstr>
      <vt:lpstr>Laplace Transforms</vt:lpstr>
      <vt:lpstr>Laplace Transform of Derivatives</vt:lpstr>
      <vt:lpstr>Laplace Transform of Integrals</vt:lpstr>
      <vt:lpstr>Calculation of the Transfer Function</vt:lpstr>
      <vt:lpstr>Calculation of the Transfer Function</vt:lpstr>
      <vt:lpstr>Transfer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Poles and Zeros</vt:lpstr>
      <vt:lpstr>Example</vt:lpstr>
      <vt:lpstr>Poles and Zeros</vt:lpstr>
      <vt:lpstr>Poles and Zeros</vt:lpstr>
      <vt:lpstr>Poles and Zeros</vt:lpstr>
      <vt:lpstr>Transfer Functions</vt:lpstr>
      <vt:lpstr>Stability</vt:lpstr>
      <vt:lpstr>Simple Example</vt:lpstr>
      <vt:lpstr>Tutorial 2: Have a go</vt:lpstr>
      <vt:lpstr>Time Domain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Salford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to go here heading to go here</dc:title>
  <dc:creator>Chambers Denis</dc:creator>
  <cp:lastModifiedBy>Saber Mahboubi Heydarabad</cp:lastModifiedBy>
  <cp:revision>340</cp:revision>
  <cp:lastPrinted>2018-11-06T09:13:53Z</cp:lastPrinted>
  <dcterms:created xsi:type="dcterms:W3CDTF">2011-12-09T09:26:53Z</dcterms:created>
  <dcterms:modified xsi:type="dcterms:W3CDTF">2023-08-27T14:23:57Z</dcterms:modified>
</cp:coreProperties>
</file>