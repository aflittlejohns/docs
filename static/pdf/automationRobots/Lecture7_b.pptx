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80" r:id="rId1"/>
  </p:sldMasterIdLst>
  <p:notesMasterIdLst>
    <p:notesMasterId r:id="rId32"/>
  </p:notesMasterIdLst>
  <p:handoutMasterIdLst>
    <p:handoutMasterId r:id="rId33"/>
  </p:handoutMasterIdLst>
  <p:sldIdLst>
    <p:sldId id="1265" r:id="rId2"/>
    <p:sldId id="363" r:id="rId3"/>
    <p:sldId id="292" r:id="rId4"/>
    <p:sldId id="293" r:id="rId5"/>
    <p:sldId id="337" r:id="rId6"/>
    <p:sldId id="322" r:id="rId7"/>
    <p:sldId id="323" r:id="rId8"/>
    <p:sldId id="324" r:id="rId9"/>
    <p:sldId id="325" r:id="rId10"/>
    <p:sldId id="364" r:id="rId11"/>
    <p:sldId id="332" r:id="rId12"/>
    <p:sldId id="333" r:id="rId13"/>
    <p:sldId id="375" r:id="rId14"/>
    <p:sldId id="376" r:id="rId15"/>
    <p:sldId id="377" r:id="rId16"/>
    <p:sldId id="334" r:id="rId17"/>
    <p:sldId id="378" r:id="rId18"/>
    <p:sldId id="335" r:id="rId19"/>
    <p:sldId id="336" r:id="rId20"/>
    <p:sldId id="338" r:id="rId21"/>
    <p:sldId id="326" r:id="rId22"/>
    <p:sldId id="327" r:id="rId23"/>
    <p:sldId id="328" r:id="rId24"/>
    <p:sldId id="365" r:id="rId25"/>
    <p:sldId id="366" r:id="rId26"/>
    <p:sldId id="329" r:id="rId27"/>
    <p:sldId id="330" r:id="rId28"/>
    <p:sldId id="368" r:id="rId29"/>
    <p:sldId id="331" r:id="rId30"/>
    <p:sldId id="369" r:id="rId3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93" autoAdjust="0"/>
    <p:restoredTop sz="94617" autoAdjust="0"/>
  </p:normalViewPr>
  <p:slideViewPr>
    <p:cSldViewPr snapToGrid="0" snapToObjects="1">
      <p:cViewPr varScale="1">
        <p:scale>
          <a:sx n="84" d="100"/>
          <a:sy n="84" d="100"/>
        </p:scale>
        <p:origin x="117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Davis" userId="489c7e30-9955-40ba-b63d-eb5b0bfb876f" providerId="ADAL" clId="{D61F11B2-3354-4AF5-A3B3-5ED735E95DD5}"/>
    <pc:docChg chg="addSld modSld sldOrd">
      <pc:chgData name="Steve Davis" userId="489c7e30-9955-40ba-b63d-eb5b0bfb876f" providerId="ADAL" clId="{D61F11B2-3354-4AF5-A3B3-5ED735E95DD5}" dt="2020-08-20T12:29:37.929" v="99" actId="6549"/>
      <pc:docMkLst>
        <pc:docMk/>
      </pc:docMkLst>
      <pc:sldChg chg="modSp add ord">
        <pc:chgData name="Steve Davis" userId="489c7e30-9955-40ba-b63d-eb5b0bfb876f" providerId="ADAL" clId="{D61F11B2-3354-4AF5-A3B3-5ED735E95DD5}" dt="2020-08-20T12:29:37.929" v="99" actId="6549"/>
        <pc:sldMkLst>
          <pc:docMk/>
          <pc:sldMk cId="0" sldId="1265"/>
        </pc:sldMkLst>
        <pc:spChg chg="mod">
          <ac:chgData name="Steve Davis" userId="489c7e30-9955-40ba-b63d-eb5b0bfb876f" providerId="ADAL" clId="{D61F11B2-3354-4AF5-A3B3-5ED735E95DD5}" dt="2020-08-20T12:29:37.929" v="99" actId="6549"/>
          <ac:spMkLst>
            <pc:docMk/>
            <pc:sldMk cId="0" sldId="1265"/>
            <ac:spMk id="1024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7F1E0E6A-FD6F-40AF-B41E-0FFD1CCEA9C5}" type="datetimeFigureOut">
              <a:rPr lang="en-GB"/>
              <a:pPr>
                <a:defRPr/>
              </a:pPr>
              <a:t>13/11/2023</a:t>
            </a:fld>
            <a:endParaRPr lang="en-GB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0F6A9018-88C7-45E8-9DAD-371AA0477B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9120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BF05C40F-19C0-48CC-BB19-DD88530CD431}" type="datetimeFigureOut">
              <a:rPr lang="en-GB"/>
              <a:pPr>
                <a:defRPr/>
              </a:pPr>
              <a:t>13/11/2023</a:t>
            </a:fld>
            <a:endParaRPr lang="en-GB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2D3E0C4C-FBE9-49E9-9D5E-C81F8A6765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6805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>
          <a:xfrm>
            <a:off x="947738" y="48609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  <p:sp>
        <p:nvSpPr>
          <p:cNvPr id="11267" name="Slide Number Placeholder 3"/>
          <p:cNvSpPr txBox="1">
            <a:spLocks noGrp="1"/>
          </p:cNvSpPr>
          <p:nvPr/>
        </p:nvSpPr>
        <p:spPr bwMode="auto">
          <a:xfrm>
            <a:off x="4024313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66" tIns="49533" rIns="99066" bIns="49533" anchor="b"/>
          <a:lstStyle/>
          <a:p>
            <a:pPr algn="r" defTabSz="990600"/>
            <a:fld id="{C5C4C360-D859-4C5D-ABE7-2BF3FAB36612}" type="slidenum">
              <a:rPr lang="en-US" sz="1300">
                <a:latin typeface="Times New Roman" pitchFamily="18" charset="0"/>
              </a:rPr>
              <a:pPr algn="r" defTabSz="990600"/>
              <a:t>1</a:t>
            </a:fld>
            <a:endParaRPr lang="en-US" sz="13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4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434413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2A66-6D1D-46DC-BD09-6A3AB21F08C3}" type="datetime1">
              <a:rPr lang="en-US"/>
              <a:pPr>
                <a:defRPr/>
              </a:pPr>
              <a:t>11/13/2023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70BF7-D744-4D4B-8FB5-925E53807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6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88288-0D3E-4384-A89E-AB287B36F252}" type="datetime1">
              <a:rPr lang="en-US"/>
              <a:pPr>
                <a:defRPr/>
              </a:pPr>
              <a:t>11/13/2023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B46D8-0A3C-4DF0-98DF-3BDF582F5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2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+mn-ea"/>
                <a:cs typeface="+mn-cs"/>
              </a:defRPr>
            </a:lvl1pPr>
          </a:lstStyle>
          <a:p>
            <a:pPr>
              <a:defRPr/>
            </a:pPr>
            <a:fld id="{434E0480-BD58-4286-8828-9134DCEB8AA1}" type="datetime1">
              <a:rPr lang="en-US"/>
              <a:pPr>
                <a:defRPr/>
              </a:pPr>
              <a:t>11/13/2023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+mn-ea"/>
                <a:cs typeface="+mn-cs"/>
              </a:defRPr>
            </a:lvl1pPr>
          </a:lstStyle>
          <a:p>
            <a:pPr>
              <a:defRPr/>
            </a:pPr>
            <a:fld id="{8C9B9D2D-0A43-4DB3-8B90-6C467C17D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5" r:id="rId1"/>
    <p:sldLayoutId id="2147484306" r:id="rId2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buClr>
                <a:schemeClr val="tx1"/>
              </a:buClr>
            </a:pPr>
            <a:r>
              <a:rPr lang="en-GB" dirty="0"/>
              <a:t>Aims of this lecture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252538"/>
            <a:ext cx="8229600" cy="4873625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en-GB" sz="2800" dirty="0"/>
              <a:t>Understanding how kinematics can be used to analyse the forces and torque in a </a:t>
            </a:r>
            <a:r>
              <a:rPr lang="en-GB" sz="2800"/>
              <a:t>robot arm</a:t>
            </a:r>
            <a:endParaRPr lang="en-GB" sz="2800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0999" y="2607733"/>
            <a:ext cx="8175801" cy="3815645"/>
          </a:xfrm>
        </p:spPr>
        <p:txBody>
          <a:bodyPr/>
          <a:lstStyle/>
          <a:p>
            <a:r>
              <a:rPr lang="en-GB" dirty="0"/>
              <a:t>Torque and Force</a:t>
            </a:r>
          </a:p>
        </p:txBody>
      </p:sp>
    </p:spTree>
    <p:extLst>
      <p:ext uri="{BB962C8B-B14F-4D97-AF65-F5344CB8AC3E}">
        <p14:creationId xmlns:p14="http://schemas.microsoft.com/office/powerpoint/2010/main" val="3536539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r>
              <a:rPr lang="en-US" altLang="en-US" sz="3200"/>
              <a:t>	</a:t>
            </a:r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259" t="-1274" r="-741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2800" b="1" dirty="0"/>
              <a:t>1R Manipulator </a:t>
            </a:r>
          </a:p>
          <a:p>
            <a:pPr>
              <a:defRPr/>
            </a:pPr>
            <a:endParaRPr lang="en-GB" sz="2800" b="1" dirty="0"/>
          </a:p>
          <a:p>
            <a:pPr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Forces in the x and y directions generated by torque at joint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altLang="en-US" sz="2800" dirty="0"/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1820863"/>
            <a:ext cx="4090987" cy="357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17066" y="2047143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Fy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887156" y="2752697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Fx</a:t>
            </a:r>
            <a:endParaRPr lang="en-GB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259" t="-1274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630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630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4" name="Left Brace 3"/>
          <p:cNvSpPr/>
          <p:nvPr/>
        </p:nvSpPr>
        <p:spPr>
          <a:xfrm rot="16200000">
            <a:off x="3098007" y="3764756"/>
            <a:ext cx="438150" cy="141763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GB"/>
          </a:p>
        </p:txBody>
      </p:sp>
      <p:sp>
        <p:nvSpPr>
          <p:cNvPr id="5" name="Text Box 231"/>
          <p:cNvSpPr txBox="1"/>
          <p:nvPr/>
        </p:nvSpPr>
        <p:spPr>
          <a:xfrm>
            <a:off x="2644775" y="4768850"/>
            <a:ext cx="1362075" cy="70167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GB" sz="2000" dirty="0">
                <a:ea typeface="Calibri"/>
                <a:cs typeface="Times New Roman"/>
              </a:rPr>
              <a:t>Jacobian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963" t="-255" r="-1704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844675" y="4295775"/>
            <a:ext cx="2276475" cy="4683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17" name="Straight Connector 4"/>
          <p:cNvCxnSpPr>
            <a:cxnSpLocks noChangeShapeType="1"/>
          </p:cNvCxnSpPr>
          <p:nvPr/>
        </p:nvCxnSpPr>
        <p:spPr bwMode="auto">
          <a:xfrm>
            <a:off x="3236913" y="3516313"/>
            <a:ext cx="1608137" cy="476250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Calculate the motor torque needed to hold a 2.5kg mass at the end of the robot at an angle of </a:t>
            </a:r>
            <a:r>
              <a:rPr lang="az-Cyrl-AZ" dirty="0"/>
              <a:t>Ѳ</a:t>
            </a:r>
            <a:r>
              <a:rPr lang="en-GB" dirty="0"/>
              <a:t>=30˚ if L=0.75m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259" t="-1274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72267" y="5362222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5682" r="45116"/>
          <a:stretch/>
        </p:blipFill>
        <p:spPr>
          <a:xfrm>
            <a:off x="5094515" y="259633"/>
            <a:ext cx="4049485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7059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Torque and Force</a:t>
            </a:r>
            <a:endParaRPr lang="en-US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2800" b="1" dirty="0"/>
              <a:t>PR Manipulator </a:t>
            </a:r>
            <a:endParaRPr lang="en-GB" sz="2800" dirty="0"/>
          </a:p>
          <a:p>
            <a:pPr>
              <a:defRPr/>
            </a:pPr>
            <a:r>
              <a:rPr lang="en-GB" sz="2800" dirty="0"/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0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0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400" dirty="0"/>
              <a:t>Find d and Ѳ required to give end position of x=1.5m and y=0.5m. Assume L=1m.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400" dirty="0"/>
              <a:t>Also find joint force and joint torque needed to produce output forces of </a:t>
            </a:r>
            <a:r>
              <a:rPr lang="en-GB" sz="2400" dirty="0" err="1"/>
              <a:t>Fx</a:t>
            </a:r>
            <a:r>
              <a:rPr lang="en-GB" sz="2400" dirty="0"/>
              <a:t>=50N and </a:t>
            </a:r>
            <a:r>
              <a:rPr lang="en-GB" sz="2400" dirty="0" err="1"/>
              <a:t>Fy</a:t>
            </a:r>
            <a:r>
              <a:rPr lang="en-GB" sz="2400" dirty="0"/>
              <a:t>=75N when Ѳ=30˚.  </a:t>
            </a:r>
          </a:p>
          <a:p>
            <a:pPr>
              <a:defRPr/>
            </a:pPr>
            <a:r>
              <a:rPr lang="en-GB" sz="24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altLang="en-US" sz="2800" dirty="0"/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1644650"/>
            <a:ext cx="5843588" cy="357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55643" y="1625221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Fy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010399" y="2224374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2527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/>
                <a:r>
                  <a:rPr lang="en-GB" sz="2400" dirty="0"/>
                  <a:t>Determine forward kinematics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𝑥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</m:oMath>
                </a14:m>
                <a:endParaRPr lang="en-GB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𝑦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167" y="3433762"/>
            <a:ext cx="5843588" cy="357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41832" y="3421102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Fy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8296588" y="4020255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10694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/>
                <a:r>
                  <a:rPr lang="en-GB" sz="2400" dirty="0"/>
                  <a:t>Determine forward kinematics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𝑥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𝑑</m:t>
                    </m:r>
                    <m:r>
                      <a:rPr lang="en-GB" sz="2400" i="1">
                        <a:latin typeface="Cambria Math"/>
                      </a:rPr>
                      <m:t>+</m:t>
                    </m:r>
                    <m:r>
                      <a:rPr lang="en-GB" sz="2400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2400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𝑦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2400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2" y="3433762"/>
            <a:ext cx="5843588" cy="357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872944" y="3433762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Fy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8527700" y="4032915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8651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400" dirty="0"/>
                  <a:t>Therefore determine d and theta to give x=1.5m and y=0.5m assuming L=1m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𝜃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</m:oMath>
                </a14:m>
                <a:endParaRPr lang="en-GB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𝑑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</m:oMath>
                </a14:m>
                <a:endParaRPr lang="en-GB" sz="2400" dirty="0"/>
              </a:p>
              <a:p>
                <a:pPr marL="0" indent="0"/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5409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400" dirty="0"/>
                  <a:t>Therefore determine d and theta to give x=1.5m and y=0.5m assuming L=1m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𝜃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/>
                              </a:rPr>
                              <m:t>sin</m:t>
                            </m:r>
                          </m:e>
                          <m:sup>
                            <m:r>
                              <a:rPr lang="en-GB" sz="2400" i="1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  <m:r>
                          <a:rPr lang="en-GB" sz="2400" i="1">
                            <a:latin typeface="Cambria Math"/>
                          </a:rPr>
                          <m:t>          &gt;          </m:t>
                        </m:r>
                        <m:r>
                          <a:rPr lang="en-GB" sz="2400" i="1">
                            <a:latin typeface="Cambria Math"/>
                          </a:rPr>
                          <m:t>𝜃</m:t>
                        </m:r>
                        <m:r>
                          <a:rPr lang="en-GB" sz="2400" i="1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400">
                                    <a:latin typeface="Cambria Math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GB" sz="2400" i="1">
                                    <a:latin typeface="Cambria Math"/>
                                  </a:rPr>
                                  <m:t>−1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0.5</m:t>
                                    </m:r>
                                  </m:num>
                                  <m:den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2400" i="1">
                                <a:latin typeface="Cambria Math"/>
                              </a:rPr>
                              <m:t>=30˚</m:t>
                            </m:r>
                          </m:e>
                        </m:func>
                      </m:e>
                    </m:func>
                  </m:oMath>
                </a14:m>
                <a:endParaRPr lang="en-GB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𝑑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𝑥</m:t>
                    </m:r>
                    <m:r>
                      <a:rPr lang="en-GB" sz="2400" i="1">
                        <a:latin typeface="Cambria Math"/>
                      </a:rPr>
                      <m:t>−</m:t>
                    </m:r>
                    <m:r>
                      <a:rPr lang="en-GB" sz="2400" i="1">
                        <a:latin typeface="Cambria Math"/>
                      </a:rPr>
                      <m:t>𝐿𝑐𝑜𝑠</m:t>
                    </m:r>
                    <m:r>
                      <a:rPr lang="en-GB" sz="2400" i="1">
                        <a:latin typeface="Cambria Math"/>
                      </a:rPr>
                      <m:t>𝜃</m:t>
                    </m:r>
                    <m:r>
                      <a:rPr lang="en-GB" sz="2400" i="1">
                        <a:latin typeface="Cambria Math"/>
                      </a:rPr>
                      <m:t>         &gt;          </m:t>
                    </m:r>
                    <m:r>
                      <a:rPr lang="en-GB" sz="2400" i="1">
                        <a:latin typeface="Cambria Math"/>
                      </a:rPr>
                      <m:t>𝑑</m:t>
                    </m:r>
                    <m:r>
                      <a:rPr lang="en-GB" sz="2400" i="1">
                        <a:latin typeface="Cambria Math"/>
                      </a:rPr>
                      <m:t>=1.5−1</m:t>
                    </m:r>
                    <m:r>
                      <a:rPr lang="en-GB" sz="2400" i="1">
                        <a:latin typeface="Cambria Math"/>
                      </a:rPr>
                      <m:t>𝑐𝑜𝑠</m:t>
                    </m:r>
                    <m:r>
                      <a:rPr lang="en-GB" sz="2400" i="1">
                        <a:latin typeface="Cambria Math"/>
                      </a:rPr>
                      <m:t>30=0.634</m:t>
                    </m:r>
                    <m:r>
                      <a:rPr lang="en-GB" sz="2400" i="1">
                        <a:latin typeface="Cambria Math"/>
                      </a:rPr>
                      <m:t>𝑚</m:t>
                    </m:r>
                  </m:oMath>
                </a14:m>
                <a:endParaRPr lang="en-GB" sz="2400" dirty="0"/>
              </a:p>
              <a:p>
                <a:pPr marL="0" indent="0"/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9CE8BFAC-520B-49DD-B182-F997000A94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7325" y="193674"/>
                <a:ext cx="3705225" cy="132397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𝑥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𝑑</m:t>
                    </m:r>
                    <m:r>
                      <a:rPr lang="en-GB" sz="2400" i="1">
                        <a:latin typeface="Cambria Math"/>
                      </a:rPr>
                      <m:t>+</m:t>
                    </m:r>
                    <m:r>
                      <a:rPr lang="en-GB" sz="2400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2400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𝑦</m:t>
                    </m:r>
                    <m:r>
                      <a:rPr lang="en-GB" sz="2400" i="1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2400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9CE8BFAC-520B-49DD-B182-F997000A9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325" y="193674"/>
                <a:ext cx="3705225" cy="1323975"/>
              </a:xfrm>
              <a:prstGeom prst="rect">
                <a:avLst/>
              </a:prstGeom>
              <a:blipFill>
                <a:blip r:embed="rId3"/>
                <a:stretch>
                  <a:fillRect l="-2138" t="-1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22253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Find rate equations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𝑑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𝑑𝑥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=</m:t>
                    </m:r>
                  </m:oMath>
                </a14:m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=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66269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Find rate equations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𝑑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𝑑𝑥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type m:val="skw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d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−</m:t>
                    </m:r>
                    <m:r>
                      <a:rPr lang="en-GB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  <m:r>
                          <a:rPr lang="en-GB" i="1">
                            <a:latin typeface="Cambria Math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/>
                              </a:rPr>
                              <m:t>𝑑</m:t>
                            </m:r>
                            <m:r>
                              <a:rPr lang="en-GB" i="1">
                                <a:latin typeface="Cambria Math"/>
                              </a:rPr>
                              <m:t>Ѳ</m:t>
                            </m:r>
                          </m:num>
                          <m:den>
                            <m:r>
                              <a:rPr lang="en-GB" i="1">
                                <a:latin typeface="Cambria Math"/>
                              </a:rPr>
                              <m:t>𝑑𝑡</m:t>
                            </m:r>
                          </m:den>
                        </m:f>
                      </m:e>
                    </m:func>
                  </m:oMath>
                </a14:m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dirty="0"/>
                  <a:t> 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𝐿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  <m:r>
                          <a:rPr lang="en-GB" i="1">
                            <a:latin typeface="Cambria Math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/>
                              </a:rPr>
                              <m:t>𝑑</m:t>
                            </m:r>
                            <m:r>
                              <a:rPr lang="en-GB" i="1">
                                <a:latin typeface="Cambria Math"/>
                              </a:rPr>
                              <m:t>Ѳ</m:t>
                            </m:r>
                          </m:num>
                          <m:den>
                            <m:r>
                              <a:rPr lang="en-GB" i="1">
                                <a:latin typeface="Cambria Math"/>
                              </a:rPr>
                              <m:t>𝑑𝑡</m:t>
                            </m:r>
                          </m:den>
                        </m:f>
                      </m:e>
                    </m:func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Remember d is a variable L is a constant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 b="-9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38377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259" t="-1274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51774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GB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latin typeface="Cambria Math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400"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400"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  <m:r>
                            <a:rPr lang="en-GB" sz="2400" i="1">
                              <a:latin typeface="Cambria Math"/>
                            </a:rPr>
                            <m:t> 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400">
                                        <a:latin typeface="Cambria Math"/>
                                      </a:rPr>
                                      <m:t>d</m:t>
                                    </m:r>
                                  </m:num>
                                  <m:den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</m:t>
                                    </m:r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Ѳ</m:t>
                                    </m:r>
                                  </m:num>
                                  <m:den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 Therefore  </a:t>
                </a:r>
              </a:p>
              <a:p>
                <a:r>
                  <a:rPr lang="en-GB" sz="24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𝐽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latin typeface="Cambria Math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400"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GB" sz="2400" i="1">
                                    <a:latin typeface="Cambria Math"/>
                                  </a:rPr>
                                  <m:t>𝐿</m:t>
                                </m:r>
                                <m:func>
                                  <m:func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400"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  <m:r>
                            <a:rPr lang="en-GB" sz="2400" i="1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𝜏</m:t>
                      </m:r>
                      <m:r>
                        <a:rPr lang="en-GB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𝐽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𝐹</m:t>
                      </m:r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 So</a:t>
                </a:r>
              </a:p>
              <a:p>
                <a:pPr algn="ctr"/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e>
                            <m:r>
                              <a:rPr lang="en-GB" sz="2400" i="1">
                                <a:latin typeface="Cambria Math"/>
                              </a:rPr>
                              <m:t>𝜏</m:t>
                            </m:r>
                          </m:e>
                        </m:eqArr>
                      </m:e>
                    </m:d>
                    <m:r>
                      <a:rPr lang="en-GB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𝐿</m:t>
                              </m:r>
                              <m:func>
                                <m:func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240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𝐿</m:t>
                              </m:r>
                              <m:func>
                                <m:func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240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𝐹𝑥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𝐹𝑦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" b="-4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31375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pic>
        <p:nvPicPr>
          <p:cNvPr id="4" name="Content Placeholder 3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A6313986-09C7-DCE4-C6FB-9C8906B4D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175" y="1738576"/>
            <a:ext cx="8464139" cy="4428000"/>
          </a:xfrm>
        </p:spPr>
      </p:pic>
    </p:spTree>
    <p:extLst>
      <p:ext uri="{BB962C8B-B14F-4D97-AF65-F5344CB8AC3E}">
        <p14:creationId xmlns:p14="http://schemas.microsoft.com/office/powerpoint/2010/main" val="292948184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Torque and Force</a:t>
            </a:r>
            <a:endParaRPr lang="en-US" altLang="en-US" sz="3200" dirty="0"/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481" t="-1274" r="-2370" b="-13885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339850"/>
            <a:ext cx="4013200" cy="358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7333" y="5802489"/>
            <a:ext cx="2844800" cy="7563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034844" y="1354993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Fy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5599288" y="1915204"/>
            <a:ext cx="9369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Fx</a:t>
            </a:r>
            <a:endParaRPr lang="en-GB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Forward kinematics</a:t>
                </a:r>
              </a:p>
              <a:p>
                <a:pPr algn="ctr"/>
                <a:r>
                  <a:rPr lang="en-GB" dirty="0"/>
                  <a:t>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𝑑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𝑦</m:t>
                      </m:r>
                      <m:r>
                        <a:rPr lang="en-GB" i="1">
                          <a:latin typeface="Cambria Math"/>
                        </a:rPr>
                        <m:t>=</m:t>
                      </m:r>
                      <m:r>
                        <a:rPr lang="en-GB" i="1">
                          <a:latin typeface="Cambria Math"/>
                        </a:rPr>
                        <m:t>𝑑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 </a:t>
                </a:r>
                <a:r>
                  <a:rPr lang="en-GB" b="1" dirty="0"/>
                  <a:t>Product rule (as d is not a constant)</a:t>
                </a:r>
                <a:endParaRPr lang="en-GB" dirty="0"/>
              </a:p>
              <a:p>
                <a:pPr algn="ctr"/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𝑢𝑣</m:t>
                    </m:r>
                  </m:oMath>
                </a14:m>
                <a:endParaRPr lang="en-GB" dirty="0"/>
              </a:p>
              <a:p>
                <a:r>
                  <a:rPr lang="en-GB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/>
                        </a:rPr>
                        <m:t>=</m:t>
                      </m:r>
                      <m:r>
                        <a:rPr lang="en-GB" i="1">
                          <a:latin typeface="Cambria Math"/>
                        </a:rPr>
                        <m:t>𝑢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𝑑𝑣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/>
                        </a:rPr>
                        <m:t>+</m:t>
                      </m:r>
                      <m:r>
                        <a:rPr lang="en-GB" i="1">
                          <a:latin typeface="Cambria Math"/>
                        </a:rPr>
                        <m:t>𝑣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𝑑𝑢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 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800" dirty="0"/>
                  <a:t> 	       u   v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𝑥</m:t>
                      </m:r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𝑑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  <a:p>
                <a:r>
                  <a:rPr lang="en-GB" sz="28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𝑑𝑥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𝑢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+</m:t>
                      </m:r>
                      <m:r>
                        <a:rPr lang="en-GB" sz="2800" i="1">
                          <a:latin typeface="Cambria Math"/>
                        </a:rPr>
                        <m:t>𝑣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d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  <a:p>
                <a:r>
                  <a:rPr lang="en-GB" sz="28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𝑑𝑥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/>
                            </a:rPr>
                            <m:t>−</m:t>
                          </m:r>
                          <m:r>
                            <a:rPr lang="en-GB" sz="2800" i="1">
                              <a:latin typeface="Cambria Math"/>
                            </a:rPr>
                            <m:t>𝑠𝑖𝑛</m:t>
                          </m:r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e>
                      </m:d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+</m:t>
                      </m:r>
                      <m:r>
                        <a:rPr lang="en-GB" sz="2800" i="1">
                          <a:latin typeface="Cambria Math"/>
                        </a:rPr>
                        <m:t>𝑐𝑜𝑠</m:t>
                      </m:r>
                      <m:r>
                        <a:rPr lang="en-GB" sz="2800" i="1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d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      </m:t>
                      </m:r>
                    </m:oMath>
                  </m:oMathPara>
                </a14:m>
                <a:endParaRPr lang="en-GB" sz="2800" i="1" dirty="0"/>
              </a:p>
              <a:p>
                <a:endParaRPr lang="en-GB" sz="2800" i="1" dirty="0"/>
              </a:p>
              <a:p>
                <a:r>
                  <a:rPr lang="en-GB" sz="2800" i="1" dirty="0"/>
                  <a:t>	</a:t>
                </a:r>
                <a:r>
                  <a:rPr lang="en-GB" i="1" dirty="0"/>
                  <a:t>	</a:t>
                </a:r>
                <a:endParaRPr lang="en-GB" sz="28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800" dirty="0"/>
                  <a:t>           u   v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𝑦</m:t>
                      </m:r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𝑑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  <a:p>
                <a:r>
                  <a:rPr lang="en-GB" sz="28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  <a:p>
                <a:r>
                  <a:rPr lang="en-GB" sz="2800" dirty="0"/>
                  <a:t>  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53050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800" dirty="0"/>
                  <a:t>           u   v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𝑦</m:t>
                      </m:r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𝑑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  <a:p>
                <a:r>
                  <a:rPr lang="en-GB" sz="28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𝑢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+</m:t>
                      </m:r>
                      <m:r>
                        <a:rPr lang="en-GB" sz="2800" i="1">
                          <a:latin typeface="Cambria Math"/>
                        </a:rPr>
                        <m:t>𝑣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d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  <a:p>
                <a:r>
                  <a:rPr lang="en-GB" sz="2800" dirty="0"/>
                  <a:t> 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=</m:t>
                      </m:r>
                      <m:r>
                        <a:rPr lang="en-GB" sz="2800" i="1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/>
                            </a:rPr>
                            <m:t>𝑐𝑜𝑠</m:t>
                          </m:r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e>
                      </m:d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a:rPr lang="en-GB" sz="2800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+</m:t>
                      </m:r>
                      <m:r>
                        <a:rPr lang="en-GB" sz="2800" i="1">
                          <a:latin typeface="Cambria Math"/>
                        </a:rPr>
                        <m:t>𝑠𝑖𝑛</m:t>
                      </m:r>
                      <m:r>
                        <a:rPr lang="en-GB" sz="2800" i="1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latin typeface="Cambria Math"/>
                            </a:rPr>
                            <m:t>d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sz="2800" i="1">
                          <a:latin typeface="Cambria Math"/>
                        </a:rPr>
                        <m:t>      </m:t>
                      </m:r>
                    </m:oMath>
                  </m:oMathPara>
                </a14:m>
                <a:endParaRPr lang="en-GB" sz="2800" i="1" dirty="0"/>
              </a:p>
              <a:p>
                <a:r>
                  <a:rPr lang="en-GB" sz="2800" dirty="0"/>
                  <a:t>			</a:t>
                </a:r>
              </a:p>
              <a:p>
                <a:r>
                  <a:rPr lang="en-GB" sz="2800" dirty="0"/>
                  <a:t>		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56688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4" name="Left Brace 3"/>
          <p:cNvSpPr/>
          <p:nvPr/>
        </p:nvSpPr>
        <p:spPr>
          <a:xfrm rot="16200000">
            <a:off x="4249624" y="3514855"/>
            <a:ext cx="438150" cy="16824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GB"/>
          </a:p>
        </p:txBody>
      </p:sp>
      <p:sp>
        <p:nvSpPr>
          <p:cNvPr id="5" name="Text Box 231"/>
          <p:cNvSpPr txBox="1"/>
          <p:nvPr/>
        </p:nvSpPr>
        <p:spPr>
          <a:xfrm>
            <a:off x="3917156" y="4655123"/>
            <a:ext cx="1363662" cy="70326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GB" sz="2000" dirty="0">
                <a:ea typeface="Calibri"/>
                <a:cs typeface="Times New Roman"/>
              </a:rPr>
              <a:t>Jacobian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34052" y="1293038"/>
                <a:ext cx="7544823" cy="3132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𝑑𝑥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/>
                        </a:rPr>
                        <m:t>=</m:t>
                      </m:r>
                      <m:r>
                        <a:rPr lang="en-GB" i="1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</a:rPr>
                            <m:t>−</m:t>
                          </m:r>
                          <m:r>
                            <a:rPr lang="en-GB" i="1">
                              <a:latin typeface="Cambria Math"/>
                            </a:rPr>
                            <m:t>𝑠𝑖𝑛</m:t>
                          </m:r>
                          <m:r>
                            <a:rPr lang="en-GB" i="1">
                              <a:latin typeface="Cambria Math"/>
                            </a:rPr>
                            <m:t>𝜃</m:t>
                          </m:r>
                        </m:e>
                      </m:d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</m:t>
                          </m:r>
                          <m:r>
                            <a:rPr lang="en-GB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/>
                        </a:rPr>
                        <m:t>+</m:t>
                      </m:r>
                      <m:r>
                        <a:rPr lang="en-GB" i="1">
                          <a:latin typeface="Cambria Math"/>
                        </a:rPr>
                        <m:t>𝑐𝑜𝑠</m:t>
                      </m:r>
                      <m:r>
                        <a:rPr lang="en-GB" i="1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d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/>
                        </a:rPr>
                        <m:t>=</m:t>
                      </m:r>
                      <m:r>
                        <a:rPr lang="en-GB" i="1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</a:rPr>
                            <m:t>𝑐𝑜𝑠</m:t>
                          </m:r>
                          <m:r>
                            <a:rPr lang="en-GB" i="1">
                              <a:latin typeface="Cambria Math"/>
                            </a:rPr>
                            <m:t>𝜃</m:t>
                          </m:r>
                        </m:e>
                      </m:d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</m:t>
                          </m:r>
                          <m:r>
                            <a:rPr lang="en-GB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/>
                        </a:rPr>
                        <m:t>+</m:t>
                      </m:r>
                      <m:r>
                        <a:rPr lang="en-GB" i="1">
                          <a:latin typeface="Cambria Math"/>
                        </a:rPr>
                        <m:t>𝑠𝑖𝑛</m:t>
                      </m:r>
                      <m:r>
                        <a:rPr lang="en-GB" i="1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d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Put this in matrix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𝑑𝑐𝑜𝑠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𝑑𝑑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52" y="1293038"/>
                <a:ext cx="7544823" cy="3132652"/>
              </a:xfrm>
              <a:prstGeom prst="rect">
                <a:avLst/>
              </a:prstGeom>
              <a:blipFill>
                <a:blip r:embed="rId2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𝑑𝑐𝑜𝑠</m:t>
                                </m:r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𝜏</m:t>
                    </m:r>
                    <m:r>
                      <a:rPr lang="en-GB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en-GB" sz="20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GB" sz="2000" i="1">
                        <a:latin typeface="Cambria Math"/>
                      </a:rPr>
                      <m:t>𝐹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𝐽</m:t>
                    </m:r>
                    <m:r>
                      <a:rPr lang="en-GB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𝑑𝑠𝑖𝑛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𝑑𝑐𝑜𝑠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  <a:p>
                <a:r>
                  <a:rPr lang="en-GB" sz="2000" dirty="0"/>
                  <a:t> </a:t>
                </a:r>
              </a:p>
              <a:p>
                <a:r>
                  <a:rPr lang="en-GB" sz="2000" dirty="0"/>
                  <a:t>Transpose the Jacobian</a:t>
                </a:r>
              </a:p>
              <a:p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en-GB" sz="20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GB" sz="2000" i="1">
                        <a:latin typeface="Cambria Math"/>
                      </a:rPr>
                      <m:t>=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 </a:t>
                </a:r>
              </a:p>
              <a:p>
                <a:r>
                  <a:rPr lang="en-GB" sz="2000" dirty="0"/>
                  <a:t> 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/>
          <p:cNvSpPr/>
          <p:nvPr/>
        </p:nvSpPr>
        <p:spPr>
          <a:xfrm rot="16200000">
            <a:off x="2460407" y="1872586"/>
            <a:ext cx="438150" cy="16346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GB"/>
          </a:p>
        </p:txBody>
      </p:sp>
      <p:sp>
        <p:nvSpPr>
          <p:cNvPr id="6" name="Text Box 231"/>
          <p:cNvSpPr txBox="1"/>
          <p:nvPr/>
        </p:nvSpPr>
        <p:spPr>
          <a:xfrm>
            <a:off x="1997651" y="2903990"/>
            <a:ext cx="1363662" cy="70326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GB" sz="2000" dirty="0">
                <a:ea typeface="Calibri"/>
                <a:cs typeface="Times New Roman"/>
              </a:rPr>
              <a:t>Jacobian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/>
                        </a:rPr>
                        <m:t>𝐽</m:t>
                      </m:r>
                      <m:r>
                        <a:rPr lang="en-GB" sz="240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𝑑𝑐𝑜𝑠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 </a:t>
                </a:r>
              </a:p>
              <a:p>
                <a:r>
                  <a:rPr lang="en-GB" sz="2400" dirty="0"/>
                  <a:t>Transpose the Jacobian</a:t>
                </a:r>
              </a:p>
              <a:p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</a:rPr>
                          <m:t>𝐽</m:t>
                        </m:r>
                      </m:e>
                      <m:sup>
                        <m:r>
                          <a:rPr lang="en-GB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GB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𝑑𝑠𝑖𝑛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𝑑𝑐𝑜𝑠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  <a:p>
                <a:r>
                  <a:rPr lang="en-GB" sz="2400" dirty="0"/>
                  <a:t> </a:t>
                </a:r>
              </a:p>
              <a:p>
                <a:r>
                  <a:rPr lang="en-GB" sz="2400" dirty="0"/>
                  <a:t>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𝜏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mr>
                        </m:m>
                      </m:e>
                    </m:d>
                    <m:r>
                      <a:rPr lang="en-GB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𝑑𝑠𝑖𝑛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𝑑𝑐𝑜𝑠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𝐹𝑥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/>
                                </a:rPr>
                                <m:t>𝐹𝑦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  <a:p>
                <a:endParaRPr lang="en-GB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400" dirty="0"/>
                  <a:t>Note we have </a:t>
                </a:r>
                <a:r>
                  <a:rPr lang="el-GR" sz="2400" dirty="0"/>
                  <a:t>τ</a:t>
                </a:r>
                <a:r>
                  <a:rPr lang="en-GB" sz="2400" dirty="0"/>
                  <a:t> and F as we have one torque (R joint) and one force (P joint)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b="-9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20939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Determine the joint torque required at Ѳ and the joint force required at d when d=1.0m, Ѳ=45˚ and </a:t>
            </a:r>
            <a:r>
              <a:rPr lang="en-GB" sz="2800" dirty="0" err="1"/>
              <a:t>Fx</a:t>
            </a:r>
            <a:r>
              <a:rPr lang="en-GB" sz="2800" dirty="0"/>
              <a:t>=0 and </a:t>
            </a:r>
            <a:r>
              <a:rPr lang="en-GB" sz="2800" dirty="0" err="1"/>
              <a:t>Fy</a:t>
            </a:r>
            <a:r>
              <a:rPr lang="en-GB" sz="2800" dirty="0"/>
              <a:t>=100N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Calculate F and </a:t>
            </a:r>
            <a:r>
              <a:rPr lang="el-GR" sz="2800" dirty="0"/>
              <a:t>τ</a:t>
            </a:r>
            <a:endParaRPr lang="en-GB" sz="2800" dirty="0"/>
          </a:p>
          <a:p>
            <a:pPr marL="0" indent="0"/>
            <a:r>
              <a:rPr lang="en-GB" sz="2800" dirty="0"/>
              <a:t> 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Torque and Force</a:t>
            </a:r>
            <a:endParaRPr lang="en-US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000" dirty="0"/>
                  <a:t>At d=1.0m, Ѳ=45˚, </a:t>
                </a:r>
                <a:r>
                  <a:rPr lang="en-GB" sz="2000" dirty="0" err="1"/>
                  <a:t>Fx</a:t>
                </a:r>
                <a:r>
                  <a:rPr lang="en-GB" sz="2000" dirty="0"/>
                  <a:t>=0 and </a:t>
                </a:r>
                <a:r>
                  <a:rPr lang="en-GB" sz="2000" dirty="0" err="1"/>
                  <a:t>Fy</a:t>
                </a:r>
                <a:r>
                  <a:rPr lang="en-GB" sz="2000" dirty="0"/>
                  <a:t>=100</a:t>
                </a:r>
              </a:p>
              <a:p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000" i="1">
                                  <a:latin typeface="Cambria Math"/>
                                </a:rPr>
                                <m:t>𝜏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𝑑𝑠𝑖𝑛</m:t>
                              </m:r>
                              <m:r>
                                <a:rPr lang="en-GB" sz="2000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𝑑𝑐𝑜𝑠</m:t>
                              </m:r>
                              <m:r>
                                <a:rPr lang="en-GB" sz="2000" i="1">
                                  <a:latin typeface="Cambria Math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GB" sz="2000" i="1">
                                  <a:latin typeface="Cambria Math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GB" sz="2000" i="1">
                                  <a:latin typeface="Cambria Math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000" i="1">
                                  <a:latin typeface="Cambria Math"/>
                                </a:rPr>
                                <m:t>𝐹𝑥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/>
                                </a:rPr>
                                <m:t>𝐹𝑦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  <a:p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/>
                                  </a:rPr>
                                  <m:t>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i="1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latin typeface="Cambria Math"/>
                                  </a:rPr>
                                  <m:t>                            0</m:t>
                                </m:r>
                                <m:r>
                                  <a:rPr lang="en-GB" sz="2000" i="1">
                                    <a:latin typeface="Cambria Math"/>
                                  </a:rPr>
                                  <m:t>.707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lang="en-GB" sz="2000" i="1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/>
                                  </a:rPr>
                                  <m:t>100</m:t>
                                </m:r>
                              </m:e>
                            </m:mr>
                          </m:m>
                          <m:r>
                            <a:rPr lang="en-GB" sz="2000" i="1">
                              <a:latin typeface="Cambria Math"/>
                            </a:rPr>
                            <m:t>          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  <a:p>
                <a:r>
                  <a:rPr lang="en-GB" sz="2000" dirty="0"/>
                  <a:t> </a:t>
                </a:r>
              </a:p>
              <a:p>
                <a:r>
                  <a:rPr lang="en-GB" sz="2000" dirty="0"/>
                  <a:t> </a:t>
                </a:r>
              </a:p>
              <a:p>
                <a:r>
                  <a:rPr lang="en-GB" sz="2000" dirty="0"/>
                  <a:t>Therefore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τ=70.7Nm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F=70.7N</a:t>
                </a:r>
              </a:p>
              <a:p>
                <a:r>
                  <a:rPr lang="en-GB" sz="2000" dirty="0"/>
                  <a:t> 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674" b="-18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44988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0_UoS template_with 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10_UoS template_with logo_white">
      <a:majorFont>
        <a:latin typeface="Arial Bold"/>
        <a:ea typeface="ＭＳ Ｐゴシック"/>
        <a:cs typeface="Arial Bold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13762</TotalTime>
  <Words>676</Words>
  <Application>Microsoft Office PowerPoint</Application>
  <PresentationFormat>On-screen Show (4:3)</PresentationFormat>
  <Paragraphs>194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Bold</vt:lpstr>
      <vt:lpstr>Calibri</vt:lpstr>
      <vt:lpstr>Cambria Math</vt:lpstr>
      <vt:lpstr>Times New Roman</vt:lpstr>
      <vt:lpstr>10_UoS template_with logo_white</vt:lpstr>
      <vt:lpstr>Aims of this lecture</vt:lpstr>
      <vt:lpstr>Torque and Force</vt:lpstr>
      <vt:lpstr>Torque and Force 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  <vt:lpstr>Torque and Force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Saber Mahboubi Heydarabad</cp:lastModifiedBy>
  <cp:revision>120</cp:revision>
  <cp:lastPrinted>2011-07-20T09:45:37Z</cp:lastPrinted>
  <dcterms:created xsi:type="dcterms:W3CDTF">2011-12-09T09:28:12Z</dcterms:created>
  <dcterms:modified xsi:type="dcterms:W3CDTF">2023-11-13T21:04:16Z</dcterms:modified>
</cp:coreProperties>
</file>